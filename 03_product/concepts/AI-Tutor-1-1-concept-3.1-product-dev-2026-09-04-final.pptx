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1675"/>
  <p:notesSz cx="6858000" cy="12191675"/>
  <p:embeddedFontLst>
    <p:embeddedFont>
      <p:font typeface="Noto Sans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GYlLpolQ5DH7iyiSt4UzblpIM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regular.fntdata"/><Relationship Id="rId21" Type="http://schemas.openxmlformats.org/officeDocument/2006/relationships/slide" Target="slides/slide17.xml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regular.fntdata"/><Relationship Id="rId25" Type="http://schemas.openxmlformats.org/officeDocument/2006/relationships/font" Target="fonts/NotoSans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a1437264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a143726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fa1437264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a1437264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fa1437264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g3fa1437264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a14372648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g3fa14372648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g3fa14372648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a1437264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fa1437264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g3fa14372648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14372648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a14372648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fa14372648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1437264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fa1437264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fa14372648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14372648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a14372648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fa14372648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14372648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fa14372648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fa14372648_0_1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14372648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a14372648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fa14372648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14372648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a14372648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fa14372648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a14372648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a14372648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fa14372648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14372648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a14372648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fa14372648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14372648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a14372648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fa14372648_0_2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a14372648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a14372648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fa14372648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14372648_0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a14372648_0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3fa14372648_0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14372648_0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g3fa14372648_0_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g3fa14372648_0_3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a14372648_0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a14372648_0_3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fa14372648_0_3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14372648_0_0"/>
          <p:cNvSpPr/>
          <p:nvPr/>
        </p:nvSpPr>
        <p:spPr>
          <a:xfrm>
            <a:off x="8869680" y="0"/>
            <a:ext cx="4755000" cy="4755000"/>
          </a:xfrm>
          <a:prstGeom prst="ellipse">
            <a:avLst/>
          </a:prstGeom>
          <a:solidFill>
            <a:srgbClr val="0C578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a14372648_0_0"/>
          <p:cNvSpPr/>
          <p:nvPr/>
        </p:nvSpPr>
        <p:spPr>
          <a:xfrm>
            <a:off x="10149840" y="320040"/>
            <a:ext cx="3291900" cy="3291900"/>
          </a:xfrm>
          <a:prstGeom prst="ellipse">
            <a:avLst/>
          </a:prstGeom>
          <a:solidFill>
            <a:srgbClr val="A5BE00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" name="Google Shape;18;g3fa1437264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02920"/>
            <a:ext cx="1371597" cy="117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3fa14372648_0_0"/>
          <p:cNvSpPr/>
          <p:nvPr/>
        </p:nvSpPr>
        <p:spPr>
          <a:xfrm>
            <a:off x="822960" y="26974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GIỚI THIỆU SẢN PHẨM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fa14372648_0_0"/>
          <p:cNvSpPr/>
          <p:nvPr/>
        </p:nvSpPr>
        <p:spPr>
          <a:xfrm>
            <a:off x="804672" y="3063240"/>
            <a:ext cx="1060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oppin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Edupia AI Tutor 1-1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g3fa14372648_0_0"/>
          <p:cNvSpPr/>
          <p:nvPr/>
        </p:nvSpPr>
        <p:spPr>
          <a:xfrm>
            <a:off x="822960" y="4069080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Gia sư AI 1 kèm 1 — vá đúng lỗ hổng kiến thức tiếng Anh theo Mastery Profile của từng học sinh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g3fa14372648_0_0"/>
          <p:cNvSpPr/>
          <p:nvPr/>
        </p:nvSpPr>
        <p:spPr>
          <a:xfrm>
            <a:off x="841248" y="4892040"/>
            <a:ext cx="640200" cy="411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fa14372648_0_0"/>
          <p:cNvSpPr/>
          <p:nvPr/>
        </p:nvSpPr>
        <p:spPr>
          <a:xfrm>
            <a:off x="822960" y="598932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Khối Sản phẩm và Công nghệ  ·  08/2026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a14372648_0_12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MỤC LỤC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fa14372648_0_12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Nội dung trình bày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a14372648_0_12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fa14372648_0_12"/>
          <p:cNvSpPr/>
          <p:nvPr/>
        </p:nvSpPr>
        <p:spPr>
          <a:xfrm>
            <a:off x="502920" y="1828800"/>
            <a:ext cx="118800" cy="6585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fa14372648_0_12"/>
          <p:cNvSpPr/>
          <p:nvPr/>
        </p:nvSpPr>
        <p:spPr>
          <a:xfrm>
            <a:off x="758952" y="1783080"/>
            <a:ext cx="731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a14372648_0_12"/>
          <p:cNvSpPr/>
          <p:nvPr/>
        </p:nvSpPr>
        <p:spPr>
          <a:xfrm>
            <a:off x="1645920" y="1783080"/>
            <a:ext cx="10042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3fa14372648_0_12"/>
          <p:cNvSpPr/>
          <p:nvPr/>
        </p:nvSpPr>
        <p:spPr>
          <a:xfrm>
            <a:off x="502920" y="2761488"/>
            <a:ext cx="118800" cy="6585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a14372648_0_12"/>
          <p:cNvSpPr/>
          <p:nvPr/>
        </p:nvSpPr>
        <p:spPr>
          <a:xfrm>
            <a:off x="758952" y="2715768"/>
            <a:ext cx="731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a14372648_0_12"/>
          <p:cNvSpPr/>
          <p:nvPr/>
        </p:nvSpPr>
        <p:spPr>
          <a:xfrm>
            <a:off x="1645920" y="2715768"/>
            <a:ext cx="10042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a14372648_0_12"/>
          <p:cNvSpPr/>
          <p:nvPr/>
        </p:nvSpPr>
        <p:spPr>
          <a:xfrm>
            <a:off x="502920" y="3694176"/>
            <a:ext cx="118800" cy="6585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a14372648_0_12"/>
          <p:cNvSpPr/>
          <p:nvPr/>
        </p:nvSpPr>
        <p:spPr>
          <a:xfrm>
            <a:off x="758952" y="3648456"/>
            <a:ext cx="731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a14372648_0_12"/>
          <p:cNvSpPr/>
          <p:nvPr/>
        </p:nvSpPr>
        <p:spPr>
          <a:xfrm>
            <a:off x="1645920" y="3648456"/>
            <a:ext cx="10042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fa14372648_0_12"/>
          <p:cNvSpPr/>
          <p:nvPr/>
        </p:nvSpPr>
        <p:spPr>
          <a:xfrm>
            <a:off x="502920" y="4626864"/>
            <a:ext cx="118800" cy="6585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a14372648_0_12"/>
          <p:cNvSpPr/>
          <p:nvPr/>
        </p:nvSpPr>
        <p:spPr>
          <a:xfrm>
            <a:off x="758952" y="4581144"/>
            <a:ext cx="7314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A5BE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a14372648_0_12"/>
          <p:cNvSpPr/>
          <p:nvPr/>
        </p:nvSpPr>
        <p:spPr>
          <a:xfrm>
            <a:off x="1645920" y="4581144"/>
            <a:ext cx="10042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g3fa14372648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fa14372648_0_12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a14372648_0_12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a14372648_0_34"/>
          <p:cNvSpPr/>
          <p:nvPr/>
        </p:nvSpPr>
        <p:spPr>
          <a:xfrm>
            <a:off x="9052560" y="0"/>
            <a:ext cx="4480500" cy="4480500"/>
          </a:xfrm>
          <a:prstGeom prst="ellipse">
            <a:avLst/>
          </a:prstGeom>
          <a:solidFill>
            <a:srgbClr val="0C5786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a14372648_0_34"/>
          <p:cNvSpPr/>
          <p:nvPr/>
        </p:nvSpPr>
        <p:spPr>
          <a:xfrm>
            <a:off x="10332720" y="320040"/>
            <a:ext cx="3108900" cy="3108900"/>
          </a:xfrm>
          <a:prstGeom prst="ellipse">
            <a:avLst/>
          </a:prstGeom>
          <a:solidFill>
            <a:srgbClr val="A5BE00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fa14372648_0_34"/>
          <p:cNvSpPr/>
          <p:nvPr/>
        </p:nvSpPr>
        <p:spPr>
          <a:xfrm>
            <a:off x="502920" y="2468880"/>
            <a:ext cx="274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fa14372648_0_34"/>
          <p:cNvSpPr/>
          <p:nvPr/>
        </p:nvSpPr>
        <p:spPr>
          <a:xfrm>
            <a:off x="502920" y="3108960"/>
            <a:ext cx="640200" cy="411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a14372648_0_34"/>
          <p:cNvSpPr/>
          <p:nvPr/>
        </p:nvSpPr>
        <p:spPr>
          <a:xfrm>
            <a:off x="502920" y="3246120"/>
            <a:ext cx="1118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Bối cảnh và cơ hội thị trường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" name="Google Shape;57;g3fa14372648_0_34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2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a14372648_0_44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01 — BỐI CẢNH &amp; CƠ HỘI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a14372648_0_44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Vì sao AI Tutor 1-1 ra đời đúng thời điểm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fa14372648_0_44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a14372648_0_44"/>
          <p:cNvSpPr/>
          <p:nvPr/>
        </p:nvSpPr>
        <p:spPr>
          <a:xfrm>
            <a:off x="502920" y="1633560"/>
            <a:ext cx="73200" cy="14325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a14372648_0_44"/>
          <p:cNvSpPr/>
          <p:nvPr/>
        </p:nvSpPr>
        <p:spPr>
          <a:xfrm>
            <a:off x="731520" y="1633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Quy mô cầu đang mở rộng nhanh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Tổng nhu cầu học thêm Tiếng Anh dự báo ~3 tỷ USD vào năm 2030.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online tăng mạnh nhất, ~20%/năm; ảnh hưởng của TT29 (từ 2025) tiếp tục đẩy thị trường online ~33%/năm.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a14372648_0_44"/>
          <p:cNvSpPr/>
          <p:nvPr/>
        </p:nvSpPr>
        <p:spPr>
          <a:xfrm>
            <a:off x="502920" y="3157560"/>
            <a:ext cx="73200" cy="14325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a14372648_0_44"/>
          <p:cNvSpPr/>
          <p:nvPr/>
        </p:nvSpPr>
        <p:spPr>
          <a:xfrm>
            <a:off x="731520" y="3157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Khoảng trống sản phẩm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1-1 con người chi phí cao, khó mở rộng — AI Tutor 1-1 giữ trải nghiệm cá nhân hoá với chi phí thấp hơn nhiều lần.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lớn sản phẩm online dạy đại trà, không biết chính xác học sinh yếu ở đâu — AI Tutor 1-1 vá đúng lỗ hổng theo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a14372648_0_44"/>
          <p:cNvSpPr/>
          <p:nvPr/>
        </p:nvSpPr>
        <p:spPr>
          <a:xfrm>
            <a:off x="502920" y="4681560"/>
            <a:ext cx="73200" cy="14325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a14372648_0_44"/>
          <p:cNvSpPr/>
          <p:nvPr/>
        </p:nvSpPr>
        <p:spPr>
          <a:xfrm>
            <a:off x="731520" y="4681560"/>
            <a:ext cx="10957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Xu hướng toàn cầu đã kiểm chứng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Squirrel AI, ALEKS, Khanmigo đã chứng minh mô hình chẩn đoán – định tuyến cá nhân hoá hiệu quả hơn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Sứ mệnh: dùng công nghệ xoá nhoà khoảng cách điều kiện học tập — hiệu quả tương đương đào tạo chất lượng cao, giá thấp hơn, dễ tiếp cận hơn.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g3fa14372648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fa14372648_0_44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a14372648_0_44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3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14372648_0_60"/>
          <p:cNvSpPr/>
          <p:nvPr/>
        </p:nvSpPr>
        <p:spPr>
          <a:xfrm>
            <a:off x="9052560" y="0"/>
            <a:ext cx="4480500" cy="4480500"/>
          </a:xfrm>
          <a:prstGeom prst="ellipse">
            <a:avLst/>
          </a:prstGeom>
          <a:solidFill>
            <a:srgbClr val="0C5786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3fa14372648_0_60"/>
          <p:cNvSpPr/>
          <p:nvPr/>
        </p:nvSpPr>
        <p:spPr>
          <a:xfrm>
            <a:off x="10332720" y="320040"/>
            <a:ext cx="3108900" cy="3108900"/>
          </a:xfrm>
          <a:prstGeom prst="ellipse">
            <a:avLst/>
          </a:prstGeom>
          <a:solidFill>
            <a:srgbClr val="A5BE00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fa14372648_0_60"/>
          <p:cNvSpPr/>
          <p:nvPr/>
        </p:nvSpPr>
        <p:spPr>
          <a:xfrm>
            <a:off x="502920" y="2468880"/>
            <a:ext cx="274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a14372648_0_60"/>
          <p:cNvSpPr/>
          <p:nvPr/>
        </p:nvSpPr>
        <p:spPr>
          <a:xfrm>
            <a:off x="502920" y="3108960"/>
            <a:ext cx="640200" cy="411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fa14372648_0_60"/>
          <p:cNvSpPr/>
          <p:nvPr/>
        </p:nvSpPr>
        <p:spPr>
          <a:xfrm>
            <a:off x="502920" y="3246120"/>
            <a:ext cx="1118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Khách hàng mục tiêu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" name="Google Shape;85;g3fa14372648_0_60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4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a14372648_0_70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02 — KHÁCH HÀNG MỤC TIÊU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a14372648_0_70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Chân dung khách hàng mục tiêu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a14372648_0_70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a14372648_0_70"/>
          <p:cNvSpPr/>
          <p:nvPr/>
        </p:nvSpPr>
        <p:spPr>
          <a:xfrm>
            <a:off x="502920" y="1554480"/>
            <a:ext cx="73200" cy="2176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a14372648_0_70"/>
          <p:cNvSpPr/>
          <p:nvPr/>
        </p:nvSpPr>
        <p:spPr>
          <a:xfrm>
            <a:off x="731520" y="1554480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Nhân khẩu học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Phụ huynh: 30–45 tuổi, đã dùng AI Class / Big Class, thu nhập khá – tốt trở lên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Vị trí: Thành phố tỉnh, thị xã, nông thôn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Nghề nghiệp: Văn phòng, kinh doanh nhỏ, lao động phổ thông — làm toàn thời gian (&gt;8h/ngày)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Thu nhập hộ: 15–30 triệu/tháng (phân khúc "Good")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Trình độ tiếng Anh: Đa số không biết tiếng Anh — không tự kèm con được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5275" lvl="0" marL="4572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Bối cảnh: Con học TA ở trường; ~50% từng/đang học thêm nhà GV; đã thử vài sản phẩm TA online</a:t>
            </a:r>
            <a:endParaRPr b="0" i="0" sz="98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g3fa14372648_0_70"/>
          <p:cNvSpPr/>
          <p:nvPr/>
        </p:nvSpPr>
        <p:spPr>
          <a:xfrm>
            <a:off x="502920" y="3858768"/>
            <a:ext cx="73200" cy="2176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a14372648_0_70"/>
          <p:cNvSpPr/>
          <p:nvPr/>
        </p:nvSpPr>
        <p:spPr>
          <a:xfrm>
            <a:off x="731520" y="3858768"/>
            <a:ext cx="5669400" cy="21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Nỗi đau (Pain point)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biết chính xác con yếu chỗ nào để kèm riêng.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Đã thử app / gia sư nhưng không chắc học có đúng chỗ hổng không.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Sợ con thua thiệt nếu không có ai theo sát 1-1.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980"/>
              <a:buFont typeface="Noto Sans"/>
              <a:buChar char="•"/>
            </a:pPr>
            <a:r>
              <a:rPr b="0" i="0" lang="en-US" sz="98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chăm sóc cao cấp nhưng gia sư con người quá đắt để duy trì đều.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a14372648_0_70"/>
          <p:cNvSpPr/>
          <p:nvPr/>
        </p:nvSpPr>
        <p:spPr>
          <a:xfrm>
            <a:off x="6812280" y="1536192"/>
            <a:ext cx="4876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Các JTBD của khách hàng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a14372648_0_70"/>
          <p:cNvSpPr/>
          <p:nvPr/>
        </p:nvSpPr>
        <p:spPr>
          <a:xfrm>
            <a:off x="6812280" y="1847088"/>
            <a:ext cx="4876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1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Số trong ngoặc = % khách hàng có mong muốn này (theo kết quả khảo sát)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a14372648_0_70"/>
          <p:cNvSpPr/>
          <p:nvPr/>
        </p:nvSpPr>
        <p:spPr>
          <a:xfrm>
            <a:off x="6812280" y="2148840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giỏi tiếng Anh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fa14372648_0_70"/>
          <p:cNvSpPr/>
          <p:nvPr/>
        </p:nvSpPr>
        <p:spPr>
          <a:xfrm>
            <a:off x="6812280" y="2459736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a14372648_0_70"/>
          <p:cNvSpPr/>
          <p:nvPr/>
        </p:nvSpPr>
        <p:spPr>
          <a:xfrm>
            <a:off x="6812280" y="2459736"/>
            <a:ext cx="37716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a14372648_0_70"/>
          <p:cNvSpPr/>
          <p:nvPr/>
        </p:nvSpPr>
        <p:spPr>
          <a:xfrm>
            <a:off x="11076127" y="2423160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a14372648_0_70"/>
          <p:cNvSpPr/>
          <p:nvPr/>
        </p:nvSpPr>
        <p:spPr>
          <a:xfrm>
            <a:off x="6812280" y="2990088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học với Giáo viên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a14372648_0_70"/>
          <p:cNvSpPr/>
          <p:nvPr/>
        </p:nvSpPr>
        <p:spPr>
          <a:xfrm>
            <a:off x="6812280" y="3300984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a14372648_0_70"/>
          <p:cNvSpPr/>
          <p:nvPr/>
        </p:nvSpPr>
        <p:spPr>
          <a:xfrm>
            <a:off x="6812280" y="3300984"/>
            <a:ext cx="3352500" cy="164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a14372648_0_70"/>
          <p:cNvSpPr/>
          <p:nvPr/>
        </p:nvSpPr>
        <p:spPr>
          <a:xfrm>
            <a:off x="11076127" y="3264408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a14372648_0_70"/>
          <p:cNvSpPr/>
          <p:nvPr/>
        </p:nvSpPr>
        <p:spPr>
          <a:xfrm>
            <a:off x="6812280" y="3831336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thích học, tự giác học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a14372648_0_70"/>
          <p:cNvSpPr/>
          <p:nvPr/>
        </p:nvSpPr>
        <p:spPr>
          <a:xfrm>
            <a:off x="6812280" y="4142232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a14372648_0_70"/>
          <p:cNvSpPr/>
          <p:nvPr/>
        </p:nvSpPr>
        <p:spPr>
          <a:xfrm>
            <a:off x="6812280" y="4142232"/>
            <a:ext cx="29334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a14372648_0_70"/>
          <p:cNvSpPr/>
          <p:nvPr/>
        </p:nvSpPr>
        <p:spPr>
          <a:xfrm>
            <a:off x="11076127" y="4105656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70%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a14372648_0_70"/>
          <p:cNvSpPr/>
          <p:nvPr/>
        </p:nvSpPr>
        <p:spPr>
          <a:xfrm>
            <a:off x="6812280" y="4672584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yên tâm giao phó con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fa14372648_0_70"/>
          <p:cNvSpPr/>
          <p:nvPr/>
        </p:nvSpPr>
        <p:spPr>
          <a:xfrm>
            <a:off x="6812280" y="4983480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a14372648_0_70"/>
          <p:cNvSpPr/>
          <p:nvPr/>
        </p:nvSpPr>
        <p:spPr>
          <a:xfrm>
            <a:off x="6812280" y="4983480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a14372648_0_70"/>
          <p:cNvSpPr/>
          <p:nvPr/>
        </p:nvSpPr>
        <p:spPr>
          <a:xfrm>
            <a:off x="11076127" y="4946904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a14372648_0_70"/>
          <p:cNvSpPr/>
          <p:nvPr/>
        </p:nvSpPr>
        <p:spPr>
          <a:xfrm>
            <a:off x="6812280" y="5513832"/>
            <a:ext cx="487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Muốn con tự tin giao tiếp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a14372648_0_70"/>
          <p:cNvSpPr/>
          <p:nvPr/>
        </p:nvSpPr>
        <p:spPr>
          <a:xfrm>
            <a:off x="6812280" y="5824728"/>
            <a:ext cx="4190700" cy="164700"/>
          </a:xfrm>
          <a:prstGeom prst="rect">
            <a:avLst/>
          </a:prstGeom>
          <a:solidFill>
            <a:srgbClr val="DCE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a14372648_0_70"/>
          <p:cNvSpPr/>
          <p:nvPr/>
        </p:nvSpPr>
        <p:spPr>
          <a:xfrm>
            <a:off x="6812280" y="5824728"/>
            <a:ext cx="2514300" cy="164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a14372648_0_70"/>
          <p:cNvSpPr/>
          <p:nvPr/>
        </p:nvSpPr>
        <p:spPr>
          <a:xfrm>
            <a:off x="11076127" y="5788152"/>
            <a:ext cx="594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g3fa14372648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fa14372648_0_70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a14372648_0_70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5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a14372648_0_106"/>
          <p:cNvSpPr/>
          <p:nvPr/>
        </p:nvSpPr>
        <p:spPr>
          <a:xfrm>
            <a:off x="9052560" y="0"/>
            <a:ext cx="4480500" cy="4480500"/>
          </a:xfrm>
          <a:prstGeom prst="ellipse">
            <a:avLst/>
          </a:prstGeom>
          <a:solidFill>
            <a:srgbClr val="0C5786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a14372648_0_106"/>
          <p:cNvSpPr/>
          <p:nvPr/>
        </p:nvSpPr>
        <p:spPr>
          <a:xfrm>
            <a:off x="10332720" y="320040"/>
            <a:ext cx="3108900" cy="3108900"/>
          </a:xfrm>
          <a:prstGeom prst="ellipse">
            <a:avLst/>
          </a:prstGeom>
          <a:solidFill>
            <a:srgbClr val="A5BE00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a14372648_0_106"/>
          <p:cNvSpPr/>
          <p:nvPr/>
        </p:nvSpPr>
        <p:spPr>
          <a:xfrm>
            <a:off x="502920" y="2468880"/>
            <a:ext cx="274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a14372648_0_106"/>
          <p:cNvSpPr/>
          <p:nvPr/>
        </p:nvSpPr>
        <p:spPr>
          <a:xfrm>
            <a:off x="502920" y="3108960"/>
            <a:ext cx="640200" cy="411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a14372648_0_106"/>
          <p:cNvSpPr/>
          <p:nvPr/>
        </p:nvSpPr>
        <p:spPr>
          <a:xfrm>
            <a:off x="502920" y="3246120"/>
            <a:ext cx="1118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Giải pháp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g3fa14372648_0_106"/>
          <p:cNvSpPr/>
          <p:nvPr/>
        </p:nvSpPr>
        <p:spPr>
          <a:xfrm>
            <a:off x="502920" y="4297680"/>
            <a:ext cx="954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 — gia sư AI riêng, vá đúng lỗ hổng kiến thức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14372648_0_106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6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14372648_0_117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a14372648_0_117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 · Value story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a14372648_0_117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a14372648_0_117"/>
          <p:cNvSpPr/>
          <p:nvPr/>
        </p:nvSpPr>
        <p:spPr>
          <a:xfrm>
            <a:off x="502920" y="1325880"/>
            <a:ext cx="118800" cy="603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a14372648_0_117"/>
          <p:cNvSpPr/>
          <p:nvPr/>
        </p:nvSpPr>
        <p:spPr>
          <a:xfrm>
            <a:off x="777240" y="1280160"/>
            <a:ext cx="1091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Tên thương hiệu:  </a:t>
            </a:r>
            <a:r>
              <a:rPr b="1" i="0" lang="en-US" sz="12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EDUPIA AI TUTOR 1-1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Tagline:  </a:t>
            </a:r>
            <a:r>
              <a:rPr b="0" i="1" lang="en-US" sz="11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“Gia sư AI riêng — vá đúng lỗ hổng kiến thức.”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a14372648_0_117"/>
          <p:cNvSpPr/>
          <p:nvPr/>
        </p:nvSpPr>
        <p:spPr>
          <a:xfrm>
            <a:off x="502920" y="2148840"/>
            <a:ext cx="73200" cy="20118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14372648_0_117"/>
          <p:cNvSpPr/>
          <p:nvPr/>
        </p:nvSpPr>
        <p:spPr>
          <a:xfrm>
            <a:off x="731520" y="2148840"/>
            <a:ext cx="10957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Value 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1-kèm-1 với một trong các profile giáo viên ảo (giáo viên star) AI: giáo viên AI phân loại theo trình độ đầu vào — Level B/C/D học giáo viên AI người Việt; Level A học thêm 1 buổi giáo viên AI bản xứ Anh/Mỹ.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Mỗi buổi 45 phút; Routing Engine chọn ra các NLO học sinh đang yếu nhất để đưa ra nội dung luyện tập/ câu hỏi tiếp theo.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Practice, AI Speak và Edupia Club không tách biệt — cùng bám 1 NLO và ghi cùng 1 Mastery Profile, dưới sự đồng hành của Giáo viên chủ nhiệm.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a14372648_0_117"/>
          <p:cNvSpPr/>
          <p:nvPr/>
        </p:nvSpPr>
        <p:spPr>
          <a:xfrm>
            <a:off x="502920" y="4251960"/>
            <a:ext cx="73200" cy="20118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a14372648_0_117"/>
          <p:cNvSpPr/>
          <p:nvPr/>
        </p:nvSpPr>
        <p:spPr>
          <a:xfrm>
            <a:off x="731520" y="4251960"/>
            <a:ext cx="10957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390.000đ/tháng — bằng một phần nhỏ chi phí gia sư 1-1 truyền thống (hàng triệu đồng/tháng), nhờ vận hành AI ở quy mô lớn.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g3fa14372648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a14372648_0_117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a14372648_0_117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7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14372648_0_133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a14372648_0_133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USP nổi bật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a14372648_0_133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a14372648_0_133"/>
          <p:cNvSpPr/>
          <p:nvPr/>
        </p:nvSpPr>
        <p:spPr>
          <a:xfrm>
            <a:off x="502920" y="1325880"/>
            <a:ext cx="11185800" cy="914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a14372648_0_133"/>
          <p:cNvSpPr/>
          <p:nvPr/>
        </p:nvSpPr>
        <p:spPr>
          <a:xfrm>
            <a:off x="777240" y="1325880"/>
            <a:ext cx="10637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Noto Sans"/>
              <a:buNone/>
            </a:pPr>
            <a:r>
              <a:rPr b="1" i="1" lang="en-US" sz="12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“Gia sư AI 1-kèm-1 đầu tiên tại Việt Nam vá đúng lỗ hổng kiến thức theo dữ liệu thực (Mastery Profile) — không phải học đại trà, chỉ với chi phí bằng một phần nhỏ gia sư con người.”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a14372648_0_133"/>
          <p:cNvSpPr/>
          <p:nvPr/>
        </p:nvSpPr>
        <p:spPr>
          <a:xfrm>
            <a:off x="502920" y="2514600"/>
            <a:ext cx="3576300" cy="35205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a14372648_0_133"/>
          <p:cNvSpPr/>
          <p:nvPr/>
        </p:nvSpPr>
        <p:spPr>
          <a:xfrm>
            <a:off x="502920" y="2514600"/>
            <a:ext cx="3576300" cy="82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a14372648_0_133"/>
          <p:cNvSpPr/>
          <p:nvPr/>
        </p:nvSpPr>
        <p:spPr>
          <a:xfrm>
            <a:off x="704088" y="2770632"/>
            <a:ext cx="31740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theo dữ liệu thực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Engine: xác định các NLO còn yếu để đưa ra nội dung luyện tập, nội dung câu hỏi — không chọn ngẫu nhiên, không dạy lại từ đầu.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a14372648_0_133"/>
          <p:cNvSpPr/>
          <p:nvPr/>
        </p:nvSpPr>
        <p:spPr>
          <a:xfrm>
            <a:off x="4307738" y="2514600"/>
            <a:ext cx="3576300" cy="35205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a14372648_0_133"/>
          <p:cNvSpPr/>
          <p:nvPr/>
        </p:nvSpPr>
        <p:spPr>
          <a:xfrm>
            <a:off x="4307738" y="2514600"/>
            <a:ext cx="3576300" cy="82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a14372648_0_133"/>
          <p:cNvSpPr/>
          <p:nvPr/>
        </p:nvSpPr>
        <p:spPr>
          <a:xfrm>
            <a:off x="4508906" y="2770632"/>
            <a:ext cx="31740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Đầu tiên tại Việt Nam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Kết hợp gia sư AI + cá nhân hoá trong một buổi học 1-1.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a14372648_0_133"/>
          <p:cNvSpPr/>
          <p:nvPr/>
        </p:nvSpPr>
        <p:spPr>
          <a:xfrm>
            <a:off x="8112557" y="2514600"/>
            <a:ext cx="3576300" cy="35205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a14372648_0_133"/>
          <p:cNvSpPr/>
          <p:nvPr/>
        </p:nvSpPr>
        <p:spPr>
          <a:xfrm>
            <a:off x="8112557" y="2514600"/>
            <a:ext cx="3576300" cy="822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a14372648_0_133"/>
          <p:cNvSpPr/>
          <p:nvPr/>
        </p:nvSpPr>
        <p:spPr>
          <a:xfrm>
            <a:off x="8313725" y="2770632"/>
            <a:ext cx="31740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Chi phí bằng một phần nhỏ gia sư con người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333F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390.000đ/tháng so với gia sư 1-1 truyền thống hàng triệu đồng/tháng, nhờ vận hành AI ở quy mô lớn.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g3fa14372648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fa14372648_0_133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a14372648_0_133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8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14372648_0_154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a14372648_0_154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Selling point (SA → SB → SE)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a14372648_0_154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a14372648_0_154"/>
          <p:cNvSpPr/>
          <p:nvPr/>
        </p:nvSpPr>
        <p:spPr>
          <a:xfrm>
            <a:off x="502920" y="1271016"/>
            <a:ext cx="361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SA — ƯU ĐIỂM SẢN PHẨM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a14372648_0_154"/>
          <p:cNvSpPr/>
          <p:nvPr/>
        </p:nvSpPr>
        <p:spPr>
          <a:xfrm>
            <a:off x="4286402" y="1271016"/>
            <a:ext cx="361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SB — LỢI ÍCH CẢM NHẬN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a14372648_0_154"/>
          <p:cNvSpPr/>
          <p:nvPr/>
        </p:nvSpPr>
        <p:spPr>
          <a:xfrm>
            <a:off x="8069885" y="1271016"/>
            <a:ext cx="361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900"/>
              <a:buFont typeface="Noto Sans"/>
              <a:buNone/>
            </a:pPr>
            <a:r>
              <a:rPr b="1" i="0" lang="en-US" sz="12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SE — CẢM XÚC KHƠI GỢI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a14372648_0_154"/>
          <p:cNvSpPr/>
          <p:nvPr/>
        </p:nvSpPr>
        <p:spPr>
          <a:xfrm>
            <a:off x="502920" y="1600200"/>
            <a:ext cx="3618900" cy="7956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a14372648_0_154"/>
          <p:cNvSpPr/>
          <p:nvPr/>
        </p:nvSpPr>
        <p:spPr>
          <a:xfrm>
            <a:off x="649224" y="16002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1-1, 45 phút/buổi với giáo viên AI phân loại theo trình độ (Level A/B)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a14372648_0_154"/>
          <p:cNvSpPr/>
          <p:nvPr/>
        </p:nvSpPr>
        <p:spPr>
          <a:xfrm>
            <a:off x="4286402" y="1600200"/>
            <a:ext cx="3618900" cy="79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fa14372648_0_154"/>
          <p:cNvSpPr/>
          <p:nvPr/>
        </p:nvSpPr>
        <p:spPr>
          <a:xfrm>
            <a:off x="4432706" y="16002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được học riêng như có gia sư thật, được gọi tên, nhận xét đúng vào bài của con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a14372648_0_154"/>
          <p:cNvSpPr/>
          <p:nvPr/>
        </p:nvSpPr>
        <p:spPr>
          <a:xfrm>
            <a:off x="8069885" y="1600200"/>
            <a:ext cx="3618900" cy="795600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a14372648_0_154"/>
          <p:cNvSpPr/>
          <p:nvPr/>
        </p:nvSpPr>
        <p:spPr>
          <a:xfrm>
            <a:off x="8216189" y="16002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An tâm — con mình được quan tâm riêng, không bị bỏ lại giữa lớp đông.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a14372648_0_154"/>
          <p:cNvSpPr/>
          <p:nvPr/>
        </p:nvSpPr>
        <p:spPr>
          <a:xfrm>
            <a:off x="502920" y="2514600"/>
            <a:ext cx="3618900" cy="7956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a14372648_0_154"/>
          <p:cNvSpPr/>
          <p:nvPr/>
        </p:nvSpPr>
        <p:spPr>
          <a:xfrm>
            <a:off x="649224" y="25146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Routing Engine chọn đúng NLO đang yếu nhất mỗi buổi — không dạy đại trà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a14372648_0_154"/>
          <p:cNvSpPr/>
          <p:nvPr/>
        </p:nvSpPr>
        <p:spPr>
          <a:xfrm>
            <a:off x="4286402" y="2514600"/>
            <a:ext cx="3618900" cy="79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a14372648_0_154"/>
          <p:cNvSpPr/>
          <p:nvPr/>
        </p:nvSpPr>
        <p:spPr>
          <a:xfrm>
            <a:off x="4432706" y="25146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học đến đâu chắc đến đấy, không mất thời gian học lại cái đã biết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a14372648_0_154"/>
          <p:cNvSpPr/>
          <p:nvPr/>
        </p:nvSpPr>
        <p:spPr>
          <a:xfrm>
            <a:off x="8069885" y="2514600"/>
            <a:ext cx="3618900" cy="795600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a14372648_0_154"/>
          <p:cNvSpPr/>
          <p:nvPr/>
        </p:nvSpPr>
        <p:spPr>
          <a:xfrm>
            <a:off x="8216189" y="25146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Tin rằng tiền đầu tư đi đúng chỗ — không lãng phí thời gian của con.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a14372648_0_154"/>
          <p:cNvSpPr/>
          <p:nvPr/>
        </p:nvSpPr>
        <p:spPr>
          <a:xfrm>
            <a:off x="502920" y="3429000"/>
            <a:ext cx="3618900" cy="7956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fa14372648_0_154"/>
          <p:cNvSpPr/>
          <p:nvPr/>
        </p:nvSpPr>
        <p:spPr>
          <a:xfrm>
            <a:off x="649224" y="34290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iSpeak chấm phát âm theo âm vị, phản hồi ngay trong buổi học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a14372648_0_154"/>
          <p:cNvSpPr/>
          <p:nvPr/>
        </p:nvSpPr>
        <p:spPr>
          <a:xfrm>
            <a:off x="4286402" y="3429000"/>
            <a:ext cx="3618900" cy="79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a14372648_0_154"/>
          <p:cNvSpPr/>
          <p:nvPr/>
        </p:nvSpPr>
        <p:spPr>
          <a:xfrm>
            <a:off x="4432706" y="34290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Con luyện nói đều — phát âm tốt, không còn sợ nói sai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fa14372648_0_154"/>
          <p:cNvSpPr/>
          <p:nvPr/>
        </p:nvSpPr>
        <p:spPr>
          <a:xfrm>
            <a:off x="8069885" y="3429000"/>
            <a:ext cx="3618900" cy="795600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a14372648_0_154"/>
          <p:cNvSpPr/>
          <p:nvPr/>
        </p:nvSpPr>
        <p:spPr>
          <a:xfrm>
            <a:off x="8216189" y="34290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Tự hào khi con dám nói tiếng Anh trước người khác.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a14372648_0_154"/>
          <p:cNvSpPr/>
          <p:nvPr/>
        </p:nvSpPr>
        <p:spPr>
          <a:xfrm>
            <a:off x="502920" y="4343400"/>
            <a:ext cx="3618900" cy="7956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a14372648_0_154"/>
          <p:cNvSpPr/>
          <p:nvPr/>
        </p:nvSpPr>
        <p:spPr>
          <a:xfrm>
            <a:off x="649224" y="43434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+ Edupia Club cùng ghi 1 Mastery Profile với AI Tutor 1-1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a14372648_0_154"/>
          <p:cNvSpPr/>
          <p:nvPr/>
        </p:nvSpPr>
        <p:spPr>
          <a:xfrm>
            <a:off x="4286402" y="4343400"/>
            <a:ext cx="3618900" cy="79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a14372648_0_154"/>
          <p:cNvSpPr/>
          <p:nvPr/>
        </p:nvSpPr>
        <p:spPr>
          <a:xfrm>
            <a:off x="4432706" y="43434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cần lo 4 hệ thống rời rạc — mọi tiến bộ dồn về 1 báo cáo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a14372648_0_154"/>
          <p:cNvSpPr/>
          <p:nvPr/>
        </p:nvSpPr>
        <p:spPr>
          <a:xfrm>
            <a:off x="8069885" y="4343400"/>
            <a:ext cx="3618900" cy="795600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a14372648_0_154"/>
          <p:cNvSpPr/>
          <p:nvPr/>
        </p:nvSpPr>
        <p:spPr>
          <a:xfrm>
            <a:off x="8216189" y="43434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Nhẹ đầu — không phải tự ghép nối nhiều thứ rời rạc để hiểu con đang ở đâu.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a14372648_0_154"/>
          <p:cNvSpPr/>
          <p:nvPr/>
        </p:nvSpPr>
        <p:spPr>
          <a:xfrm>
            <a:off x="502920" y="5257800"/>
            <a:ext cx="3618900" cy="7956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a14372648_0_154"/>
          <p:cNvSpPr/>
          <p:nvPr/>
        </p:nvSpPr>
        <p:spPr>
          <a:xfrm>
            <a:off x="649224" y="52578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10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đồng hành, nhắc lịch, gọi điện báo kết quả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a14372648_0_154"/>
          <p:cNvSpPr/>
          <p:nvPr/>
        </p:nvSpPr>
        <p:spPr>
          <a:xfrm>
            <a:off x="4286402" y="5257800"/>
            <a:ext cx="3618900" cy="79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a14372648_0_154"/>
          <p:cNvSpPr/>
          <p:nvPr/>
        </p:nvSpPr>
        <p:spPr>
          <a:xfrm>
            <a:off x="4432706" y="52578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10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Bố mẹ yên tâm giao con cho Edupia, không phải tự đôn đốc từng buổi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a14372648_0_154"/>
          <p:cNvSpPr/>
          <p:nvPr/>
        </p:nvSpPr>
        <p:spPr>
          <a:xfrm>
            <a:off x="8069885" y="5257800"/>
            <a:ext cx="3618900" cy="795600"/>
          </a:xfrm>
          <a:prstGeom prst="rect">
            <a:avLst/>
          </a:prstGeom>
          <a:solidFill>
            <a:srgbClr val="F4F7EC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a14372648_0_154"/>
          <p:cNvSpPr/>
          <p:nvPr/>
        </p:nvSpPr>
        <p:spPr>
          <a:xfrm>
            <a:off x="8216189" y="5257800"/>
            <a:ext cx="33264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5A16"/>
              </a:buClr>
              <a:buSzPts val="900"/>
              <a:buFont typeface="Noto Sans"/>
              <a:buNone/>
            </a:pPr>
            <a:r>
              <a:rPr b="0" i="1" lang="en-US" sz="1000" u="none" cap="none" strike="noStrike">
                <a:solidFill>
                  <a:srgbClr val="4A5A16"/>
                </a:solidFill>
                <a:latin typeface="Noto Sans"/>
                <a:ea typeface="Noto Sans"/>
                <a:cs typeface="Noto Sans"/>
                <a:sym typeface="Noto Sans"/>
              </a:rPr>
              <a:t>Yên tâm giao con — có người lo thay, không phải ngày nào cũng đôn đốc.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g3fa14372648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fa14372648_0_154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a14372648_0_154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9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14372648_0_197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a14372648_0_197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So sánh các giải pháp trên thị trường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a14372648_0_197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a14372648_0_197"/>
          <p:cNvSpPr/>
          <p:nvPr/>
        </p:nvSpPr>
        <p:spPr>
          <a:xfrm>
            <a:off x="502920" y="2212848"/>
            <a:ext cx="222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với GV giỏi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a14372648_0_197"/>
          <p:cNvSpPr/>
          <p:nvPr/>
        </p:nvSpPr>
        <p:spPr>
          <a:xfrm>
            <a:off x="502920" y="3054096"/>
            <a:ext cx="222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Vá đúng lỗ hổng cá nhân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a14372648_0_197"/>
          <p:cNvSpPr/>
          <p:nvPr/>
        </p:nvSpPr>
        <p:spPr>
          <a:xfrm>
            <a:off x="502920" y="3895344"/>
            <a:ext cx="222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Chấm phát âm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a14372648_0_197"/>
          <p:cNvSpPr/>
          <p:nvPr/>
        </p:nvSpPr>
        <p:spPr>
          <a:xfrm>
            <a:off x="502920" y="4736592"/>
            <a:ext cx="222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Chi phí / tháng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a14372648_0_197"/>
          <p:cNvSpPr/>
          <p:nvPr/>
        </p:nvSpPr>
        <p:spPr>
          <a:xfrm>
            <a:off x="502920" y="5577840"/>
            <a:ext cx="2222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Ai theo sát tiến độ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a14372648_0_197"/>
          <p:cNvSpPr/>
          <p:nvPr/>
        </p:nvSpPr>
        <p:spPr>
          <a:xfrm>
            <a:off x="2907792" y="1554480"/>
            <a:ext cx="2140500" cy="54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a14372648_0_197"/>
          <p:cNvSpPr/>
          <p:nvPr/>
        </p:nvSpPr>
        <p:spPr>
          <a:xfrm>
            <a:off x="2962656" y="1554480"/>
            <a:ext cx="203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Gia sư con người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a14372648_0_197"/>
          <p:cNvSpPr/>
          <p:nvPr/>
        </p:nvSpPr>
        <p:spPr>
          <a:xfrm>
            <a:off x="2907792" y="2212848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a14372648_0_197"/>
          <p:cNvSpPr/>
          <p:nvPr/>
        </p:nvSpPr>
        <p:spPr>
          <a:xfrm>
            <a:off x="2990088" y="2212848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 sư (chất lượng không đồng đều)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a14372648_0_197"/>
          <p:cNvSpPr/>
          <p:nvPr/>
        </p:nvSpPr>
        <p:spPr>
          <a:xfrm>
            <a:off x="2907792" y="3054096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a14372648_0_197"/>
          <p:cNvSpPr/>
          <p:nvPr/>
        </p:nvSpPr>
        <p:spPr>
          <a:xfrm>
            <a:off x="2990088" y="3054096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Tuỳ gia sư, không có dữ liệu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a14372648_0_197"/>
          <p:cNvSpPr/>
          <p:nvPr/>
        </p:nvSpPr>
        <p:spPr>
          <a:xfrm>
            <a:off x="2907792" y="3895344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a14372648_0_197"/>
          <p:cNvSpPr/>
          <p:nvPr/>
        </p:nvSpPr>
        <p:spPr>
          <a:xfrm>
            <a:off x="2990088" y="3895344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Chủ quan theo tai người dạy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a14372648_0_197"/>
          <p:cNvSpPr/>
          <p:nvPr/>
        </p:nvSpPr>
        <p:spPr>
          <a:xfrm>
            <a:off x="2907792" y="4736592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a14372648_0_197"/>
          <p:cNvSpPr/>
          <p:nvPr/>
        </p:nvSpPr>
        <p:spPr>
          <a:xfrm>
            <a:off x="2990088" y="4736592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Vài triệu đồng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a14372648_0_197"/>
          <p:cNvSpPr/>
          <p:nvPr/>
        </p:nvSpPr>
        <p:spPr>
          <a:xfrm>
            <a:off x="2907792" y="5577840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fa14372648_0_197"/>
          <p:cNvSpPr/>
          <p:nvPr/>
        </p:nvSpPr>
        <p:spPr>
          <a:xfrm>
            <a:off x="2990088" y="5577840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 ngoài gia sư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a14372648_0_197"/>
          <p:cNvSpPr/>
          <p:nvPr/>
        </p:nvSpPr>
        <p:spPr>
          <a:xfrm>
            <a:off x="5121326" y="1554480"/>
            <a:ext cx="2140500" cy="54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a14372648_0_197"/>
          <p:cNvSpPr/>
          <p:nvPr/>
        </p:nvSpPr>
        <p:spPr>
          <a:xfrm>
            <a:off x="5176190" y="1554480"/>
            <a:ext cx="203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App tự học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a14372648_0_197"/>
          <p:cNvSpPr/>
          <p:nvPr/>
        </p:nvSpPr>
        <p:spPr>
          <a:xfrm>
            <a:off x="5121326" y="2212848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fa14372648_0_197"/>
          <p:cNvSpPr/>
          <p:nvPr/>
        </p:nvSpPr>
        <p:spPr>
          <a:xfrm>
            <a:off x="5203622" y="2212848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 giáo viên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a14372648_0_197"/>
          <p:cNvSpPr/>
          <p:nvPr/>
        </p:nvSpPr>
        <p:spPr>
          <a:xfrm>
            <a:off x="5121326" y="3054096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a14372648_0_197"/>
          <p:cNvSpPr/>
          <p:nvPr/>
        </p:nvSpPr>
        <p:spPr>
          <a:xfrm>
            <a:off x="5203622" y="3054096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a14372648_0_197"/>
          <p:cNvSpPr/>
          <p:nvPr/>
        </p:nvSpPr>
        <p:spPr>
          <a:xfrm>
            <a:off x="5121326" y="3895344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a14372648_0_197"/>
          <p:cNvSpPr/>
          <p:nvPr/>
        </p:nvSpPr>
        <p:spPr>
          <a:xfrm>
            <a:off x="5203622" y="3895344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Hiếm khi có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a14372648_0_197"/>
          <p:cNvSpPr/>
          <p:nvPr/>
        </p:nvSpPr>
        <p:spPr>
          <a:xfrm>
            <a:off x="5121326" y="4736592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a14372648_0_197"/>
          <p:cNvSpPr/>
          <p:nvPr/>
        </p:nvSpPr>
        <p:spPr>
          <a:xfrm>
            <a:off x="5203622" y="4736592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60–200k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fa14372648_0_197"/>
          <p:cNvSpPr/>
          <p:nvPr/>
        </p:nvSpPr>
        <p:spPr>
          <a:xfrm>
            <a:off x="5121326" y="5577840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a14372648_0_197"/>
          <p:cNvSpPr/>
          <p:nvPr/>
        </p:nvSpPr>
        <p:spPr>
          <a:xfrm>
            <a:off x="5203622" y="5577840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a14372648_0_197"/>
          <p:cNvSpPr/>
          <p:nvPr/>
        </p:nvSpPr>
        <p:spPr>
          <a:xfrm>
            <a:off x="7334860" y="1554480"/>
            <a:ext cx="2140500" cy="54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a14372648_0_197"/>
          <p:cNvSpPr/>
          <p:nvPr/>
        </p:nvSpPr>
        <p:spPr>
          <a:xfrm>
            <a:off x="7389724" y="1554480"/>
            <a:ext cx="203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Class hi</a:t>
            </a:r>
            <a:r>
              <a:rPr b="1" lang="en-US" sz="10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ện tại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(h</a:t>
            </a:r>
            <a:r>
              <a:rPr b="1" lang="en-US" sz="10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ọc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nhóm)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a14372648_0_197"/>
          <p:cNvSpPr/>
          <p:nvPr/>
        </p:nvSpPr>
        <p:spPr>
          <a:xfrm>
            <a:off x="7334860" y="2212848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fa14372648_0_197"/>
          <p:cNvSpPr/>
          <p:nvPr/>
        </p:nvSpPr>
        <p:spPr>
          <a:xfrm>
            <a:off x="7417156" y="2212848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GV trường quốc tế + AI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a14372648_0_197"/>
          <p:cNvSpPr/>
          <p:nvPr/>
        </p:nvSpPr>
        <p:spPr>
          <a:xfrm>
            <a:off x="7334860" y="3054096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a14372648_0_197"/>
          <p:cNvSpPr/>
          <p:nvPr/>
        </p:nvSpPr>
        <p:spPr>
          <a:xfrm>
            <a:off x="7417156" y="3054096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Theo lớp, chưa tới từng NLO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fa14372648_0_197"/>
          <p:cNvSpPr/>
          <p:nvPr/>
        </p:nvSpPr>
        <p:spPr>
          <a:xfrm>
            <a:off x="7334860" y="3895344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a14372648_0_197"/>
          <p:cNvSpPr/>
          <p:nvPr/>
        </p:nvSpPr>
        <p:spPr>
          <a:xfrm>
            <a:off x="7417156" y="3895344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trong lớp đông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a14372648_0_197"/>
          <p:cNvSpPr/>
          <p:nvPr/>
        </p:nvSpPr>
        <p:spPr>
          <a:xfrm>
            <a:off x="7334860" y="4736592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a14372648_0_197"/>
          <p:cNvSpPr/>
          <p:nvPr/>
        </p:nvSpPr>
        <p:spPr>
          <a:xfrm>
            <a:off x="7417156" y="4736592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~2</a:t>
            </a:r>
            <a:r>
              <a:rPr lang="en-US" sz="92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50</a:t>
            </a: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a14372648_0_197"/>
          <p:cNvSpPr/>
          <p:nvPr/>
        </p:nvSpPr>
        <p:spPr>
          <a:xfrm>
            <a:off x="7334860" y="5577840"/>
            <a:ext cx="2140500" cy="749700"/>
          </a:xfrm>
          <a:prstGeom prst="rect">
            <a:avLst/>
          </a:prstGeom>
          <a:solidFill>
            <a:srgbClr val="F2FAFB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a14372648_0_197"/>
          <p:cNvSpPr/>
          <p:nvPr/>
        </p:nvSpPr>
        <p:spPr>
          <a:xfrm>
            <a:off x="7417156" y="5577840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2333F"/>
              </a:buClr>
              <a:buSzPts val="920"/>
              <a:buFont typeface="Noto Sans"/>
              <a:buNone/>
            </a:pPr>
            <a:r>
              <a:rPr b="0" i="0" lang="en-US" sz="92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Ban giáo vụ chung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a14372648_0_197"/>
          <p:cNvSpPr/>
          <p:nvPr/>
        </p:nvSpPr>
        <p:spPr>
          <a:xfrm>
            <a:off x="9548393" y="1554480"/>
            <a:ext cx="2140500" cy="54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a14372648_0_197"/>
          <p:cNvSpPr/>
          <p:nvPr/>
        </p:nvSpPr>
        <p:spPr>
          <a:xfrm>
            <a:off x="9603257" y="1554480"/>
            <a:ext cx="203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Tutor 1-1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a14372648_0_197"/>
          <p:cNvSpPr/>
          <p:nvPr/>
        </p:nvSpPr>
        <p:spPr>
          <a:xfrm>
            <a:off x="9548393" y="2212848"/>
            <a:ext cx="2140500" cy="749700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a14372648_0_197"/>
          <p:cNvSpPr/>
          <p:nvPr/>
        </p:nvSpPr>
        <p:spPr>
          <a:xfrm>
            <a:off x="9630689" y="2212848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AI phân loại theo trình độ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a14372648_0_197"/>
          <p:cNvSpPr/>
          <p:nvPr/>
        </p:nvSpPr>
        <p:spPr>
          <a:xfrm>
            <a:off x="9548393" y="3054096"/>
            <a:ext cx="2140500" cy="749700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a14372648_0_197"/>
          <p:cNvSpPr/>
          <p:nvPr/>
        </p:nvSpPr>
        <p:spPr>
          <a:xfrm>
            <a:off x="9630689" y="3054096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 theo NLO cá nhân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a14372648_0_197"/>
          <p:cNvSpPr/>
          <p:nvPr/>
        </p:nvSpPr>
        <p:spPr>
          <a:xfrm>
            <a:off x="9548393" y="3895344"/>
            <a:ext cx="2140500" cy="749700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a14372648_0_197"/>
          <p:cNvSpPr/>
          <p:nvPr/>
        </p:nvSpPr>
        <p:spPr>
          <a:xfrm>
            <a:off x="9630689" y="3895344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chấm riêng từng con trong buổi học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a14372648_0_197"/>
          <p:cNvSpPr/>
          <p:nvPr/>
        </p:nvSpPr>
        <p:spPr>
          <a:xfrm>
            <a:off x="9548393" y="4736592"/>
            <a:ext cx="2140500" cy="749700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a14372648_0_197"/>
          <p:cNvSpPr/>
          <p:nvPr/>
        </p:nvSpPr>
        <p:spPr>
          <a:xfrm>
            <a:off x="9630689" y="4736592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390.000đ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a14372648_0_197"/>
          <p:cNvSpPr/>
          <p:nvPr/>
        </p:nvSpPr>
        <p:spPr>
          <a:xfrm>
            <a:off x="9548393" y="5577840"/>
            <a:ext cx="2140500" cy="749700"/>
          </a:xfrm>
          <a:prstGeom prst="rect">
            <a:avLst/>
          </a:prstGeom>
          <a:solidFill>
            <a:srgbClr val="EAF3F7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a14372648_0_197"/>
          <p:cNvSpPr/>
          <p:nvPr/>
        </p:nvSpPr>
        <p:spPr>
          <a:xfrm>
            <a:off x="9630689" y="5577840"/>
            <a:ext cx="19758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920"/>
              <a:buFont typeface="Noto Sans"/>
              <a:buNone/>
            </a:pPr>
            <a:r>
              <a:rPr b="1" i="0" lang="en-US" sz="92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+ GVCN + Mastery Profile riêng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g3fa14372648_0_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fa14372648_0_197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a14372648_0_197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10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a14372648_0_260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03 — GIẢI PHÁP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a14372648_0_260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Before &amp; After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a14372648_0_260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a14372648_0_260"/>
          <p:cNvSpPr/>
          <p:nvPr/>
        </p:nvSpPr>
        <p:spPr>
          <a:xfrm>
            <a:off x="502920" y="1271016"/>
            <a:ext cx="551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BEFORE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a14372648_0_260"/>
          <p:cNvSpPr/>
          <p:nvPr/>
        </p:nvSpPr>
        <p:spPr>
          <a:xfrm>
            <a:off x="6178144" y="1271016"/>
            <a:ext cx="551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8E0D"/>
              </a:buClr>
              <a:buSzPts val="1000"/>
              <a:buFont typeface="Noto Sans"/>
              <a:buNone/>
            </a:pPr>
            <a:r>
              <a:rPr b="1" i="0" lang="en-US" sz="100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a14372648_0_260"/>
          <p:cNvSpPr/>
          <p:nvPr/>
        </p:nvSpPr>
        <p:spPr>
          <a:xfrm>
            <a:off x="502920" y="1600200"/>
            <a:ext cx="5510700" cy="795600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a14372648_0_260"/>
          <p:cNvSpPr/>
          <p:nvPr/>
        </p:nvSpPr>
        <p:spPr>
          <a:xfrm>
            <a:off x="6178144" y="1600200"/>
            <a:ext cx="5510700" cy="795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a14372648_0_260"/>
          <p:cNvSpPr/>
          <p:nvPr/>
        </p:nvSpPr>
        <p:spPr>
          <a:xfrm>
            <a:off x="667512" y="16002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học lớp đông, không rõ đang yếu chỗ nào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a14372648_0_260"/>
          <p:cNvSpPr/>
          <p:nvPr/>
        </p:nvSpPr>
        <p:spPr>
          <a:xfrm>
            <a:off x="6342736" y="16002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Routing Engine xác định đúng NLO yếu nhất mỗi tuần, vá gọn từng lỗ hổng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a14372648_0_260"/>
          <p:cNvSpPr/>
          <p:nvPr/>
        </p:nvSpPr>
        <p:spPr>
          <a:xfrm>
            <a:off x="502920" y="2514600"/>
            <a:ext cx="5510700" cy="795600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a14372648_0_260"/>
          <p:cNvSpPr/>
          <p:nvPr/>
        </p:nvSpPr>
        <p:spPr>
          <a:xfrm>
            <a:off x="6178144" y="2514600"/>
            <a:ext cx="5510700" cy="795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a14372648_0_260"/>
          <p:cNvSpPr/>
          <p:nvPr/>
        </p:nvSpPr>
        <p:spPr>
          <a:xfrm>
            <a:off x="667512" y="25146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Học phí gia sư 1-1 quá cao để duy trì đều đặn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a14372648_0_260"/>
          <p:cNvSpPr/>
          <p:nvPr/>
        </p:nvSpPr>
        <p:spPr>
          <a:xfrm>
            <a:off x="6342736" y="25146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390.000đ/tháng — bằng một phần nhỏ chi phí gia sư con người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a14372648_0_260"/>
          <p:cNvSpPr/>
          <p:nvPr/>
        </p:nvSpPr>
        <p:spPr>
          <a:xfrm>
            <a:off x="502920" y="3429000"/>
            <a:ext cx="5510700" cy="795600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a14372648_0_260"/>
          <p:cNvSpPr/>
          <p:nvPr/>
        </p:nvSpPr>
        <p:spPr>
          <a:xfrm>
            <a:off x="6178144" y="3429000"/>
            <a:ext cx="5510700" cy="795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a14372648_0_260"/>
          <p:cNvSpPr/>
          <p:nvPr/>
        </p:nvSpPr>
        <p:spPr>
          <a:xfrm>
            <a:off x="667512" y="34290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Con ngại nói, sợ phát âm sai không ai chỉnh ngay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a14372648_0_260"/>
          <p:cNvSpPr/>
          <p:nvPr/>
        </p:nvSpPr>
        <p:spPr>
          <a:xfrm>
            <a:off x="6342736" y="34290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iSpeak chấm - chữa phát âm theo âm vị, phản hồi ngay trong buổi học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a14372648_0_260"/>
          <p:cNvSpPr/>
          <p:nvPr/>
        </p:nvSpPr>
        <p:spPr>
          <a:xfrm>
            <a:off x="502920" y="4343400"/>
            <a:ext cx="5510700" cy="795600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a14372648_0_260"/>
          <p:cNvSpPr/>
          <p:nvPr/>
        </p:nvSpPr>
        <p:spPr>
          <a:xfrm>
            <a:off x="6178144" y="4343400"/>
            <a:ext cx="5510700" cy="795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fa14372648_0_260"/>
          <p:cNvSpPr/>
          <p:nvPr/>
        </p:nvSpPr>
        <p:spPr>
          <a:xfrm>
            <a:off x="667512" y="43434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Phụ huynh không biết con học gì, tiến bộ ra sao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a14372648_0_260"/>
          <p:cNvSpPr/>
          <p:nvPr/>
        </p:nvSpPr>
        <p:spPr>
          <a:xfrm>
            <a:off x="6342736" y="43434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Báo cáo Mastery Profile theo tuần qua Giáo viên chủ nhiệm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fa14372648_0_260"/>
          <p:cNvSpPr/>
          <p:nvPr/>
        </p:nvSpPr>
        <p:spPr>
          <a:xfrm>
            <a:off x="502920" y="5257800"/>
            <a:ext cx="5510700" cy="795600"/>
          </a:xfrm>
          <a:prstGeom prst="rect">
            <a:avLst/>
          </a:prstGeom>
          <a:solidFill>
            <a:srgbClr val="F4F5F6"/>
          </a:solidFill>
          <a:ln cap="flat" cmpd="sng" w="12700">
            <a:solidFill>
              <a:srgbClr val="DCE7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a14372648_0_260"/>
          <p:cNvSpPr/>
          <p:nvPr/>
        </p:nvSpPr>
        <p:spPr>
          <a:xfrm>
            <a:off x="6178144" y="5257800"/>
            <a:ext cx="5510700" cy="795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a14372648_0_260"/>
          <p:cNvSpPr/>
          <p:nvPr/>
        </p:nvSpPr>
        <p:spPr>
          <a:xfrm>
            <a:off x="667512" y="52578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60"/>
              <a:buFont typeface="Noto Sans"/>
              <a:buNone/>
            </a:pPr>
            <a:r>
              <a:rPr b="0" i="0" lang="en-US" sz="96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4 hoạt động học rời rạc, không ai kết nối lại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a14372648_0_260"/>
          <p:cNvSpPr/>
          <p:nvPr/>
        </p:nvSpPr>
        <p:spPr>
          <a:xfrm>
            <a:off x="6342736" y="5257800"/>
            <a:ext cx="51813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Noto Sans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AI Practice / Speak / Club cùng bám 1 NLO, cùng 1 Mastery Profile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g3fa14372648_0_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a14372648_0_260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a14372648_0_260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11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7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14372648_0_292"/>
          <p:cNvSpPr/>
          <p:nvPr/>
        </p:nvSpPr>
        <p:spPr>
          <a:xfrm>
            <a:off x="9052560" y="0"/>
            <a:ext cx="4480500" cy="4480500"/>
          </a:xfrm>
          <a:prstGeom prst="ellipse">
            <a:avLst/>
          </a:prstGeom>
          <a:solidFill>
            <a:srgbClr val="0C5786">
              <a:alpha val="5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a14372648_0_292"/>
          <p:cNvSpPr/>
          <p:nvPr/>
        </p:nvSpPr>
        <p:spPr>
          <a:xfrm>
            <a:off x="10332720" y="320040"/>
            <a:ext cx="3108900" cy="3108900"/>
          </a:xfrm>
          <a:prstGeom prst="ellipse">
            <a:avLst/>
          </a:prstGeom>
          <a:solidFill>
            <a:srgbClr val="A5BE00">
              <a:alpha val="16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a14372648_0_292"/>
          <p:cNvSpPr/>
          <p:nvPr/>
        </p:nvSpPr>
        <p:spPr>
          <a:xfrm>
            <a:off x="502920" y="2468880"/>
            <a:ext cx="274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BE0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A5BE00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a14372648_0_292"/>
          <p:cNvSpPr/>
          <p:nvPr/>
        </p:nvSpPr>
        <p:spPr>
          <a:xfrm>
            <a:off x="502920" y="3108960"/>
            <a:ext cx="640200" cy="411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a14372648_0_292"/>
          <p:cNvSpPr/>
          <p:nvPr/>
        </p:nvSpPr>
        <p:spPr>
          <a:xfrm>
            <a:off x="502920" y="3246120"/>
            <a:ext cx="1118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Cấu trúc sản phẩm và mô tả tính năng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g3fa14372648_0_292"/>
          <p:cNvSpPr/>
          <p:nvPr/>
        </p:nvSpPr>
        <p:spPr>
          <a:xfrm>
            <a:off x="502920" y="4297680"/>
            <a:ext cx="954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3EE"/>
              </a:buClr>
              <a:buSzPts val="1400"/>
              <a:buFont typeface="Noto Sans"/>
              <a:buNone/>
            </a:pPr>
            <a:r>
              <a:rPr lang="en-US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2 buổi/tuần AI Tutor 1-1</a:t>
            </a:r>
            <a:r>
              <a:rPr b="0" i="0" lang="en-US" sz="1400" u="none" cap="none" strike="noStrike">
                <a:solidFill>
                  <a:srgbClr val="CFE3EE"/>
                </a:solidFill>
                <a:latin typeface="Noto Sans"/>
                <a:ea typeface="Noto Sans"/>
                <a:cs typeface="Noto Sans"/>
                <a:sym typeface="Noto Sans"/>
              </a:rPr>
              <a:t> + buổi chuyên sâu · Khung lịch linh hoạt · AI Practice · AI Speak mỗi ngày · Edupia Club · GVCN xuyên suốt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fa14372648_0_292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4D8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9FC4D8"/>
                </a:solidFill>
                <a:latin typeface="Noto Sans"/>
                <a:ea typeface="Noto Sans"/>
                <a:cs typeface="Noto Sans"/>
                <a:sym typeface="Noto Sans"/>
              </a:rPr>
              <a:t>12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a14372648_0_303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a14372648_0_303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tổng thể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a14372648_0_303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a14372648_0_303"/>
          <p:cNvSpPr/>
          <p:nvPr/>
        </p:nvSpPr>
        <p:spPr>
          <a:xfrm>
            <a:off x="502920" y="1280160"/>
            <a:ext cx="1118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Nội dung cá nhân hoá theo NLO Taxonomy (1.473 đơn vị) — bám sát SGK Global Success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a14372648_0_303"/>
          <p:cNvSpPr/>
          <p:nvPr/>
        </p:nvSpPr>
        <p:spPr>
          <a:xfrm>
            <a:off x="502920" y="1874520"/>
            <a:ext cx="73200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a14372648_0_303"/>
          <p:cNvSpPr/>
          <p:nvPr/>
        </p:nvSpPr>
        <p:spPr>
          <a:xfrm>
            <a:off x="731520" y="187452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· </a:t>
            </a:r>
            <a:r>
              <a:rPr b="1" lang="en-US" sz="125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 buổi chính khoá/ </a:t>
            </a:r>
            <a:r>
              <a:rPr b="1" lang="en-US" sz="125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tuần </a:t>
            </a: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+ 1 buổi chuyên sâu</a:t>
            </a:r>
            <a:r>
              <a:rPr b="1" lang="en-US" sz="1250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 sau mỗi 4 buổi chính khóa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Buổi học adaptive theo Mastery Profile, </a:t>
            </a:r>
            <a:r>
              <a:rPr b="1" i="0" lang="en-US" sz="10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trong khung NLO đã chia và bám sát chương trình SGK Global Success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— không lệch tiến độ chương trình. Giáo viên AI phân loại theo trình độ (Level A/B); khung lịch học linh hoạt, nhiều khung giờ để lựa chọn.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a14372648_0_303"/>
          <p:cNvSpPr/>
          <p:nvPr/>
        </p:nvSpPr>
        <p:spPr>
          <a:xfrm>
            <a:off x="502920" y="2994660"/>
            <a:ext cx="73200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fa14372648_0_303"/>
          <p:cNvSpPr/>
          <p:nvPr/>
        </p:nvSpPr>
        <p:spPr>
          <a:xfrm>
            <a:off x="731520" y="299466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+ AI Speak · nâng cấp giống Concept 1.2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Practice: Staircase Difficulty + trộn NLO 40% yếu / 40% mới học / 20% ôn chống quên + Mastery cập nhật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Speak: bám NLO, ghi cùng Mastery Profile — </a:t>
            </a:r>
            <a:r>
              <a:rPr b="1" i="0" lang="en-US" sz="1050" u="none" cap="none" strike="noStrike">
                <a:solidFill>
                  <a:srgbClr val="518E0D"/>
                </a:solidFill>
                <a:latin typeface="Noto Sans"/>
                <a:ea typeface="Noto Sans"/>
                <a:cs typeface="Noto Sans"/>
                <a:sym typeface="Noto Sans"/>
              </a:rPr>
              <a:t>bổ sung tính năng nói nhập vai theo tình huống (phát triển mới).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a14372648_0_303"/>
          <p:cNvSpPr/>
          <p:nvPr/>
        </p:nvSpPr>
        <p:spPr>
          <a:xfrm>
            <a:off x="502920" y="4114800"/>
            <a:ext cx="73200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a14372648_0_303"/>
          <p:cNvSpPr/>
          <p:nvPr/>
        </p:nvSpPr>
        <p:spPr>
          <a:xfrm>
            <a:off x="731520" y="411480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· tích hợp Mastery Profile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Giữ mô hình CLB đang chạy nhưng không còn tách biệt: thử thách bám NLO đang học, điểm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a14372648_0_303"/>
          <p:cNvSpPr/>
          <p:nvPr/>
        </p:nvSpPr>
        <p:spPr>
          <a:xfrm>
            <a:off x="502920" y="5234940"/>
            <a:ext cx="73200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a14372648_0_303"/>
          <p:cNvSpPr/>
          <p:nvPr/>
        </p:nvSpPr>
        <p:spPr>
          <a:xfrm>
            <a:off x="731520" y="523494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chủ nhiệm · xuyên suốt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Chăm sóc, hỗ trợ, theo dõi, báo cáo toàn bộ quá trình học tập và rèn luyện.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g3fa14372648_0_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g3fa14372648_0_303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a14372648_0_303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13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a14372648_0_322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a14372648_0_322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Tutor 1-1 — buổi học 45 phút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a14372648_0_322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fa14372648_0_322"/>
          <p:cNvSpPr/>
          <p:nvPr/>
        </p:nvSpPr>
        <p:spPr>
          <a:xfrm>
            <a:off x="502920" y="1280160"/>
            <a:ext cx="1118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i="1" lang="en-US" sz="10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buổi chính khoá/ tu</a:t>
            </a:r>
            <a:r>
              <a:rPr i="1" lang="en-US" sz="10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ần</a:t>
            </a: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+ 1 buổi chuyên sâu </a:t>
            </a:r>
            <a:r>
              <a:rPr i="1" lang="en-US" sz="1050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sau mỗi 4 buổi chính khóa</a:t>
            </a: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 · khung lịch linh hoạt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a14372648_0_322"/>
          <p:cNvSpPr/>
          <p:nvPr/>
        </p:nvSpPr>
        <p:spPr>
          <a:xfrm>
            <a:off x="502920" y="1874520"/>
            <a:ext cx="73200" cy="1402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a14372648_0_322"/>
          <p:cNvSpPr/>
          <p:nvPr/>
        </p:nvSpPr>
        <p:spPr>
          <a:xfrm>
            <a:off x="731520" y="187452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Cấu trúc buổi học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1 (20'): Dạy theo slide — video hoạt hình học từ vựng + video hội thoại học ngữ pháp.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2 (20'): Hỏi đáp &amp; sửa lỗi qua iSpeak — Routing Engine chọn câu theo đúng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Phần 3 (5'): Tương tác – phản hồi – nhắc bài tập về nhà (giao ngay sau buổi).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a14372648_0_322"/>
          <p:cNvSpPr/>
          <p:nvPr/>
        </p:nvSpPr>
        <p:spPr>
          <a:xfrm>
            <a:off x="502920" y="3368040"/>
            <a:ext cx="73200" cy="1402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fa14372648_0_322"/>
          <p:cNvSpPr/>
          <p:nvPr/>
        </p:nvSpPr>
        <p:spPr>
          <a:xfrm>
            <a:off x="731520" y="336804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Giáo viên AI phân loại theo trình độ (Level A/B)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Level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(yếu/trung bình): giáo viên AI người Việt, hướng dẫn chi tiết, gần gũi. </a:t>
            </a:r>
            <a:endParaRPr b="0" i="0" sz="1050" u="none" cap="none" strike="noStrike">
              <a:solidFill>
                <a:srgbClr val="2233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Level </a:t>
            </a: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B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(khá/giỏi): 1 buổi giáo viên AI người Việt (ngữ pháp chuyên sâu) + 1 buổi giáo viên AI bản xứ Anh/Mỹ (luyện giao tiếp).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Giao diện 2 camera kiểu học 1-1 thật — giáo viên AI + học sinh; huy hiệu &amp; thử thách ghi nhận tiến bộ real-time.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fa14372648_0_322"/>
          <p:cNvSpPr/>
          <p:nvPr/>
        </p:nvSpPr>
        <p:spPr>
          <a:xfrm>
            <a:off x="502920" y="4861560"/>
            <a:ext cx="73200" cy="14022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fa14372648_0_322"/>
          <p:cNvSpPr/>
          <p:nvPr/>
        </p:nvSpPr>
        <p:spPr>
          <a:xfrm>
            <a:off x="731520" y="486156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Chấm phát âm theo âm vị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AI chấm điểm 0–100 từng âm, phản hồi ngay trong buổi học.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Nội dung bám sát SGK Global Success, cá nhân hoá 100% theo Mastery Profile — không dạy đại trà.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g3fa14372648_0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fa14372648_0_322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a14372648_0_322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14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a14372648_0_339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a14372648_0_339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· AI Speak · Edupia Club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fa14372648_0_339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fa14372648_0_339"/>
          <p:cNvSpPr/>
          <p:nvPr/>
        </p:nvSpPr>
        <p:spPr>
          <a:xfrm>
            <a:off x="502920" y="1280160"/>
            <a:ext cx="1118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Cả 3 bám cùng NLO đang học và ghi cùng 1 Mastery Profile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a14372648_0_339"/>
          <p:cNvSpPr/>
          <p:nvPr/>
        </p:nvSpPr>
        <p:spPr>
          <a:xfrm>
            <a:off x="502920" y="1874520"/>
            <a:ext cx="73200" cy="14022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fa14372648_0_339"/>
          <p:cNvSpPr/>
          <p:nvPr/>
        </p:nvSpPr>
        <p:spPr>
          <a:xfrm>
            <a:off x="731520" y="187452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Practice — bài tập ôn luyện tăng cường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Đề chuẩn hoá theo SGK Global Success; trộn NLO 40% đang yếu / 40% vừa học tuần này / 20% ôn chống quên.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Staircase Difficulty: 2 câu đúng liên tiếp tăng cấp độ, 1 câu sai giảm ngay 1 cấp; mỗi câu sai có giải thích + cho làm lại.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a14372648_0_339"/>
          <p:cNvSpPr/>
          <p:nvPr/>
        </p:nvSpPr>
        <p:spPr>
          <a:xfrm>
            <a:off x="502920" y="3368040"/>
            <a:ext cx="73200" cy="14022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fa14372648_0_339"/>
          <p:cNvSpPr/>
          <p:nvPr/>
        </p:nvSpPr>
        <p:spPr>
          <a:xfrm>
            <a:off x="731520" y="336804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AI Speak — luyện giao tiếp tình huống thật  (phát triển mới)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Không chấm ngữ pháp chặt — khuyến khích nói nhiều hơn nói đúng; Routing Engine chọn tình huống theo NLO đang yếu.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Học sinh nhập vai tình huống thực tế (làm quen bạn mới, đi mua sắm, đi du lịch…), tối đa 1 giờ/ngày; nút "Gợi ý câu trả lời".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a14372648_0_339"/>
          <p:cNvSpPr/>
          <p:nvPr/>
        </p:nvSpPr>
        <p:spPr>
          <a:xfrm>
            <a:off x="502920" y="4861560"/>
            <a:ext cx="73200" cy="14022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a14372648_0_339"/>
          <p:cNvSpPr/>
          <p:nvPr/>
        </p:nvSpPr>
        <p:spPr>
          <a:xfrm>
            <a:off x="731520" y="4861560"/>
            <a:ext cx="10957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Edupia Club — câu lạc bộ ngoại khoá (tích hợp Mastery Profile)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lang="en-US" sz="1050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Các</a:t>
            </a: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 chủ đề xoay vòng: Khám phá thế giới, Kỹ năng sống, STEM, Công nghệ AI; nhiệm vụ tuần dẫn tới sự kiện tháng.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Thử thách từ vựng bám đúng NLO đang học tuần đó; điểm cộng chung 1 bảng xếp hạng, ghi tín hiệu vào Mastery Profile.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g3fa14372648_0_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3fa14372648_0_339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3fa14372648_0_339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15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a14372648_0_356"/>
          <p:cNvSpPr/>
          <p:nvPr/>
        </p:nvSpPr>
        <p:spPr>
          <a:xfrm>
            <a:off x="502920" y="274320"/>
            <a:ext cx="11185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1B1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3B81B1"/>
                </a:solidFill>
                <a:latin typeface="Noto Sans"/>
                <a:ea typeface="Noto Sans"/>
                <a:cs typeface="Noto Sans"/>
                <a:sym typeface="Noto Sans"/>
              </a:rPr>
              <a:t>PHẦN 04 — CẤU TRÚC SẢN PHẨM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a14372648_0_356"/>
          <p:cNvSpPr/>
          <p:nvPr/>
        </p:nvSpPr>
        <p:spPr>
          <a:xfrm>
            <a:off x="502920" y="548640"/>
            <a:ext cx="11185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Phương pháp cá nhân hoá đằng sau AI Tutor 1-1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fa14372648_0_356"/>
          <p:cNvSpPr/>
          <p:nvPr/>
        </p:nvSpPr>
        <p:spPr>
          <a:xfrm>
            <a:off x="502920" y="1188720"/>
            <a:ext cx="777300" cy="45600"/>
          </a:xfrm>
          <a:prstGeom prst="rect">
            <a:avLst/>
          </a:prstGeom>
          <a:solidFill>
            <a:srgbClr val="A5B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a14372648_0_356"/>
          <p:cNvSpPr/>
          <p:nvPr/>
        </p:nvSpPr>
        <p:spPr>
          <a:xfrm>
            <a:off x="502920" y="1280160"/>
            <a:ext cx="1118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Noto Sans"/>
              <a:buNone/>
            </a:pPr>
            <a:r>
              <a:rPr b="0" i="1" lang="en-US" sz="10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Nguồn: dự án Adaptive Learning Ecosystem — BOD Deck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a14372648_0_356"/>
          <p:cNvSpPr/>
          <p:nvPr/>
        </p:nvSpPr>
        <p:spPr>
          <a:xfrm>
            <a:off x="502920" y="1874520"/>
            <a:ext cx="73200" cy="10287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fa14372648_0_356"/>
          <p:cNvSpPr/>
          <p:nvPr/>
        </p:nvSpPr>
        <p:spPr>
          <a:xfrm>
            <a:off x="731520" y="187452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NLO Taxonomy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1.473 đơn vị kiến thức nhỏ nhất (Ngữ pháp, Từ vựng, Ngữ âm, Nghe, Nói, Đọc, Viết) — cùng bậc chi tiết với ALEKS (~1.000) / Carnegie MATHia (~700).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a14372648_0_356"/>
          <p:cNvSpPr/>
          <p:nvPr/>
        </p:nvSpPr>
        <p:spPr>
          <a:xfrm>
            <a:off x="502920" y="2994660"/>
            <a:ext cx="73200" cy="1028700"/>
          </a:xfrm>
          <a:prstGeom prst="rect">
            <a:avLst/>
          </a:prstGeom>
          <a:solidFill>
            <a:srgbClr val="3B81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a14372648_0_356"/>
          <p:cNvSpPr/>
          <p:nvPr/>
        </p:nvSpPr>
        <p:spPr>
          <a:xfrm>
            <a:off x="731520" y="299466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Mastery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mastery_mới = mastery_cũ × decay + tín hiệu mới — cập nhật real-time sau mỗi tương tác, không chỉ sau bài kiểm tra.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a14372648_0_356"/>
          <p:cNvSpPr/>
          <p:nvPr/>
        </p:nvSpPr>
        <p:spPr>
          <a:xfrm>
            <a:off x="502920" y="4114800"/>
            <a:ext cx="73200" cy="1028700"/>
          </a:xfrm>
          <a:prstGeom prst="rect">
            <a:avLst/>
          </a:prstGeom>
          <a:solidFill>
            <a:srgbClr val="518E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a14372648_0_356"/>
          <p:cNvSpPr/>
          <p:nvPr/>
        </p:nvSpPr>
        <p:spPr>
          <a:xfrm>
            <a:off x="731520" y="411480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Gap Detection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Nhận tín hiệu từ Big Class + Quick Check để phát hiện đúng NLO đang yếu của từng học sinh.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a14372648_0_356"/>
          <p:cNvSpPr/>
          <p:nvPr/>
        </p:nvSpPr>
        <p:spPr>
          <a:xfrm>
            <a:off x="502920" y="5234940"/>
            <a:ext cx="73200" cy="1028700"/>
          </a:xfrm>
          <a:prstGeom prst="rect">
            <a:avLst/>
          </a:prstGeom>
          <a:solidFill>
            <a:srgbClr val="6E7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a14372648_0_356"/>
          <p:cNvSpPr/>
          <p:nvPr/>
        </p:nvSpPr>
        <p:spPr>
          <a:xfrm>
            <a:off x="731520" y="5234940"/>
            <a:ext cx="10957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4671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004671"/>
                </a:solidFill>
                <a:latin typeface="Noto Sans"/>
                <a:ea typeface="Noto Sans"/>
                <a:cs typeface="Noto Sans"/>
                <a:sym typeface="Noto Sans"/>
              </a:rPr>
              <a:t>Routing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22333F"/>
              </a:buClr>
              <a:buSzPts val="1050"/>
              <a:buFont typeface="Noto Sans"/>
              <a:buChar char="•"/>
            </a:pPr>
            <a:r>
              <a:rPr b="0" i="0" lang="en-US" sz="1050" u="none" cap="none" strike="noStrike">
                <a:solidFill>
                  <a:srgbClr val="22333F"/>
                </a:solidFill>
                <a:latin typeface="Noto Sans"/>
                <a:ea typeface="Noto Sans"/>
                <a:cs typeface="Noto Sans"/>
                <a:sym typeface="Noto Sans"/>
              </a:rPr>
              <a:t>priority = ppct_weight × (1−mastery) × prereq_boost — chọn đúng 1–2 NLO ưu tiên cao nhất cho mỗi buổi.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0" name="Google Shape;400;g3fa14372648_0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6473952"/>
            <a:ext cx="237745" cy="2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fa14372648_0_356"/>
          <p:cNvSpPr/>
          <p:nvPr/>
        </p:nvSpPr>
        <p:spPr>
          <a:xfrm>
            <a:off x="795528" y="6455664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Noto Sans"/>
              <a:buNone/>
            </a:pPr>
            <a:r>
              <a:rPr b="0" i="0" lang="en-US" sz="80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EDUPIA  ·  AI TUTOR 1-1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fa14372648_0_356"/>
          <p:cNvSpPr/>
          <p:nvPr/>
        </p:nvSpPr>
        <p:spPr>
          <a:xfrm>
            <a:off x="10774375" y="6455664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5B6472"/>
                </a:solidFill>
                <a:latin typeface="Noto Sans"/>
                <a:ea typeface="Noto Sans"/>
                <a:cs typeface="Noto Sans"/>
                <a:sym typeface="Noto Sans"/>
              </a:rPr>
              <a:t>16 / 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2026-08-27T09:18:13Z</dcterms:created>
  <dc:creator>Khối Sản phẩm và Công nghệ Edupia</dc:creator>
</cp:coreProperties>
</file>