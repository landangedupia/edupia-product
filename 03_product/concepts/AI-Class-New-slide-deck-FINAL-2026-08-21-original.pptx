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TrangNT46"/>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02E3C7-9A4C-4ABD-AE55-75EC5AD6722D}">
  <a:tblStyle styleId="{C502E3C7-9A4C-4ABD-AE55-75EC5AD6722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20T06:37:49.569">
    <p:pos x="345" y="1267"/>
    <p:text>Nên chuyển thành các dạng biểu đồ để nhìn trực quan, vì người đọc sẽ không theo dõi được hết
phần này sẽ chuyển thành subtext để mô tả bên dưới</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78763b6c8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f78763b6c8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f78763b6c8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 name="Shape 15"/>
        <p:cNvGrpSpPr/>
        <p:nvPr/>
      </p:nvGrpSpPr>
      <p:grpSpPr>
        <a:xfrm>
          <a:off x="0" y="0"/>
          <a:ext cx="0" cy="0"/>
          <a:chOff x="0" y="0"/>
          <a:chExt cx="0" cy="0"/>
        </a:xfrm>
      </p:grpSpPr>
      <p:sp>
        <p:nvSpPr>
          <p:cNvPr id="16" name="Google Shape;16;p3"/>
          <p:cNvSpPr/>
          <p:nvPr/>
        </p:nvSpPr>
        <p:spPr>
          <a:xfrm>
            <a:off x="0" y="4160520"/>
            <a:ext cx="12191695" cy="45720"/>
          </a:xfrm>
          <a:prstGeom prst="rect">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548640" y="233172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B0E0"/>
              </a:buClr>
              <a:buSzPts val="1400"/>
              <a:buFont typeface="Calibri"/>
              <a:buNone/>
            </a:pPr>
            <a:r>
              <a:rPr b="1" i="0" lang="en-US" sz="1400" u="none" cap="none" strike="noStrike">
                <a:solidFill>
                  <a:srgbClr val="8FB0E0"/>
                </a:solidFill>
                <a:latin typeface="Calibri"/>
                <a:ea typeface="Calibri"/>
                <a:cs typeface="Calibri"/>
                <a:sym typeface="Calibri"/>
              </a:rPr>
              <a:t>HỌP TRÌNH BÀY CONCEPT</a:t>
            </a:r>
            <a:endParaRPr b="0" i="0" sz="1400" u="none" cap="none" strike="noStrike">
              <a:solidFill>
                <a:schemeClr val="dk1"/>
              </a:solidFill>
              <a:latin typeface="Calibri"/>
              <a:ea typeface="Calibri"/>
              <a:cs typeface="Calibri"/>
              <a:sym typeface="Calibri"/>
            </a:endParaRPr>
          </a:p>
        </p:txBody>
      </p:sp>
      <p:sp>
        <p:nvSpPr>
          <p:cNvPr id="18" name="Google Shape;18;p3"/>
          <p:cNvSpPr/>
          <p:nvPr/>
        </p:nvSpPr>
        <p:spPr>
          <a:xfrm>
            <a:off x="548640" y="2697480"/>
            <a:ext cx="11094415"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Calibri"/>
              <a:buNone/>
            </a:pPr>
            <a:r>
              <a:rPr b="1" lang="en-US" sz="4800">
                <a:solidFill>
                  <a:srgbClr val="FFFFFF"/>
                </a:solidFill>
                <a:latin typeface="Calibri"/>
                <a:ea typeface="Calibri"/>
                <a:cs typeface="Calibri"/>
                <a:sym typeface="Calibri"/>
              </a:rPr>
              <a:t>Edupia </a:t>
            </a:r>
            <a:r>
              <a:rPr b="1" i="0" lang="en-US" sz="4800" u="none" cap="none" strike="noStrike">
                <a:solidFill>
                  <a:srgbClr val="FFFFFF"/>
                </a:solidFill>
                <a:latin typeface="Calibri"/>
                <a:ea typeface="Calibri"/>
                <a:cs typeface="Calibri"/>
                <a:sym typeface="Calibri"/>
              </a:rPr>
              <a:t>AI Class </a:t>
            </a:r>
            <a:r>
              <a:rPr b="1" lang="en-US" sz="4800">
                <a:solidFill>
                  <a:srgbClr val="FFFFFF"/>
                </a:solidFill>
                <a:latin typeface="Calibri"/>
                <a:ea typeface="Calibri"/>
                <a:cs typeface="Calibri"/>
                <a:sym typeface="Calibri"/>
              </a:rPr>
              <a:t>New</a:t>
            </a:r>
            <a:endParaRPr b="0" i="0" sz="4800" u="none" cap="none" strike="noStrike">
              <a:solidFill>
                <a:schemeClr val="dk1"/>
              </a:solidFill>
              <a:latin typeface="Calibri"/>
              <a:ea typeface="Calibri"/>
              <a:cs typeface="Calibri"/>
              <a:sym typeface="Calibri"/>
            </a:endParaRPr>
          </a:p>
        </p:txBody>
      </p:sp>
      <p:sp>
        <p:nvSpPr>
          <p:cNvPr id="19" name="Google Shape;19;p3"/>
          <p:cNvSpPr/>
          <p:nvPr/>
        </p:nvSpPr>
        <p:spPr>
          <a:xfrm>
            <a:off x="548640" y="4297680"/>
            <a:ext cx="110944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7E2F2"/>
              </a:buClr>
              <a:buSzPts val="1800"/>
              <a:buFont typeface="Calibri"/>
              <a:buNone/>
            </a:pPr>
            <a:r>
              <a:rPr b="0" i="0" lang="en-US" sz="1800" u="none" cap="none" strike="noStrike">
                <a:solidFill>
                  <a:srgbClr val="D7E2F2"/>
                </a:solidFill>
                <a:latin typeface="Calibri"/>
                <a:ea typeface="Calibri"/>
                <a:cs typeface="Calibri"/>
                <a:sym typeface="Calibri"/>
              </a:rPr>
              <a:t>Định hướng sản phẩm mới</a:t>
            </a:r>
            <a:endParaRPr b="0" i="0" sz="1800" u="none" cap="none" strike="noStrike">
              <a:solidFill>
                <a:schemeClr val="dk1"/>
              </a:solidFill>
              <a:latin typeface="Calibri"/>
              <a:ea typeface="Calibri"/>
              <a:cs typeface="Calibri"/>
              <a:sym typeface="Calibri"/>
            </a:endParaRPr>
          </a:p>
        </p:txBody>
      </p:sp>
      <p:sp>
        <p:nvSpPr>
          <p:cNvPr id="20" name="Google Shape;20;p3"/>
          <p:cNvSpPr/>
          <p:nvPr/>
        </p:nvSpPr>
        <p:spPr>
          <a:xfrm>
            <a:off x="548640" y="612648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B0E0"/>
              </a:buClr>
              <a:buSzPts val="1300"/>
              <a:buFont typeface="Calibri"/>
              <a:buNone/>
            </a:pPr>
            <a:r>
              <a:rPr lang="en-US" sz="1300">
                <a:solidFill>
                  <a:srgbClr val="8FB0E0"/>
                </a:solidFill>
                <a:latin typeface="Calibri"/>
                <a:ea typeface="Calibri"/>
                <a:cs typeface="Calibri"/>
                <a:sym typeface="Calibri"/>
              </a:rPr>
              <a:t>Khối Sản phẩm và Công nghệ </a:t>
            </a:r>
            <a:r>
              <a:rPr b="0" i="0" lang="en-US" sz="1300" u="none" cap="none" strike="noStrike">
                <a:solidFill>
                  <a:srgbClr val="8FB0E0"/>
                </a:solidFill>
                <a:latin typeface="Calibri"/>
                <a:ea typeface="Calibri"/>
                <a:cs typeface="Calibri"/>
                <a:sym typeface="Calibri"/>
              </a:rPr>
              <a:t> ·  2</a:t>
            </a:r>
            <a:r>
              <a:rPr lang="en-US" sz="1300">
                <a:solidFill>
                  <a:srgbClr val="8FB0E0"/>
                </a:solidFill>
                <a:latin typeface="Calibri"/>
                <a:ea typeface="Calibri"/>
                <a:cs typeface="Calibri"/>
                <a:sym typeface="Calibri"/>
              </a:rPr>
              <a:t>7</a:t>
            </a:r>
            <a:r>
              <a:rPr b="0" i="0" lang="en-US" sz="1300" u="none" cap="none" strike="noStrike">
                <a:solidFill>
                  <a:srgbClr val="8FB0E0"/>
                </a:solidFill>
                <a:latin typeface="Calibri"/>
                <a:ea typeface="Calibri"/>
                <a:cs typeface="Calibri"/>
                <a:sym typeface="Calibri"/>
              </a:rPr>
              <a:t>/08/2026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548640" y="32004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NỘI DUNG TRÌNH BÀY</a:t>
            </a:r>
            <a:endParaRPr b="0" i="0" sz="1200" u="none" cap="none" strike="noStrike">
              <a:solidFill>
                <a:schemeClr val="dk1"/>
              </a:solidFill>
              <a:latin typeface="Calibri"/>
              <a:ea typeface="Calibri"/>
              <a:cs typeface="Calibri"/>
              <a:sym typeface="Calibri"/>
            </a:endParaRPr>
          </a:p>
        </p:txBody>
      </p:sp>
      <p:sp>
        <p:nvSpPr>
          <p:cNvPr id="27" name="Google Shape;27;p4"/>
          <p:cNvSpPr/>
          <p:nvPr/>
        </p:nvSpPr>
        <p:spPr>
          <a:xfrm>
            <a:off x="548640" y="621792"/>
            <a:ext cx="11094415"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i="0" lang="en-US" sz="2600" u="none" cap="none" strike="noStrike">
                <a:solidFill>
                  <a:srgbClr val="1B2A4A"/>
                </a:solidFill>
                <a:latin typeface="Calibri"/>
                <a:ea typeface="Calibri"/>
                <a:cs typeface="Calibri"/>
                <a:sym typeface="Calibri"/>
              </a:rPr>
              <a:t>Agenda</a:t>
            </a:r>
            <a:endParaRPr b="0" i="0" sz="2600" u="none" cap="none" strike="noStrike">
              <a:solidFill>
                <a:schemeClr val="dk1"/>
              </a:solidFill>
              <a:latin typeface="Calibri"/>
              <a:ea typeface="Calibri"/>
              <a:cs typeface="Calibri"/>
              <a:sym typeface="Calibri"/>
            </a:endParaRPr>
          </a:p>
        </p:txBody>
      </p:sp>
      <p:cxnSp>
        <p:nvCxnSpPr>
          <p:cNvPr id="28" name="Google Shape;28;p4"/>
          <p:cNvCxnSpPr/>
          <p:nvPr/>
        </p:nvCxnSpPr>
        <p:spPr>
          <a:xfrm>
            <a:off x="548640" y="1207008"/>
            <a:ext cx="822960" cy="0"/>
          </a:xfrm>
          <a:prstGeom prst="straightConnector1">
            <a:avLst/>
          </a:prstGeom>
          <a:noFill/>
          <a:ln cap="flat" cmpd="sng" w="38100">
            <a:solidFill>
              <a:srgbClr val="2E5FA3"/>
            </a:solidFill>
            <a:prstDash val="solid"/>
            <a:round/>
            <a:headEnd len="sm" w="sm" type="none"/>
            <a:tailEnd len="sm" w="sm" type="none"/>
          </a:ln>
        </p:spPr>
      </p:cxnSp>
      <p:sp>
        <p:nvSpPr>
          <p:cNvPr id="29" name="Google Shape;29;p4"/>
          <p:cNvSpPr/>
          <p:nvPr/>
        </p:nvSpPr>
        <p:spPr>
          <a:xfrm>
            <a:off x="11002975" y="65105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1</a:t>
            </a:r>
            <a:r>
              <a:rPr b="0" i="0" lang="en-US" sz="1000" u="none" cap="none" strike="noStrike">
                <a:solidFill>
                  <a:srgbClr val="6B7280"/>
                </a:solidFill>
                <a:latin typeface="Calibri"/>
                <a:ea typeface="Calibri"/>
                <a:cs typeface="Calibri"/>
                <a:sym typeface="Calibri"/>
              </a:rPr>
              <a:t> /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30" name="Google Shape;30;p4"/>
          <p:cNvSpPr/>
          <p:nvPr/>
        </p:nvSpPr>
        <p:spPr>
          <a:xfrm>
            <a:off x="548640" y="6510528"/>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
        <p:nvSpPr>
          <p:cNvPr id="31" name="Google Shape;31;p4"/>
          <p:cNvSpPr/>
          <p:nvPr/>
        </p:nvSpPr>
        <p:spPr>
          <a:xfrm>
            <a:off x="548640" y="2170176"/>
            <a:ext cx="384000" cy="384000"/>
          </a:xfrm>
          <a:prstGeom prst="ellipse">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548640" y="2170176"/>
            <a:ext cx="384000" cy="384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33" name="Google Shape;33;p4"/>
          <p:cNvSpPr/>
          <p:nvPr/>
        </p:nvSpPr>
        <p:spPr>
          <a:xfrm>
            <a:off x="1115568" y="2133600"/>
            <a:ext cx="667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700"/>
              <a:buFont typeface="Calibri"/>
              <a:buNone/>
            </a:pPr>
            <a:r>
              <a:rPr b="0" i="0" lang="en-US" sz="1700" u="none" cap="none" strike="noStrike">
                <a:solidFill>
                  <a:srgbClr val="2B2B2B"/>
                </a:solidFill>
                <a:latin typeface="Calibri"/>
                <a:ea typeface="Calibri"/>
                <a:cs typeface="Calibri"/>
                <a:sym typeface="Calibri"/>
              </a:rPr>
              <a:t>Mục tiêu chiến lược</a:t>
            </a:r>
            <a:endParaRPr b="0" i="0" sz="1700" u="none" cap="none" strike="noStrike">
              <a:solidFill>
                <a:schemeClr val="dk1"/>
              </a:solidFill>
              <a:latin typeface="Calibri"/>
              <a:ea typeface="Calibri"/>
              <a:cs typeface="Calibri"/>
              <a:sym typeface="Calibri"/>
            </a:endParaRPr>
          </a:p>
        </p:txBody>
      </p:sp>
      <p:sp>
        <p:nvSpPr>
          <p:cNvPr id="34" name="Google Shape;34;p4"/>
          <p:cNvSpPr/>
          <p:nvPr/>
        </p:nvSpPr>
        <p:spPr>
          <a:xfrm>
            <a:off x="548640" y="2965704"/>
            <a:ext cx="384000" cy="384000"/>
          </a:xfrm>
          <a:prstGeom prst="ellipse">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548640" y="2965704"/>
            <a:ext cx="384000" cy="384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36" name="Google Shape;36;p4"/>
          <p:cNvSpPr/>
          <p:nvPr/>
        </p:nvSpPr>
        <p:spPr>
          <a:xfrm>
            <a:off x="1115568" y="2929128"/>
            <a:ext cx="667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700"/>
              <a:buFont typeface="Calibri"/>
              <a:buNone/>
            </a:pPr>
            <a:r>
              <a:rPr lang="en-US" sz="1700">
                <a:solidFill>
                  <a:srgbClr val="2B2B2B"/>
                </a:solidFill>
                <a:latin typeface="Calibri"/>
                <a:ea typeface="Calibri"/>
                <a:cs typeface="Calibri"/>
                <a:sym typeface="Calibri"/>
              </a:rPr>
              <a:t>Đ</a:t>
            </a:r>
            <a:r>
              <a:rPr b="0" i="0" lang="en-US" sz="1700" u="none" cap="none" strike="noStrike">
                <a:solidFill>
                  <a:srgbClr val="2B2B2B"/>
                </a:solidFill>
                <a:latin typeface="Calibri"/>
                <a:ea typeface="Calibri"/>
                <a:cs typeface="Calibri"/>
                <a:sym typeface="Calibri"/>
              </a:rPr>
              <a:t>ịnh hướng concept sản phẩm</a:t>
            </a:r>
            <a:endParaRPr b="0" i="0" sz="1700" u="none" cap="none" strike="noStrike">
              <a:solidFill>
                <a:schemeClr val="dk1"/>
              </a:solidFill>
              <a:latin typeface="Calibri"/>
              <a:ea typeface="Calibri"/>
              <a:cs typeface="Calibri"/>
              <a:sym typeface="Calibri"/>
            </a:endParaRPr>
          </a:p>
        </p:txBody>
      </p:sp>
      <p:sp>
        <p:nvSpPr>
          <p:cNvPr id="37" name="Google Shape;37;p4"/>
          <p:cNvSpPr/>
          <p:nvPr/>
        </p:nvSpPr>
        <p:spPr>
          <a:xfrm>
            <a:off x="548640" y="3761232"/>
            <a:ext cx="384000" cy="384000"/>
          </a:xfrm>
          <a:prstGeom prst="ellipse">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48640" y="3761232"/>
            <a:ext cx="384000" cy="384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39" name="Google Shape;39;p4"/>
          <p:cNvSpPr/>
          <p:nvPr/>
        </p:nvSpPr>
        <p:spPr>
          <a:xfrm>
            <a:off x="548640" y="4556760"/>
            <a:ext cx="384000" cy="384000"/>
          </a:xfrm>
          <a:prstGeom prst="ellipse">
            <a:avLst/>
          </a:prstGeom>
          <a:solidFill>
            <a:srgbClr val="2E5F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548640" y="4556760"/>
            <a:ext cx="384000" cy="384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41" name="Google Shape;41;p4"/>
          <p:cNvSpPr/>
          <p:nvPr/>
        </p:nvSpPr>
        <p:spPr>
          <a:xfrm>
            <a:off x="1115568" y="3681984"/>
            <a:ext cx="667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700"/>
              <a:buFont typeface="Calibri"/>
              <a:buNone/>
            </a:pPr>
            <a:r>
              <a:rPr b="0" i="0" lang="en-US" sz="1700" u="none" cap="none" strike="noStrike">
                <a:solidFill>
                  <a:srgbClr val="2B2B2B"/>
                </a:solidFill>
                <a:latin typeface="Calibri"/>
                <a:ea typeface="Calibri"/>
                <a:cs typeface="Calibri"/>
                <a:sym typeface="Calibri"/>
              </a:rPr>
              <a:t>Kế hoạch triển khai</a:t>
            </a:r>
            <a:endParaRPr b="0" i="0" sz="1700" u="none" cap="none" strike="noStrike">
              <a:solidFill>
                <a:schemeClr val="dk1"/>
              </a:solidFill>
              <a:latin typeface="Calibri"/>
              <a:ea typeface="Calibri"/>
              <a:cs typeface="Calibri"/>
              <a:sym typeface="Calibri"/>
            </a:endParaRPr>
          </a:p>
        </p:txBody>
      </p:sp>
      <p:sp>
        <p:nvSpPr>
          <p:cNvPr id="42" name="Google Shape;42;p4"/>
          <p:cNvSpPr/>
          <p:nvPr/>
        </p:nvSpPr>
        <p:spPr>
          <a:xfrm>
            <a:off x="1115568" y="4477512"/>
            <a:ext cx="667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700"/>
              <a:buFont typeface="Calibri"/>
              <a:buNone/>
            </a:pPr>
            <a:r>
              <a:rPr b="0" i="0" lang="en-US" sz="1700" u="none" cap="none" strike="noStrike">
                <a:solidFill>
                  <a:srgbClr val="2B2B2B"/>
                </a:solidFill>
                <a:latin typeface="Calibri"/>
                <a:ea typeface="Calibri"/>
                <a:cs typeface="Calibri"/>
                <a:sym typeface="Calibri"/>
              </a:rPr>
              <a:t>Phân chia trách nhiệm</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5"/>
          <p:cNvSpPr/>
          <p:nvPr/>
        </p:nvSpPr>
        <p:spPr>
          <a:xfrm>
            <a:off x="548640" y="32004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PHẦN 1 — MỤC TIÊU CHIẾN LƯỢC</a:t>
            </a:r>
            <a:endParaRPr b="0" i="0" sz="1200" u="none" cap="none" strike="noStrike">
              <a:solidFill>
                <a:schemeClr val="dk1"/>
              </a:solidFill>
              <a:latin typeface="Calibri"/>
              <a:ea typeface="Calibri"/>
              <a:cs typeface="Calibri"/>
              <a:sym typeface="Calibri"/>
            </a:endParaRPr>
          </a:p>
        </p:txBody>
      </p:sp>
      <p:sp>
        <p:nvSpPr>
          <p:cNvPr id="49" name="Google Shape;49;p5"/>
          <p:cNvSpPr/>
          <p:nvPr/>
        </p:nvSpPr>
        <p:spPr>
          <a:xfrm>
            <a:off x="548640" y="621792"/>
            <a:ext cx="11094415"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i="0" lang="en-US" sz="2600" u="none" cap="none" strike="noStrike">
                <a:solidFill>
                  <a:srgbClr val="1B2A4A"/>
                </a:solidFill>
                <a:latin typeface="Calibri"/>
                <a:ea typeface="Calibri"/>
                <a:cs typeface="Calibri"/>
                <a:sym typeface="Calibri"/>
              </a:rPr>
              <a:t>Vì sao là 390k – 400k?</a:t>
            </a:r>
            <a:endParaRPr b="0" i="0" sz="2600" u="none" cap="none" strike="noStrike">
              <a:solidFill>
                <a:schemeClr val="dk1"/>
              </a:solidFill>
              <a:latin typeface="Calibri"/>
              <a:ea typeface="Calibri"/>
              <a:cs typeface="Calibri"/>
              <a:sym typeface="Calibri"/>
            </a:endParaRPr>
          </a:p>
        </p:txBody>
      </p:sp>
      <p:cxnSp>
        <p:nvCxnSpPr>
          <p:cNvPr id="50" name="Google Shape;50;p5"/>
          <p:cNvCxnSpPr/>
          <p:nvPr/>
        </p:nvCxnSpPr>
        <p:spPr>
          <a:xfrm>
            <a:off x="548640" y="1207008"/>
            <a:ext cx="822960" cy="0"/>
          </a:xfrm>
          <a:prstGeom prst="straightConnector1">
            <a:avLst/>
          </a:prstGeom>
          <a:noFill/>
          <a:ln cap="flat" cmpd="sng" w="38100">
            <a:solidFill>
              <a:srgbClr val="2E5FA3"/>
            </a:solidFill>
            <a:prstDash val="solid"/>
            <a:round/>
            <a:headEnd len="sm" w="sm" type="none"/>
            <a:tailEnd len="sm" w="sm" type="none"/>
          </a:ln>
        </p:spPr>
      </p:cxnSp>
      <p:sp>
        <p:nvSpPr>
          <p:cNvPr id="51" name="Google Shape;51;p5"/>
          <p:cNvSpPr/>
          <p:nvPr/>
        </p:nvSpPr>
        <p:spPr>
          <a:xfrm>
            <a:off x="11002975" y="65105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2</a:t>
            </a:r>
            <a:r>
              <a:rPr b="0" i="0" lang="en-US" sz="1000" u="none" cap="none" strike="noStrike">
                <a:solidFill>
                  <a:srgbClr val="6B7280"/>
                </a:solidFill>
                <a:latin typeface="Calibri"/>
                <a:ea typeface="Calibri"/>
                <a:cs typeface="Calibri"/>
                <a:sym typeface="Calibri"/>
              </a:rPr>
              <a:t>/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52" name="Google Shape;52;p5"/>
          <p:cNvSpPr/>
          <p:nvPr/>
        </p:nvSpPr>
        <p:spPr>
          <a:xfrm>
            <a:off x="548640" y="6510528"/>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
        <p:nvSpPr>
          <p:cNvPr id="53" name="Google Shape;53;p5"/>
          <p:cNvSpPr txBox="1"/>
          <p:nvPr/>
        </p:nvSpPr>
        <p:spPr>
          <a:xfrm>
            <a:off x="548650" y="1389325"/>
            <a:ext cx="10954500" cy="20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600">
                <a:solidFill>
                  <a:srgbClr val="2B2B2B"/>
                </a:solidFill>
                <a:latin typeface="Calibri"/>
                <a:ea typeface="Calibri"/>
                <a:cs typeface="Calibri"/>
                <a:sym typeface="Calibri"/>
              </a:rPr>
              <a:t>Mục tiêu chiến lược (Chiến lược Educa 2026-2028)</a:t>
            </a:r>
            <a:endParaRPr b="1" sz="1600">
              <a:solidFill>
                <a:srgbClr val="2B2B2B"/>
              </a:solidFill>
              <a:latin typeface="Calibri"/>
              <a:ea typeface="Calibri"/>
              <a:cs typeface="Calibri"/>
              <a:sym typeface="Calibri"/>
            </a:endParaRPr>
          </a:p>
          <a:p>
            <a:pPr indent="-295275" lvl="0" marL="457200" rtl="0" algn="l">
              <a:lnSpc>
                <a:spcPct val="115000"/>
              </a:lnSpc>
              <a:spcBef>
                <a:spcPts val="1200"/>
              </a:spcBef>
              <a:spcAft>
                <a:spcPts val="0"/>
              </a:spcAft>
              <a:buClr>
                <a:srgbClr val="BBBEBF"/>
              </a:buClr>
              <a:buSzPts val="1050"/>
              <a:buChar char="●"/>
            </a:pPr>
            <a:r>
              <a:rPr b="1" lang="en-US" sz="1600">
                <a:solidFill>
                  <a:srgbClr val="2B2B2B"/>
                </a:solidFill>
                <a:latin typeface="Calibri"/>
                <a:ea typeface="Calibri"/>
                <a:cs typeface="Calibri"/>
                <a:sym typeface="Calibri"/>
              </a:rPr>
              <a:t>Educa </a:t>
            </a:r>
            <a:r>
              <a:rPr lang="en-US" sz="1600">
                <a:solidFill>
                  <a:srgbClr val="2B2B2B"/>
                </a:solidFill>
                <a:latin typeface="Calibri"/>
                <a:ea typeface="Calibri"/>
                <a:cs typeface="Calibri"/>
                <a:sym typeface="Calibri"/>
              </a:rPr>
              <a:t>tập trung nguồn lực vào phân khúc </a:t>
            </a:r>
            <a:r>
              <a:rPr b="1" lang="en-US" sz="1600">
                <a:solidFill>
                  <a:srgbClr val="2B2B2B"/>
                </a:solidFill>
                <a:latin typeface="Calibri"/>
                <a:ea typeface="Calibri"/>
                <a:cs typeface="Calibri"/>
                <a:sym typeface="Calibri"/>
              </a:rPr>
              <a:t>đại trà</a:t>
            </a:r>
            <a:r>
              <a:rPr lang="en-US" sz="1600">
                <a:solidFill>
                  <a:srgbClr val="2B2B2B"/>
                </a:solidFill>
                <a:latin typeface="Calibri"/>
                <a:ea typeface="Calibri"/>
                <a:cs typeface="Calibri"/>
                <a:sym typeface="Calibri"/>
              </a:rPr>
              <a:t> (</a:t>
            </a:r>
            <a:r>
              <a:rPr b="1" lang="en-US" sz="1600">
                <a:solidFill>
                  <a:srgbClr val="2B2B2B"/>
                </a:solidFill>
                <a:latin typeface="Calibri"/>
                <a:ea typeface="Calibri"/>
                <a:cs typeface="Calibri"/>
                <a:sym typeface="Calibri"/>
              </a:rPr>
              <a:t>mass</a:t>
            </a:r>
            <a:r>
              <a:rPr lang="en-US" sz="1600">
                <a:solidFill>
                  <a:srgbClr val="2B2B2B"/>
                </a:solidFill>
                <a:latin typeface="Calibri"/>
                <a:ea typeface="Calibri"/>
                <a:cs typeface="Calibri"/>
                <a:sym typeface="Calibri"/>
              </a:rPr>
              <a:t>) — tái định vị </a:t>
            </a:r>
            <a:r>
              <a:rPr b="1" lang="en-US" sz="1600">
                <a:solidFill>
                  <a:srgbClr val="2B2B2B"/>
                </a:solidFill>
                <a:latin typeface="Calibri"/>
                <a:ea typeface="Calibri"/>
                <a:cs typeface="Calibri"/>
                <a:sym typeface="Calibri"/>
              </a:rPr>
              <a:t>Edupia AI Class</a:t>
            </a:r>
            <a:r>
              <a:rPr lang="en-US" sz="1600">
                <a:solidFill>
                  <a:srgbClr val="2B2B2B"/>
                </a:solidFill>
                <a:latin typeface="Calibri"/>
                <a:ea typeface="Calibri"/>
                <a:cs typeface="Calibri"/>
                <a:sym typeface="Calibri"/>
              </a:rPr>
              <a:t> theo hướng nâng chất lượng học tập bằng AI, dịch chuyển lên mức giá cao hơn nhưng vẫn trong khả năng chi trả của đa số gia đình Việt Nam.</a:t>
            </a:r>
            <a:endParaRPr sz="1600">
              <a:solidFill>
                <a:srgbClr val="2B2B2B"/>
              </a:solidFill>
              <a:latin typeface="Calibri"/>
              <a:ea typeface="Calibri"/>
              <a:cs typeface="Calibri"/>
              <a:sym typeface="Calibri"/>
            </a:endParaRPr>
          </a:p>
          <a:p>
            <a:pPr indent="-295275" lvl="0" marL="457200" rtl="0" algn="l">
              <a:lnSpc>
                <a:spcPct val="115000"/>
              </a:lnSpc>
              <a:spcBef>
                <a:spcPts val="0"/>
              </a:spcBef>
              <a:spcAft>
                <a:spcPts val="0"/>
              </a:spcAft>
              <a:buClr>
                <a:srgbClr val="BBBEBF"/>
              </a:buClr>
              <a:buSzPts val="1050"/>
              <a:buChar char="●"/>
            </a:pPr>
            <a:r>
              <a:rPr lang="en-US" sz="1600">
                <a:solidFill>
                  <a:srgbClr val="2B2B2B"/>
                </a:solidFill>
                <a:latin typeface="Calibri"/>
                <a:ea typeface="Calibri"/>
                <a:cs typeface="Calibri"/>
                <a:sym typeface="Calibri"/>
              </a:rPr>
              <a:t>Cách thắng: "</a:t>
            </a:r>
            <a:r>
              <a:rPr i="1" lang="en-US" sz="1600">
                <a:solidFill>
                  <a:srgbClr val="2B2B2B"/>
                </a:solidFill>
                <a:latin typeface="Calibri"/>
                <a:ea typeface="Calibri"/>
                <a:cs typeface="Calibri"/>
                <a:sym typeface="Calibri"/>
              </a:rPr>
              <a:t>Lợi thế của các sản phẩm này không nằm ở việc thu hút giáo viên nổi tiếng nhất hay mức độ trưởng thành về công nghệ cá nhân hóa nhất, mà ở khả năng tạo ra hiệu quả học tập vượt trội nhất thông qua việc ứng dụng AI/Dữ liệu vào tất cả các công đoạn.</a:t>
            </a:r>
            <a:r>
              <a:rPr lang="en-US" sz="1600">
                <a:solidFill>
                  <a:srgbClr val="2B2B2B"/>
                </a:solidFill>
                <a:latin typeface="Calibri"/>
                <a:ea typeface="Calibri"/>
                <a:cs typeface="Calibri"/>
                <a:sym typeface="Calibri"/>
              </a:rPr>
              <a:t>"</a:t>
            </a:r>
            <a:endParaRPr sz="1600">
              <a:solidFill>
                <a:srgbClr val="2B2B2B"/>
              </a:solidFill>
              <a:latin typeface="Calibri"/>
              <a:ea typeface="Calibri"/>
              <a:cs typeface="Calibri"/>
              <a:sym typeface="Calibri"/>
            </a:endParaRPr>
          </a:p>
        </p:txBody>
      </p:sp>
      <p:sp>
        <p:nvSpPr>
          <p:cNvPr id="54" name="Google Shape;54;p5"/>
          <p:cNvSpPr txBox="1"/>
          <p:nvPr/>
        </p:nvSpPr>
        <p:spPr>
          <a:xfrm>
            <a:off x="548650" y="3507425"/>
            <a:ext cx="10954500" cy="222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600">
                <a:solidFill>
                  <a:srgbClr val="2B2B2B"/>
                </a:solidFill>
                <a:latin typeface="Calibri"/>
                <a:ea typeface="Calibri"/>
                <a:cs typeface="Calibri"/>
                <a:sym typeface="Calibri"/>
              </a:rPr>
              <a:t>Mục tiêu cụ thể (cấp sản phẩm — Edupia AI Class New)</a:t>
            </a:r>
            <a:endParaRPr b="1" sz="1600">
              <a:solidFill>
                <a:srgbClr val="2B2B2B"/>
              </a:solidFill>
              <a:latin typeface="Calibri"/>
              <a:ea typeface="Calibri"/>
              <a:cs typeface="Calibri"/>
              <a:sym typeface="Calibri"/>
            </a:endParaRPr>
          </a:p>
          <a:p>
            <a:pPr indent="-295275" lvl="0" marL="457200" rtl="0" algn="l">
              <a:lnSpc>
                <a:spcPct val="115000"/>
              </a:lnSpc>
              <a:spcBef>
                <a:spcPts val="700"/>
              </a:spcBef>
              <a:spcAft>
                <a:spcPts val="0"/>
              </a:spcAft>
              <a:buClr>
                <a:srgbClr val="BBBEBF"/>
              </a:buClr>
              <a:buSzPts val="1050"/>
              <a:buChar char="●"/>
            </a:pPr>
            <a:r>
              <a:rPr lang="en-US" sz="1600">
                <a:solidFill>
                  <a:srgbClr val="2B2B2B"/>
                </a:solidFill>
                <a:latin typeface="Calibri"/>
                <a:ea typeface="Calibri"/>
                <a:cs typeface="Calibri"/>
                <a:sym typeface="Calibri"/>
              </a:rPr>
              <a:t>Thị trường hiện có một phân khúc công ty đang bỏ lỡ: giữa sản phẩm tự học giá rẻ (</a:t>
            </a:r>
            <a:r>
              <a:rPr b="1" lang="en-US" sz="1600">
                <a:solidFill>
                  <a:srgbClr val="2B2B2B"/>
                </a:solidFill>
                <a:latin typeface="Calibri"/>
                <a:ea typeface="Calibri"/>
                <a:cs typeface="Calibri"/>
                <a:sym typeface="Calibri"/>
              </a:rPr>
              <a:t>Edupia AI Class</a:t>
            </a:r>
            <a:r>
              <a:rPr lang="en-US" sz="1600">
                <a:solidFill>
                  <a:srgbClr val="2B2B2B"/>
                </a:solidFill>
                <a:latin typeface="Calibri"/>
                <a:ea typeface="Calibri"/>
                <a:cs typeface="Calibri"/>
                <a:sym typeface="Calibri"/>
              </a:rPr>
              <a:t> </a:t>
            </a:r>
            <a:r>
              <a:rPr b="1" lang="en-US" sz="1600">
                <a:solidFill>
                  <a:srgbClr val="2B2B2B"/>
                </a:solidFill>
                <a:latin typeface="Calibri"/>
                <a:ea typeface="Calibri"/>
                <a:cs typeface="Calibri"/>
                <a:sym typeface="Calibri"/>
              </a:rPr>
              <a:t>hiện tại</a:t>
            </a:r>
            <a:r>
              <a:rPr lang="en-US" sz="1600">
                <a:solidFill>
                  <a:srgbClr val="2B2B2B"/>
                </a:solidFill>
                <a:latin typeface="Calibri"/>
                <a:ea typeface="Calibri"/>
                <a:cs typeface="Calibri"/>
                <a:sym typeface="Calibri"/>
              </a:rPr>
              <a:t> - Big Class - 250k) và sản phẩm </a:t>
            </a:r>
            <a:r>
              <a:rPr lang="en-US" sz="1600">
                <a:solidFill>
                  <a:srgbClr val="2B2B2B"/>
                </a:solidFill>
                <a:latin typeface="Calibri"/>
                <a:ea typeface="Calibri"/>
                <a:cs typeface="Calibri"/>
                <a:sym typeface="Calibri"/>
              </a:rPr>
              <a:t>có gia sư/GV thật </a:t>
            </a:r>
            <a:r>
              <a:rPr lang="en-US" sz="1600">
                <a:solidFill>
                  <a:srgbClr val="2B2B2B"/>
                </a:solidFill>
                <a:latin typeface="Calibri"/>
                <a:ea typeface="Calibri"/>
                <a:cs typeface="Calibri"/>
                <a:sym typeface="Calibri"/>
              </a:rPr>
              <a:t>cao cấp hơn (</a:t>
            </a:r>
            <a:r>
              <a:rPr b="1" lang="en-US" sz="1600">
                <a:solidFill>
                  <a:srgbClr val="2B2B2B"/>
                </a:solidFill>
                <a:latin typeface="Calibri"/>
                <a:ea typeface="Calibri"/>
                <a:cs typeface="Calibri"/>
                <a:sym typeface="Calibri"/>
              </a:rPr>
              <a:t>Edupia Tutor</a:t>
            </a:r>
            <a:r>
              <a:rPr lang="en-US" sz="1600">
                <a:solidFill>
                  <a:srgbClr val="2B2B2B"/>
                </a:solidFill>
                <a:latin typeface="Calibri"/>
                <a:ea typeface="Calibri"/>
                <a:cs typeface="Calibri"/>
                <a:sym typeface="Calibri"/>
              </a:rPr>
              <a:t>) → Cần một sản phẩm phù hợp để đánh đúng vào tệp khách hàng này.</a:t>
            </a:r>
            <a:endParaRPr sz="1600">
              <a:solidFill>
                <a:srgbClr val="2B2B2B"/>
              </a:solidFill>
              <a:latin typeface="Calibri"/>
              <a:ea typeface="Calibri"/>
              <a:cs typeface="Calibri"/>
              <a:sym typeface="Calibri"/>
            </a:endParaRPr>
          </a:p>
          <a:p>
            <a:pPr indent="-295275" lvl="0" marL="457200" rtl="0" algn="l">
              <a:lnSpc>
                <a:spcPct val="115000"/>
              </a:lnSpc>
              <a:spcBef>
                <a:spcPts val="0"/>
              </a:spcBef>
              <a:spcAft>
                <a:spcPts val="0"/>
              </a:spcAft>
              <a:buClr>
                <a:srgbClr val="BBBEBF"/>
              </a:buClr>
              <a:buSzPts val="1050"/>
              <a:buChar char="●"/>
            </a:pPr>
            <a:r>
              <a:rPr b="1" lang="en-US" sz="1600">
                <a:solidFill>
                  <a:srgbClr val="2B2B2B"/>
                </a:solidFill>
                <a:latin typeface="Calibri"/>
                <a:ea typeface="Calibri"/>
                <a:cs typeface="Calibri"/>
                <a:sym typeface="Calibri"/>
              </a:rPr>
              <a:t>Edupia AI Class New</a:t>
            </a:r>
            <a:r>
              <a:rPr lang="en-US" sz="1600">
                <a:solidFill>
                  <a:srgbClr val="2B2B2B"/>
                </a:solidFill>
                <a:latin typeface="Calibri"/>
                <a:ea typeface="Calibri"/>
                <a:cs typeface="Calibri"/>
                <a:sym typeface="Calibri"/>
              </a:rPr>
              <a:t> sẽ là sản phẩm </a:t>
            </a:r>
            <a:r>
              <a:rPr b="1" lang="en-US" sz="1600">
                <a:solidFill>
                  <a:srgbClr val="2B2B2B"/>
                </a:solidFill>
                <a:latin typeface="Calibri"/>
                <a:ea typeface="Calibri"/>
                <a:cs typeface="Calibri"/>
                <a:sym typeface="Calibri"/>
              </a:rPr>
              <a:t>mass </a:t>
            </a:r>
            <a:r>
              <a:rPr lang="en-US" sz="1600">
                <a:solidFill>
                  <a:srgbClr val="2B2B2B"/>
                </a:solidFill>
                <a:latin typeface="Calibri"/>
                <a:ea typeface="Calibri"/>
                <a:cs typeface="Calibri"/>
                <a:sym typeface="Calibri"/>
              </a:rPr>
              <a:t>ở dải giá này — vai trò </a:t>
            </a:r>
            <a:r>
              <a:rPr b="1" lang="en-US" sz="1600">
                <a:solidFill>
                  <a:srgbClr val="2B2B2B"/>
                </a:solidFill>
                <a:latin typeface="Calibri"/>
                <a:ea typeface="Calibri"/>
                <a:cs typeface="Calibri"/>
                <a:sym typeface="Calibri"/>
              </a:rPr>
              <a:t>Product Growth Engine</a:t>
            </a:r>
            <a:r>
              <a:rPr lang="en-US" sz="1600">
                <a:solidFill>
                  <a:srgbClr val="2B2B2B"/>
                </a:solidFill>
                <a:latin typeface="Calibri"/>
                <a:ea typeface="Calibri"/>
                <a:cs typeface="Calibri"/>
                <a:sym typeface="Calibri"/>
              </a:rPr>
              <a:t>: dẫn dắt tăng trưởng người dùng, doanh thu, lợi nhuận.</a:t>
            </a:r>
            <a:endParaRPr sz="1600">
              <a:solidFill>
                <a:srgbClr val="2B2B2B"/>
              </a:solidFill>
              <a:latin typeface="Calibri"/>
              <a:ea typeface="Calibri"/>
              <a:cs typeface="Calibri"/>
              <a:sym typeface="Calibri"/>
            </a:endParaRPr>
          </a:p>
          <a:p>
            <a:pPr indent="-295275" lvl="0" marL="457200" rtl="0" algn="l">
              <a:lnSpc>
                <a:spcPct val="115000"/>
              </a:lnSpc>
              <a:spcBef>
                <a:spcPts val="0"/>
              </a:spcBef>
              <a:spcAft>
                <a:spcPts val="0"/>
              </a:spcAft>
              <a:buClr>
                <a:srgbClr val="BBBEBF"/>
              </a:buClr>
              <a:buSzPts val="1050"/>
              <a:buChar char="●"/>
            </a:pPr>
            <a:r>
              <a:rPr b="1" lang="en-US" sz="1600">
                <a:solidFill>
                  <a:srgbClr val="2B2B2B"/>
                </a:solidFill>
                <a:latin typeface="Calibri"/>
                <a:ea typeface="Calibri"/>
                <a:cs typeface="Calibri"/>
                <a:sym typeface="Calibri"/>
              </a:rPr>
              <a:t>Giá bán: 390k</a:t>
            </a:r>
            <a:r>
              <a:rPr lang="en-US" sz="1600">
                <a:solidFill>
                  <a:srgbClr val="2B2B2B"/>
                </a:solidFill>
                <a:latin typeface="Calibri"/>
                <a:ea typeface="Calibri"/>
                <a:cs typeface="Calibri"/>
                <a:sym typeface="Calibri"/>
              </a:rPr>
              <a:t> là giá mục tiêu sau khi đầu tư 1 trong 3 concept dưới đây.</a:t>
            </a:r>
            <a:endParaRPr sz="1600">
              <a:solidFill>
                <a:srgbClr val="2B2B2B"/>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6"/>
          <p:cNvSpPr/>
          <p:nvPr/>
        </p:nvSpPr>
        <p:spPr>
          <a:xfrm>
            <a:off x="548640" y="32004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PHẦN 1 — MỤC TIÊU CHIẾN LƯỢC</a:t>
            </a:r>
            <a:endParaRPr b="0" i="0" sz="1200" u="none" cap="none" strike="noStrike">
              <a:solidFill>
                <a:schemeClr val="dk1"/>
              </a:solidFill>
              <a:latin typeface="Calibri"/>
              <a:ea typeface="Calibri"/>
              <a:cs typeface="Calibri"/>
              <a:sym typeface="Calibri"/>
            </a:endParaRPr>
          </a:p>
        </p:txBody>
      </p:sp>
      <p:sp>
        <p:nvSpPr>
          <p:cNvPr id="61" name="Google Shape;61;p6"/>
          <p:cNvSpPr/>
          <p:nvPr/>
        </p:nvSpPr>
        <p:spPr>
          <a:xfrm>
            <a:off x="548640" y="621792"/>
            <a:ext cx="11094415"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i="0" lang="en-US" sz="2600" u="none" cap="none" strike="noStrike">
                <a:solidFill>
                  <a:srgbClr val="1B2A4A"/>
                </a:solidFill>
                <a:latin typeface="Calibri"/>
                <a:ea typeface="Calibri"/>
                <a:cs typeface="Calibri"/>
                <a:sym typeface="Calibri"/>
              </a:rPr>
              <a:t>Quy mô thị trường Tier 3/4</a:t>
            </a:r>
            <a:endParaRPr b="0" i="0" sz="2600" u="none" cap="none" strike="noStrike">
              <a:solidFill>
                <a:schemeClr val="dk1"/>
              </a:solidFill>
              <a:latin typeface="Calibri"/>
              <a:ea typeface="Calibri"/>
              <a:cs typeface="Calibri"/>
              <a:sym typeface="Calibri"/>
            </a:endParaRPr>
          </a:p>
        </p:txBody>
      </p:sp>
      <p:cxnSp>
        <p:nvCxnSpPr>
          <p:cNvPr id="62" name="Google Shape;62;p6"/>
          <p:cNvCxnSpPr/>
          <p:nvPr/>
        </p:nvCxnSpPr>
        <p:spPr>
          <a:xfrm>
            <a:off x="548640" y="1207008"/>
            <a:ext cx="822960" cy="0"/>
          </a:xfrm>
          <a:prstGeom prst="straightConnector1">
            <a:avLst/>
          </a:prstGeom>
          <a:noFill/>
          <a:ln cap="flat" cmpd="sng" w="38100">
            <a:solidFill>
              <a:srgbClr val="2E5FA3"/>
            </a:solidFill>
            <a:prstDash val="solid"/>
            <a:round/>
            <a:headEnd len="sm" w="sm" type="none"/>
            <a:tailEnd len="sm" w="sm" type="none"/>
          </a:ln>
        </p:spPr>
      </p:cxnSp>
      <p:sp>
        <p:nvSpPr>
          <p:cNvPr id="63" name="Google Shape;63;p6"/>
          <p:cNvSpPr/>
          <p:nvPr/>
        </p:nvSpPr>
        <p:spPr>
          <a:xfrm>
            <a:off x="11002975" y="65105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3</a:t>
            </a:r>
            <a:r>
              <a:rPr b="0" i="0" lang="en-US" sz="1000" u="none" cap="none" strike="noStrike">
                <a:solidFill>
                  <a:srgbClr val="6B7280"/>
                </a:solidFill>
                <a:latin typeface="Calibri"/>
                <a:ea typeface="Calibri"/>
                <a:cs typeface="Calibri"/>
                <a:sym typeface="Calibri"/>
              </a:rPr>
              <a:t> /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64" name="Google Shape;64;p6"/>
          <p:cNvSpPr/>
          <p:nvPr/>
        </p:nvSpPr>
        <p:spPr>
          <a:xfrm>
            <a:off x="548640" y="1417320"/>
            <a:ext cx="110944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Số liệu tham khảo, có sai số — suy luận từ dữ liệu thu nhập GSO (KSMS 2024), chưa có khảo sát trực tiếp tier 3/4. Sẽ được xác nhận lại qua khảo sát WTP tháng 9.</a:t>
            </a:r>
            <a:endParaRPr b="0" i="0" sz="1300" u="none" cap="none" strike="noStrike">
              <a:solidFill>
                <a:schemeClr val="dk1"/>
              </a:solidFill>
              <a:latin typeface="Calibri"/>
              <a:ea typeface="Calibri"/>
              <a:cs typeface="Calibri"/>
              <a:sym typeface="Calibri"/>
            </a:endParaRPr>
          </a:p>
        </p:txBody>
      </p:sp>
      <p:sp>
        <p:nvSpPr>
          <p:cNvPr id="65" name="Google Shape;65;p6"/>
          <p:cNvSpPr/>
          <p:nvPr/>
        </p:nvSpPr>
        <p:spPr>
          <a:xfrm>
            <a:off x="548640" y="2011680"/>
            <a:ext cx="11094415" cy="393192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2E5FA3"/>
              </a:buClr>
              <a:buSzPts val="1550"/>
              <a:buFont typeface="Calibri"/>
              <a:buNone/>
            </a:pPr>
            <a:r>
              <a:rPr b="1" i="0" lang="en-US" sz="1550" u="none" cap="none" strike="noStrike">
                <a:solidFill>
                  <a:srgbClr val="2E5FA3"/>
                </a:solidFill>
                <a:latin typeface="Calibri"/>
                <a:ea typeface="Calibri"/>
                <a:cs typeface="Calibri"/>
                <a:sym typeface="Calibri"/>
              </a:rPr>
              <a:t>•  </a:t>
            </a:r>
            <a:r>
              <a:rPr b="0" i="0" lang="en-US" sz="1550" u="none" cap="none" strike="noStrike">
                <a:solidFill>
                  <a:srgbClr val="2B2B2B"/>
                </a:solidFill>
                <a:latin typeface="Calibri"/>
                <a:ea typeface="Calibri"/>
                <a:cs typeface="Calibri"/>
                <a:sym typeface="Calibri"/>
              </a:rPr>
              <a:t>Dân số ngoài 5 thành phố trực thuộc TW: </a:t>
            </a:r>
            <a:r>
              <a:rPr b="1" i="0" lang="en-US" sz="1550" u="none" cap="none" strike="noStrike">
                <a:solidFill>
                  <a:srgbClr val="2B2B2B"/>
                </a:solidFill>
                <a:latin typeface="Calibri"/>
                <a:ea typeface="Calibri"/>
                <a:cs typeface="Calibri"/>
                <a:sym typeface="Calibri"/>
              </a:rPr>
              <a:t>~75-78 triệu người</a:t>
            </a:r>
            <a:r>
              <a:rPr b="0" i="0" lang="en-US" sz="1550" u="none" cap="none" strike="noStrike">
                <a:solidFill>
                  <a:srgbClr val="2B2B2B"/>
                </a:solidFill>
                <a:latin typeface="Calibri"/>
                <a:ea typeface="Calibri"/>
                <a:cs typeface="Calibri"/>
                <a:sym typeface="Calibri"/>
              </a:rPr>
              <a:t> (số tham khảo).</a:t>
            </a:r>
            <a:endParaRPr b="0" i="0" sz="1550" u="none" cap="none" strike="noStrike">
              <a:solidFill>
                <a:schemeClr val="dk1"/>
              </a:solidFill>
              <a:latin typeface="Calibri"/>
              <a:ea typeface="Calibri"/>
              <a:cs typeface="Calibri"/>
              <a:sym typeface="Calibri"/>
            </a:endParaRPr>
          </a:p>
          <a:p>
            <a:pPr indent="0" lvl="0" marL="0" marR="0" rtl="0" algn="l">
              <a:lnSpc>
                <a:spcPct val="118000"/>
              </a:lnSpc>
              <a:spcBef>
                <a:spcPts val="1400"/>
              </a:spcBef>
              <a:spcAft>
                <a:spcPts val="0"/>
              </a:spcAft>
              <a:buClr>
                <a:srgbClr val="2E5FA3"/>
              </a:buClr>
              <a:buSzPts val="1550"/>
              <a:buFont typeface="Calibri"/>
              <a:buNone/>
            </a:pPr>
            <a:r>
              <a:rPr b="1" i="0" lang="en-US" sz="1550" u="none" cap="none" strike="noStrike">
                <a:solidFill>
                  <a:srgbClr val="2E5FA3"/>
                </a:solidFill>
                <a:latin typeface="Calibri"/>
                <a:ea typeface="Calibri"/>
                <a:cs typeface="Calibri"/>
                <a:sym typeface="Calibri"/>
              </a:rPr>
              <a:t>•  </a:t>
            </a:r>
            <a:r>
              <a:rPr b="0" i="0" lang="en-US" sz="1550" u="none" cap="none" strike="noStrike">
                <a:solidFill>
                  <a:srgbClr val="2B2B2B"/>
                </a:solidFill>
                <a:latin typeface="Calibri"/>
                <a:ea typeface="Calibri"/>
                <a:cs typeface="Calibri"/>
                <a:sym typeface="Calibri"/>
              </a:rPr>
              <a:t>Thu nhập bình quân đầu người/tháng (nông thôn, toàn quốc): </a:t>
            </a:r>
            <a:r>
              <a:rPr b="1" i="0" lang="en-US" sz="1550" u="none" cap="none" strike="noStrike">
                <a:solidFill>
                  <a:srgbClr val="2B2B2B"/>
                </a:solidFill>
                <a:latin typeface="Calibri"/>
                <a:ea typeface="Calibri"/>
                <a:cs typeface="Calibri"/>
                <a:sym typeface="Calibri"/>
              </a:rPr>
              <a:t>~4,5 triệu</a:t>
            </a:r>
            <a:r>
              <a:rPr b="0" i="0" lang="en-US" sz="1550" u="none" cap="none" strike="noStrike">
                <a:solidFill>
                  <a:srgbClr val="2B2B2B"/>
                </a:solidFill>
                <a:latin typeface="Calibri"/>
                <a:ea typeface="Calibri"/>
                <a:cs typeface="Calibri"/>
                <a:sym typeface="Calibri"/>
              </a:rPr>
              <a:t> — chênh lệch vùng miền lớn, từ ~7,1 triệu (Đông Nam Bộ) đến ~3,8 triệu (Trung du miền núi phía Bắc).</a:t>
            </a:r>
            <a:endParaRPr b="0" i="0" sz="1550" u="none" cap="none" strike="noStrike">
              <a:solidFill>
                <a:schemeClr val="dk1"/>
              </a:solidFill>
              <a:latin typeface="Calibri"/>
              <a:ea typeface="Calibri"/>
              <a:cs typeface="Calibri"/>
              <a:sym typeface="Calibri"/>
            </a:endParaRPr>
          </a:p>
          <a:p>
            <a:pPr indent="0" lvl="0" marL="0" marR="0" rtl="0" algn="l">
              <a:lnSpc>
                <a:spcPct val="118000"/>
              </a:lnSpc>
              <a:spcBef>
                <a:spcPts val="1400"/>
              </a:spcBef>
              <a:spcAft>
                <a:spcPts val="0"/>
              </a:spcAft>
              <a:buClr>
                <a:srgbClr val="2E5FA3"/>
              </a:buClr>
              <a:buSzPts val="1550"/>
              <a:buFont typeface="Calibri"/>
              <a:buNone/>
            </a:pPr>
            <a:r>
              <a:rPr b="1" i="0" lang="en-US" sz="1550" u="none" cap="none" strike="noStrike">
                <a:solidFill>
                  <a:srgbClr val="2E5FA3"/>
                </a:solidFill>
                <a:latin typeface="Calibri"/>
                <a:ea typeface="Calibri"/>
                <a:cs typeface="Calibri"/>
                <a:sym typeface="Calibri"/>
              </a:rPr>
              <a:t>•  </a:t>
            </a:r>
            <a:r>
              <a:rPr b="0" i="0" lang="en-US" sz="1550" u="none" cap="none" strike="noStrike">
                <a:solidFill>
                  <a:srgbClr val="2B2B2B"/>
                </a:solidFill>
                <a:latin typeface="Calibri"/>
                <a:ea typeface="Calibri"/>
                <a:cs typeface="Calibri"/>
                <a:sym typeface="Calibri"/>
              </a:rPr>
              <a:t>Ở mức thu nhập nông thôn trung bình, 390-400k/tháng ≈ </a:t>
            </a:r>
            <a:r>
              <a:rPr b="1" i="0" lang="en-US" sz="1550" u="none" cap="none" strike="noStrike">
                <a:solidFill>
                  <a:srgbClr val="2B2B2B"/>
                </a:solidFill>
                <a:latin typeface="Calibri"/>
                <a:ea typeface="Calibri"/>
                <a:cs typeface="Calibri"/>
                <a:sym typeface="Calibri"/>
              </a:rPr>
              <a:t>2,4-2,5% thu nhập hộ gia đình</a:t>
            </a:r>
            <a:r>
              <a:rPr b="0" i="0" lang="en-US" sz="1550" u="none" cap="none" strike="noStrike">
                <a:solidFill>
                  <a:srgbClr val="2B2B2B"/>
                </a:solidFill>
                <a:latin typeface="Calibri"/>
                <a:ea typeface="Calibri"/>
                <a:cs typeface="Calibri"/>
                <a:sym typeface="Calibri"/>
              </a:rPr>
              <a:t> — khoản chi tương đối nhỏ. Ở vùng thu nhập thấp nhất cả nước, cùng mức giá chiếm </a:t>
            </a:r>
            <a:r>
              <a:rPr b="1" i="0" lang="en-US" sz="1550" u="none" cap="none" strike="noStrike">
                <a:solidFill>
                  <a:srgbClr val="2B2B2B"/>
                </a:solidFill>
                <a:latin typeface="Calibri"/>
                <a:ea typeface="Calibri"/>
                <a:cs typeface="Calibri"/>
                <a:sym typeface="Calibri"/>
              </a:rPr>
              <a:t>~10-10,5% thu nhập đầu người</a:t>
            </a:r>
            <a:r>
              <a:rPr b="0" i="0" lang="en-US" sz="1550" u="none" cap="none" strike="noStrike">
                <a:solidFill>
                  <a:srgbClr val="2B2B2B"/>
                </a:solidFill>
                <a:latin typeface="Calibri"/>
                <a:ea typeface="Calibri"/>
                <a:cs typeface="Calibri"/>
                <a:sym typeface="Calibri"/>
              </a:rPr>
              <a:t> — sát ngưỡng chi tiêu định kỳ chấp nhận được.</a:t>
            </a:r>
            <a:endParaRPr b="0" i="0" sz="1550" u="none" cap="none" strike="noStrike">
              <a:solidFill>
                <a:schemeClr val="dk1"/>
              </a:solidFill>
              <a:latin typeface="Calibri"/>
              <a:ea typeface="Calibri"/>
              <a:cs typeface="Calibri"/>
              <a:sym typeface="Calibri"/>
            </a:endParaRPr>
          </a:p>
          <a:p>
            <a:pPr indent="0" lvl="0" marL="0" marR="0" rtl="0" algn="l">
              <a:lnSpc>
                <a:spcPct val="118000"/>
              </a:lnSpc>
              <a:spcBef>
                <a:spcPts val="1400"/>
              </a:spcBef>
              <a:spcAft>
                <a:spcPts val="0"/>
              </a:spcAft>
              <a:buClr>
                <a:srgbClr val="2E5FA3"/>
              </a:buClr>
              <a:buSzPts val="1550"/>
              <a:buFont typeface="Calibri"/>
              <a:buNone/>
            </a:pPr>
            <a:r>
              <a:rPr b="1" i="0" lang="en-US" sz="1550" u="none" cap="none" strike="noStrike">
                <a:solidFill>
                  <a:srgbClr val="2E5FA3"/>
                </a:solidFill>
                <a:latin typeface="Calibri"/>
                <a:ea typeface="Calibri"/>
                <a:cs typeface="Calibri"/>
                <a:sym typeface="Calibri"/>
              </a:rPr>
              <a:t>•  </a:t>
            </a:r>
            <a:r>
              <a:rPr b="0" i="0" lang="en-US" sz="1550" u="none" cap="none" strike="noStrike">
                <a:solidFill>
                  <a:srgbClr val="2B2B2B"/>
                </a:solidFill>
                <a:latin typeface="Calibri"/>
                <a:ea typeface="Calibri"/>
                <a:cs typeface="Calibri"/>
                <a:sym typeface="Calibri"/>
              </a:rPr>
              <a:t>"Tier 3/4" không phải một phân khúc thu nhập đồng nhất — nên đọc là 2 nhóm: (A) tỉnh/huyện khá giả (rào cản chính là niềm tin, không phải giá) và (B) vùng khó khăn (rào cản kép: nhận thức + khả năng chi trả).</a:t>
            </a:r>
            <a:endParaRPr b="0" i="0" sz="1550" u="none" cap="none" strike="noStrike">
              <a:solidFill>
                <a:schemeClr val="dk1"/>
              </a:solidFill>
              <a:latin typeface="Calibri"/>
              <a:ea typeface="Calibri"/>
              <a:cs typeface="Calibri"/>
              <a:sym typeface="Calibri"/>
            </a:endParaRPr>
          </a:p>
        </p:txBody>
      </p:sp>
      <p:sp>
        <p:nvSpPr>
          <p:cNvPr id="66" name="Google Shape;66;p6"/>
          <p:cNvSpPr/>
          <p:nvPr/>
        </p:nvSpPr>
        <p:spPr>
          <a:xfrm>
            <a:off x="548640" y="6510528"/>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7"/>
          <p:cNvSpPr/>
          <p:nvPr/>
        </p:nvSpPr>
        <p:spPr>
          <a:xfrm>
            <a:off x="548640" y="32004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PHẦN 2</a:t>
            </a:r>
            <a:r>
              <a:rPr b="1" i="0" lang="en-US" sz="1200" u="none" cap="none" strike="noStrike">
                <a:solidFill>
                  <a:srgbClr val="2E5FA3"/>
                </a:solidFill>
                <a:latin typeface="Calibri"/>
                <a:ea typeface="Calibri"/>
                <a:cs typeface="Calibri"/>
                <a:sym typeface="Calibri"/>
              </a:rPr>
              <a:t> —</a:t>
            </a:r>
            <a:r>
              <a:rPr b="1" i="0" lang="en-US" sz="1200" u="none" cap="none" strike="noStrike">
                <a:solidFill>
                  <a:srgbClr val="2E5FA3"/>
                </a:solidFill>
                <a:latin typeface="Calibri"/>
                <a:ea typeface="Calibri"/>
                <a:cs typeface="Calibri"/>
                <a:sym typeface="Calibri"/>
              </a:rPr>
              <a:t> ĐỊNH HƯỚNG CONCEPT</a:t>
            </a:r>
            <a:r>
              <a:rPr b="1" lang="en-US" sz="1200">
                <a:solidFill>
                  <a:srgbClr val="2E5FA3"/>
                </a:solidFill>
                <a:latin typeface="Calibri"/>
                <a:ea typeface="Calibri"/>
                <a:cs typeface="Calibri"/>
                <a:sym typeface="Calibri"/>
              </a:rPr>
              <a:t> SẢN PHẨM</a:t>
            </a:r>
            <a:endParaRPr b="0" i="0" sz="1200" u="none" cap="none" strike="noStrike">
              <a:solidFill>
                <a:schemeClr val="dk1"/>
              </a:solidFill>
              <a:latin typeface="Calibri"/>
              <a:ea typeface="Calibri"/>
              <a:cs typeface="Calibri"/>
              <a:sym typeface="Calibri"/>
            </a:endParaRPr>
          </a:p>
        </p:txBody>
      </p:sp>
      <p:sp>
        <p:nvSpPr>
          <p:cNvPr id="73" name="Google Shape;73;p7"/>
          <p:cNvSpPr/>
          <p:nvPr/>
        </p:nvSpPr>
        <p:spPr>
          <a:xfrm>
            <a:off x="548640" y="621792"/>
            <a:ext cx="11094415"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i="0" lang="en-US" sz="2600" u="none" cap="none" strike="noStrike">
                <a:solidFill>
                  <a:srgbClr val="1B2A4A"/>
                </a:solidFill>
                <a:latin typeface="Calibri"/>
                <a:ea typeface="Calibri"/>
                <a:cs typeface="Calibri"/>
                <a:sym typeface="Calibri"/>
              </a:rPr>
              <a:t>Tổng quan nhanh 3 định hướng</a:t>
            </a:r>
            <a:endParaRPr b="0" i="0" sz="2600" u="none" cap="none" strike="noStrike">
              <a:solidFill>
                <a:schemeClr val="dk1"/>
              </a:solidFill>
              <a:latin typeface="Calibri"/>
              <a:ea typeface="Calibri"/>
              <a:cs typeface="Calibri"/>
              <a:sym typeface="Calibri"/>
            </a:endParaRPr>
          </a:p>
        </p:txBody>
      </p:sp>
      <p:cxnSp>
        <p:nvCxnSpPr>
          <p:cNvPr id="74" name="Google Shape;74;p7"/>
          <p:cNvCxnSpPr/>
          <p:nvPr/>
        </p:nvCxnSpPr>
        <p:spPr>
          <a:xfrm>
            <a:off x="548640" y="1207008"/>
            <a:ext cx="822960" cy="0"/>
          </a:xfrm>
          <a:prstGeom prst="straightConnector1">
            <a:avLst/>
          </a:prstGeom>
          <a:noFill/>
          <a:ln cap="flat" cmpd="sng" w="38100">
            <a:solidFill>
              <a:srgbClr val="2E5FA3"/>
            </a:solidFill>
            <a:prstDash val="solid"/>
            <a:round/>
            <a:headEnd len="sm" w="sm" type="none"/>
            <a:tailEnd len="sm" w="sm" type="none"/>
          </a:ln>
        </p:spPr>
      </p:cxnSp>
      <p:sp>
        <p:nvSpPr>
          <p:cNvPr id="75" name="Google Shape;75;p7"/>
          <p:cNvSpPr/>
          <p:nvPr/>
        </p:nvSpPr>
        <p:spPr>
          <a:xfrm>
            <a:off x="11002975" y="65105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4 /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graphicFrame>
        <p:nvGraphicFramePr>
          <p:cNvPr id="76" name="Google Shape;76;p7"/>
          <p:cNvGraphicFramePr/>
          <p:nvPr/>
        </p:nvGraphicFramePr>
        <p:xfrm>
          <a:off x="548640" y="1508760"/>
          <a:ext cx="3000000" cy="3000000"/>
        </p:xfrm>
        <a:graphic>
          <a:graphicData uri="http://schemas.openxmlformats.org/drawingml/2006/table">
            <a:tbl>
              <a:tblPr>
                <a:noFill/>
                <a:tableStyleId>{C502E3C7-9A4C-4ABD-AE55-75EC5AD6722D}</a:tableStyleId>
              </a:tblPr>
              <a:tblGrid>
                <a:gridCol w="1737350"/>
                <a:gridCol w="3119025"/>
                <a:gridCol w="3119025"/>
                <a:gridCol w="3119025"/>
              </a:tblGrid>
              <a:tr h="896100">
                <a:tc>
                  <a:txBody>
                    <a:bodyPr/>
                    <a:lstStyle/>
                    <a:p>
                      <a:pPr indent="0" lvl="0" marL="0" marR="0" rtl="0" algn="l">
                        <a:spcBef>
                          <a:spcPts val="0"/>
                        </a:spcBef>
                        <a:spcAft>
                          <a:spcPts val="0"/>
                        </a:spcAft>
                        <a:buClr>
                          <a:schemeClr val="dk1"/>
                        </a:buClr>
                        <a:buSzPts val="1350"/>
                        <a:buFont typeface="Calibri"/>
                        <a:buNone/>
                      </a:pPr>
                      <a:r>
                        <a:t/>
                      </a:r>
                      <a:endParaRPr sz="13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Concept 1 — Làm mịn &amp; nâng cấp</a:t>
                      </a:r>
                      <a:endParaRPr sz="13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Concept 2 — Làm mịn + Thêm môn</a:t>
                      </a:r>
                      <a:endParaRPr sz="13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Concept 3 — Gia sư AI 1:1</a:t>
                      </a:r>
                      <a:endParaRPr sz="13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r>
              <a:tr h="896100">
                <a:tc>
                  <a:txBody>
                    <a:bodyPr/>
                    <a:lstStyle/>
                    <a:p>
                      <a:pPr indent="0" lvl="0" marL="0" marR="0" rtl="0" algn="l">
                        <a:spcBef>
                          <a:spcPts val="0"/>
                        </a:spcBef>
                        <a:spcAft>
                          <a:spcPts val="0"/>
                        </a:spcAft>
                        <a:buClr>
                          <a:srgbClr val="1B2A4A"/>
                        </a:buClr>
                        <a:buSzPts val="1250"/>
                        <a:buFont typeface="Calibri"/>
                        <a:buNone/>
                      </a:pPr>
                      <a:r>
                        <a:rPr b="1" lang="en-US" sz="1250">
                          <a:solidFill>
                            <a:srgbClr val="1B2A4A"/>
                          </a:solidFill>
                          <a:latin typeface="Calibri"/>
                          <a:ea typeface="Calibri"/>
                          <a:cs typeface="Calibri"/>
                          <a:sym typeface="Calibri"/>
                        </a:rPr>
                        <a:t>Concept chính</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250"/>
                        <a:buFont typeface="Calibri"/>
                        <a:buNone/>
                      </a:pPr>
                      <a:r>
                        <a:rPr lang="en-US" sz="1250" u="none" cap="none" strike="noStrike">
                          <a:solidFill>
                            <a:srgbClr val="2B2B2B"/>
                          </a:solidFill>
                          <a:latin typeface="Calibri"/>
                          <a:ea typeface="Calibri"/>
                          <a:cs typeface="Calibri"/>
                          <a:sym typeface="Calibri"/>
                        </a:rPr>
                        <a:t>Giữ Big Class</a:t>
                      </a:r>
                      <a:r>
                        <a:rPr lang="en-US" sz="1250">
                          <a:solidFill>
                            <a:srgbClr val="2B2B2B"/>
                          </a:solidFill>
                          <a:latin typeface="Calibri"/>
                          <a:ea typeface="Calibri"/>
                          <a:cs typeface="Calibri"/>
                          <a:sym typeface="Calibri"/>
                        </a:rPr>
                        <a:t> </a:t>
                      </a:r>
                      <a:r>
                        <a:rPr lang="en-US" sz="1250" u="none" cap="none" strike="noStrike">
                          <a:solidFill>
                            <a:srgbClr val="2B2B2B"/>
                          </a:solidFill>
                          <a:latin typeface="Calibri"/>
                          <a:ea typeface="Calibri"/>
                          <a:cs typeface="Calibri"/>
                          <a:sym typeface="Calibri"/>
                        </a:rPr>
                        <a:t>làm trung tâm + AI Practice + AI Speak + AI Club, </a:t>
                      </a:r>
                      <a:r>
                        <a:rPr lang="en-US" sz="1250">
                          <a:solidFill>
                            <a:srgbClr val="2B2B2B"/>
                          </a:solidFill>
                          <a:latin typeface="Calibri"/>
                          <a:ea typeface="Calibri"/>
                          <a:cs typeface="Calibri"/>
                          <a:sym typeface="Calibri"/>
                        </a:rPr>
                        <a:t>nâng cấp </a:t>
                      </a:r>
                      <a:r>
                        <a:rPr lang="en-US" sz="1250" u="none" cap="none" strike="noStrike">
                          <a:solidFill>
                            <a:srgbClr val="2B2B2B"/>
                          </a:solidFill>
                          <a:latin typeface="Calibri"/>
                          <a:ea typeface="Calibri"/>
                          <a:cs typeface="Calibri"/>
                          <a:sym typeface="Calibri"/>
                        </a:rPr>
                        <a:t>AI hỗ trợ sâu dần</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250"/>
                        <a:buFont typeface="Calibri"/>
                        <a:buNone/>
                      </a:pPr>
                      <a:r>
                        <a:rPr lang="en-US" sz="1250" u="none" cap="none" strike="noStrike">
                          <a:solidFill>
                            <a:srgbClr val="2B2B2B"/>
                          </a:solidFill>
                          <a:latin typeface="Calibri"/>
                          <a:ea typeface="Calibri"/>
                          <a:cs typeface="Calibri"/>
                          <a:sym typeface="Calibri"/>
                        </a:rPr>
                        <a:t>Giữ nền Concept </a:t>
                      </a:r>
                      <a:r>
                        <a:rPr lang="en-US" sz="1250">
                          <a:solidFill>
                            <a:srgbClr val="2B2B2B"/>
                          </a:solidFill>
                          <a:latin typeface="Calibri"/>
                          <a:ea typeface="Calibri"/>
                          <a:cs typeface="Calibri"/>
                          <a:sym typeface="Calibri"/>
                        </a:rPr>
                        <a:t>Big Class hiện tại</a:t>
                      </a:r>
                      <a:r>
                        <a:rPr lang="en-US" sz="1250" u="none" cap="none" strike="noStrike">
                          <a:solidFill>
                            <a:srgbClr val="2B2B2B"/>
                          </a:solidFill>
                          <a:latin typeface="Calibri"/>
                          <a:ea typeface="Calibri"/>
                          <a:cs typeface="Calibri"/>
                          <a:sym typeface="Calibri"/>
                        </a:rPr>
                        <a:t>, thêm 1 buổi Live/tuần môn khác</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250"/>
                        <a:buFont typeface="Calibri"/>
                        <a:buNone/>
                      </a:pPr>
                      <a:r>
                        <a:rPr lang="en-US" sz="1250" u="none" cap="none" strike="noStrike">
                          <a:solidFill>
                            <a:srgbClr val="2B2B2B"/>
                          </a:solidFill>
                          <a:latin typeface="Calibri"/>
                          <a:ea typeface="Calibri"/>
                          <a:cs typeface="Calibri"/>
                          <a:sym typeface="Calibri"/>
                        </a:rPr>
                        <a:t>AI Tutor 1-1 đóng vai tr</a:t>
                      </a:r>
                      <a:r>
                        <a:rPr lang="en-US" sz="1250">
                          <a:solidFill>
                            <a:srgbClr val="2B2B2B"/>
                          </a:solidFill>
                          <a:latin typeface="Calibri"/>
                          <a:ea typeface="Calibri"/>
                          <a:cs typeface="Calibri"/>
                          <a:sym typeface="Calibri"/>
                        </a:rPr>
                        <a:t>ò </a:t>
                      </a:r>
                      <a:r>
                        <a:rPr b="1" lang="en-US" sz="1250" u="none" cap="none" strike="noStrike">
                          <a:solidFill>
                            <a:srgbClr val="2B2B2B"/>
                          </a:solidFill>
                          <a:latin typeface="Calibri"/>
                          <a:ea typeface="Calibri"/>
                          <a:cs typeface="Calibri"/>
                          <a:sym typeface="Calibri"/>
                        </a:rPr>
                        <a:t>gia sư chính tro</a:t>
                      </a:r>
                      <a:r>
                        <a:rPr b="1" lang="en-US" sz="1250">
                          <a:solidFill>
                            <a:srgbClr val="2B2B2B"/>
                          </a:solidFill>
                          <a:latin typeface="Calibri"/>
                          <a:ea typeface="Calibri"/>
                          <a:cs typeface="Calibri"/>
                          <a:sym typeface="Calibri"/>
                        </a:rPr>
                        <a:t>ng các lớp học</a:t>
                      </a:r>
                      <a:r>
                        <a:rPr lang="en-US" sz="1250" u="none" cap="none" strike="noStrike">
                          <a:solidFill>
                            <a:srgbClr val="2B2B2B"/>
                          </a:solidFill>
                          <a:latin typeface="Calibri"/>
                          <a:ea typeface="Calibri"/>
                          <a:cs typeface="Calibri"/>
                          <a:sym typeface="Calibri"/>
                        </a:rPr>
                        <a:t>, không chỉ hỗ trợ lớp học</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r>
              <a:tr h="2023550">
                <a:tc>
                  <a:txBody>
                    <a:bodyPr/>
                    <a:lstStyle/>
                    <a:p>
                      <a:pPr indent="0" lvl="0" marL="0" marR="0" rtl="0" algn="l">
                        <a:spcBef>
                          <a:spcPts val="0"/>
                        </a:spcBef>
                        <a:spcAft>
                          <a:spcPts val="0"/>
                        </a:spcAft>
                        <a:buClr>
                          <a:srgbClr val="1B2A4A"/>
                        </a:buClr>
                        <a:buSzPts val="1250"/>
                        <a:buFont typeface="Calibri"/>
                        <a:buNone/>
                      </a:pPr>
                      <a:r>
                        <a:rPr b="1" lang="en-US" sz="1250">
                          <a:solidFill>
                            <a:srgbClr val="1B2A4A"/>
                          </a:solidFill>
                          <a:latin typeface="Calibri"/>
                          <a:ea typeface="Calibri"/>
                          <a:cs typeface="Calibri"/>
                          <a:sym typeface="Calibri"/>
                        </a:rPr>
                        <a:t>Các option</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250"/>
                        <a:buFont typeface="Calibri"/>
                        <a:buNone/>
                      </a:pPr>
                      <a:r>
                        <a:rPr b="1" lang="en-US" sz="1250">
                          <a:solidFill>
                            <a:srgbClr val="2B2B2B"/>
                          </a:solidFill>
                          <a:latin typeface="Calibri"/>
                          <a:ea typeface="Calibri"/>
                          <a:cs typeface="Calibri"/>
                          <a:sym typeface="Calibri"/>
                        </a:rPr>
                        <a:t>Option 1.1: </a:t>
                      </a:r>
                      <a:endParaRPr b="1" sz="1250">
                        <a:solidFill>
                          <a:srgbClr val="2B2B2B"/>
                        </a:solidFill>
                        <a:latin typeface="Calibri"/>
                        <a:ea typeface="Calibri"/>
                        <a:cs typeface="Calibri"/>
                        <a:sym typeface="Calibri"/>
                      </a:endParaRPr>
                    </a:p>
                    <a:p>
                      <a:pPr indent="-307975" lvl="0" marL="457200" marR="0" rtl="0" algn="l">
                        <a:spcBef>
                          <a:spcPts val="0"/>
                        </a:spcBef>
                        <a:spcAft>
                          <a:spcPts val="0"/>
                        </a:spcAft>
                        <a:buClr>
                          <a:schemeClr val="dk1"/>
                        </a:buClr>
                        <a:buSzPts val="1250"/>
                        <a:buFont typeface="Calibri"/>
                        <a:buChar char="-"/>
                      </a:pPr>
                      <a:r>
                        <a:rPr i="1" lang="en-US" sz="1050">
                          <a:solidFill>
                            <a:schemeClr val="dk1"/>
                          </a:solidFill>
                        </a:rPr>
                        <a:t>Nâng cấp chất lượng nội dung có sẵn, không đổi cấu trúc sản phẩm.</a:t>
                      </a:r>
                      <a:r>
                        <a:rPr lang="en-US" sz="1100">
                          <a:solidFill>
                            <a:schemeClr val="dk1"/>
                          </a:solidFill>
                        </a:rPr>
                        <a:t>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rPr b="1" lang="en-US" sz="1100">
                          <a:solidFill>
                            <a:schemeClr val="dk1"/>
                          </a:solidFill>
                        </a:rPr>
                        <a:t>Option 1.2:</a:t>
                      </a:r>
                      <a:endParaRPr b="1" sz="1100">
                        <a:solidFill>
                          <a:schemeClr val="dk1"/>
                        </a:solidFill>
                      </a:endParaRPr>
                    </a:p>
                    <a:p>
                      <a:pPr indent="-298450" lvl="0" marL="457200" marR="0" rtl="0" algn="l">
                        <a:spcBef>
                          <a:spcPts val="0"/>
                        </a:spcBef>
                        <a:spcAft>
                          <a:spcPts val="0"/>
                        </a:spcAft>
                        <a:buClr>
                          <a:schemeClr val="dk1"/>
                        </a:buClr>
                        <a:buSzPts val="1100"/>
                        <a:buChar char="-"/>
                      </a:pPr>
                      <a:r>
                        <a:rPr i="1" lang="en-US" sz="1050">
                          <a:solidFill>
                            <a:schemeClr val="dk1"/>
                          </a:solidFill>
                        </a:rPr>
                        <a:t>Đầu tư sâu vào tầng công nghệ AI chẩn đoán và cá nhân hóa + kế thừa toàn bộ Option 1.1</a:t>
                      </a:r>
                      <a:endParaRPr i="1" sz="1050">
                        <a:solidFill>
                          <a:schemeClr val="dk1"/>
                        </a:solidFill>
                      </a:endParaRPr>
                    </a:p>
                    <a:p>
                      <a:pPr indent="0" lvl="0" marL="0" marR="0" rtl="0" algn="l">
                        <a:spcBef>
                          <a:spcPts val="0"/>
                        </a:spcBef>
                        <a:spcAft>
                          <a:spcPts val="0"/>
                        </a:spcAft>
                        <a:buNone/>
                      </a:pPr>
                      <a:r>
                        <a:t/>
                      </a:r>
                      <a:endParaRPr i="1" sz="1050">
                        <a:solidFill>
                          <a:schemeClr val="dk1"/>
                        </a:solidFill>
                      </a:endParaRPr>
                    </a:p>
                    <a:p>
                      <a:pPr indent="0" lvl="0" marL="0" marR="0" rtl="0" algn="l">
                        <a:spcBef>
                          <a:spcPts val="0"/>
                        </a:spcBef>
                        <a:spcAft>
                          <a:spcPts val="0"/>
                        </a:spcAft>
                        <a:buNone/>
                      </a:pPr>
                      <a:r>
                        <a:rPr b="1" lang="en-US" sz="1050">
                          <a:solidFill>
                            <a:schemeClr val="dk1"/>
                          </a:solidFill>
                        </a:rPr>
                        <a:t>Option 1.3:</a:t>
                      </a:r>
                      <a:endParaRPr b="1" sz="1050">
                        <a:solidFill>
                          <a:schemeClr val="dk1"/>
                        </a:solidFill>
                      </a:endParaRPr>
                    </a:p>
                    <a:p>
                      <a:pPr indent="-295275" lvl="0" marL="457200" marR="0" rtl="0" algn="l">
                        <a:spcBef>
                          <a:spcPts val="0"/>
                        </a:spcBef>
                        <a:spcAft>
                          <a:spcPts val="0"/>
                        </a:spcAft>
                        <a:buClr>
                          <a:schemeClr val="dk1"/>
                        </a:buClr>
                        <a:buSzPts val="1050"/>
                        <a:buChar char="-"/>
                      </a:pPr>
                      <a:r>
                        <a:rPr i="1" lang="en-US" sz="1050">
                          <a:solidFill>
                            <a:schemeClr val="dk1"/>
                          </a:solidFill>
                        </a:rPr>
                        <a:t>Nâng cấp mạnh tầng con người. (GVCN chăm sóc thêm)</a:t>
                      </a:r>
                      <a:endParaRPr i="1" sz="1050">
                        <a:solidFill>
                          <a:schemeClr val="dk1"/>
                        </a:solidFill>
                      </a:endParaRPr>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250"/>
                        <a:buFont typeface="Calibri"/>
                        <a:buNone/>
                      </a:pPr>
                      <a:r>
                        <a:rPr b="1" lang="en-US" sz="1250">
                          <a:solidFill>
                            <a:srgbClr val="2B2B2B"/>
                          </a:solidFill>
                          <a:latin typeface="Calibri"/>
                          <a:ea typeface="Calibri"/>
                          <a:cs typeface="Calibri"/>
                          <a:sym typeface="Calibri"/>
                        </a:rPr>
                        <a:t>Option 2.1:</a:t>
                      </a:r>
                      <a:endParaRPr b="1" sz="1250">
                        <a:solidFill>
                          <a:srgbClr val="2B2B2B"/>
                        </a:solidFill>
                        <a:latin typeface="Calibri"/>
                        <a:ea typeface="Calibri"/>
                        <a:cs typeface="Calibri"/>
                        <a:sym typeface="Calibri"/>
                      </a:endParaRPr>
                    </a:p>
                    <a:p>
                      <a:pPr indent="-307975" lvl="0" marL="457200" marR="0" rtl="0" algn="l">
                        <a:spcBef>
                          <a:spcPts val="0"/>
                        </a:spcBef>
                        <a:spcAft>
                          <a:spcPts val="0"/>
                        </a:spcAft>
                        <a:buClr>
                          <a:srgbClr val="2B2B2B"/>
                        </a:buClr>
                        <a:buSzPts val="1250"/>
                        <a:buFont typeface="Calibri"/>
                        <a:buChar char="-"/>
                      </a:pPr>
                      <a:r>
                        <a:rPr i="1" lang="en-US" sz="1250">
                          <a:solidFill>
                            <a:srgbClr val="2B2B2B"/>
                          </a:solidFill>
                          <a:latin typeface="Calibri"/>
                          <a:ea typeface="Calibri"/>
                          <a:cs typeface="Calibri"/>
                          <a:sym typeface="Calibri"/>
                        </a:rPr>
                        <a:t>Big Class + thêm môn học GDPT</a:t>
                      </a:r>
                      <a:endParaRPr i="1" sz="1250">
                        <a:solidFill>
                          <a:srgbClr val="2B2B2B"/>
                        </a:solidFill>
                        <a:latin typeface="Calibri"/>
                        <a:ea typeface="Calibri"/>
                        <a:cs typeface="Calibri"/>
                        <a:sym typeface="Calibri"/>
                      </a:endParaRPr>
                    </a:p>
                    <a:p>
                      <a:pPr indent="0" lvl="0" marL="0" marR="0" rtl="0" algn="l">
                        <a:spcBef>
                          <a:spcPts val="0"/>
                        </a:spcBef>
                        <a:spcAft>
                          <a:spcPts val="0"/>
                        </a:spcAft>
                        <a:buNone/>
                      </a:pPr>
                      <a:r>
                        <a:t/>
                      </a:r>
                      <a:endParaRPr sz="1250">
                        <a:solidFill>
                          <a:srgbClr val="2B2B2B"/>
                        </a:solidFill>
                        <a:latin typeface="Calibri"/>
                        <a:ea typeface="Calibri"/>
                        <a:cs typeface="Calibri"/>
                        <a:sym typeface="Calibri"/>
                      </a:endParaRPr>
                    </a:p>
                    <a:p>
                      <a:pPr indent="0" lvl="0" marL="0" marR="0" rtl="0" algn="l">
                        <a:spcBef>
                          <a:spcPts val="0"/>
                        </a:spcBef>
                        <a:spcAft>
                          <a:spcPts val="0"/>
                        </a:spcAft>
                        <a:buNone/>
                      </a:pPr>
                      <a:r>
                        <a:rPr b="1" lang="en-US" sz="1250">
                          <a:solidFill>
                            <a:srgbClr val="2B2B2B"/>
                          </a:solidFill>
                          <a:latin typeface="Calibri"/>
                          <a:ea typeface="Calibri"/>
                          <a:cs typeface="Calibri"/>
                          <a:sym typeface="Calibri"/>
                        </a:rPr>
                        <a:t>Option 2.2:</a:t>
                      </a:r>
                      <a:endParaRPr b="1" sz="1250">
                        <a:solidFill>
                          <a:srgbClr val="2B2B2B"/>
                        </a:solidFill>
                        <a:latin typeface="Calibri"/>
                        <a:ea typeface="Calibri"/>
                        <a:cs typeface="Calibri"/>
                        <a:sym typeface="Calibri"/>
                      </a:endParaRPr>
                    </a:p>
                    <a:p>
                      <a:pPr indent="-307975" lvl="0" marL="457200" marR="0" rtl="0" algn="l">
                        <a:spcBef>
                          <a:spcPts val="0"/>
                        </a:spcBef>
                        <a:spcAft>
                          <a:spcPts val="0"/>
                        </a:spcAft>
                        <a:buClr>
                          <a:srgbClr val="2B2B2B"/>
                        </a:buClr>
                        <a:buSzPts val="1250"/>
                        <a:buFont typeface="Calibri"/>
                        <a:buChar char="-"/>
                      </a:pPr>
                      <a:r>
                        <a:rPr i="1" lang="en-US" sz="1250">
                          <a:solidFill>
                            <a:srgbClr val="2B2B2B"/>
                          </a:solidFill>
                          <a:latin typeface="Calibri"/>
                          <a:ea typeface="Calibri"/>
                          <a:cs typeface="Calibri"/>
                          <a:sym typeface="Calibri"/>
                        </a:rPr>
                        <a:t>Big Class + thêm môn khác (ngoài chương trình GDPT): STEM, STEAM, AI, Kỹ năng sống, …</a:t>
                      </a:r>
                      <a:endParaRPr i="1" sz="1250">
                        <a:solidFill>
                          <a:srgbClr val="2B2B2B"/>
                        </a:solidFill>
                        <a:latin typeface="Calibri"/>
                        <a:ea typeface="Calibri"/>
                        <a:cs typeface="Calibri"/>
                        <a:sym typeface="Calibri"/>
                      </a:endParaRPr>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250"/>
                        <a:buFont typeface="Calibri"/>
                        <a:buNone/>
                      </a:pPr>
                      <a:r>
                        <a:rPr b="1" lang="en-US" sz="1200"/>
                        <a:t>Option 3.1: </a:t>
                      </a:r>
                      <a:endParaRPr b="1" sz="1200"/>
                    </a:p>
                    <a:p>
                      <a:pPr indent="-304800" lvl="0" marL="457200" marR="0" rtl="0" algn="l">
                        <a:spcBef>
                          <a:spcPts val="0"/>
                        </a:spcBef>
                        <a:spcAft>
                          <a:spcPts val="0"/>
                        </a:spcAft>
                        <a:buSzPts val="1200"/>
                        <a:buChar char="-"/>
                      </a:pPr>
                      <a:r>
                        <a:rPr i="1" lang="en-US" sz="1250">
                          <a:solidFill>
                            <a:srgbClr val="2B2B2B"/>
                          </a:solidFill>
                          <a:latin typeface="Calibri"/>
                          <a:ea typeface="Calibri"/>
                          <a:cs typeface="Calibri"/>
                          <a:sym typeface="Calibri"/>
                        </a:rPr>
                        <a:t>AI nhân hoá "giáo viên ngôi sao"</a:t>
                      </a:r>
                      <a:endParaRPr i="1" sz="1200"/>
                    </a:p>
                    <a:p>
                      <a:pPr indent="0" lvl="0" marL="0" marR="0" rtl="0" algn="l">
                        <a:spcBef>
                          <a:spcPts val="0"/>
                        </a:spcBef>
                        <a:spcAft>
                          <a:spcPts val="0"/>
                        </a:spcAft>
                        <a:buNone/>
                      </a:pPr>
                      <a:r>
                        <a:t/>
                      </a:r>
                      <a:endParaRPr sz="1200"/>
                    </a:p>
                    <a:p>
                      <a:pPr indent="0" lvl="0" marL="0" marR="0" rtl="0" algn="l">
                        <a:spcBef>
                          <a:spcPts val="0"/>
                        </a:spcBef>
                        <a:spcAft>
                          <a:spcPts val="0"/>
                        </a:spcAft>
                        <a:buNone/>
                      </a:pPr>
                      <a:r>
                        <a:rPr b="1" lang="en-US" sz="1200"/>
                        <a:t>Option 3.2:</a:t>
                      </a:r>
                      <a:endParaRPr b="1" sz="1200"/>
                    </a:p>
                    <a:p>
                      <a:pPr indent="-304800" lvl="0" marL="457200" marR="0" rtl="0" algn="l">
                        <a:spcBef>
                          <a:spcPts val="0"/>
                        </a:spcBef>
                        <a:spcAft>
                          <a:spcPts val="0"/>
                        </a:spcAft>
                        <a:buSzPts val="1200"/>
                        <a:buChar char="-"/>
                      </a:pPr>
                      <a:r>
                        <a:rPr i="1" lang="en-US" sz="1250">
                          <a:solidFill>
                            <a:srgbClr val="2B2B2B"/>
                          </a:solidFill>
                          <a:latin typeface="Calibri"/>
                          <a:ea typeface="Calibri"/>
                          <a:cs typeface="Calibri"/>
                          <a:sym typeface="Calibri"/>
                        </a:rPr>
                        <a:t>AI tích hợp mascot + gamification</a:t>
                      </a:r>
                      <a:endParaRPr i="1" sz="1200"/>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r>
            </a:tbl>
          </a:graphicData>
        </a:graphic>
      </p:graphicFrame>
      <p:sp>
        <p:nvSpPr>
          <p:cNvPr id="77" name="Google Shape;77;p7"/>
          <p:cNvSpPr/>
          <p:nvPr/>
        </p:nvSpPr>
        <p:spPr>
          <a:xfrm>
            <a:off x="548640" y="6510528"/>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8"/>
          <p:cNvSpPr/>
          <p:nvPr/>
        </p:nvSpPr>
        <p:spPr>
          <a:xfrm>
            <a:off x="548640" y="621792"/>
            <a:ext cx="11094415"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i="0" lang="en-US" sz="2600" u="none" cap="none" strike="noStrike">
                <a:solidFill>
                  <a:srgbClr val="1B2A4A"/>
                </a:solidFill>
                <a:latin typeface="Calibri"/>
                <a:ea typeface="Calibri"/>
                <a:cs typeface="Calibri"/>
                <a:sym typeface="Calibri"/>
              </a:rPr>
              <a:t>Concept 1: Làm mịn và nâng cấp</a:t>
            </a:r>
            <a:endParaRPr b="0" i="0" sz="2600" u="none" cap="none" strike="noStrike">
              <a:solidFill>
                <a:schemeClr val="dk1"/>
              </a:solidFill>
              <a:latin typeface="Calibri"/>
              <a:ea typeface="Calibri"/>
              <a:cs typeface="Calibri"/>
              <a:sym typeface="Calibri"/>
            </a:endParaRPr>
          </a:p>
        </p:txBody>
      </p:sp>
      <p:cxnSp>
        <p:nvCxnSpPr>
          <p:cNvPr id="84" name="Google Shape;84;p8"/>
          <p:cNvCxnSpPr/>
          <p:nvPr/>
        </p:nvCxnSpPr>
        <p:spPr>
          <a:xfrm>
            <a:off x="548640" y="1207008"/>
            <a:ext cx="822960" cy="0"/>
          </a:xfrm>
          <a:prstGeom prst="straightConnector1">
            <a:avLst/>
          </a:prstGeom>
          <a:noFill/>
          <a:ln cap="flat" cmpd="sng" w="38100">
            <a:solidFill>
              <a:srgbClr val="2E5FA3"/>
            </a:solidFill>
            <a:prstDash val="solid"/>
            <a:round/>
            <a:headEnd len="sm" w="sm" type="none"/>
            <a:tailEnd len="sm" w="sm" type="none"/>
          </a:ln>
        </p:spPr>
      </p:cxnSp>
      <p:sp>
        <p:nvSpPr>
          <p:cNvPr id="85" name="Google Shape;85;p8"/>
          <p:cNvSpPr/>
          <p:nvPr/>
        </p:nvSpPr>
        <p:spPr>
          <a:xfrm>
            <a:off x="11002975" y="65105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5 /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86" name="Google Shape;86;p8"/>
          <p:cNvSpPr/>
          <p:nvPr/>
        </p:nvSpPr>
        <p:spPr>
          <a:xfrm>
            <a:off x="548690" y="1444745"/>
            <a:ext cx="11094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Giữ nguyên Big Class + AI Practice + AI Speak + Edupia Club + GVCN hiện có — không đổi mô hình sản phẩm.</a:t>
            </a:r>
            <a:endParaRPr b="0" i="0" sz="1350" u="none" cap="none" strike="noStrike">
              <a:solidFill>
                <a:schemeClr val="dk1"/>
              </a:solidFill>
              <a:latin typeface="Calibri"/>
              <a:ea typeface="Calibri"/>
              <a:cs typeface="Calibri"/>
              <a:sym typeface="Calibri"/>
            </a:endParaRPr>
          </a:p>
        </p:txBody>
      </p:sp>
      <p:sp>
        <p:nvSpPr>
          <p:cNvPr id="87" name="Google Shape;87;p8"/>
          <p:cNvSpPr/>
          <p:nvPr/>
        </p:nvSpPr>
        <p:spPr>
          <a:xfrm>
            <a:off x="548650" y="2011675"/>
            <a:ext cx="3545700" cy="3350700"/>
          </a:xfrm>
          <a:prstGeom prst="roundRect">
            <a:avLst>
              <a:gd fmla="val 1547" name="adj"/>
            </a:avLst>
          </a:prstGeom>
          <a:solidFill>
            <a:srgbClr val="F3F6FB"/>
          </a:solidFill>
          <a:ln cap="flat" cmpd="sng" w="9525">
            <a:solidFill>
              <a:srgbClr val="D7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713232" y="2139696"/>
            <a:ext cx="3216554"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350"/>
              <a:buFont typeface="Calibri"/>
              <a:buNone/>
            </a:pPr>
            <a:r>
              <a:rPr b="1" lang="en-US" sz="1650">
                <a:solidFill>
                  <a:srgbClr val="1B2A4A"/>
                </a:solidFill>
                <a:latin typeface="Calibri"/>
                <a:ea typeface="Calibri"/>
                <a:cs typeface="Calibri"/>
                <a:sym typeface="Calibri"/>
              </a:rPr>
              <a:t>Option </a:t>
            </a:r>
            <a:r>
              <a:rPr b="1" i="0" lang="en-US" sz="1650" u="none" cap="none" strike="noStrike">
                <a:solidFill>
                  <a:srgbClr val="1B2A4A"/>
                </a:solidFill>
                <a:latin typeface="Calibri"/>
                <a:ea typeface="Calibri"/>
                <a:cs typeface="Calibri"/>
                <a:sym typeface="Calibri"/>
              </a:rPr>
              <a:t>1.1 — </a:t>
            </a:r>
            <a:r>
              <a:rPr b="1" lang="en-US" sz="1650">
                <a:solidFill>
                  <a:srgbClr val="1B2A4A"/>
                </a:solidFill>
                <a:latin typeface="Calibri"/>
                <a:ea typeface="Calibri"/>
                <a:cs typeface="Calibri"/>
                <a:sym typeface="Calibri"/>
              </a:rPr>
              <a:t>Nâng cấp chất lượng nội dung có sẵn, không đổi cấu trúc sản phẩm.</a:t>
            </a:r>
            <a:endParaRPr b="0" i="0" sz="1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350"/>
              <a:buFont typeface="Calibri"/>
              <a:buNone/>
            </a:pPr>
            <a:r>
              <a:t/>
            </a:r>
            <a:endParaRPr b="0" i="0" sz="1650" u="none" cap="none" strike="noStrike">
              <a:solidFill>
                <a:schemeClr val="dk1"/>
              </a:solidFill>
              <a:latin typeface="Calibri"/>
              <a:ea typeface="Calibri"/>
              <a:cs typeface="Calibri"/>
              <a:sym typeface="Calibri"/>
            </a:endParaRPr>
          </a:p>
        </p:txBody>
      </p:sp>
      <p:sp>
        <p:nvSpPr>
          <p:cNvPr id="89" name="Google Shape;89;p8"/>
          <p:cNvSpPr/>
          <p:nvPr/>
        </p:nvSpPr>
        <p:spPr>
          <a:xfrm>
            <a:off x="713225" y="3078475"/>
            <a:ext cx="3216600" cy="201300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2E5FA3"/>
              </a:buClr>
              <a:buSzPts val="1250"/>
              <a:buFont typeface="Calibri"/>
              <a:buNone/>
            </a:pPr>
            <a:r>
              <a:rPr b="1" i="0" lang="en-US" sz="1450" u="none" cap="none" strike="noStrike">
                <a:solidFill>
                  <a:srgbClr val="2E5FA3"/>
                </a:solidFill>
                <a:latin typeface="Calibri"/>
                <a:ea typeface="Calibri"/>
                <a:cs typeface="Calibri"/>
                <a:sym typeface="Calibri"/>
              </a:rPr>
              <a:t>•  </a:t>
            </a:r>
            <a:r>
              <a:rPr b="0" i="0" lang="en-US" sz="1450" u="none" cap="none" strike="noStrike">
                <a:solidFill>
                  <a:srgbClr val="2B2B2B"/>
                </a:solidFill>
                <a:latin typeface="Calibri"/>
                <a:ea typeface="Calibri"/>
                <a:cs typeface="Calibri"/>
                <a:sym typeface="Calibri"/>
              </a:rPr>
              <a:t>Nâng cấp kho đề Practice + AI Mocktest</a:t>
            </a:r>
            <a:endParaRPr b="0" i="0" sz="1450" u="none" cap="none" strike="noStrike">
              <a:solidFill>
                <a:schemeClr val="dk1"/>
              </a:solidFill>
              <a:latin typeface="Calibri"/>
              <a:ea typeface="Calibri"/>
              <a:cs typeface="Calibri"/>
              <a:sym typeface="Calibri"/>
            </a:endParaRPr>
          </a:p>
          <a:p>
            <a:pPr indent="0" lvl="0" marL="0" marR="0" rtl="0" algn="l">
              <a:lnSpc>
                <a:spcPct val="118000"/>
              </a:lnSpc>
              <a:spcBef>
                <a:spcPts val="800"/>
              </a:spcBef>
              <a:spcAft>
                <a:spcPts val="0"/>
              </a:spcAft>
              <a:buClr>
                <a:srgbClr val="2E5FA3"/>
              </a:buClr>
              <a:buSzPts val="1250"/>
              <a:buFont typeface="Calibri"/>
              <a:buNone/>
            </a:pPr>
            <a:r>
              <a:rPr b="1" i="0" lang="en-US" sz="1450" u="none" cap="none" strike="noStrike">
                <a:solidFill>
                  <a:srgbClr val="2E5FA3"/>
                </a:solidFill>
                <a:latin typeface="Calibri"/>
                <a:ea typeface="Calibri"/>
                <a:cs typeface="Calibri"/>
                <a:sym typeface="Calibri"/>
              </a:rPr>
              <a:t>•  </a:t>
            </a:r>
            <a:r>
              <a:rPr b="0" i="0" lang="en-US" sz="1450" u="none" cap="none" strike="noStrike">
                <a:solidFill>
                  <a:srgbClr val="2B2B2B"/>
                </a:solidFill>
                <a:latin typeface="Calibri"/>
                <a:ea typeface="Calibri"/>
                <a:cs typeface="Calibri"/>
                <a:sym typeface="Calibri"/>
              </a:rPr>
              <a:t>Nâng cấp độ chính xác chấm-chữa phát âm Speak</a:t>
            </a:r>
            <a:endParaRPr b="0" i="0" sz="1450" u="none" cap="none" strike="noStrike">
              <a:solidFill>
                <a:schemeClr val="dk1"/>
              </a:solidFill>
              <a:latin typeface="Calibri"/>
              <a:ea typeface="Calibri"/>
              <a:cs typeface="Calibri"/>
              <a:sym typeface="Calibri"/>
            </a:endParaRPr>
          </a:p>
        </p:txBody>
      </p:sp>
      <p:sp>
        <p:nvSpPr>
          <p:cNvPr id="90" name="Google Shape;90;p8"/>
          <p:cNvSpPr/>
          <p:nvPr/>
        </p:nvSpPr>
        <p:spPr>
          <a:xfrm>
            <a:off x="4322986" y="2011675"/>
            <a:ext cx="3545700" cy="3350700"/>
          </a:xfrm>
          <a:prstGeom prst="roundRect">
            <a:avLst>
              <a:gd fmla="val 1547" name="adj"/>
            </a:avLst>
          </a:prstGeom>
          <a:solidFill>
            <a:srgbClr val="F3F6FB"/>
          </a:solidFill>
          <a:ln cap="flat" cmpd="sng" w="9525">
            <a:solidFill>
              <a:srgbClr val="D7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4487570" y="2139696"/>
            <a:ext cx="3216554"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350"/>
              <a:buFont typeface="Calibri"/>
              <a:buNone/>
            </a:pPr>
            <a:r>
              <a:rPr b="1" i="0" lang="en-US" sz="1650" u="none" cap="none" strike="noStrike">
                <a:solidFill>
                  <a:srgbClr val="1B2A4A"/>
                </a:solidFill>
                <a:latin typeface="Calibri"/>
                <a:ea typeface="Calibri"/>
                <a:cs typeface="Calibri"/>
                <a:sym typeface="Calibri"/>
              </a:rPr>
              <a:t>Mức 1.2 — </a:t>
            </a:r>
            <a:r>
              <a:rPr b="1" lang="en-US" sz="1650">
                <a:solidFill>
                  <a:srgbClr val="1B2A4A"/>
                </a:solidFill>
                <a:latin typeface="Calibri"/>
                <a:ea typeface="Calibri"/>
                <a:cs typeface="Calibri"/>
                <a:sym typeface="Calibri"/>
              </a:rPr>
              <a:t>Đầu tư sâu vào tầng công nghệ AI chẩn đoán và cá nhân hóa</a:t>
            </a:r>
            <a:endParaRPr b="0" i="0" sz="1650" u="none" cap="none" strike="noStrike">
              <a:solidFill>
                <a:schemeClr val="dk1"/>
              </a:solidFill>
              <a:latin typeface="Calibri"/>
              <a:ea typeface="Calibri"/>
              <a:cs typeface="Calibri"/>
              <a:sym typeface="Calibri"/>
            </a:endParaRPr>
          </a:p>
        </p:txBody>
      </p:sp>
      <p:sp>
        <p:nvSpPr>
          <p:cNvPr id="92" name="Google Shape;92;p8"/>
          <p:cNvSpPr/>
          <p:nvPr/>
        </p:nvSpPr>
        <p:spPr>
          <a:xfrm>
            <a:off x="4487550" y="3078475"/>
            <a:ext cx="3216600" cy="213480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None/>
            </a:pPr>
            <a:r>
              <a:rPr b="1" lang="en-US" sz="1450">
                <a:solidFill>
                  <a:srgbClr val="2E5FA3"/>
                </a:solidFill>
                <a:latin typeface="Calibri"/>
                <a:ea typeface="Calibri"/>
                <a:cs typeface="Calibri"/>
                <a:sym typeface="Calibri"/>
              </a:rPr>
              <a:t>• </a:t>
            </a:r>
            <a:r>
              <a:rPr lang="en-US" sz="1450">
                <a:solidFill>
                  <a:srgbClr val="2B2B2B"/>
                </a:solidFill>
                <a:latin typeface="Calibri"/>
                <a:ea typeface="Calibri"/>
                <a:cs typeface="Calibri"/>
                <a:sym typeface="Calibri"/>
              </a:rPr>
              <a:t>K</a:t>
            </a:r>
            <a:r>
              <a:rPr lang="en-US" sz="1450">
                <a:solidFill>
                  <a:srgbClr val="2B2B2B"/>
                </a:solidFill>
                <a:latin typeface="Calibri"/>
                <a:ea typeface="Calibri"/>
                <a:cs typeface="Calibri"/>
                <a:sym typeface="Calibri"/>
              </a:rPr>
              <a:t>ế thừa toàn bộ Option 1.1 </a:t>
            </a:r>
            <a:r>
              <a:rPr b="1" i="0" lang="en-US" sz="1450" u="none" cap="none" strike="noStrike">
                <a:solidFill>
                  <a:srgbClr val="2E5FA3"/>
                </a:solidFill>
                <a:latin typeface="Calibri"/>
                <a:ea typeface="Calibri"/>
                <a:cs typeface="Calibri"/>
                <a:sym typeface="Calibri"/>
              </a:rPr>
              <a:t> </a:t>
            </a:r>
            <a:endParaRPr b="1" sz="1450">
              <a:solidFill>
                <a:srgbClr val="2E5FA3"/>
              </a:solidFill>
              <a:latin typeface="Calibri"/>
              <a:ea typeface="Calibri"/>
              <a:cs typeface="Calibri"/>
              <a:sym typeface="Calibri"/>
            </a:endParaRPr>
          </a:p>
          <a:p>
            <a:pPr indent="0" lvl="0" marL="0" marR="0" rtl="0" algn="l">
              <a:lnSpc>
                <a:spcPct val="118000"/>
              </a:lnSpc>
              <a:spcBef>
                <a:spcPts val="0"/>
              </a:spcBef>
              <a:spcAft>
                <a:spcPts val="0"/>
              </a:spcAft>
              <a:buNone/>
            </a:pPr>
            <a:r>
              <a:rPr b="1" lang="en-US" sz="1450">
                <a:solidFill>
                  <a:srgbClr val="2E5FA3"/>
                </a:solidFill>
                <a:latin typeface="Calibri"/>
                <a:ea typeface="Calibri"/>
                <a:cs typeface="Calibri"/>
                <a:sym typeface="Calibri"/>
              </a:rPr>
              <a:t>• </a:t>
            </a:r>
            <a:r>
              <a:rPr b="0" i="0" lang="en-US" sz="1450" u="none" cap="none" strike="noStrike">
                <a:solidFill>
                  <a:srgbClr val="2B2B2B"/>
                </a:solidFill>
                <a:latin typeface="Calibri"/>
                <a:ea typeface="Calibri"/>
                <a:cs typeface="Calibri"/>
                <a:sym typeface="Calibri"/>
              </a:rPr>
              <a:t>AI Tutor 30 phút cố định sau Big Class</a:t>
            </a:r>
            <a:endParaRPr b="0" i="0" sz="1450" u="none" cap="none" strike="noStrike">
              <a:solidFill>
                <a:schemeClr val="dk1"/>
              </a:solidFill>
              <a:latin typeface="Calibri"/>
              <a:ea typeface="Calibri"/>
              <a:cs typeface="Calibri"/>
              <a:sym typeface="Calibri"/>
            </a:endParaRPr>
          </a:p>
          <a:p>
            <a:pPr indent="0" lvl="0" marL="0" marR="0" rtl="0" algn="l">
              <a:lnSpc>
                <a:spcPct val="118000"/>
              </a:lnSpc>
              <a:spcBef>
                <a:spcPts val="800"/>
              </a:spcBef>
              <a:spcAft>
                <a:spcPts val="0"/>
              </a:spcAft>
              <a:buClr>
                <a:srgbClr val="2E5FA3"/>
              </a:buClr>
              <a:buSzPts val="1250"/>
              <a:buFont typeface="Calibri"/>
              <a:buNone/>
            </a:pPr>
            <a:r>
              <a:rPr b="1" i="0" lang="en-US" sz="1450" u="none" cap="none" strike="noStrike">
                <a:solidFill>
                  <a:srgbClr val="2E5FA3"/>
                </a:solidFill>
                <a:latin typeface="Calibri"/>
                <a:ea typeface="Calibri"/>
                <a:cs typeface="Calibri"/>
                <a:sym typeface="Calibri"/>
              </a:rPr>
              <a:t>• </a:t>
            </a:r>
            <a:r>
              <a:rPr b="0" i="0" lang="en-US" sz="1450" u="none" cap="none" strike="noStrike">
                <a:solidFill>
                  <a:srgbClr val="2B2B2B"/>
                </a:solidFill>
                <a:latin typeface="Calibri"/>
                <a:ea typeface="Calibri"/>
                <a:cs typeface="Calibri"/>
                <a:sym typeface="Calibri"/>
              </a:rPr>
              <a:t>Adaptive Learning: </a:t>
            </a:r>
            <a:r>
              <a:rPr lang="en-US" sz="1450">
                <a:solidFill>
                  <a:srgbClr val="2B2B2B"/>
                </a:solidFill>
                <a:latin typeface="Calibri"/>
                <a:ea typeface="Calibri"/>
                <a:cs typeface="Calibri"/>
                <a:sym typeface="Calibri"/>
              </a:rPr>
              <a:t>tự động vá lỗ hổng</a:t>
            </a:r>
            <a:r>
              <a:rPr b="0" i="0" lang="en-US" sz="1450" u="none" cap="none" strike="noStrike">
                <a:solidFill>
                  <a:srgbClr val="2B2B2B"/>
                </a:solidFill>
                <a:latin typeface="Calibri"/>
                <a:ea typeface="Calibri"/>
                <a:cs typeface="Calibri"/>
                <a:sym typeface="Calibri"/>
              </a:rPr>
              <a:t> theo </a:t>
            </a:r>
            <a:r>
              <a:rPr b="1" i="0" lang="en-US" sz="1450" u="none" cap="none" strike="noStrike">
                <a:solidFill>
                  <a:srgbClr val="2B2B2B"/>
                </a:solidFill>
                <a:latin typeface="Calibri"/>
                <a:ea typeface="Calibri"/>
                <a:cs typeface="Calibri"/>
                <a:sym typeface="Calibri"/>
              </a:rPr>
              <a:t>1.473 đơn vị kiến thức (NLO)</a:t>
            </a:r>
            <a:r>
              <a:rPr b="0" i="0" lang="en-US" sz="1450" u="none" cap="none" strike="noStrike">
                <a:solidFill>
                  <a:srgbClr val="2B2B2B"/>
                </a:solidFill>
                <a:latin typeface="Calibri"/>
                <a:ea typeface="Calibri"/>
                <a:cs typeface="Calibri"/>
                <a:sym typeface="Calibri"/>
              </a:rPr>
              <a:t>, </a:t>
            </a:r>
            <a:endParaRPr b="0" i="0" sz="1450" u="none" cap="none" strike="noStrike">
              <a:solidFill>
                <a:schemeClr val="dk1"/>
              </a:solidFill>
              <a:latin typeface="Calibri"/>
              <a:ea typeface="Calibri"/>
              <a:cs typeface="Calibri"/>
              <a:sym typeface="Calibri"/>
            </a:endParaRPr>
          </a:p>
          <a:p>
            <a:pPr indent="0" lvl="0" marL="0" marR="0" rtl="0" algn="l">
              <a:lnSpc>
                <a:spcPct val="118000"/>
              </a:lnSpc>
              <a:spcBef>
                <a:spcPts val="800"/>
              </a:spcBef>
              <a:spcAft>
                <a:spcPts val="0"/>
              </a:spcAft>
              <a:buClr>
                <a:srgbClr val="2E5FA3"/>
              </a:buClr>
              <a:buSzPts val="1250"/>
              <a:buFont typeface="Calibri"/>
              <a:buNone/>
            </a:pPr>
            <a:r>
              <a:rPr b="1" i="0" lang="en-US" sz="1450" u="none" cap="none" strike="noStrike">
                <a:solidFill>
                  <a:srgbClr val="2E5FA3"/>
                </a:solidFill>
                <a:latin typeface="Calibri"/>
                <a:ea typeface="Calibri"/>
                <a:cs typeface="Calibri"/>
                <a:sym typeface="Calibri"/>
              </a:rPr>
              <a:t>•  </a:t>
            </a:r>
            <a:r>
              <a:rPr b="0" i="0" lang="en-US" sz="1450" u="none" cap="none" strike="noStrike">
                <a:solidFill>
                  <a:srgbClr val="2B2B2B"/>
                </a:solidFill>
                <a:latin typeface="Calibri"/>
                <a:ea typeface="Calibri"/>
                <a:cs typeface="Calibri"/>
                <a:sym typeface="Calibri"/>
              </a:rPr>
              <a:t>Parent Mode — Mastery Map</a:t>
            </a:r>
            <a:r>
              <a:rPr b="0" i="0" lang="en-US" sz="1450" u="none" cap="none" strike="noStrike">
                <a:solidFill>
                  <a:srgbClr val="2B2B2B"/>
                </a:solidFill>
                <a:latin typeface="Calibri"/>
                <a:ea typeface="Calibri"/>
                <a:cs typeface="Calibri"/>
                <a:sym typeface="Calibri"/>
              </a:rPr>
              <a:t>:</a:t>
            </a:r>
            <a:r>
              <a:rPr lang="en-US" sz="1450">
                <a:solidFill>
                  <a:srgbClr val="2B2B2B"/>
                </a:solidFill>
                <a:latin typeface="Calibri"/>
                <a:ea typeface="Calibri"/>
                <a:cs typeface="Calibri"/>
                <a:sym typeface="Calibri"/>
              </a:rPr>
              <a:t> giao diện dành riêng cho phụ huynh để theo dõi tiến bộ của con </a:t>
            </a:r>
            <a:endParaRPr sz="1450">
              <a:solidFill>
                <a:srgbClr val="2B2B2B"/>
              </a:solidFill>
              <a:latin typeface="Calibri"/>
              <a:ea typeface="Calibri"/>
              <a:cs typeface="Calibri"/>
              <a:sym typeface="Calibri"/>
            </a:endParaRPr>
          </a:p>
        </p:txBody>
      </p:sp>
      <p:sp>
        <p:nvSpPr>
          <p:cNvPr id="93" name="Google Shape;93;p8"/>
          <p:cNvSpPr/>
          <p:nvPr/>
        </p:nvSpPr>
        <p:spPr>
          <a:xfrm>
            <a:off x="8097322" y="2011675"/>
            <a:ext cx="3545700" cy="3350700"/>
          </a:xfrm>
          <a:prstGeom prst="roundRect">
            <a:avLst>
              <a:gd fmla="val 1547" name="adj"/>
            </a:avLst>
          </a:prstGeom>
          <a:solidFill>
            <a:srgbClr val="F3F6FB"/>
          </a:solidFill>
          <a:ln cap="flat" cmpd="sng" w="9525">
            <a:solidFill>
              <a:srgbClr val="D7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a:off x="8261909" y="2139696"/>
            <a:ext cx="3216554"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350"/>
              <a:buFont typeface="Calibri"/>
              <a:buNone/>
            </a:pPr>
            <a:r>
              <a:rPr b="1" i="0" lang="en-US" sz="1650" u="none" cap="none" strike="noStrike">
                <a:solidFill>
                  <a:srgbClr val="1B2A4A"/>
                </a:solidFill>
                <a:latin typeface="Calibri"/>
                <a:ea typeface="Calibri"/>
                <a:cs typeface="Calibri"/>
                <a:sym typeface="Calibri"/>
              </a:rPr>
              <a:t>Mức 1.3 — Nâng cấp mạnh con người</a:t>
            </a:r>
            <a:endParaRPr b="0" i="0" sz="1650" u="none" cap="none" strike="noStrike">
              <a:solidFill>
                <a:schemeClr val="dk1"/>
              </a:solidFill>
              <a:latin typeface="Calibri"/>
              <a:ea typeface="Calibri"/>
              <a:cs typeface="Calibri"/>
              <a:sym typeface="Calibri"/>
            </a:endParaRPr>
          </a:p>
        </p:txBody>
      </p:sp>
      <p:sp>
        <p:nvSpPr>
          <p:cNvPr id="95" name="Google Shape;95;p8"/>
          <p:cNvSpPr/>
          <p:nvPr/>
        </p:nvSpPr>
        <p:spPr>
          <a:xfrm>
            <a:off x="8261875" y="3078475"/>
            <a:ext cx="3216600" cy="213480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800"/>
              </a:spcBef>
              <a:spcAft>
                <a:spcPts val="0"/>
              </a:spcAft>
              <a:buClr>
                <a:srgbClr val="2E5FA3"/>
              </a:buClr>
              <a:buSzPts val="1250"/>
              <a:buFont typeface="Calibri"/>
              <a:buNone/>
            </a:pPr>
            <a:r>
              <a:rPr b="1" i="0" lang="en-US" sz="1450" u="none" cap="none" strike="noStrike">
                <a:solidFill>
                  <a:srgbClr val="2E5FA3"/>
                </a:solidFill>
                <a:latin typeface="Calibri"/>
                <a:ea typeface="Calibri"/>
                <a:cs typeface="Calibri"/>
                <a:sym typeface="Calibri"/>
              </a:rPr>
              <a:t>•  </a:t>
            </a:r>
            <a:r>
              <a:rPr b="0" i="0" lang="en-US" sz="1450" u="none" cap="none" strike="noStrike">
                <a:solidFill>
                  <a:srgbClr val="2B2B2B"/>
                </a:solidFill>
                <a:latin typeface="Calibri"/>
                <a:ea typeface="Calibri"/>
                <a:cs typeface="Calibri"/>
                <a:sym typeface="Calibri"/>
              </a:rPr>
              <a:t>GVCN mở rộng: chủ động giao bài, theo sát tiến độ, giới hạn đổi GV (≤2 lần/6 tháng), tỷ lệ mục tiêu 1:2.000</a:t>
            </a:r>
            <a:endParaRPr b="0" i="0" sz="1450" u="none" cap="none" strike="noStrike">
              <a:solidFill>
                <a:schemeClr val="dk1"/>
              </a:solidFill>
              <a:latin typeface="Calibri"/>
              <a:ea typeface="Calibri"/>
              <a:cs typeface="Calibri"/>
              <a:sym typeface="Calibri"/>
            </a:endParaRPr>
          </a:p>
          <a:p>
            <a:pPr indent="0" lvl="0" marL="0" marR="0" rtl="0" algn="l">
              <a:lnSpc>
                <a:spcPct val="118000"/>
              </a:lnSpc>
              <a:spcBef>
                <a:spcPts val="800"/>
              </a:spcBef>
              <a:spcAft>
                <a:spcPts val="0"/>
              </a:spcAft>
              <a:buClr>
                <a:srgbClr val="2E5FA3"/>
              </a:buClr>
              <a:buSzPts val="1250"/>
              <a:buFont typeface="Calibri"/>
              <a:buNone/>
            </a:pPr>
            <a:r>
              <a:rPr b="1" i="0" lang="en-US" sz="1450" u="none" cap="none" strike="noStrike">
                <a:solidFill>
                  <a:srgbClr val="2E5FA3"/>
                </a:solidFill>
                <a:latin typeface="Calibri"/>
                <a:ea typeface="Calibri"/>
                <a:cs typeface="Calibri"/>
                <a:sym typeface="Calibri"/>
              </a:rPr>
              <a:t>•  </a:t>
            </a:r>
            <a:r>
              <a:rPr b="0" i="0" lang="en-US" sz="1450" u="none" cap="none" strike="noStrike">
                <a:solidFill>
                  <a:srgbClr val="2B2B2B"/>
                </a:solidFill>
                <a:latin typeface="Calibri"/>
                <a:ea typeface="Calibri"/>
                <a:cs typeface="Calibri"/>
                <a:sym typeface="Calibri"/>
              </a:rPr>
              <a:t>Thông báo tình hình học sau mỗi buổi nếu có vấn đề (</a:t>
            </a:r>
            <a:r>
              <a:rPr lang="en-US" sz="1450">
                <a:solidFill>
                  <a:srgbClr val="2B2B2B"/>
                </a:solidFill>
                <a:latin typeface="Calibri"/>
                <a:ea typeface="Calibri"/>
                <a:cs typeface="Calibri"/>
                <a:sym typeface="Calibri"/>
              </a:rPr>
              <a:t>zalo cá nhân)</a:t>
            </a:r>
            <a:endParaRPr b="0" i="0" sz="1450" u="none" cap="none" strike="noStrike">
              <a:solidFill>
                <a:schemeClr val="dk1"/>
              </a:solidFill>
              <a:latin typeface="Calibri"/>
              <a:ea typeface="Calibri"/>
              <a:cs typeface="Calibri"/>
              <a:sym typeface="Calibri"/>
            </a:endParaRPr>
          </a:p>
        </p:txBody>
      </p:sp>
      <p:sp>
        <p:nvSpPr>
          <p:cNvPr id="96" name="Google Shape;96;p8"/>
          <p:cNvSpPr/>
          <p:nvPr/>
        </p:nvSpPr>
        <p:spPr>
          <a:xfrm>
            <a:off x="548640" y="6510528"/>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
        <p:nvSpPr>
          <p:cNvPr id="97" name="Google Shape;97;p8"/>
          <p:cNvSpPr/>
          <p:nvPr/>
        </p:nvSpPr>
        <p:spPr>
          <a:xfrm>
            <a:off x="548665" y="5471920"/>
            <a:ext cx="11094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1" i="1" lang="en-US" sz="1350">
                <a:solidFill>
                  <a:srgbClr val="6B7280"/>
                </a:solidFill>
                <a:latin typeface="Calibri"/>
                <a:ea typeface="Calibri"/>
                <a:cs typeface="Calibri"/>
                <a:sym typeface="Calibri"/>
              </a:rPr>
              <a:t>USP: “Chương trình tiếng Anh trực tuyến có giáo viên thật và công cụ luyện tập, luyện nói được tối ưu bằng AI.”</a:t>
            </a:r>
            <a:endParaRPr b="1" i="0" sz="1350" u="none" cap="none" strike="noStrike">
              <a:solidFill>
                <a:schemeClr val="dk1"/>
              </a:solidFill>
              <a:latin typeface="Calibri"/>
              <a:ea typeface="Calibri"/>
              <a:cs typeface="Calibri"/>
              <a:sym typeface="Calibri"/>
            </a:endParaRPr>
          </a:p>
        </p:txBody>
      </p:sp>
      <p:sp>
        <p:nvSpPr>
          <p:cNvPr id="98" name="Google Shape;98;p8"/>
          <p:cNvSpPr/>
          <p:nvPr/>
        </p:nvSpPr>
        <p:spPr>
          <a:xfrm>
            <a:off x="548640" y="320040"/>
            <a:ext cx="11094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PHẦN 2 — ĐỊNH HƯỚNG CONCEPT</a:t>
            </a:r>
            <a:r>
              <a:rPr b="1" lang="en-US" sz="1200">
                <a:solidFill>
                  <a:srgbClr val="2E5FA3"/>
                </a:solidFill>
                <a:latin typeface="Calibri"/>
                <a:ea typeface="Calibri"/>
                <a:cs typeface="Calibri"/>
                <a:sym typeface="Calibri"/>
              </a:rPr>
              <a:t> SẢN PHẨM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9"/>
          <p:cNvSpPr/>
          <p:nvPr/>
        </p:nvSpPr>
        <p:spPr>
          <a:xfrm>
            <a:off x="548640" y="621792"/>
            <a:ext cx="11094415"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i="0" lang="en-US" sz="2600" u="none" cap="none" strike="noStrike">
                <a:solidFill>
                  <a:srgbClr val="1B2A4A"/>
                </a:solidFill>
                <a:latin typeface="Calibri"/>
                <a:ea typeface="Calibri"/>
                <a:cs typeface="Calibri"/>
                <a:sym typeface="Calibri"/>
              </a:rPr>
              <a:t>Concept 2: Làm mịn và thêm môn</a:t>
            </a:r>
            <a:endParaRPr b="0" i="0" sz="2600" u="none" cap="none" strike="noStrike">
              <a:solidFill>
                <a:schemeClr val="dk1"/>
              </a:solidFill>
              <a:latin typeface="Calibri"/>
              <a:ea typeface="Calibri"/>
              <a:cs typeface="Calibri"/>
              <a:sym typeface="Calibri"/>
            </a:endParaRPr>
          </a:p>
        </p:txBody>
      </p:sp>
      <p:cxnSp>
        <p:nvCxnSpPr>
          <p:cNvPr id="105" name="Google Shape;105;p9"/>
          <p:cNvCxnSpPr/>
          <p:nvPr/>
        </p:nvCxnSpPr>
        <p:spPr>
          <a:xfrm>
            <a:off x="548640" y="1207008"/>
            <a:ext cx="822960" cy="0"/>
          </a:xfrm>
          <a:prstGeom prst="straightConnector1">
            <a:avLst/>
          </a:prstGeom>
          <a:noFill/>
          <a:ln cap="flat" cmpd="sng" w="38100">
            <a:solidFill>
              <a:srgbClr val="2E5FA3"/>
            </a:solidFill>
            <a:prstDash val="solid"/>
            <a:round/>
            <a:headEnd len="sm" w="sm" type="none"/>
            <a:tailEnd len="sm" w="sm" type="none"/>
          </a:ln>
        </p:spPr>
      </p:cxnSp>
      <p:sp>
        <p:nvSpPr>
          <p:cNvPr id="106" name="Google Shape;106;p9"/>
          <p:cNvSpPr/>
          <p:nvPr/>
        </p:nvSpPr>
        <p:spPr>
          <a:xfrm>
            <a:off x="11002975" y="65105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6 /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107" name="Google Shape;107;p9"/>
          <p:cNvSpPr/>
          <p:nvPr/>
        </p:nvSpPr>
        <p:spPr>
          <a:xfrm>
            <a:off x="548640" y="1417320"/>
            <a:ext cx="110944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Giữ nền Concept 1 n</a:t>
            </a:r>
            <a:r>
              <a:rPr i="1" lang="en-US" sz="1350">
                <a:solidFill>
                  <a:srgbClr val="6B7280"/>
                </a:solidFill>
                <a:latin typeface="Calibri"/>
                <a:ea typeface="Calibri"/>
                <a:cs typeface="Calibri"/>
                <a:sym typeface="Calibri"/>
              </a:rPr>
              <a:t>âng cấp làm mịn sản phẩm </a:t>
            </a:r>
            <a:r>
              <a:rPr b="0" i="1" lang="en-US" sz="1350" u="none" cap="none" strike="noStrike">
                <a:solidFill>
                  <a:srgbClr val="6B7280"/>
                </a:solidFill>
                <a:latin typeface="Calibri"/>
                <a:ea typeface="Calibri"/>
                <a:cs typeface="Calibri"/>
                <a:sym typeface="Calibri"/>
              </a:rPr>
              <a:t>+ thêm 1 buổi Live/tuần môn khác</a:t>
            </a:r>
            <a:r>
              <a:rPr i="1" lang="en-US" sz="1350">
                <a:solidFill>
                  <a:srgbClr val="6B7280"/>
                </a:solidFill>
                <a:latin typeface="Calibri"/>
                <a:ea typeface="Calibri"/>
                <a:cs typeface="Calibri"/>
                <a:sym typeface="Calibri"/>
              </a:rPr>
              <a:t> (ngoài tiếng Anh)</a:t>
            </a:r>
            <a:r>
              <a:rPr b="0" i="1" lang="en-US" sz="1350" u="none" cap="none" strike="noStrike">
                <a:solidFill>
                  <a:srgbClr val="6B7280"/>
                </a:solidFill>
                <a:latin typeface="Calibri"/>
                <a:ea typeface="Calibri"/>
                <a:cs typeface="Calibri"/>
                <a:sym typeface="Calibri"/>
              </a:rPr>
              <a:t>.</a:t>
            </a:r>
            <a:endParaRPr b="0" i="0" sz="1350" u="none" cap="none" strike="noStrike">
              <a:solidFill>
                <a:schemeClr val="dk1"/>
              </a:solidFill>
              <a:latin typeface="Calibri"/>
              <a:ea typeface="Calibri"/>
              <a:cs typeface="Calibri"/>
              <a:sym typeface="Calibri"/>
            </a:endParaRPr>
          </a:p>
        </p:txBody>
      </p:sp>
      <p:sp>
        <p:nvSpPr>
          <p:cNvPr id="108" name="Google Shape;108;p9"/>
          <p:cNvSpPr/>
          <p:nvPr/>
        </p:nvSpPr>
        <p:spPr>
          <a:xfrm>
            <a:off x="548650" y="2011675"/>
            <a:ext cx="5338800" cy="2314500"/>
          </a:xfrm>
          <a:prstGeom prst="roundRect">
            <a:avLst>
              <a:gd fmla="val 1547" name="adj"/>
            </a:avLst>
          </a:prstGeom>
          <a:solidFill>
            <a:srgbClr val="F3F6FB"/>
          </a:solidFill>
          <a:ln cap="flat" cmpd="sng" w="9525">
            <a:solidFill>
              <a:srgbClr val="D7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a:off x="713221" y="2139700"/>
            <a:ext cx="49587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350"/>
              <a:buFont typeface="Calibri"/>
              <a:buNone/>
            </a:pPr>
            <a:r>
              <a:rPr b="1" lang="en-US" sz="1650">
                <a:solidFill>
                  <a:srgbClr val="1B2A4A"/>
                </a:solidFill>
                <a:latin typeface="Calibri"/>
                <a:ea typeface="Calibri"/>
                <a:cs typeface="Calibri"/>
                <a:sym typeface="Calibri"/>
              </a:rPr>
              <a:t>Option</a:t>
            </a:r>
            <a:r>
              <a:rPr b="1" i="0" lang="en-US" sz="1650" u="none" cap="none" strike="noStrike">
                <a:solidFill>
                  <a:srgbClr val="1B2A4A"/>
                </a:solidFill>
                <a:latin typeface="Calibri"/>
                <a:ea typeface="Calibri"/>
                <a:cs typeface="Calibri"/>
                <a:sym typeface="Calibri"/>
              </a:rPr>
              <a:t> 2.1</a:t>
            </a:r>
            <a:r>
              <a:rPr lang="en-US" sz="1650">
                <a:solidFill>
                  <a:schemeClr val="dk1"/>
                </a:solidFill>
                <a:latin typeface="Calibri"/>
                <a:ea typeface="Calibri"/>
                <a:cs typeface="Calibri"/>
                <a:sym typeface="Calibri"/>
              </a:rPr>
              <a:t> – </a:t>
            </a:r>
            <a:r>
              <a:rPr b="1" i="0" lang="en-US" sz="1650" u="none" cap="none" strike="noStrike">
                <a:solidFill>
                  <a:srgbClr val="1B2A4A"/>
                </a:solidFill>
                <a:latin typeface="Calibri"/>
                <a:ea typeface="Calibri"/>
                <a:cs typeface="Calibri"/>
                <a:sym typeface="Calibri"/>
              </a:rPr>
              <a:t>Thêm môn h</a:t>
            </a:r>
            <a:r>
              <a:rPr b="1" lang="en-US" sz="1650">
                <a:solidFill>
                  <a:srgbClr val="1B2A4A"/>
                </a:solidFill>
                <a:latin typeface="Calibri"/>
                <a:ea typeface="Calibri"/>
                <a:cs typeface="Calibri"/>
                <a:sym typeface="Calibri"/>
              </a:rPr>
              <a:t>ọc thuộc chương trình GDPT</a:t>
            </a:r>
            <a:endParaRPr b="0" i="0" sz="1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A4A"/>
              </a:buClr>
              <a:buSzPts val="1350"/>
              <a:buFont typeface="Calibri"/>
              <a:buNone/>
            </a:pPr>
            <a:r>
              <a:rPr b="1" i="0" lang="en-US" sz="1650" u="none" cap="none" strike="noStrike">
                <a:solidFill>
                  <a:srgbClr val="1B2A4A"/>
                </a:solidFill>
                <a:latin typeface="Calibri"/>
                <a:ea typeface="Calibri"/>
                <a:cs typeface="Calibri"/>
                <a:sym typeface="Calibri"/>
              </a:rPr>
              <a:t>(Toán, Tiếng Việt...)</a:t>
            </a:r>
            <a:endParaRPr b="0" i="0" sz="1650" u="none" cap="none" strike="noStrike">
              <a:solidFill>
                <a:schemeClr val="dk1"/>
              </a:solidFill>
              <a:latin typeface="Calibri"/>
              <a:ea typeface="Calibri"/>
              <a:cs typeface="Calibri"/>
              <a:sym typeface="Calibri"/>
            </a:endParaRPr>
          </a:p>
        </p:txBody>
      </p:sp>
      <p:sp>
        <p:nvSpPr>
          <p:cNvPr id="110" name="Google Shape;110;p9"/>
          <p:cNvSpPr/>
          <p:nvPr/>
        </p:nvSpPr>
        <p:spPr>
          <a:xfrm>
            <a:off x="713225" y="2926076"/>
            <a:ext cx="4843200" cy="1400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450">
                <a:solidFill>
                  <a:srgbClr val="2E5FA3"/>
                </a:solidFill>
                <a:latin typeface="Calibri"/>
                <a:ea typeface="Calibri"/>
                <a:cs typeface="Calibri"/>
                <a:sym typeface="Calibri"/>
              </a:rPr>
              <a:t>• </a:t>
            </a:r>
            <a:r>
              <a:rPr lang="en-US" sz="1450">
                <a:solidFill>
                  <a:srgbClr val="2B2B2B"/>
                </a:solidFill>
                <a:latin typeface="Calibri"/>
                <a:ea typeface="Calibri"/>
                <a:cs typeface="Calibri"/>
                <a:sym typeface="Calibri"/>
              </a:rPr>
              <a:t>Giữ nguyên Big Class + AI Practice + AI Speak + Edupia Club + GVCN (môn tiếng Anh) hiện có</a:t>
            </a:r>
            <a:endParaRPr sz="1450">
              <a:solidFill>
                <a:srgbClr val="2B2B2B"/>
              </a:solidFill>
              <a:latin typeface="Calibri"/>
              <a:ea typeface="Calibri"/>
              <a:cs typeface="Calibri"/>
              <a:sym typeface="Calibri"/>
            </a:endParaRPr>
          </a:p>
          <a:p>
            <a:pPr indent="0" lvl="0" marL="0" rtl="0" algn="l">
              <a:spcBef>
                <a:spcPts val="0"/>
              </a:spcBef>
              <a:spcAft>
                <a:spcPts val="0"/>
              </a:spcAft>
              <a:buNone/>
            </a:pPr>
            <a:r>
              <a:t/>
            </a:r>
            <a:endParaRPr sz="1450">
              <a:solidFill>
                <a:srgbClr val="2B2B2B"/>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450">
                <a:solidFill>
                  <a:srgbClr val="2E5FA3"/>
                </a:solidFill>
                <a:latin typeface="Calibri"/>
                <a:ea typeface="Calibri"/>
                <a:cs typeface="Calibri"/>
                <a:sym typeface="Calibri"/>
              </a:rPr>
              <a:t>• </a:t>
            </a:r>
            <a:r>
              <a:rPr lang="en-US" sz="1450">
                <a:solidFill>
                  <a:srgbClr val="2B2B2B"/>
                </a:solidFill>
                <a:latin typeface="Calibri"/>
                <a:ea typeface="Calibri"/>
                <a:cs typeface="Calibri"/>
                <a:sym typeface="Calibri"/>
              </a:rPr>
              <a:t>Thêm 1 buổi live 1 </a:t>
            </a:r>
            <a:r>
              <a:rPr b="1" lang="en-US" sz="1450">
                <a:solidFill>
                  <a:srgbClr val="2B2B2B"/>
                </a:solidFill>
                <a:latin typeface="Calibri"/>
                <a:ea typeface="Calibri"/>
                <a:cs typeface="Calibri"/>
                <a:sym typeface="Calibri"/>
              </a:rPr>
              <a:t>môn GDPT</a:t>
            </a:r>
            <a:r>
              <a:rPr lang="en-US" sz="1450">
                <a:solidFill>
                  <a:srgbClr val="2B2B2B"/>
                </a:solidFill>
                <a:latin typeface="Calibri"/>
                <a:ea typeface="Calibri"/>
                <a:cs typeface="Calibri"/>
                <a:sym typeface="Calibri"/>
              </a:rPr>
              <a:t>/ tuần</a:t>
            </a:r>
            <a:endParaRPr sz="1450">
              <a:solidFill>
                <a:srgbClr val="2B2B2B"/>
              </a:solidFill>
              <a:latin typeface="Calibri"/>
              <a:ea typeface="Calibri"/>
              <a:cs typeface="Calibri"/>
              <a:sym typeface="Calibri"/>
            </a:endParaRPr>
          </a:p>
          <a:p>
            <a:pPr indent="0" lvl="0" marL="0" rtl="0" algn="l">
              <a:spcBef>
                <a:spcPts val="0"/>
              </a:spcBef>
              <a:spcAft>
                <a:spcPts val="0"/>
              </a:spcAft>
              <a:buClr>
                <a:srgbClr val="6B7280"/>
              </a:buClr>
              <a:buSzPts val="1350"/>
              <a:buFont typeface="Calibri"/>
              <a:buNone/>
            </a:pPr>
            <a:r>
              <a:t/>
            </a:r>
            <a:endParaRPr sz="1450">
              <a:solidFill>
                <a:srgbClr val="2B2B2B"/>
              </a:solidFill>
              <a:latin typeface="Calibri"/>
              <a:ea typeface="Calibri"/>
              <a:cs typeface="Calibri"/>
              <a:sym typeface="Calibri"/>
            </a:endParaRPr>
          </a:p>
        </p:txBody>
      </p:sp>
      <p:sp>
        <p:nvSpPr>
          <p:cNvPr id="111" name="Google Shape;111;p9"/>
          <p:cNvSpPr/>
          <p:nvPr/>
        </p:nvSpPr>
        <p:spPr>
          <a:xfrm>
            <a:off x="6304173" y="2011675"/>
            <a:ext cx="5338800" cy="2314500"/>
          </a:xfrm>
          <a:prstGeom prst="roundRect">
            <a:avLst>
              <a:gd fmla="val 1547" name="adj"/>
            </a:avLst>
          </a:prstGeom>
          <a:solidFill>
            <a:srgbClr val="F3F6FB"/>
          </a:solidFill>
          <a:ln cap="flat" cmpd="sng" w="9525">
            <a:solidFill>
              <a:srgbClr val="D7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6552005" y="2139691"/>
            <a:ext cx="48432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350"/>
              <a:buFont typeface="Calibri"/>
              <a:buNone/>
            </a:pPr>
            <a:r>
              <a:rPr b="1" lang="en-US" sz="1650">
                <a:solidFill>
                  <a:srgbClr val="1B2A4A"/>
                </a:solidFill>
                <a:latin typeface="Calibri"/>
                <a:ea typeface="Calibri"/>
                <a:cs typeface="Calibri"/>
                <a:sym typeface="Calibri"/>
              </a:rPr>
              <a:t>Option</a:t>
            </a:r>
            <a:r>
              <a:rPr b="1" i="0" lang="en-US" sz="1650" u="none" cap="none" strike="noStrike">
                <a:solidFill>
                  <a:srgbClr val="1B2A4A"/>
                </a:solidFill>
                <a:latin typeface="Calibri"/>
                <a:ea typeface="Calibri"/>
                <a:cs typeface="Calibri"/>
                <a:sym typeface="Calibri"/>
              </a:rPr>
              <a:t> 2.2</a:t>
            </a:r>
            <a:r>
              <a:rPr lang="en-US" sz="1650">
                <a:solidFill>
                  <a:schemeClr val="dk1"/>
                </a:solidFill>
                <a:latin typeface="Calibri"/>
                <a:ea typeface="Calibri"/>
                <a:cs typeface="Calibri"/>
                <a:sym typeface="Calibri"/>
              </a:rPr>
              <a:t> – </a:t>
            </a:r>
            <a:r>
              <a:rPr b="1" i="0" lang="en-US" sz="1650" u="none" cap="none" strike="noStrike">
                <a:solidFill>
                  <a:srgbClr val="1B2A4A"/>
                </a:solidFill>
                <a:latin typeface="Calibri"/>
                <a:ea typeface="Calibri"/>
                <a:cs typeface="Calibri"/>
                <a:sym typeface="Calibri"/>
              </a:rPr>
              <a:t>Thêm </a:t>
            </a:r>
            <a:r>
              <a:rPr b="1" lang="en-US" sz="1650">
                <a:solidFill>
                  <a:srgbClr val="1B2A4A"/>
                </a:solidFill>
                <a:latin typeface="Calibri"/>
                <a:ea typeface="Calibri"/>
                <a:cs typeface="Calibri"/>
                <a:sym typeface="Calibri"/>
              </a:rPr>
              <a:t>môn khác ngoài chương trình GDPT: </a:t>
            </a:r>
            <a:r>
              <a:rPr b="1" i="0" lang="en-US" sz="1650" u="none" cap="none" strike="noStrike">
                <a:solidFill>
                  <a:srgbClr val="1B2A4A"/>
                </a:solidFill>
                <a:latin typeface="Calibri"/>
                <a:ea typeface="Calibri"/>
                <a:cs typeface="Calibri"/>
                <a:sym typeface="Calibri"/>
              </a:rPr>
              <a:t>STEM/STEAM/AI cơ bản/ K</a:t>
            </a:r>
            <a:r>
              <a:rPr b="1" lang="en-US" sz="1650">
                <a:solidFill>
                  <a:srgbClr val="1B2A4A"/>
                </a:solidFill>
                <a:latin typeface="Calibri"/>
                <a:ea typeface="Calibri"/>
                <a:cs typeface="Calibri"/>
                <a:sym typeface="Calibri"/>
              </a:rPr>
              <a:t>ỹ năng sống</a:t>
            </a:r>
            <a:endParaRPr b="0" i="0" sz="1650" u="none" cap="none" strike="noStrike">
              <a:solidFill>
                <a:schemeClr val="dk1"/>
              </a:solidFill>
              <a:latin typeface="Calibri"/>
              <a:ea typeface="Calibri"/>
              <a:cs typeface="Calibri"/>
              <a:sym typeface="Calibri"/>
            </a:endParaRPr>
          </a:p>
        </p:txBody>
      </p:sp>
      <p:sp>
        <p:nvSpPr>
          <p:cNvPr id="113" name="Google Shape;113;p9"/>
          <p:cNvSpPr/>
          <p:nvPr/>
        </p:nvSpPr>
        <p:spPr>
          <a:xfrm>
            <a:off x="6552001" y="2926075"/>
            <a:ext cx="4843200" cy="1400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450">
                <a:solidFill>
                  <a:srgbClr val="2E5FA3"/>
                </a:solidFill>
                <a:latin typeface="Calibri"/>
                <a:ea typeface="Calibri"/>
                <a:cs typeface="Calibri"/>
                <a:sym typeface="Calibri"/>
              </a:rPr>
              <a:t>• </a:t>
            </a:r>
            <a:r>
              <a:rPr lang="en-US" sz="1450">
                <a:solidFill>
                  <a:srgbClr val="2B2B2B"/>
                </a:solidFill>
                <a:latin typeface="Calibri"/>
                <a:ea typeface="Calibri"/>
                <a:cs typeface="Calibri"/>
                <a:sym typeface="Calibri"/>
              </a:rPr>
              <a:t>Giữ nguyên Big Class + AI Practice + AI Speak + Edupia Club + GVCN (môn tiếng Anh) hiện có</a:t>
            </a:r>
            <a:endParaRPr sz="1450">
              <a:solidFill>
                <a:srgbClr val="2B2B2B"/>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450">
              <a:solidFill>
                <a:srgbClr val="2B2B2B"/>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450">
                <a:solidFill>
                  <a:srgbClr val="2E5FA3"/>
                </a:solidFill>
                <a:latin typeface="Calibri"/>
                <a:ea typeface="Calibri"/>
                <a:cs typeface="Calibri"/>
                <a:sym typeface="Calibri"/>
              </a:rPr>
              <a:t>• </a:t>
            </a:r>
            <a:r>
              <a:rPr lang="en-US" sz="1450">
                <a:solidFill>
                  <a:srgbClr val="2B2B2B"/>
                </a:solidFill>
                <a:latin typeface="Calibri"/>
                <a:ea typeface="Calibri"/>
                <a:cs typeface="Calibri"/>
                <a:sym typeface="Calibri"/>
              </a:rPr>
              <a:t>Thêm 1 buổi live 1 </a:t>
            </a:r>
            <a:r>
              <a:rPr b="1" lang="en-US" sz="1450">
                <a:solidFill>
                  <a:srgbClr val="2B2B2B"/>
                </a:solidFill>
                <a:latin typeface="Calibri"/>
                <a:ea typeface="Calibri"/>
                <a:cs typeface="Calibri"/>
                <a:sym typeface="Calibri"/>
              </a:rPr>
              <a:t>môn STEM/STEAM/AI cơ bản/ Kỹ năng sống</a:t>
            </a:r>
            <a:r>
              <a:rPr lang="en-US" sz="1450">
                <a:solidFill>
                  <a:srgbClr val="2B2B2B"/>
                </a:solidFill>
                <a:latin typeface="Calibri"/>
                <a:ea typeface="Calibri"/>
                <a:cs typeface="Calibri"/>
                <a:sym typeface="Calibri"/>
              </a:rPr>
              <a:t>/ tuần</a:t>
            </a:r>
            <a:endParaRPr sz="1450">
              <a:solidFill>
                <a:srgbClr val="2B2B2B"/>
              </a:solidFill>
              <a:latin typeface="Calibri"/>
              <a:ea typeface="Calibri"/>
              <a:cs typeface="Calibri"/>
              <a:sym typeface="Calibri"/>
            </a:endParaRPr>
          </a:p>
        </p:txBody>
      </p:sp>
      <p:sp>
        <p:nvSpPr>
          <p:cNvPr id="114" name="Google Shape;114;p9"/>
          <p:cNvSpPr/>
          <p:nvPr/>
        </p:nvSpPr>
        <p:spPr>
          <a:xfrm>
            <a:off x="548640" y="6510528"/>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
        <p:nvSpPr>
          <p:cNvPr id="115" name="Google Shape;115;p9"/>
          <p:cNvSpPr/>
          <p:nvPr/>
        </p:nvSpPr>
        <p:spPr>
          <a:xfrm>
            <a:off x="548665" y="4557520"/>
            <a:ext cx="11094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1" i="1" lang="en-US" sz="1350">
                <a:solidFill>
                  <a:srgbClr val="6B7280"/>
                </a:solidFill>
                <a:latin typeface="Calibri"/>
                <a:ea typeface="Calibri"/>
                <a:cs typeface="Calibri"/>
                <a:sym typeface="Calibri"/>
              </a:rPr>
              <a:t>USP: </a:t>
            </a:r>
            <a:r>
              <a:rPr b="1" i="1" lang="en-US" sz="1350">
                <a:solidFill>
                  <a:srgbClr val="6B7280"/>
                </a:solidFill>
                <a:latin typeface="Calibri"/>
                <a:ea typeface="Calibri"/>
                <a:cs typeface="Calibri"/>
                <a:sym typeface="Calibri"/>
              </a:rPr>
              <a:t>"Chương trình tiếng Anh trực tuyến có thêm 1 buổi học với môn học khác mỗi tuần, giúp con phát triển toàn diện và phụ huynh không cần tìm thêm hoạt động bổ trợ ở nơi khác."</a:t>
            </a:r>
            <a:endParaRPr b="1" i="0" sz="1350" u="none" cap="none" strike="noStrike">
              <a:solidFill>
                <a:schemeClr val="dk1"/>
              </a:solidFill>
              <a:latin typeface="Calibri"/>
              <a:ea typeface="Calibri"/>
              <a:cs typeface="Calibri"/>
              <a:sym typeface="Calibri"/>
            </a:endParaRPr>
          </a:p>
        </p:txBody>
      </p:sp>
      <p:sp>
        <p:nvSpPr>
          <p:cNvPr id="116" name="Google Shape;116;p9"/>
          <p:cNvSpPr/>
          <p:nvPr/>
        </p:nvSpPr>
        <p:spPr>
          <a:xfrm>
            <a:off x="548640" y="320040"/>
            <a:ext cx="11094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PHẦN 2 — ĐỊNH HƯỚNG CONCEPT</a:t>
            </a:r>
            <a:r>
              <a:rPr b="1" lang="en-US" sz="1200">
                <a:solidFill>
                  <a:srgbClr val="2E5FA3"/>
                </a:solidFill>
                <a:latin typeface="Calibri"/>
                <a:ea typeface="Calibri"/>
                <a:cs typeface="Calibri"/>
                <a:sym typeface="Calibri"/>
              </a:rPr>
              <a:t> SẢN PHẨM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0"/>
          <p:cNvSpPr/>
          <p:nvPr/>
        </p:nvSpPr>
        <p:spPr>
          <a:xfrm>
            <a:off x="548640" y="621792"/>
            <a:ext cx="110943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lang="en-US" sz="2600">
                <a:solidFill>
                  <a:srgbClr val="1B2A4A"/>
                </a:solidFill>
                <a:latin typeface="Calibri"/>
                <a:ea typeface="Calibri"/>
                <a:cs typeface="Calibri"/>
                <a:sym typeface="Calibri"/>
              </a:rPr>
              <a:t>Concept 3: Gia sư AI 1:1 (MỚI)</a:t>
            </a:r>
            <a:endParaRPr b="0" i="0" sz="2600" u="none" cap="none" strike="noStrike">
              <a:solidFill>
                <a:schemeClr val="dk1"/>
              </a:solidFill>
              <a:latin typeface="Calibri"/>
              <a:ea typeface="Calibri"/>
              <a:cs typeface="Calibri"/>
              <a:sym typeface="Calibri"/>
            </a:endParaRPr>
          </a:p>
        </p:txBody>
      </p:sp>
      <p:cxnSp>
        <p:nvCxnSpPr>
          <p:cNvPr id="123" name="Google Shape;123;p10"/>
          <p:cNvCxnSpPr/>
          <p:nvPr/>
        </p:nvCxnSpPr>
        <p:spPr>
          <a:xfrm>
            <a:off x="548640" y="1207008"/>
            <a:ext cx="822900" cy="0"/>
          </a:xfrm>
          <a:prstGeom prst="straightConnector1">
            <a:avLst/>
          </a:prstGeom>
          <a:noFill/>
          <a:ln cap="flat" cmpd="sng" w="38100">
            <a:solidFill>
              <a:srgbClr val="2E5FA3"/>
            </a:solidFill>
            <a:prstDash val="solid"/>
            <a:round/>
            <a:headEnd len="sm" w="sm" type="none"/>
            <a:tailEnd len="sm" w="sm" type="none"/>
          </a:ln>
        </p:spPr>
      </p:cxnSp>
      <p:sp>
        <p:nvSpPr>
          <p:cNvPr id="124" name="Google Shape;124;p10"/>
          <p:cNvSpPr/>
          <p:nvPr/>
        </p:nvSpPr>
        <p:spPr>
          <a:xfrm>
            <a:off x="11002975" y="6510528"/>
            <a:ext cx="8229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7</a:t>
            </a:r>
            <a:r>
              <a:rPr b="0" i="0" lang="en-US" sz="1000" u="none" cap="none" strike="noStrike">
                <a:solidFill>
                  <a:srgbClr val="6B7280"/>
                </a:solidFill>
                <a:latin typeface="Calibri"/>
                <a:ea typeface="Calibri"/>
                <a:cs typeface="Calibri"/>
                <a:sym typeface="Calibri"/>
              </a:rPr>
              <a:t> /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125" name="Google Shape;125;p10"/>
          <p:cNvSpPr/>
          <p:nvPr/>
        </p:nvSpPr>
        <p:spPr>
          <a:xfrm>
            <a:off x="548640" y="1417320"/>
            <a:ext cx="11094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i="1" lang="en-US" sz="1350">
                <a:solidFill>
                  <a:srgbClr val="6B7280"/>
                </a:solidFill>
                <a:latin typeface="Calibri"/>
                <a:ea typeface="Calibri"/>
                <a:cs typeface="Calibri"/>
                <a:sym typeface="Calibri"/>
              </a:rPr>
              <a:t>AI là gia sư chính, không chỉ hỗ trợ lớp học như Concept 1/ Concept 2.</a:t>
            </a:r>
            <a:endParaRPr i="1" sz="1350">
              <a:solidFill>
                <a:srgbClr val="6B7280"/>
              </a:solidFill>
              <a:latin typeface="Calibri"/>
              <a:ea typeface="Calibri"/>
              <a:cs typeface="Calibri"/>
              <a:sym typeface="Calibri"/>
            </a:endParaRPr>
          </a:p>
        </p:txBody>
      </p:sp>
      <p:sp>
        <p:nvSpPr>
          <p:cNvPr id="126" name="Google Shape;126;p10"/>
          <p:cNvSpPr/>
          <p:nvPr/>
        </p:nvSpPr>
        <p:spPr>
          <a:xfrm>
            <a:off x="548650" y="2011675"/>
            <a:ext cx="5338800" cy="2314500"/>
          </a:xfrm>
          <a:prstGeom prst="roundRect">
            <a:avLst>
              <a:gd fmla="val 1547" name="adj"/>
            </a:avLst>
          </a:prstGeom>
          <a:solidFill>
            <a:srgbClr val="F3F6FB"/>
          </a:solidFill>
          <a:ln cap="flat" cmpd="sng" w="9525">
            <a:solidFill>
              <a:srgbClr val="D7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p:cNvSpPr/>
          <p:nvPr/>
        </p:nvSpPr>
        <p:spPr>
          <a:xfrm>
            <a:off x="713221" y="2139700"/>
            <a:ext cx="49587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350"/>
              <a:buFont typeface="Calibri"/>
              <a:buNone/>
            </a:pPr>
            <a:r>
              <a:rPr b="1" lang="en-US" sz="1650">
                <a:solidFill>
                  <a:srgbClr val="1B2A4A"/>
                </a:solidFill>
                <a:latin typeface="Calibri"/>
                <a:ea typeface="Calibri"/>
                <a:cs typeface="Calibri"/>
                <a:sym typeface="Calibri"/>
              </a:rPr>
              <a:t>Option</a:t>
            </a:r>
            <a:r>
              <a:rPr b="1" i="0" lang="en-US" sz="1650" u="none" cap="none" strike="noStrike">
                <a:solidFill>
                  <a:srgbClr val="1B2A4A"/>
                </a:solidFill>
                <a:latin typeface="Calibri"/>
                <a:ea typeface="Calibri"/>
                <a:cs typeface="Calibri"/>
                <a:sym typeface="Calibri"/>
              </a:rPr>
              <a:t> </a:t>
            </a:r>
            <a:r>
              <a:rPr b="1" lang="en-US" sz="1650">
                <a:solidFill>
                  <a:srgbClr val="1B2A4A"/>
                </a:solidFill>
                <a:latin typeface="Calibri"/>
                <a:ea typeface="Calibri"/>
                <a:cs typeface="Calibri"/>
                <a:sym typeface="Calibri"/>
              </a:rPr>
              <a:t>3.1 — AI nhân hoá "giáo viên ngôi sao"</a:t>
            </a:r>
            <a:endParaRPr b="0" i="0" sz="1650" u="none" cap="none" strike="noStrike">
              <a:solidFill>
                <a:schemeClr val="dk1"/>
              </a:solidFill>
              <a:latin typeface="Calibri"/>
              <a:ea typeface="Calibri"/>
              <a:cs typeface="Calibri"/>
              <a:sym typeface="Calibri"/>
            </a:endParaRPr>
          </a:p>
        </p:txBody>
      </p:sp>
      <p:sp>
        <p:nvSpPr>
          <p:cNvPr id="128" name="Google Shape;128;p10"/>
          <p:cNvSpPr/>
          <p:nvPr/>
        </p:nvSpPr>
        <p:spPr>
          <a:xfrm>
            <a:off x="713225" y="2773675"/>
            <a:ext cx="4843200" cy="143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450">
                <a:solidFill>
                  <a:srgbClr val="2E5FA3"/>
                </a:solidFill>
                <a:latin typeface="Calibri"/>
                <a:ea typeface="Calibri"/>
                <a:cs typeface="Calibri"/>
                <a:sym typeface="Calibri"/>
              </a:rPr>
              <a:t>• Concept: </a:t>
            </a:r>
            <a:r>
              <a:rPr lang="en-US" sz="1450">
                <a:solidFill>
                  <a:srgbClr val="2B2B2B"/>
                </a:solidFill>
                <a:latin typeface="Calibri"/>
                <a:ea typeface="Calibri"/>
                <a:cs typeface="Calibri"/>
                <a:sym typeface="Calibri"/>
              </a:rPr>
              <a:t>AI Tutor dạy học mang giọng nói/phong cách một GV ngôi sao + AI Practice + AI Speak + Edupia Club + GVCN</a:t>
            </a:r>
            <a:endParaRPr b="1" sz="1450">
              <a:solidFill>
                <a:srgbClr val="2E5FA3"/>
              </a:solidFill>
              <a:latin typeface="Calibri"/>
              <a:ea typeface="Calibri"/>
              <a:cs typeface="Calibri"/>
              <a:sym typeface="Calibri"/>
            </a:endParaRPr>
          </a:p>
          <a:p>
            <a:pPr indent="0" lvl="0" marL="0" rtl="0" algn="l">
              <a:spcBef>
                <a:spcPts val="0"/>
              </a:spcBef>
              <a:spcAft>
                <a:spcPts val="0"/>
              </a:spcAft>
              <a:buNone/>
            </a:pPr>
            <a:r>
              <a:t/>
            </a:r>
            <a:endParaRPr b="1" sz="1450">
              <a:solidFill>
                <a:srgbClr val="2E5FA3"/>
              </a:solidFill>
              <a:latin typeface="Calibri"/>
              <a:ea typeface="Calibri"/>
              <a:cs typeface="Calibri"/>
              <a:sym typeface="Calibri"/>
            </a:endParaRPr>
          </a:p>
          <a:p>
            <a:pPr indent="0" lvl="0" marL="0" rtl="0" algn="l">
              <a:spcBef>
                <a:spcPts val="0"/>
              </a:spcBef>
              <a:spcAft>
                <a:spcPts val="0"/>
              </a:spcAft>
              <a:buNone/>
            </a:pPr>
            <a:r>
              <a:rPr b="1" lang="en-US" sz="1450">
                <a:solidFill>
                  <a:srgbClr val="2E5FA3"/>
                </a:solidFill>
                <a:latin typeface="Calibri"/>
                <a:ea typeface="Calibri"/>
                <a:cs typeface="Calibri"/>
                <a:sym typeface="Calibri"/>
              </a:rPr>
              <a:t>•</a:t>
            </a:r>
            <a:r>
              <a:rPr b="1" lang="en-US" sz="1450">
                <a:solidFill>
                  <a:srgbClr val="2E5FA3"/>
                </a:solidFill>
                <a:latin typeface="Calibri"/>
                <a:ea typeface="Calibri"/>
                <a:cs typeface="Calibri"/>
                <a:sym typeface="Calibri"/>
              </a:rPr>
              <a:t> Tiền lệ thị trường:</a:t>
            </a:r>
            <a:r>
              <a:rPr lang="en-US" sz="1450">
                <a:solidFill>
                  <a:srgbClr val="2B2B2B"/>
                </a:solidFill>
                <a:latin typeface="Calibri"/>
                <a:ea typeface="Calibri"/>
                <a:cs typeface="Calibri"/>
                <a:sym typeface="Calibri"/>
              </a:rPr>
              <a:t> Không tìm được sản phẩm nào đúng cấu hình (K-12 + AI-Tutor + giá đại trà)</a:t>
            </a:r>
            <a:endParaRPr sz="1450">
              <a:solidFill>
                <a:srgbClr val="2B2B2B"/>
              </a:solidFill>
              <a:latin typeface="Calibri"/>
              <a:ea typeface="Calibri"/>
              <a:cs typeface="Calibri"/>
              <a:sym typeface="Calibri"/>
            </a:endParaRPr>
          </a:p>
          <a:p>
            <a:pPr indent="0" lvl="0" marL="0" rtl="0" algn="l">
              <a:spcBef>
                <a:spcPts val="0"/>
              </a:spcBef>
              <a:spcAft>
                <a:spcPts val="0"/>
              </a:spcAft>
              <a:buNone/>
            </a:pPr>
            <a:r>
              <a:t/>
            </a:r>
            <a:endParaRPr sz="1450">
              <a:solidFill>
                <a:srgbClr val="2B2B2B"/>
              </a:solidFill>
              <a:latin typeface="Calibri"/>
              <a:ea typeface="Calibri"/>
              <a:cs typeface="Calibri"/>
              <a:sym typeface="Calibri"/>
            </a:endParaRPr>
          </a:p>
        </p:txBody>
      </p:sp>
      <p:sp>
        <p:nvSpPr>
          <p:cNvPr id="129" name="Google Shape;129;p10"/>
          <p:cNvSpPr/>
          <p:nvPr/>
        </p:nvSpPr>
        <p:spPr>
          <a:xfrm>
            <a:off x="6304173" y="2011675"/>
            <a:ext cx="5338800" cy="2314500"/>
          </a:xfrm>
          <a:prstGeom prst="roundRect">
            <a:avLst>
              <a:gd fmla="val 1547" name="adj"/>
            </a:avLst>
          </a:prstGeom>
          <a:solidFill>
            <a:srgbClr val="F3F6FB"/>
          </a:solidFill>
          <a:ln cap="flat" cmpd="sng" w="9525">
            <a:solidFill>
              <a:srgbClr val="D7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0"/>
          <p:cNvSpPr/>
          <p:nvPr/>
        </p:nvSpPr>
        <p:spPr>
          <a:xfrm>
            <a:off x="6475805" y="2139691"/>
            <a:ext cx="48432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1350"/>
              <a:buFont typeface="Calibri"/>
              <a:buNone/>
            </a:pPr>
            <a:r>
              <a:rPr b="1" lang="en-US" sz="1650">
                <a:solidFill>
                  <a:srgbClr val="1B2A4A"/>
                </a:solidFill>
                <a:latin typeface="Calibri"/>
                <a:ea typeface="Calibri"/>
                <a:cs typeface="Calibri"/>
                <a:sym typeface="Calibri"/>
              </a:rPr>
              <a:t>Option</a:t>
            </a:r>
            <a:r>
              <a:rPr b="1" i="0" lang="en-US" sz="1650" u="none" cap="none" strike="noStrike">
                <a:solidFill>
                  <a:srgbClr val="1B2A4A"/>
                </a:solidFill>
                <a:latin typeface="Calibri"/>
                <a:ea typeface="Calibri"/>
                <a:cs typeface="Calibri"/>
                <a:sym typeface="Calibri"/>
              </a:rPr>
              <a:t> </a:t>
            </a:r>
            <a:r>
              <a:rPr b="1" lang="en-US" sz="1650">
                <a:solidFill>
                  <a:srgbClr val="1B2A4A"/>
                </a:solidFill>
                <a:latin typeface="Calibri"/>
                <a:ea typeface="Calibri"/>
                <a:cs typeface="Calibri"/>
                <a:sym typeface="Calibri"/>
              </a:rPr>
              <a:t>3.2 — AI tích hợp mascot + gamification</a:t>
            </a:r>
            <a:endParaRPr b="0" i="0" sz="1650" u="none" cap="none" strike="noStrike">
              <a:solidFill>
                <a:schemeClr val="dk1"/>
              </a:solidFill>
              <a:latin typeface="Calibri"/>
              <a:ea typeface="Calibri"/>
              <a:cs typeface="Calibri"/>
              <a:sym typeface="Calibri"/>
            </a:endParaRPr>
          </a:p>
        </p:txBody>
      </p:sp>
      <p:sp>
        <p:nvSpPr>
          <p:cNvPr id="131" name="Google Shape;131;p10"/>
          <p:cNvSpPr/>
          <p:nvPr/>
        </p:nvSpPr>
        <p:spPr>
          <a:xfrm>
            <a:off x="548640" y="6510528"/>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
        <p:nvSpPr>
          <p:cNvPr id="132" name="Google Shape;132;p10"/>
          <p:cNvSpPr/>
          <p:nvPr/>
        </p:nvSpPr>
        <p:spPr>
          <a:xfrm>
            <a:off x="548665" y="4557520"/>
            <a:ext cx="11094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1" i="1" lang="en-US" sz="1350">
                <a:solidFill>
                  <a:srgbClr val="6B7280"/>
                </a:solidFill>
                <a:latin typeface="Calibri"/>
                <a:ea typeface="Calibri"/>
                <a:cs typeface="Calibri"/>
                <a:sym typeface="Calibri"/>
              </a:rPr>
              <a:t>USP: </a:t>
            </a:r>
            <a:r>
              <a:rPr b="1" i="1" lang="en-US" sz="1350">
                <a:solidFill>
                  <a:srgbClr val="6B7280"/>
                </a:solidFill>
                <a:latin typeface="Calibri"/>
                <a:ea typeface="Calibri"/>
                <a:cs typeface="Calibri"/>
                <a:sym typeface="Calibri"/>
              </a:rPr>
              <a:t>"Gia sư AI 1:1 luôn sẵn sàng, theo dõi và đồng hành cùng con trong quá trình học — mẫu hình 'AI song hành' đã vận hành thật ở quy mô lớn tại thị trường khác, lần đầu áp dụng tại Việt Nam."</a:t>
            </a:r>
            <a:endParaRPr b="1" i="0" sz="1350" u="none" cap="none" strike="noStrike">
              <a:solidFill>
                <a:schemeClr val="dk1"/>
              </a:solidFill>
              <a:latin typeface="Calibri"/>
              <a:ea typeface="Calibri"/>
              <a:cs typeface="Calibri"/>
              <a:sym typeface="Calibri"/>
            </a:endParaRPr>
          </a:p>
        </p:txBody>
      </p:sp>
      <p:sp>
        <p:nvSpPr>
          <p:cNvPr id="133" name="Google Shape;133;p10"/>
          <p:cNvSpPr/>
          <p:nvPr/>
        </p:nvSpPr>
        <p:spPr>
          <a:xfrm>
            <a:off x="548640" y="320040"/>
            <a:ext cx="11094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PHẦN 2 — ĐỊNH HƯỚNG CONCEPT</a:t>
            </a:r>
            <a:r>
              <a:rPr b="1" lang="en-US" sz="1200">
                <a:solidFill>
                  <a:srgbClr val="2E5FA3"/>
                </a:solidFill>
                <a:latin typeface="Calibri"/>
                <a:ea typeface="Calibri"/>
                <a:cs typeface="Calibri"/>
                <a:sym typeface="Calibri"/>
              </a:rPr>
              <a:t> SẢN PHẨM</a:t>
            </a:r>
            <a:endParaRPr b="0" i="0" sz="1200" u="none" cap="none" strike="noStrike">
              <a:solidFill>
                <a:schemeClr val="dk1"/>
              </a:solidFill>
              <a:latin typeface="Calibri"/>
              <a:ea typeface="Calibri"/>
              <a:cs typeface="Calibri"/>
              <a:sym typeface="Calibri"/>
            </a:endParaRPr>
          </a:p>
        </p:txBody>
      </p:sp>
      <p:sp>
        <p:nvSpPr>
          <p:cNvPr id="134" name="Google Shape;134;p10"/>
          <p:cNvSpPr/>
          <p:nvPr/>
        </p:nvSpPr>
        <p:spPr>
          <a:xfrm>
            <a:off x="6457700" y="2716747"/>
            <a:ext cx="4843200" cy="143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450">
                <a:solidFill>
                  <a:srgbClr val="2E5FA3"/>
                </a:solidFill>
                <a:latin typeface="Calibri"/>
                <a:ea typeface="Calibri"/>
                <a:cs typeface="Calibri"/>
                <a:sym typeface="Calibri"/>
              </a:rPr>
              <a:t>• Concept: </a:t>
            </a:r>
            <a:r>
              <a:rPr lang="en-US" sz="1450">
                <a:solidFill>
                  <a:srgbClr val="2B2B2B"/>
                </a:solidFill>
                <a:latin typeface="Calibri"/>
                <a:ea typeface="Calibri"/>
                <a:cs typeface="Calibri"/>
                <a:sym typeface="Calibri"/>
              </a:rPr>
              <a:t>AI nhúng trong nhân vật mascot, gắn cơ chế trò chơi hoá — mascot phản ánh dữ liệu học và tương tác với học sinh</a:t>
            </a:r>
            <a:endParaRPr b="1" sz="1450">
              <a:solidFill>
                <a:srgbClr val="2E5FA3"/>
              </a:solidFill>
              <a:latin typeface="Calibri"/>
              <a:ea typeface="Calibri"/>
              <a:cs typeface="Calibri"/>
              <a:sym typeface="Calibri"/>
            </a:endParaRPr>
          </a:p>
          <a:p>
            <a:pPr indent="0" lvl="0" marL="0" rtl="0" algn="l">
              <a:spcBef>
                <a:spcPts val="0"/>
              </a:spcBef>
              <a:spcAft>
                <a:spcPts val="0"/>
              </a:spcAft>
              <a:buNone/>
            </a:pPr>
            <a:r>
              <a:t/>
            </a:r>
            <a:endParaRPr b="1" sz="1450">
              <a:solidFill>
                <a:srgbClr val="2E5FA3"/>
              </a:solidFill>
              <a:latin typeface="Calibri"/>
              <a:ea typeface="Calibri"/>
              <a:cs typeface="Calibri"/>
              <a:sym typeface="Calibri"/>
            </a:endParaRPr>
          </a:p>
          <a:p>
            <a:pPr indent="0" lvl="0" marL="0" rtl="0" algn="l">
              <a:spcBef>
                <a:spcPts val="0"/>
              </a:spcBef>
              <a:spcAft>
                <a:spcPts val="0"/>
              </a:spcAft>
              <a:buNone/>
            </a:pPr>
            <a:r>
              <a:rPr b="1" lang="en-US" sz="1450">
                <a:solidFill>
                  <a:srgbClr val="2E5FA3"/>
                </a:solidFill>
                <a:latin typeface="Calibri"/>
                <a:ea typeface="Calibri"/>
                <a:cs typeface="Calibri"/>
                <a:sym typeface="Calibri"/>
              </a:rPr>
              <a:t>• Tiền lệ thị trường:</a:t>
            </a:r>
            <a:r>
              <a:rPr lang="en-US" sz="1450">
                <a:solidFill>
                  <a:srgbClr val="2B2B2B"/>
                </a:solidFill>
                <a:latin typeface="Calibri"/>
                <a:ea typeface="Calibri"/>
                <a:cs typeface="Calibri"/>
                <a:sym typeface="Calibri"/>
              </a:rPr>
              <a:t> </a:t>
            </a:r>
            <a:r>
              <a:rPr lang="en-US" sz="1450">
                <a:solidFill>
                  <a:srgbClr val="2B2B2B"/>
                </a:solidFill>
                <a:latin typeface="Calibri"/>
                <a:ea typeface="Calibri"/>
                <a:cs typeface="Calibri"/>
                <a:sym typeface="Calibri"/>
              </a:rPr>
              <a:t>Có — Duolingo, Prodigy</a:t>
            </a:r>
            <a:endParaRPr sz="1450">
              <a:solidFill>
                <a:srgbClr val="2B2B2B"/>
              </a:solidFill>
              <a:latin typeface="Calibri"/>
              <a:ea typeface="Calibri"/>
              <a:cs typeface="Calibri"/>
              <a:sym typeface="Calibri"/>
            </a:endParaRPr>
          </a:p>
          <a:p>
            <a:pPr indent="0" lvl="0" marL="0" rtl="0" algn="l">
              <a:spcBef>
                <a:spcPts val="0"/>
              </a:spcBef>
              <a:spcAft>
                <a:spcPts val="0"/>
              </a:spcAft>
              <a:buNone/>
            </a:pPr>
            <a:r>
              <a:t/>
            </a:r>
            <a:endParaRPr sz="1450">
              <a:solidFill>
                <a:srgbClr val="2B2B2B"/>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1"/>
          <p:cNvSpPr/>
          <p:nvPr/>
        </p:nvSpPr>
        <p:spPr>
          <a:xfrm>
            <a:off x="548640" y="32004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PHẦN </a:t>
            </a:r>
            <a:r>
              <a:rPr b="1" lang="en-US" sz="1200">
                <a:solidFill>
                  <a:srgbClr val="2E5FA3"/>
                </a:solidFill>
                <a:latin typeface="Calibri"/>
                <a:ea typeface="Calibri"/>
                <a:cs typeface="Calibri"/>
                <a:sym typeface="Calibri"/>
              </a:rPr>
              <a:t>3</a:t>
            </a:r>
            <a:r>
              <a:rPr b="1" i="0" lang="en-US" sz="1200" u="none" cap="none" strike="noStrike">
                <a:solidFill>
                  <a:srgbClr val="2E5FA3"/>
                </a:solidFill>
                <a:latin typeface="Calibri"/>
                <a:ea typeface="Calibri"/>
                <a:cs typeface="Calibri"/>
                <a:sym typeface="Calibri"/>
              </a:rPr>
              <a:t> — KẾ HOẠCH TRIỂN KHAI</a:t>
            </a:r>
            <a:endParaRPr b="0" i="0" sz="1200" u="none" cap="none" strike="noStrike">
              <a:solidFill>
                <a:schemeClr val="dk1"/>
              </a:solidFill>
              <a:latin typeface="Calibri"/>
              <a:ea typeface="Calibri"/>
              <a:cs typeface="Calibri"/>
              <a:sym typeface="Calibri"/>
            </a:endParaRPr>
          </a:p>
        </p:txBody>
      </p:sp>
      <p:sp>
        <p:nvSpPr>
          <p:cNvPr id="141" name="Google Shape;141;p11"/>
          <p:cNvSpPr/>
          <p:nvPr/>
        </p:nvSpPr>
        <p:spPr>
          <a:xfrm>
            <a:off x="548640" y="621792"/>
            <a:ext cx="11094415"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i="0" lang="en-US" sz="2600" u="none" cap="none" strike="noStrike">
                <a:solidFill>
                  <a:srgbClr val="1B2A4A"/>
                </a:solidFill>
                <a:latin typeface="Calibri"/>
                <a:ea typeface="Calibri"/>
                <a:cs typeface="Calibri"/>
                <a:sym typeface="Calibri"/>
              </a:rPr>
              <a:t>Lộ trình triển khai (2026 </a:t>
            </a:r>
            <a:r>
              <a:rPr b="1" lang="en-US" sz="2600">
                <a:solidFill>
                  <a:srgbClr val="1B2A4A"/>
                </a:solidFill>
                <a:latin typeface="Calibri"/>
                <a:ea typeface="Calibri"/>
                <a:cs typeface="Calibri"/>
                <a:sym typeface="Calibri"/>
              </a:rPr>
              <a:t>- </a:t>
            </a:r>
            <a:r>
              <a:rPr b="1" i="0" lang="en-US" sz="2600" u="none" cap="none" strike="noStrike">
                <a:solidFill>
                  <a:srgbClr val="1B2A4A"/>
                </a:solidFill>
                <a:latin typeface="Calibri"/>
                <a:ea typeface="Calibri"/>
                <a:cs typeface="Calibri"/>
                <a:sym typeface="Calibri"/>
              </a:rPr>
              <a:t>2027)</a:t>
            </a:r>
            <a:endParaRPr b="0" i="0" sz="2600" u="none" cap="none" strike="noStrike">
              <a:solidFill>
                <a:schemeClr val="dk1"/>
              </a:solidFill>
              <a:latin typeface="Calibri"/>
              <a:ea typeface="Calibri"/>
              <a:cs typeface="Calibri"/>
              <a:sym typeface="Calibri"/>
            </a:endParaRPr>
          </a:p>
        </p:txBody>
      </p:sp>
      <p:cxnSp>
        <p:nvCxnSpPr>
          <p:cNvPr id="142" name="Google Shape;142;p11"/>
          <p:cNvCxnSpPr/>
          <p:nvPr/>
        </p:nvCxnSpPr>
        <p:spPr>
          <a:xfrm>
            <a:off x="548640" y="1207008"/>
            <a:ext cx="822960" cy="0"/>
          </a:xfrm>
          <a:prstGeom prst="straightConnector1">
            <a:avLst/>
          </a:prstGeom>
          <a:noFill/>
          <a:ln cap="flat" cmpd="sng" w="38100">
            <a:solidFill>
              <a:srgbClr val="2E5FA3"/>
            </a:solidFill>
            <a:prstDash val="solid"/>
            <a:round/>
            <a:headEnd len="sm" w="sm" type="none"/>
            <a:tailEnd len="sm" w="sm" type="none"/>
          </a:ln>
        </p:spPr>
      </p:cxnSp>
      <p:sp>
        <p:nvSpPr>
          <p:cNvPr id="143" name="Google Shape;143;p11"/>
          <p:cNvSpPr/>
          <p:nvPr/>
        </p:nvSpPr>
        <p:spPr>
          <a:xfrm>
            <a:off x="11002975" y="65105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8</a:t>
            </a:r>
            <a:r>
              <a:rPr b="0" i="0" lang="en-US" sz="1000" u="none" cap="none" strike="noStrike">
                <a:solidFill>
                  <a:srgbClr val="6B7280"/>
                </a:solidFill>
                <a:latin typeface="Calibri"/>
                <a:ea typeface="Calibri"/>
                <a:cs typeface="Calibri"/>
                <a:sym typeface="Calibri"/>
              </a:rPr>
              <a:t> /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graphicFrame>
        <p:nvGraphicFramePr>
          <p:cNvPr id="144" name="Google Shape;144;p11"/>
          <p:cNvGraphicFramePr/>
          <p:nvPr/>
        </p:nvGraphicFramePr>
        <p:xfrm>
          <a:off x="548640" y="1508760"/>
          <a:ext cx="3000000" cy="3000000"/>
        </p:xfrm>
        <a:graphic>
          <a:graphicData uri="http://schemas.openxmlformats.org/drawingml/2006/table">
            <a:tbl>
              <a:tblPr>
                <a:noFill/>
                <a:tableStyleId>{C502E3C7-9A4C-4ABD-AE55-75EC5AD6722D}</a:tableStyleId>
              </a:tblPr>
              <a:tblGrid>
                <a:gridCol w="2377450"/>
                <a:gridCol w="8716975"/>
              </a:tblGrid>
              <a:tr h="582925">
                <a:tc>
                  <a:txBody>
                    <a:bodyPr/>
                    <a:lstStyle/>
                    <a:p>
                      <a:pPr indent="0" lvl="0" marL="0" marR="0" rtl="0" algn="l">
                        <a:spcBef>
                          <a:spcPts val="0"/>
                        </a:spcBef>
                        <a:spcAft>
                          <a:spcPts val="0"/>
                        </a:spcAft>
                        <a:buClr>
                          <a:srgbClr val="FFFFFF"/>
                        </a:buClr>
                        <a:buSzPts val="1450"/>
                        <a:buFont typeface="Calibri"/>
                        <a:buNone/>
                      </a:pPr>
                      <a:r>
                        <a:rPr b="1" lang="en-US" sz="1450" u="none" cap="none" strike="noStrike">
                          <a:solidFill>
                            <a:srgbClr val="FFFFFF"/>
                          </a:solidFill>
                          <a:latin typeface="Calibri"/>
                          <a:ea typeface="Calibri"/>
                          <a:cs typeface="Calibri"/>
                          <a:sym typeface="Calibri"/>
                        </a:rPr>
                        <a:t>Mốc</a:t>
                      </a:r>
                      <a:endParaRPr sz="14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450"/>
                        <a:buFont typeface="Calibri"/>
                        <a:buNone/>
                      </a:pPr>
                      <a:r>
                        <a:rPr b="1" lang="en-US" sz="1450" u="none" cap="none" strike="noStrike">
                          <a:solidFill>
                            <a:srgbClr val="FFFFFF"/>
                          </a:solidFill>
                          <a:latin typeface="Calibri"/>
                          <a:ea typeface="Calibri"/>
                          <a:cs typeface="Calibri"/>
                          <a:sym typeface="Calibri"/>
                        </a:rPr>
                        <a:t>Nội dung</a:t>
                      </a:r>
                      <a:endParaRPr sz="14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r>
              <a:tr h="582925">
                <a:tc>
                  <a:txBody>
                    <a:bodyPr/>
                    <a:lstStyle/>
                    <a:p>
                      <a:pPr indent="0" lvl="0" marL="0" marR="0" rtl="0" algn="l">
                        <a:spcBef>
                          <a:spcPts val="0"/>
                        </a:spcBef>
                        <a:spcAft>
                          <a:spcPts val="0"/>
                        </a:spcAft>
                        <a:buClr>
                          <a:srgbClr val="1B2A4A"/>
                        </a:buClr>
                        <a:buSzPts val="1350"/>
                        <a:buFont typeface="Calibri"/>
                        <a:buNone/>
                      </a:pPr>
                      <a:r>
                        <a:rPr b="1" lang="en-US" sz="1350" u="none" cap="none" strike="noStrike">
                          <a:solidFill>
                            <a:srgbClr val="1B2A4A"/>
                          </a:solidFill>
                          <a:latin typeface="Calibri"/>
                          <a:ea typeface="Calibri"/>
                          <a:cs typeface="Calibri"/>
                          <a:sym typeface="Calibri"/>
                        </a:rPr>
                        <a:t>Trước 31/08/2026</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350"/>
                        <a:buFont typeface="Calibri"/>
                        <a:buNone/>
                      </a:pPr>
                      <a:r>
                        <a:rPr lang="en-US" sz="1350" u="none" cap="none" strike="noStrike">
                          <a:solidFill>
                            <a:srgbClr val="2B2B2B"/>
                          </a:solidFill>
                          <a:latin typeface="Calibri"/>
                          <a:ea typeface="Calibri"/>
                          <a:cs typeface="Calibri"/>
                          <a:sym typeface="Calibri"/>
                        </a:rPr>
                        <a:t>Trình bày slide concept trước BOD/team</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r>
              <a:tr h="582925">
                <a:tc>
                  <a:txBody>
                    <a:bodyPr/>
                    <a:lstStyle/>
                    <a:p>
                      <a:pPr indent="0" lvl="0" marL="0" marR="0" rtl="0" algn="l">
                        <a:spcBef>
                          <a:spcPts val="0"/>
                        </a:spcBef>
                        <a:spcAft>
                          <a:spcPts val="0"/>
                        </a:spcAft>
                        <a:buClr>
                          <a:srgbClr val="1B2A4A"/>
                        </a:buClr>
                        <a:buSzPts val="1350"/>
                        <a:buFont typeface="Calibri"/>
                        <a:buNone/>
                      </a:pPr>
                      <a:r>
                        <a:rPr b="1" lang="en-US" sz="1350" u="none" cap="none" strike="noStrike">
                          <a:solidFill>
                            <a:srgbClr val="1B2A4A"/>
                          </a:solidFill>
                          <a:latin typeface="Calibri"/>
                          <a:ea typeface="Calibri"/>
                          <a:cs typeface="Calibri"/>
                          <a:sym typeface="Calibri"/>
                        </a:rPr>
                        <a:t>01–15/09/2026</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350"/>
                        <a:buFont typeface="Calibri"/>
                        <a:buNone/>
                      </a:pPr>
                      <a:r>
                        <a:rPr lang="en-US" sz="1350" u="none" cap="none" strike="noStrike">
                          <a:solidFill>
                            <a:srgbClr val="2B2B2B"/>
                          </a:solidFill>
                          <a:latin typeface="Calibri"/>
                          <a:ea typeface="Calibri"/>
                          <a:cs typeface="Calibri"/>
                          <a:sym typeface="Calibri"/>
                        </a:rPr>
                        <a:t>Xây bảng hỏi và phương án khảo sát</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r>
              <a:tr h="582925">
                <a:tc>
                  <a:txBody>
                    <a:bodyPr/>
                    <a:lstStyle/>
                    <a:p>
                      <a:pPr indent="0" lvl="0" marL="0" marR="0" rtl="0" algn="l">
                        <a:spcBef>
                          <a:spcPts val="0"/>
                        </a:spcBef>
                        <a:spcAft>
                          <a:spcPts val="0"/>
                        </a:spcAft>
                        <a:buClr>
                          <a:srgbClr val="1B2A4A"/>
                        </a:buClr>
                        <a:buSzPts val="1350"/>
                        <a:buFont typeface="Calibri"/>
                        <a:buNone/>
                      </a:pPr>
                      <a:r>
                        <a:rPr b="1" lang="en-US" sz="1350" u="none" cap="none" strike="noStrike">
                          <a:solidFill>
                            <a:srgbClr val="1B2A4A"/>
                          </a:solidFill>
                          <a:latin typeface="Calibri"/>
                          <a:ea typeface="Calibri"/>
                          <a:cs typeface="Calibri"/>
                          <a:sym typeface="Calibri"/>
                        </a:rPr>
                        <a:t>15/09–15/10/2026</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350"/>
                        <a:buFont typeface="Calibri"/>
                        <a:buNone/>
                      </a:pPr>
                      <a:r>
                        <a:rPr lang="en-US" sz="1350" u="none" cap="none" strike="noStrike">
                          <a:solidFill>
                            <a:srgbClr val="2B2B2B"/>
                          </a:solidFill>
                          <a:latin typeface="Calibri"/>
                          <a:ea typeface="Calibri"/>
                          <a:cs typeface="Calibri"/>
                          <a:sym typeface="Calibri"/>
                        </a:rPr>
                        <a:t>Khảo sát thực tế </a:t>
                      </a:r>
                      <a:r>
                        <a:rPr b="1" lang="en-US" sz="1350" u="none" cap="none" strike="noStrike">
                          <a:solidFill>
                            <a:srgbClr val="2B2B2B"/>
                          </a:solidFill>
                          <a:latin typeface="Calibri"/>
                          <a:ea typeface="Calibri"/>
                          <a:cs typeface="Calibri"/>
                          <a:sym typeface="Calibri"/>
                        </a:rPr>
                        <a:t>~ phụ huynh Tier 3/4</a:t>
                      </a:r>
                      <a:r>
                        <a:rPr lang="en-US" sz="1350" u="none" cap="none" strike="noStrike">
                          <a:solidFill>
                            <a:srgbClr val="2B2B2B"/>
                          </a:solidFill>
                          <a:latin typeface="Calibri"/>
                          <a:ea typeface="Calibri"/>
                          <a:cs typeface="Calibri"/>
                          <a:sym typeface="Calibri"/>
                        </a:rPr>
                        <a:t> — 500 qua điện thoại + 100 trực tiếp tận nhà</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r>
              <a:tr h="582925">
                <a:tc>
                  <a:txBody>
                    <a:bodyPr/>
                    <a:lstStyle/>
                    <a:p>
                      <a:pPr indent="0" lvl="0" marL="0" marR="0" rtl="0" algn="l">
                        <a:spcBef>
                          <a:spcPts val="0"/>
                        </a:spcBef>
                        <a:spcAft>
                          <a:spcPts val="0"/>
                        </a:spcAft>
                        <a:buClr>
                          <a:srgbClr val="1B2A4A"/>
                        </a:buClr>
                        <a:buSzPts val="1350"/>
                        <a:buFont typeface="Calibri"/>
                        <a:buNone/>
                      </a:pPr>
                      <a:r>
                        <a:rPr b="1" lang="en-US" sz="1350" u="none" cap="none" strike="noStrike">
                          <a:solidFill>
                            <a:srgbClr val="1B2A4A"/>
                          </a:solidFill>
                          <a:latin typeface="Calibri"/>
                          <a:ea typeface="Calibri"/>
                          <a:cs typeface="Calibri"/>
                          <a:sym typeface="Calibri"/>
                        </a:rPr>
                        <a:t>15/10–30/10/2026</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350"/>
                        <a:buFont typeface="Calibri"/>
                        <a:buNone/>
                      </a:pPr>
                      <a:r>
                        <a:rPr lang="en-US" sz="1350" u="none" cap="none" strike="noStrike">
                          <a:solidFill>
                            <a:srgbClr val="2B2B2B"/>
                          </a:solidFill>
                          <a:latin typeface="Calibri"/>
                          <a:ea typeface="Calibri"/>
                          <a:cs typeface="Calibri"/>
                          <a:sym typeface="Calibri"/>
                        </a:rPr>
                        <a:t>Xử lý kết quả khảo sát, </a:t>
                      </a:r>
                      <a:r>
                        <a:rPr b="1" lang="en-US" sz="1350" u="none" cap="none" strike="noStrike">
                          <a:solidFill>
                            <a:srgbClr val="2B2B2B"/>
                          </a:solidFill>
                          <a:latin typeface="Calibri"/>
                          <a:ea typeface="Calibri"/>
                          <a:cs typeface="Calibri"/>
                          <a:sym typeface="Calibri"/>
                        </a:rPr>
                        <a:t>chọn phương án concept</a:t>
                      </a:r>
                      <a:r>
                        <a:rPr lang="en-US" sz="1350" u="none" cap="none" strike="noStrike">
                          <a:solidFill>
                            <a:srgbClr val="2B2B2B"/>
                          </a:solidFill>
                          <a:latin typeface="Calibri"/>
                          <a:ea typeface="Calibri"/>
                          <a:cs typeface="Calibri"/>
                          <a:sym typeface="Calibri"/>
                        </a:rPr>
                        <a:t>, xây kịch bản bán hàng, chuẩn bị Marketing, đào tạo Sale</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r>
              <a:tr h="582925">
                <a:tc>
                  <a:txBody>
                    <a:bodyPr/>
                    <a:lstStyle/>
                    <a:p>
                      <a:pPr indent="0" lvl="0" marL="0" marR="0" rtl="0" algn="l">
                        <a:spcBef>
                          <a:spcPts val="0"/>
                        </a:spcBef>
                        <a:spcAft>
                          <a:spcPts val="0"/>
                        </a:spcAft>
                        <a:buClr>
                          <a:srgbClr val="1B2A4A"/>
                        </a:buClr>
                        <a:buSzPts val="1350"/>
                        <a:buFont typeface="Calibri"/>
                        <a:buNone/>
                      </a:pPr>
                      <a:r>
                        <a:rPr b="1" lang="en-US" sz="1350" u="none" cap="none" strike="noStrike">
                          <a:solidFill>
                            <a:srgbClr val="1B2A4A"/>
                          </a:solidFill>
                          <a:latin typeface="Calibri"/>
                          <a:ea typeface="Calibri"/>
                          <a:cs typeface="Calibri"/>
                          <a:sym typeface="Calibri"/>
                        </a:rPr>
                        <a:t>Tháng 11/2026</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350"/>
                        <a:buFont typeface="Calibri"/>
                        <a:buNone/>
                      </a:pPr>
                      <a:r>
                        <a:rPr b="1" lang="en-US" sz="1350" u="none" cap="none" strike="noStrike">
                          <a:solidFill>
                            <a:srgbClr val="2B2B2B"/>
                          </a:solidFill>
                          <a:latin typeface="Calibri"/>
                          <a:ea typeface="Calibri"/>
                          <a:cs typeface="Calibri"/>
                          <a:sym typeface="Calibri"/>
                        </a:rPr>
                        <a:t>Test bán vòng 1</a:t>
                      </a:r>
                      <a:r>
                        <a:rPr lang="en-US" sz="1350" u="none" cap="none" strike="noStrike">
                          <a:solidFill>
                            <a:srgbClr val="2B2B2B"/>
                          </a:solidFill>
                          <a:latin typeface="Calibri"/>
                          <a:ea typeface="Calibri"/>
                          <a:cs typeface="Calibri"/>
                          <a:sym typeface="Calibri"/>
                        </a:rPr>
                        <a:t> — quảng cáo + Sale gọi điện, </a:t>
                      </a:r>
                      <a:r>
                        <a:rPr b="1" lang="en-US" sz="1350" u="none" cap="none" strike="noStrike">
                          <a:solidFill>
                            <a:srgbClr val="2B2B2B"/>
                          </a:solidFill>
                          <a:latin typeface="Calibri"/>
                          <a:ea typeface="Calibri"/>
                          <a:cs typeface="Calibri"/>
                          <a:sym typeface="Calibri"/>
                        </a:rPr>
                        <a:t>thu tiền thật</a:t>
                      </a:r>
                      <a:r>
                        <a:rPr lang="en-US" sz="1350" u="none" cap="none" strike="noStrike">
                          <a:solidFill>
                            <a:srgbClr val="2B2B2B"/>
                          </a:solidFill>
                          <a:latin typeface="Calibri"/>
                          <a:ea typeface="Calibri"/>
                          <a:cs typeface="Calibri"/>
                          <a:sym typeface="Calibri"/>
                        </a:rPr>
                        <a:t> để đo tỷ lệ chốt; sau đó hoàn tiền + tặng 1 tháng học trải nghiệm</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r>
              <a:tr h="582925">
                <a:tc>
                  <a:txBody>
                    <a:bodyPr/>
                    <a:lstStyle/>
                    <a:p>
                      <a:pPr indent="0" lvl="0" marL="0" marR="0" rtl="0" algn="l">
                        <a:spcBef>
                          <a:spcPts val="0"/>
                        </a:spcBef>
                        <a:spcAft>
                          <a:spcPts val="0"/>
                        </a:spcAft>
                        <a:buClr>
                          <a:srgbClr val="1B2A4A"/>
                        </a:buClr>
                        <a:buSzPts val="1350"/>
                        <a:buFont typeface="Calibri"/>
                        <a:buNone/>
                      </a:pPr>
                      <a:r>
                        <a:rPr b="1" lang="en-US" sz="1350" u="none" cap="none" strike="noStrike">
                          <a:solidFill>
                            <a:srgbClr val="1B2A4A"/>
                          </a:solidFill>
                          <a:latin typeface="Calibri"/>
                          <a:ea typeface="Calibri"/>
                          <a:cs typeface="Calibri"/>
                          <a:sym typeface="Calibri"/>
                        </a:rPr>
                        <a:t>Tháng 12/2026</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350"/>
                        <a:buFont typeface="Calibri"/>
                        <a:buNone/>
                      </a:pPr>
                      <a:r>
                        <a:rPr lang="en-US" sz="1350" u="none" cap="none" strike="noStrike">
                          <a:solidFill>
                            <a:srgbClr val="2B2B2B"/>
                          </a:solidFill>
                          <a:latin typeface="Calibri"/>
                          <a:ea typeface="Calibri"/>
                          <a:cs typeface="Calibri"/>
                          <a:sym typeface="Calibri"/>
                        </a:rPr>
                        <a:t>Làm mịn kịch bản/sản phẩm theo phản hồi vòng 1 → </a:t>
                      </a:r>
                      <a:r>
                        <a:rPr b="1" lang="en-US" sz="1350" u="none" cap="none" strike="noStrike">
                          <a:solidFill>
                            <a:srgbClr val="2B2B2B"/>
                          </a:solidFill>
                          <a:latin typeface="Calibri"/>
                          <a:ea typeface="Calibri"/>
                          <a:cs typeface="Calibri"/>
                          <a:sym typeface="Calibri"/>
                        </a:rPr>
                        <a:t>test bán vòng 2</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r>
              <a:tr h="582925">
                <a:tc>
                  <a:txBody>
                    <a:bodyPr/>
                    <a:lstStyle/>
                    <a:p>
                      <a:pPr indent="0" lvl="0" marL="0" marR="0" rtl="0" algn="l">
                        <a:spcBef>
                          <a:spcPts val="0"/>
                        </a:spcBef>
                        <a:spcAft>
                          <a:spcPts val="0"/>
                        </a:spcAft>
                        <a:buClr>
                          <a:srgbClr val="1B2A4A"/>
                        </a:buClr>
                        <a:buSzPts val="1350"/>
                        <a:buFont typeface="Calibri"/>
                        <a:buNone/>
                      </a:pPr>
                      <a:r>
                        <a:rPr b="1" lang="en-US" sz="1350" u="none" cap="none" strike="noStrike">
                          <a:solidFill>
                            <a:srgbClr val="1B2A4A"/>
                          </a:solidFill>
                          <a:latin typeface="Calibri"/>
                          <a:ea typeface="Calibri"/>
                          <a:cs typeface="Calibri"/>
                          <a:sym typeface="Calibri"/>
                        </a:rPr>
                        <a:t>Tháng 1/2027</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350"/>
                        <a:buFont typeface="Calibri"/>
                        <a:buNone/>
                      </a:pPr>
                      <a:r>
                        <a:rPr lang="en-US" sz="1350" u="none" cap="none" strike="noStrike">
                          <a:solidFill>
                            <a:srgbClr val="2B2B2B"/>
                          </a:solidFill>
                          <a:latin typeface="Calibri"/>
                          <a:ea typeface="Calibri"/>
                          <a:cs typeface="Calibri"/>
                          <a:sym typeface="Calibri"/>
                        </a:rPr>
                        <a:t>Đổ nguồn lực chính thức code/hoàn thiện sản phẩm — 1-6 tháng tuỳ concept được chọn</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r>
            </a:tbl>
          </a:graphicData>
        </a:graphic>
      </p:graphicFrame>
      <p:sp>
        <p:nvSpPr>
          <p:cNvPr id="145" name="Google Shape;145;p11"/>
          <p:cNvSpPr/>
          <p:nvPr/>
        </p:nvSpPr>
        <p:spPr>
          <a:xfrm>
            <a:off x="548640" y="6510528"/>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12"/>
          <p:cNvSpPr/>
          <p:nvPr/>
        </p:nvSpPr>
        <p:spPr>
          <a:xfrm>
            <a:off x="548640" y="32004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5FA3"/>
              </a:buClr>
              <a:buSzPts val="1200"/>
              <a:buFont typeface="Calibri"/>
              <a:buNone/>
            </a:pPr>
            <a:r>
              <a:rPr b="1" i="0" lang="en-US" sz="1200" u="none" cap="none" strike="noStrike">
                <a:solidFill>
                  <a:srgbClr val="2E5FA3"/>
                </a:solidFill>
                <a:latin typeface="Calibri"/>
                <a:ea typeface="Calibri"/>
                <a:cs typeface="Calibri"/>
                <a:sym typeface="Calibri"/>
              </a:rPr>
              <a:t>PHẦN </a:t>
            </a:r>
            <a:r>
              <a:rPr b="1" lang="en-US" sz="1200">
                <a:solidFill>
                  <a:srgbClr val="2E5FA3"/>
                </a:solidFill>
                <a:latin typeface="Calibri"/>
                <a:ea typeface="Calibri"/>
                <a:cs typeface="Calibri"/>
                <a:sym typeface="Calibri"/>
              </a:rPr>
              <a:t>4</a:t>
            </a:r>
            <a:r>
              <a:rPr b="1" i="0" lang="en-US" sz="1200" u="none" cap="none" strike="noStrike">
                <a:solidFill>
                  <a:srgbClr val="2E5FA3"/>
                </a:solidFill>
                <a:latin typeface="Calibri"/>
                <a:ea typeface="Calibri"/>
                <a:cs typeface="Calibri"/>
                <a:sym typeface="Calibri"/>
              </a:rPr>
              <a:t> — SƠ ĐỒ PHÂN CHIA TRÁCH NHIỆM</a:t>
            </a:r>
            <a:endParaRPr b="0" i="0" sz="1200" u="none" cap="none" strike="noStrike">
              <a:solidFill>
                <a:schemeClr val="dk1"/>
              </a:solidFill>
              <a:latin typeface="Calibri"/>
              <a:ea typeface="Calibri"/>
              <a:cs typeface="Calibri"/>
              <a:sym typeface="Calibri"/>
            </a:endParaRPr>
          </a:p>
        </p:txBody>
      </p:sp>
      <p:sp>
        <p:nvSpPr>
          <p:cNvPr id="152" name="Google Shape;152;p12"/>
          <p:cNvSpPr/>
          <p:nvPr/>
        </p:nvSpPr>
        <p:spPr>
          <a:xfrm>
            <a:off x="548640" y="621792"/>
            <a:ext cx="11094415"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libri"/>
              <a:buNone/>
            </a:pPr>
            <a:r>
              <a:rPr b="1" i="0" lang="en-US" sz="2600" u="none" cap="none" strike="noStrike">
                <a:solidFill>
                  <a:srgbClr val="1B2A4A"/>
                </a:solidFill>
                <a:latin typeface="Calibri"/>
                <a:ea typeface="Calibri"/>
                <a:cs typeface="Calibri"/>
                <a:sym typeface="Calibri"/>
              </a:rPr>
              <a:t>Phân chia trách nhiệm theo 4 bộ phận</a:t>
            </a:r>
            <a:endParaRPr b="0" i="0" sz="2600" u="none" cap="none" strike="noStrike">
              <a:solidFill>
                <a:schemeClr val="dk1"/>
              </a:solidFill>
              <a:latin typeface="Calibri"/>
              <a:ea typeface="Calibri"/>
              <a:cs typeface="Calibri"/>
              <a:sym typeface="Calibri"/>
            </a:endParaRPr>
          </a:p>
        </p:txBody>
      </p:sp>
      <p:cxnSp>
        <p:nvCxnSpPr>
          <p:cNvPr id="153" name="Google Shape;153;p12"/>
          <p:cNvCxnSpPr/>
          <p:nvPr/>
        </p:nvCxnSpPr>
        <p:spPr>
          <a:xfrm>
            <a:off x="548640" y="1207008"/>
            <a:ext cx="822960" cy="0"/>
          </a:xfrm>
          <a:prstGeom prst="straightConnector1">
            <a:avLst/>
          </a:prstGeom>
          <a:noFill/>
          <a:ln cap="flat" cmpd="sng" w="38100">
            <a:solidFill>
              <a:srgbClr val="2E5FA3"/>
            </a:solidFill>
            <a:prstDash val="solid"/>
            <a:round/>
            <a:headEnd len="sm" w="sm" type="none"/>
            <a:tailEnd len="sm" w="sm" type="none"/>
          </a:ln>
        </p:spPr>
      </p:cxnSp>
      <p:sp>
        <p:nvSpPr>
          <p:cNvPr id="154" name="Google Shape;154;p12"/>
          <p:cNvSpPr/>
          <p:nvPr/>
        </p:nvSpPr>
        <p:spPr>
          <a:xfrm>
            <a:off x="11002975" y="6510528"/>
            <a:ext cx="8229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9</a:t>
            </a:r>
            <a:r>
              <a:rPr b="0" i="0" lang="en-US" sz="1000" u="none" cap="none" strike="noStrike">
                <a:solidFill>
                  <a:srgbClr val="6B7280"/>
                </a:solidFill>
                <a:latin typeface="Calibri"/>
                <a:ea typeface="Calibri"/>
                <a:cs typeface="Calibri"/>
                <a:sym typeface="Calibri"/>
              </a:rPr>
              <a:t> / </a:t>
            </a:r>
            <a:r>
              <a:rPr lang="en-US" sz="1000">
                <a:solidFill>
                  <a:srgbClr val="6B728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graphicFrame>
        <p:nvGraphicFramePr>
          <p:cNvPr id="155" name="Google Shape;155;p12"/>
          <p:cNvGraphicFramePr/>
          <p:nvPr/>
        </p:nvGraphicFramePr>
        <p:xfrm>
          <a:off x="548640" y="1463040"/>
          <a:ext cx="3000000" cy="3000000"/>
        </p:xfrm>
        <a:graphic>
          <a:graphicData uri="http://schemas.openxmlformats.org/drawingml/2006/table">
            <a:tbl>
              <a:tblPr>
                <a:noFill/>
                <a:tableStyleId>{C502E3C7-9A4C-4ABD-AE55-75EC5AD6722D}</a:tableStyleId>
              </a:tblPr>
              <a:tblGrid>
                <a:gridCol w="2103125"/>
                <a:gridCol w="2450600"/>
                <a:gridCol w="2450600"/>
                <a:gridCol w="2212850"/>
                <a:gridCol w="1874525"/>
              </a:tblGrid>
              <a:tr h="68580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Giai đoạn</a:t>
                      </a:r>
                      <a:endParaRPr sz="10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Chiến lược</a:t>
                      </a:r>
                      <a:endParaRPr sz="10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Sản phẩm &amp; Công nghệ</a:t>
                      </a:r>
                      <a:endParaRPr sz="10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Marketing</a:t>
                      </a:r>
                      <a:endParaRPr sz="10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Sales</a:t>
                      </a:r>
                      <a:endParaRPr sz="1050" u="none" cap="none" strike="noStrike">
                        <a:latin typeface="Calibri"/>
                        <a:ea typeface="Calibri"/>
                        <a:cs typeface="Calibri"/>
                        <a:sym typeface="Calibri"/>
                      </a:endParaRPr>
                    </a:p>
                  </a:txBody>
                  <a:tcPr marT="45725" marB="45725" marR="91450" marL="91450" anchor="ctr">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1B2A4A"/>
                    </a:solidFill>
                  </a:tcPr>
                </a:tc>
              </a:tr>
              <a:tr h="685800">
                <a:tc>
                  <a:txBody>
                    <a:bodyPr/>
                    <a:lstStyle/>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Trước 31/08</a:t>
                      </a:r>
                      <a:endParaRPr sz="1200" u="none" cap="none" strike="noStrike"/>
                    </a:p>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Trình bày concept</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Cung cấp số liệu/định hướng "ao cá" 390-400k làm đầu vào; tham vấn nội dung slide</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Chủ trì xây &amp; trình bày slide 3 concept; điều phối nghiên cứu</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Tham vấn nội dung, chuẩn bị góp ý</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Tham vấn nội dung, chuẩn bị góp ý</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r>
              <a:tr h="685800">
                <a:tc>
                  <a:txBody>
                    <a:bodyPr/>
                    <a:lstStyle/>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01/09–15/10</a:t>
                      </a:r>
                      <a:endParaRPr sz="1200" u="none" cap="none" strike="noStrike"/>
                    </a:p>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Xây &amp; chạy khảo sát</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Theo dõi tiến độ, tham vấn tiêu chí đánh giá</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Chủ trì thiết kế bảng hỏi, điều phối khảo sát thực tế Tier 3/4</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Cử nhân sự tham gia khảo sát thực địa, góp ý bảng hỏi</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Cử nhân sự tham gia khảo sát thực địa, góp ý bảng hỏi</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r>
              <a:tr h="685800">
                <a:tc>
                  <a:txBody>
                    <a:bodyPr/>
                    <a:lstStyle/>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15/10–30/10</a:t>
                      </a:r>
                      <a:endParaRPr sz="1200" u="none" cap="none" strike="noStrike"/>
                    </a:p>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Chọn phương án &amp; chuẩn bị bán</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Tham gia quyết định chọn concept cuối cùng</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Xử lý kết quả khảo sát, chủ trì chọn phương án</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Xây nội dung quảng cáo cho concept đã chọn</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Xây kịch bản tư vấn/cơ chế bán hàng, đào tạo đội Sale</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r>
              <a:tr h="685800">
                <a:tc>
                  <a:txBody>
                    <a:bodyPr/>
                    <a:lstStyle/>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Tháng 11</a:t>
                      </a:r>
                      <a:endParaRPr sz="1200" u="none" cap="none" strike="noStrike"/>
                    </a:p>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Test bán vòng 1</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Theo dõi kết quả, tham vấn quyết định tiếp theo</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Hỗ trợ kỹ thuật, theo dõi vận hành hoàn tiền</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Chạy chiến dịch quảng cáo thật</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Gọi điện tư vấn, thu tiền thật, đo tỷ lệ chốt</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r>
              <a:tr h="685800">
                <a:tc>
                  <a:txBody>
                    <a:bodyPr/>
                    <a:lstStyle/>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Tháng 12</a:t>
                      </a:r>
                      <a:endParaRPr sz="1200" u="none" cap="none" strike="noStrike"/>
                    </a:p>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Làm mịn &amp; Test bán vòng 2</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Theo dõi kết quả 2 vòng, chuẩn bị đối chiếu</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Làm mịn sản phẩm theo phản hồi</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Làm mịn nội dung quảng cáo</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Làm mịn kịch bản bán, chạy vòng 2</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FFFFF"/>
                    </a:solidFill>
                  </a:tcPr>
                </a:tc>
              </a:tr>
              <a:tr h="685800">
                <a:tc>
                  <a:txBody>
                    <a:bodyPr/>
                    <a:lstStyle/>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Tháng 1/2027</a:t>
                      </a:r>
                      <a:endParaRPr sz="1200" u="none" cap="none" strike="noStrike"/>
                    </a:p>
                    <a:p>
                      <a:pPr indent="0" lvl="0" marL="0" marR="0" rtl="0" algn="l">
                        <a:spcBef>
                          <a:spcPts val="0"/>
                        </a:spcBef>
                        <a:spcAft>
                          <a:spcPts val="0"/>
                        </a:spcAft>
                        <a:buClr>
                          <a:srgbClr val="1B2A4A"/>
                        </a:buClr>
                        <a:buSzPts val="1000"/>
                        <a:buFont typeface="Calibri"/>
                        <a:buNone/>
                      </a:pPr>
                      <a:r>
                        <a:rPr b="1" lang="en-US" sz="1000" u="none" cap="none" strike="noStrike">
                          <a:solidFill>
                            <a:srgbClr val="1B2A4A"/>
                          </a:solidFill>
                          <a:latin typeface="Calibri"/>
                          <a:ea typeface="Calibri"/>
                          <a:cs typeface="Calibri"/>
                          <a:sym typeface="Calibri"/>
                        </a:rPr>
                        <a:t>Bắt đầu xây dựng</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Phê duyệt ngân sách/nguồn lực (qua BOD)</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Đổ nguồn lực code/hoàn thiện sản phẩm</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c>
                  <a:txBody>
                    <a:bodyPr/>
                    <a:lstStyle/>
                    <a:p>
                      <a:pPr indent="0" lvl="0" marL="0" marR="0" rtl="0" algn="l">
                        <a:spcBef>
                          <a:spcPts val="0"/>
                        </a:spcBef>
                        <a:spcAft>
                          <a:spcPts val="0"/>
                        </a:spcAft>
                        <a:buClr>
                          <a:srgbClr val="2B2B2B"/>
                        </a:buClr>
                        <a:buSzPts val="1000"/>
                        <a:buFont typeface="Calibri"/>
                        <a:buNone/>
                      </a:pPr>
                      <a:r>
                        <a:rPr lang="en-US" sz="1000" u="none" cap="none" strike="noStrike">
                          <a:solidFill>
                            <a:srgbClr val="2B2B2B"/>
                          </a:solidFill>
                          <a:latin typeface="Calibri"/>
                          <a:ea typeface="Calibri"/>
                          <a:cs typeface="Calibri"/>
                          <a:sym typeface="Calibri"/>
                        </a:rPr>
                        <a:t>—</a:t>
                      </a:r>
                      <a:endParaRPr sz="1200" u="none" cap="none" strike="noStrike"/>
                    </a:p>
                  </a:txBody>
                  <a:tcPr marT="50800" marB="50800" marR="76200" marL="76200">
                    <a:lnL cap="flat" cmpd="sng" w="9525">
                      <a:solidFill>
                        <a:srgbClr val="D7DEE9"/>
                      </a:solidFill>
                      <a:prstDash val="solid"/>
                      <a:round/>
                      <a:headEnd len="sm" w="sm" type="none"/>
                      <a:tailEnd len="sm" w="sm" type="none"/>
                    </a:lnL>
                    <a:lnR cap="flat" cmpd="sng" w="9525">
                      <a:solidFill>
                        <a:srgbClr val="D7DEE9"/>
                      </a:solidFill>
                      <a:prstDash val="solid"/>
                      <a:round/>
                      <a:headEnd len="sm" w="sm" type="none"/>
                      <a:tailEnd len="sm" w="sm" type="none"/>
                    </a:lnR>
                    <a:lnT cap="flat" cmpd="sng" w="9525">
                      <a:solidFill>
                        <a:srgbClr val="D7DEE9"/>
                      </a:solidFill>
                      <a:prstDash val="solid"/>
                      <a:round/>
                      <a:headEnd len="sm" w="sm" type="none"/>
                      <a:tailEnd len="sm" w="sm" type="none"/>
                    </a:lnT>
                    <a:lnB cap="flat" cmpd="sng" w="9525">
                      <a:solidFill>
                        <a:srgbClr val="D7DEE9"/>
                      </a:solidFill>
                      <a:prstDash val="solid"/>
                      <a:round/>
                      <a:headEnd len="sm" w="sm" type="none"/>
                      <a:tailEnd len="sm" w="sm" type="none"/>
                    </a:lnB>
                    <a:solidFill>
                      <a:srgbClr val="F3F6FB"/>
                    </a:solidFill>
                  </a:tcPr>
                </a:tc>
              </a:tr>
            </a:tbl>
          </a:graphicData>
        </a:graphic>
      </p:graphicFrame>
      <p:sp>
        <p:nvSpPr>
          <p:cNvPr id="156" name="Google Shape;156;p12"/>
          <p:cNvSpPr/>
          <p:nvPr/>
        </p:nvSpPr>
        <p:spPr>
          <a:xfrm>
            <a:off x="548640" y="6510528"/>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AI Class </a:t>
            </a:r>
            <a:r>
              <a:rPr lang="en-US" sz="1000">
                <a:solidFill>
                  <a:srgbClr val="6B7280"/>
                </a:solidFill>
                <a:latin typeface="Calibri"/>
                <a:ea typeface="Calibri"/>
                <a:cs typeface="Calibri"/>
                <a:sym typeface="Calibri"/>
              </a:rPr>
              <a:t>New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