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Dân số (%)</c:v>
                </c:pt>
              </c:strCache>
            </c:strRef>
          </c:tx>
          <c:spPr>
            <a:solidFill>
              <a:srgbClr val="2F6FED"/>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Tier 3/4
(~75-78 triệu)</c:v>
                  </c:pt>
                  <c:pt idx="1">
                    <c:v>5 TP trực thuộc TW
(~còn lại)</c:v>
                  </c:pt>
                </c:lvl>
              </c:multiLvlStrCache>
            </c:multiLvlStrRef>
          </c:cat>
          <c:val>
            <c:numRef>
              <c:f>Sheet1!$B$2:$B$3</c:f>
              <c:numCache>
                <c:formatCode>General</c:formatCode>
                <c:ptCount val="2"/>
                <c:pt idx="0">
                  <c:v>76</c:v>
                </c:pt>
                <c:pt idx="1">
                  <c:v>24</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Triệu đồng/tháng</c:v>
                </c:pt>
              </c:strCache>
            </c:strRef>
          </c:tx>
          <c:spPr>
            <a:solidFill>
              <a:srgbClr val="3D8BFD"/>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Đông Nam Bộ</c:v>
                  </c:pt>
                  <c:pt idx="1">
                    <c:v>Toàn quốc (nông thôn)</c:v>
                  </c:pt>
                  <c:pt idx="2">
                    <c:v>Trung du miền núi
phía Bắc</c:v>
                  </c:pt>
                </c:lvl>
              </c:multiLvlStrCache>
            </c:multiLvlStrRef>
          </c:cat>
          <c:val>
            <c:numRef>
              <c:f>Sheet1!$B$2:$B$4</c:f>
              <c:numCache>
                <c:formatCode>General</c:formatCode>
                <c:ptCount val="3"/>
                <c:pt idx="0">
                  <c:v>7.1</c:v>
                </c:pt>
                <c:pt idx="1">
                  <c:v>4.5</c:v>
                </c:pt>
                <c:pt idx="2">
                  <c:v>3.8</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thu nhập</c:v>
                </c:pt>
              </c:strCache>
            </c:strRef>
          </c:tx>
          <c:spPr>
            <a:solidFill>
              <a:srgbClr val="F2994A"/>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Vùng thu nhập TB</c:v>
                  </c:pt>
                  <c:pt idx="1">
                    <c:v>Vùng thu nhập
thấp nhất cả nước</c:v>
                  </c:pt>
                </c:lvl>
              </c:multiLvlStrCache>
            </c:multiLvlStrRef>
          </c:cat>
          <c:val>
            <c:numRef>
              <c:f>Sheet1!$B$2:$B$3</c:f>
              <c:numCache>
                <c:formatCode>General</c:formatCode>
                <c:ptCount val="2"/>
                <c:pt idx="0">
                  <c:v>2.45</c:v>
                </c:pt>
                <c:pt idx="1">
                  <c:v>10.25</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160520"/>
            <a:ext cx="12188952" cy="54864"/>
          </a:xfrm>
          <a:prstGeom prst="rect">
            <a:avLst/>
          </a:prstGeom>
          <a:solidFill>
            <a:srgbClr val="2F6FED"/>
          </a:solidFill>
          <a:ln/>
        </p:spPr>
      </p:sp>
      <p:sp>
        <p:nvSpPr>
          <p:cNvPr id="3" name="Text 1"/>
          <p:cNvSpPr/>
          <p:nvPr/>
        </p:nvSpPr>
        <p:spPr>
          <a:xfrm>
            <a:off x="822960" y="2468880"/>
            <a:ext cx="10515600" cy="109728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AI Class Plus</a:t>
            </a:r>
            <a:endParaRPr lang="en-US" sz="4400" dirty="0"/>
          </a:p>
        </p:txBody>
      </p:sp>
      <p:sp>
        <p:nvSpPr>
          <p:cNvPr id="4" name="Text 2"/>
          <p:cNvSpPr/>
          <p:nvPr/>
        </p:nvSpPr>
        <p:spPr>
          <a:xfrm>
            <a:off x="822960" y="3429000"/>
            <a:ext cx="10515600" cy="640080"/>
          </a:xfrm>
          <a:prstGeom prst="rect">
            <a:avLst/>
          </a:prstGeom>
          <a:noFill/>
          <a:ln/>
        </p:spPr>
        <p:txBody>
          <a:bodyPr wrap="square" rtlCol="0" anchor="ctr"/>
          <a:lstStyle/>
          <a:p>
            <a:pPr indent="0" marL="0">
              <a:buNone/>
            </a:pPr>
            <a:r>
              <a:rPr lang="en-US" sz="1800" dirty="0">
                <a:solidFill>
                  <a:srgbClr val="C7D4EE"/>
                </a:solidFill>
                <a:latin typeface="Calibri" pitchFamily="34" charset="0"/>
                <a:ea typeface="Calibri" pitchFamily="34" charset="-122"/>
                <a:cs typeface="Calibri" pitchFamily="34" charset="-120"/>
              </a:rPr>
              <a:t>Định hướng sản phẩm mới cho phân khúc 390.000đ – 400.000đ</a:t>
            </a:r>
            <a:endParaRPr lang="en-US" sz="1800" dirty="0"/>
          </a:p>
        </p:txBody>
      </p:sp>
      <p:sp>
        <p:nvSpPr>
          <p:cNvPr id="5" name="Text 3"/>
          <p:cNvSpPr/>
          <p:nvPr/>
        </p:nvSpPr>
        <p:spPr>
          <a:xfrm>
            <a:off x="822960" y="4343400"/>
            <a:ext cx="10515600" cy="457200"/>
          </a:xfrm>
          <a:prstGeom prst="rect">
            <a:avLst/>
          </a:prstGeom>
          <a:noFill/>
          <a:ln/>
        </p:spPr>
        <p:txBody>
          <a:bodyPr wrap="square" rtlCol="0" anchor="ctr"/>
          <a:lstStyle/>
          <a:p>
            <a:pPr indent="0" marL="0">
              <a:buNone/>
            </a:pPr>
            <a:r>
              <a:rPr lang="en-US" sz="1300" dirty="0">
                <a:solidFill>
                  <a:srgbClr val="8FA3CF"/>
                </a:solidFill>
                <a:latin typeface="Calibri" pitchFamily="34" charset="0"/>
                <a:ea typeface="Calibri" pitchFamily="34" charset="-122"/>
                <a:cs typeface="Calibri" pitchFamily="34" charset="-120"/>
              </a:rPr>
              <a:t>Họp trình bày concept  ·  [Product]  ·  20/08/2026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Agenda</a:t>
            </a:r>
            <a:endParaRPr lang="en-US" sz="2500" dirty="0"/>
          </a:p>
        </p:txBody>
      </p:sp>
      <p:sp>
        <p:nvSpPr>
          <p:cNvPr id="3" name="Shape 1"/>
          <p:cNvSpPr/>
          <p:nvPr/>
        </p:nvSpPr>
        <p:spPr>
          <a:xfrm>
            <a:off x="457200" y="1115568"/>
            <a:ext cx="822960" cy="41148"/>
          </a:xfrm>
          <a:prstGeom prst="rect">
            <a:avLst/>
          </a:prstGeom>
          <a:solidFill>
            <a:srgbClr val="2F6FED"/>
          </a:solidFill>
          <a:ln/>
        </p:spPr>
      </p:sp>
      <p:sp>
        <p:nvSpPr>
          <p:cNvPr id="4" name="Text 2"/>
          <p:cNvSpPr/>
          <p:nvPr/>
        </p:nvSpPr>
        <p:spPr>
          <a:xfrm>
            <a:off x="457200" y="1298448"/>
            <a:ext cx="11274552" cy="5148072"/>
          </a:xfrm>
          <a:prstGeom prst="rect">
            <a:avLst/>
          </a:prstGeom>
          <a:noFill/>
          <a:ln/>
        </p:spPr>
        <p:txBody>
          <a:bodyPr wrap="square" rtlCol="0" anchor="t"/>
          <a:lstStyle/>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Mục tiêu chiến lược</a:t>
            </a:r>
            <a:endParaRPr lang="en-US" sz="1600" dirty="0"/>
          </a:p>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3 định hướng concept sản phẩm</a:t>
            </a:r>
            <a:endParaRPr lang="en-US" sz="1600" dirty="0"/>
          </a:p>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Case study: mô hình đã thành công trên thế giới</a:t>
            </a:r>
            <a:endParaRPr lang="en-US" sz="1600" dirty="0"/>
          </a:p>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Kế hoạch triển khai</a:t>
            </a:r>
            <a:endParaRPr lang="en-US" sz="1600" dirty="0"/>
          </a:p>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Phân chia trách nhiệm</a:t>
            </a:r>
            <a:endParaRPr lang="en-US" sz="1600" dirty="0"/>
          </a:p>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Bước tiếp theo</a:t>
            </a:r>
            <a:endParaRPr lang="en-US" sz="1600" dirty="0"/>
          </a:p>
        </p:txBody>
      </p:sp>
      <p:sp>
        <p:nvSpPr>
          <p:cNvPr id="5" name="Text 3"/>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6" name="Text 4"/>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1 — MỤC TIÊU CHIẾN LƯỢC</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Vì sao là 390k–400k?</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Aft>
                <a:spcPts val="200"/>
              </a:spcAft>
              <a:buNone/>
            </a:pPr>
            <a:r>
              <a:rPr lang="en-US" sz="1300" b="1" dirty="0">
                <a:solidFill>
                  <a:srgbClr val="2F6FED"/>
                </a:solidFill>
                <a:latin typeface="Calibri" pitchFamily="34" charset="0"/>
                <a:ea typeface="Calibri" pitchFamily="34" charset="-122"/>
                <a:cs typeface="Calibri" pitchFamily="34" charset="-120"/>
              </a:rPr>
              <a:t>Mục tiêu chiến lược (cấp công ty — Chiến lược Educa 2026-2028)</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Educa tập trung nguồn lực vào phân khúc đại trà (mass) — tái định vị AI Class theo hướng nâng chất lượng học tập bằng AI, dịch chuyển lên mức giá cao hơn nhưng vẫn trong khả năng chi trả của đa số gia đình Việt Nam.</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Cách thắng: “không nằm ở việc thu hút GV nổi tiếng nhất hay công nghệ cá nhân hoá trưởng thành nhất, mà ở khả năng tạo hiệu quả học tập vượt trội thông qua ứng dụng AI/dữ liệu vào tất cả các công đoạn.”</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Mục tiêu cụ thể (cấp sản phẩm — Edupia Class)</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Thị trường hiện có một phân khúc công ty đang bỏ lỡ: giữa sản phẩm tự học giá rẻ (Edupia Class hiện tại, self-learning, 250k) và sản phẩm có gia sư/GV thật cao cấp hơn (Edupia Tutor) — chưa có lựa chọn “học có cấu trúc + AI/con người hỗ trợ sâu” ở mức giá đại trà. → Cần một sản phẩm phù hợp để đánh đúng vào tệp khách hàng này.</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Edupia Class (AI Class Plus) là sản phẩm mass duy nhất của công ty ở dải giá này — vai trò Product Growth Engine: dẫn dắt tăng trưởng người dùng, doanh thu, lợi nhuận.</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 Giá hiện hành của Edupia Class hôm nay: 250.000đ/tháng, cấu hình self-learning — Big Class 2 buổi/tuần (GV thật dẫn lớp) + AI Practice (kho luyện đề không giới hạn, trợ giảng AI 1:1 giải thích đáp án) + AI Speak (luyện nói qua game, AI Story, AI Avatar) + Edupia Club (nền tảng hoạt động bổ trợ). 390k là giá mục tiêu sau khi đầu tư 1 trong 3 concept dưới đây — chưa phải giá bán hiện tại.</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 Cấu trúc sản phẩm sau khi chọn concept — BOD sẽ chốt sau: (a) ra sản phẩm mới riêng ở 390k, hay (b) nâng cấp trực tiếp sản phẩm 250k hiện có lên 390k.</a:t>
            </a:r>
            <a:endParaRPr lang="en-US" sz="13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1 — MỤC TIÊU CHIẾN LƯỢC</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Quy mô thị trường Tier 3/4</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07008"/>
            <a:ext cx="11274552" cy="384048"/>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Số liệu tham khảo, có sai số — suy luận từ dữ liệu thu nhập GSO (KSMS 2024), chưa có khảo sát trực tiếp tier 3/4.</a:t>
            </a:r>
            <a:endParaRPr lang="en-US" sz="1100" dirty="0"/>
          </a:p>
        </p:txBody>
      </p:sp>
      <p:sp>
        <p:nvSpPr>
          <p:cNvPr id="6" name="Text 4"/>
          <p:cNvSpPr/>
          <p:nvPr/>
        </p:nvSpPr>
        <p:spPr>
          <a:xfrm>
            <a:off x="457200" y="1618488"/>
            <a:ext cx="3611880" cy="274320"/>
          </a:xfrm>
          <a:prstGeom prst="rect">
            <a:avLst/>
          </a:prstGeom>
          <a:noFill/>
          <a:ln/>
        </p:spPr>
        <p:txBody>
          <a:bodyPr wrap="square" rtlCol="0" anchor="ctr"/>
          <a:lstStyle/>
          <a:p>
            <a:pPr algn="ctr" indent="0" marL="0">
              <a:buNone/>
            </a:pPr>
            <a:r>
              <a:rPr lang="en-US" sz="1100" b="1" dirty="0">
                <a:solidFill>
                  <a:srgbClr val="1F2A44"/>
                </a:solidFill>
                <a:latin typeface="Calibri" pitchFamily="34" charset="0"/>
                <a:ea typeface="Calibri" pitchFamily="34" charset="-122"/>
                <a:cs typeface="Calibri" pitchFamily="34" charset="-120"/>
              </a:rPr>
              <a:t>Dân số ngoài 5 TP trực thuộc TW</a:t>
            </a:r>
            <a:endParaRPr lang="en-US" sz="1100" dirty="0"/>
          </a:p>
        </p:txBody>
      </p:sp>
      <p:graphicFrame>
        <p:nvGraphicFramePr>
          <p:cNvPr id="7" name="Chart 0" descr=""/>
          <p:cNvGraphicFramePr/>
          <p:nvPr/>
        </p:nvGraphicFramePr>
        <p:xfrm>
          <a:off x="457200" y="1911096"/>
          <a:ext cx="3611880" cy="27889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4206240" y="1618488"/>
            <a:ext cx="3611880" cy="274320"/>
          </a:xfrm>
          <a:prstGeom prst="rect">
            <a:avLst/>
          </a:prstGeom>
          <a:noFill/>
          <a:ln/>
        </p:spPr>
        <p:txBody>
          <a:bodyPr wrap="square" rtlCol="0" anchor="ctr"/>
          <a:lstStyle/>
          <a:p>
            <a:pPr algn="ctr" indent="0" marL="0">
              <a:buNone/>
            </a:pPr>
            <a:r>
              <a:rPr lang="en-US" sz="1100" b="1" dirty="0">
                <a:solidFill>
                  <a:srgbClr val="1F2A44"/>
                </a:solidFill>
                <a:latin typeface="Calibri" pitchFamily="34" charset="0"/>
                <a:ea typeface="Calibri" pitchFamily="34" charset="-122"/>
                <a:cs typeface="Calibri" pitchFamily="34" charset="-120"/>
              </a:rPr>
              <a:t>Thu nhập b.quân đầu người/tháng theo vùng</a:t>
            </a:r>
            <a:endParaRPr lang="en-US" sz="1100" dirty="0"/>
          </a:p>
        </p:txBody>
      </p:sp>
      <p:graphicFrame>
        <p:nvGraphicFramePr>
          <p:cNvPr id="9" name="Chart 1" descr=""/>
          <p:cNvGraphicFramePr/>
          <p:nvPr/>
        </p:nvGraphicFramePr>
        <p:xfrm>
          <a:off x="4206240" y="1911096"/>
          <a:ext cx="3611880" cy="278892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7955280" y="1618488"/>
            <a:ext cx="3611880" cy="274320"/>
          </a:xfrm>
          <a:prstGeom prst="rect">
            <a:avLst/>
          </a:prstGeom>
          <a:noFill/>
          <a:ln/>
        </p:spPr>
        <p:txBody>
          <a:bodyPr wrap="square" rtlCol="0" anchor="ctr"/>
          <a:lstStyle/>
          <a:p>
            <a:pPr algn="ctr" indent="0" marL="0">
              <a:buNone/>
            </a:pPr>
            <a:r>
              <a:rPr lang="en-US" sz="1100" b="1" dirty="0">
                <a:solidFill>
                  <a:srgbClr val="1F2A44"/>
                </a:solidFill>
                <a:latin typeface="Calibri" pitchFamily="34" charset="0"/>
                <a:ea typeface="Calibri" pitchFamily="34" charset="-122"/>
                <a:cs typeface="Calibri" pitchFamily="34" charset="-120"/>
              </a:rPr>
              <a:t>390-400k chiếm % thu nhập</a:t>
            </a:r>
            <a:endParaRPr lang="en-US" sz="1100" dirty="0"/>
          </a:p>
        </p:txBody>
      </p:sp>
      <p:graphicFrame>
        <p:nvGraphicFramePr>
          <p:cNvPr id="11" name="Chart 2" descr=""/>
          <p:cNvGraphicFramePr/>
          <p:nvPr/>
        </p:nvGraphicFramePr>
        <p:xfrm>
          <a:off x="7955280" y="1911096"/>
          <a:ext cx="3611880" cy="2788920"/>
        </p:xfrm>
        <a:graphic xmlns:a="http://schemas.openxmlformats.org/drawingml/2006/main">
          <a:graphicData uri="http://schemas.openxmlformats.org/drawingml/2006/chart">
            <c:chart xmlns:c="http://schemas.openxmlformats.org/drawingml/2006/chart" r:id="rId3"/>
          </a:graphicData>
        </a:graphic>
      </p:graphicFrame>
      <p:sp>
        <p:nvSpPr>
          <p:cNvPr id="12" name="Text 7"/>
          <p:cNvSpPr/>
          <p:nvPr/>
        </p:nvSpPr>
        <p:spPr>
          <a:xfrm>
            <a:off x="457200" y="4837176"/>
            <a:ext cx="11274552" cy="1563624"/>
          </a:xfrm>
          <a:prstGeom prst="rect">
            <a:avLst/>
          </a:prstGeom>
          <a:noFill/>
          <a:ln/>
        </p:spPr>
        <p:txBody>
          <a:bodyPr wrap="square"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Vùng thu nhập trung bình: 390-400k/tháng là khoản chi tương đối nhỏ. Vùng thu nhập thấp nhất: cùng mức giá sát ngưỡng chi tiêu định kỳ chấp nhận được.</a:t>
            </a:r>
            <a:endParaRPr lang="en-US" sz="1100" dirty="0"/>
          </a:p>
          <a:p>
            <a:pPr marL="342900" indent="-342900">
              <a:buSzPct val="100000"/>
              <a:buChar char="•"/>
            </a:pPr>
            <a:r>
              <a:rPr lang="en-US" sz="1100" dirty="0">
                <a:solidFill>
                  <a:srgbClr val="1F2A44"/>
                </a:solidFill>
                <a:latin typeface="Calibri" pitchFamily="34" charset="0"/>
                <a:ea typeface="Calibri" pitchFamily="34" charset="-122"/>
                <a:cs typeface="Calibri" pitchFamily="34" charset="-120"/>
              </a:rPr>
              <a:t>“Tier 3/4” không phải một phân khúc thu nhập đồng nhất — nên đọc là 2 nhóm: (A) tỉnh/huyện khá giả (rào cản chính là niềm tin, không phải giá) và (B) vùng khó khăn (rào cản kép: nhận thức + khả năng chi trả).</a:t>
            </a:r>
            <a:endParaRPr lang="en-US" sz="1100" dirty="0"/>
          </a:p>
        </p:txBody>
      </p:sp>
      <p:sp>
        <p:nvSpPr>
          <p:cNvPr id="13" name="Text 8"/>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14" name="Text 9"/>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1 — MỤC TIÊU CHIẾN LƯỢC</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Mục tiêu tài chính</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 Lợi nhuận là KPI cao nhất của công ty. Mục tiêu lợi nhuận toàn công ty: 2026: 20 tỷ · 2027: 70 tỷ · 2028: 130 tỷ.</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Yêu cầu đặt ra cho cả 3 concept: mọi phương án phải chứng minh khả năng sinh lời bằng số liệu cụ thể — giá vốn/buổi, biên lợi nhuận — trước khi đi tiếp.</a:t>
            </a:r>
            <a:endParaRPr lang="en-US" sz="14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2 — 3 ĐỊNH HƯỚNG CONCEPT</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Tổng quan nhanh 3 định hướng</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07008"/>
            <a:ext cx="11274552" cy="384048"/>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3 định hướng đều hướng tới cùng một đích (390k, phân khúc mass, chứng minh được lợi nhuận) — khác nhau ở mức độ AI đóng vai trò gì trong trải nghiệm học.</a:t>
            </a:r>
            <a:endParaRPr lang="en-US" sz="1100" dirty="0"/>
          </a:p>
        </p:txBody>
      </p:sp>
      <p:sp>
        <p:nvSpPr>
          <p:cNvPr id="6" name="Text 4"/>
          <p:cNvSpPr/>
          <p:nvPr/>
        </p:nvSpPr>
        <p:spPr>
          <a:xfrm>
            <a:off x="457200" y="1572768"/>
            <a:ext cx="11274552" cy="2468880"/>
          </a:xfrm>
          <a:prstGeom prst="rect">
            <a:avLst/>
          </a:prstGeom>
          <a:noFill/>
          <a:ln/>
        </p:spPr>
        <p:txBody>
          <a:bodyPr wrap="square" rtlCol="0" anchor="t"/>
          <a:lstStyle/>
          <a:p>
            <a:pPr indent="0" marL="0">
              <a:buNone/>
            </a:pPr>
            <a:r>
              <a:rPr lang="en-US" sz="1250" b="1" dirty="0">
                <a:solidFill>
                  <a:srgbClr val="2F6FED"/>
                </a:solidFill>
                <a:latin typeface="Calibri" pitchFamily="34" charset="0"/>
                <a:ea typeface="Calibri" pitchFamily="34" charset="-122"/>
                <a:cs typeface="Calibri" pitchFamily="34" charset="-120"/>
              </a:rPr>
              <a:t>Concept 1 — Làm mịn và nâng cấp</a:t>
            </a:r>
            <a:endParaRPr lang="en-US" sz="1250" dirty="0"/>
          </a:p>
          <a:p>
            <a:pPr indent="0" marL="0">
              <a:spcAft>
                <a:spcPts val="800"/>
              </a:spcAft>
              <a:buNone/>
            </a:pPr>
            <a:r>
              <a:rPr lang="en-US" sz="1150" dirty="0">
                <a:solidFill>
                  <a:srgbClr val="1F2A44"/>
                </a:solidFill>
                <a:latin typeface="Calibri" pitchFamily="34" charset="0"/>
                <a:ea typeface="Calibri" pitchFamily="34" charset="-122"/>
                <a:cs typeface="Calibri" pitchFamily="34" charset="-120"/>
              </a:rPr>
              <a:t>Giữ Big Class + GV thật làm trung tâm, AI hỗ trợ ngày càng sâu. 3 Option đầu tư tăng dần, Option sau chứa trọn Option trước.</a:t>
            </a:r>
            <a:endParaRPr lang="en-US" sz="1250" dirty="0"/>
          </a:p>
          <a:p>
            <a:pPr indent="0" marL="0">
              <a:buNone/>
            </a:pPr>
            <a:r>
              <a:rPr lang="en-US" sz="1250" b="1" dirty="0">
                <a:solidFill>
                  <a:srgbClr val="2F6FED"/>
                </a:solidFill>
                <a:latin typeface="Calibri" pitchFamily="34" charset="0"/>
                <a:ea typeface="Calibri" pitchFamily="34" charset="-122"/>
                <a:cs typeface="Calibri" pitchFamily="34" charset="-120"/>
              </a:rPr>
              <a:t>Concept 2 — Làm mịn và thêm môn</a:t>
            </a:r>
            <a:endParaRPr lang="en-US" sz="1250" dirty="0"/>
          </a:p>
          <a:p>
            <a:pPr indent="0" marL="0">
              <a:spcAft>
                <a:spcPts val="800"/>
              </a:spcAft>
              <a:buNone/>
            </a:pPr>
            <a:r>
              <a:rPr lang="en-US" sz="1150" dirty="0">
                <a:solidFill>
                  <a:srgbClr val="1F2A44"/>
                </a:solidFill>
                <a:latin typeface="Calibri" pitchFamily="34" charset="0"/>
                <a:ea typeface="Calibri" pitchFamily="34" charset="-122"/>
                <a:cs typeface="Calibri" pitchFamily="34" charset="-120"/>
              </a:rPr>
              <a:t>Giữ nền Concept 1, thêm 1 buổi Live/tuần môn khác. 3 Option theo môn học, không nhất thiết loại trừ nhau.</a:t>
            </a:r>
            <a:endParaRPr lang="en-US" sz="1250" dirty="0"/>
          </a:p>
          <a:p>
            <a:pPr indent="0" marL="0">
              <a:buNone/>
            </a:pPr>
            <a:r>
              <a:rPr lang="en-US" sz="1250" b="1" dirty="0">
                <a:solidFill>
                  <a:srgbClr val="2F6FED"/>
                </a:solidFill>
                <a:latin typeface="Calibri" pitchFamily="34" charset="0"/>
                <a:ea typeface="Calibri" pitchFamily="34" charset="-122"/>
                <a:cs typeface="Calibri" pitchFamily="34" charset="-120"/>
              </a:rPr>
              <a:t>Concept 3 — Gia sư AI 1:1</a:t>
            </a:r>
            <a:endParaRPr lang="en-US" sz="1250" dirty="0"/>
          </a:p>
          <a:p>
            <a:pPr indent="0" marL="0">
              <a:buNone/>
            </a:pPr>
            <a:r>
              <a:rPr lang="en-US" sz="1150" dirty="0">
                <a:solidFill>
                  <a:srgbClr val="1F2A44"/>
                </a:solidFill>
                <a:latin typeface="Calibri" pitchFamily="34" charset="0"/>
                <a:ea typeface="Calibri" pitchFamily="34" charset="-122"/>
                <a:cs typeface="Calibri" pitchFamily="34" charset="-120"/>
              </a:rPr>
              <a:t>AI đóng vai trò gia sư chính, không chỉ hỗ trợ lớp học như Concept 1/2. 2 Option theo persona, mỗi Option có thể kết hợp với 1 trong 2 phương án kỹ thuật.</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178808"/>
          <a:ext cx="11274552" cy="2221992"/>
        </p:xfrm>
        <a:graphic>
          <a:graphicData uri="http://schemas.openxmlformats.org/drawingml/2006/table">
            <a:tbl>
              <a:tblPr/>
              <a:tblGrid>
                <a:gridCol w="1737360"/>
                <a:gridCol w="3172968"/>
                <a:gridCol w="3172968"/>
                <a:gridCol w="3172968"/>
              </a:tblGrid>
              <a:tr h="740664">
                <a:tc>
                  <a:txBody>
                    <a:bodyPr/>
                    <a:lstStyle/>
                    <a:p>
                      <a:pPr indent="0" marL="0">
                        <a:buNone/>
                      </a:pP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indent="0" marL="0">
                        <a:buNone/>
                      </a:pPr>
                      <a:r>
                        <a:rPr lang="en-US" sz="1000" b="1" dirty="0">
                          <a:solidFill>
                            <a:srgbClr val="FFFFFF"/>
                          </a:solidFill>
                        </a:rPr>
                        <a:t>Concept 1</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indent="0" marL="0">
                        <a:buNone/>
                      </a:pPr>
                      <a:r>
                        <a:rPr lang="en-US" sz="1000" b="1" dirty="0">
                          <a:solidFill>
                            <a:srgbClr val="FFFFFF"/>
                          </a:solidFill>
                        </a:rPr>
                        <a:t>Concept 2</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indent="0" marL="0">
                        <a:buNone/>
                      </a:pPr>
                      <a:r>
                        <a:rPr lang="en-US" sz="1000" b="1" dirty="0">
                          <a:solidFill>
                            <a:srgbClr val="FFFFFF"/>
                          </a:solidFill>
                        </a:rPr>
                        <a:t>Concept 3</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r>
              <a:tr h="740664">
                <a:tc>
                  <a:txBody>
                    <a:bodyPr/>
                    <a:lstStyle/>
                    <a:p>
                      <a:pPr indent="0" marL="0">
                        <a:buNone/>
                      </a:pPr>
                      <a:r>
                        <a:rPr lang="en-US" sz="1000" b="1" dirty="0">
                          <a:solidFill>
                            <a:srgbClr val="2F6FED"/>
                          </a:solidFill>
                        </a:rPr>
                        <a:t>Bản chất</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Giữ Big Class + GV thật làm trung tâm, AI hỗ trợ sâu dần</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Giữ nền Concept 1, thêm 1 buổi Live/tuần môn khác</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AI đóng vai gia sư chính, không chỉ hỗ trợ lớp học</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740664">
                <a:tc>
                  <a:txBody>
                    <a:bodyPr/>
                    <a:lstStyle/>
                    <a:p>
                      <a:pPr indent="0" marL="0">
                        <a:buNone/>
                      </a:pPr>
                      <a:r>
                        <a:rPr lang="en-US" sz="1000" b="1" dirty="0">
                          <a:solidFill>
                            <a:srgbClr val="2F6FED"/>
                          </a:solidFill>
                        </a:rPr>
                        <a:t>Số Option nội bộ</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indent="0" marL="0">
                        <a:buNone/>
                      </a:pPr>
                      <a:r>
                        <a:rPr lang="en-US" sz="1000" dirty="0">
                          <a:solidFill>
                            <a:srgbClr val="000000"/>
                          </a:solidFill>
                        </a:rPr>
                        <a:t>3 mức tăng dần: 1.1 → 1.2 → 1.3 (mỗi mức chứa trọn mức trước)</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indent="0" marL="0">
                        <a:buNone/>
                      </a:pPr>
                      <a:r>
                        <a:rPr lang="en-US" sz="1000" dirty="0">
                          <a:solidFill>
                            <a:srgbClr val="000000"/>
                          </a:solidFill>
                        </a:rPr>
                        <a:t>3 Option theo môn, không loại trừ nhau</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indent="0" marL="0">
                        <a:buNone/>
                      </a:pPr>
                      <a:r>
                        <a:rPr lang="en-US" sz="1000" dirty="0">
                          <a:solidFill>
                            <a:srgbClr val="000000"/>
                          </a:solidFill>
                        </a:rPr>
                        <a:t>2 Option persona (3.1/3.2) x 2 phương án kỹ thuật (A/B)</a:t>
                      </a:r>
                      <a:endParaRPr lang="en-US" sz="10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bl>
          </a:graphicData>
        </a:graphic>
      </p:graphicFrame>
      <p:sp>
        <p:nvSpPr>
          <p:cNvPr id="8" name="Text 5"/>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9" name="Text 6"/>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1 — LÀM MỊN VÀ NÂNG CẤP</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Concept 1: Giới thiệu</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Aft>
                <a:spcPts val="200"/>
              </a:spcAft>
              <a:buNone/>
            </a:pPr>
            <a:r>
              <a:rPr lang="en-US" sz="1300" b="1" dirty="0">
                <a:solidFill>
                  <a:srgbClr val="2F6FED"/>
                </a:solidFill>
                <a:latin typeface="Calibri" pitchFamily="34" charset="0"/>
                <a:ea typeface="Calibri" pitchFamily="34" charset="-122"/>
                <a:cs typeface="Calibri" pitchFamily="34" charset="-120"/>
              </a:rPr>
              <a:t>Vì sao cân nhắc concept này?</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Hướng đi cải thiện và đảm bảo chất lượng của sản phẩm sẵn có</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Giữ nguyên cấu trúc Big Class + Practice + Speak + Edupia Club + GVCN hiện có — không mở rộng môn học (khác Concept 2), không đổi mô hình sản phẩm (khác Concept 3).</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Đây là hướng xây trên nền đã vận hành thật, đã có người dùng — ● sản phẩm hiện tại đang chạy, cộng thêm Pilot GVCN đang triển khai làm cơ sở tham chiếu cho Option 1.3.</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Bối cảnh và vị trí sản phẩm</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Đúng định vị Product Growth Engine, với mức đầu tư linh hoạt theo từng Option — có thể dừng ở Option nào tùy kết quả khảo sát.</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3 Option đầu tư tăng dần, mỗi Option chứa trọn Option trước — không phải 3 phương án ngang hàng loại trừ nhau.</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Khách hàng mục tiêu</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Đối thủ thay thế (Competitive Alternative)</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Nếu không chọn Edupia Class, phụ huynh sẽ dùng app tự học miễn phí/rẻ (Duolingo, Monkey), thuê gia sư 1-1, cho con học ở trung tâm offline, hoặc không làm gì.</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Phân khúc mục tiêu</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Phụ huynh phổ thông (mass), thu nhập trung bình — nhu cầu tăng dần theo từng Option: từ “muốn con học tiếng Anh có cấu trúc cơ bản” (1.1), đến “cần biết chính xác con yếu ở đâu” (1.2), đến “cần một người thật theo sát con” (1.3).</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Giải pháp (neo theo Option 1.2 — mức khuyến nghị làm nền cho Concept 2)</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Positioning Statement</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Đối với phụ huynh có con học tiếng Anh nhưng không biết chính xác con đang yếu ở đâu để cải thiện — Edupia Class có công nghệ chẩn đoán học tập cá nhân hóa, xác định và tự động vá đúng lỗ hổng kiến thức của từng học sinh.</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USP</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“Chương trình tiếng Anh trực tuyến có giáo viên thật, chẩn đoán năng lực con theo hơn 1.400 đơn vị kiến thức chi tiết — tự động vá đúng lỗ hổng, không học lại thứ con đã vững.”</a:t>
            </a:r>
            <a:endParaRPr lang="en-US" sz="13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1 — LÀM MỊN VÀ NÂNG CẤP</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Concept 1: Cấu trúc sản phẩm</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07008"/>
            <a:ext cx="11274552" cy="384048"/>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3 Option đầu tư tăng dần — mỗi Option chứa trọn Option trước, không phải 3 phương án ngang hàng loại trừ nhau. Chi tiết từng Option xem 3 slide tiếp theo.</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11274552" cy="4828032"/>
        </p:xfrm>
        <a:graphic>
          <a:graphicData uri="http://schemas.openxmlformats.org/drawingml/2006/table">
            <a:tbl>
              <a:tblPr/>
              <a:tblGrid>
                <a:gridCol w="1188720"/>
                <a:gridCol w="3017520"/>
                <a:gridCol w="7068312"/>
              </a:tblGrid>
              <a:tr h="1207008">
                <a:tc>
                  <a:txBody>
                    <a:bodyPr/>
                    <a:lstStyle/>
                    <a:p>
                      <a:pPr algn="l" indent="0" marL="0">
                        <a:buNone/>
                      </a:pPr>
                      <a:r>
                        <a:rPr lang="en-US" sz="1250" b="1" dirty="0">
                          <a:solidFill>
                            <a:srgbClr val="FFFFFF"/>
                          </a:solidFill>
                        </a:rPr>
                        <a:t>Option</a:t>
                      </a:r>
                      <a:endParaRPr lang="en-US" sz="125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1250" b="1" dirty="0">
                          <a:solidFill>
                            <a:srgbClr val="FFFFFF"/>
                          </a:solidFill>
                        </a:rPr>
                        <a:t>Tên gọi</a:t>
                      </a:r>
                      <a:endParaRPr lang="en-US" sz="125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1250" b="1" dirty="0">
                          <a:solidFill>
                            <a:srgbClr val="FFFFFF"/>
                          </a:solidFill>
                        </a:rPr>
                        <a:t>Bổ sung so với Option trước</a:t>
                      </a:r>
                      <a:endParaRPr lang="en-US" sz="125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r>
              <a:tr h="1207008">
                <a:tc>
                  <a:txBody>
                    <a:bodyPr/>
                    <a:lstStyle/>
                    <a:p>
                      <a:pPr algn="l" indent="0" marL="0">
                        <a:buNone/>
                      </a:pPr>
                      <a:r>
                        <a:rPr lang="en-US" sz="1200" b="1" dirty="0">
                          <a:solidFill>
                            <a:srgbClr val="2F6FED"/>
                          </a:solidFill>
                        </a:rPr>
                        <a:t>1.1</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44"/>
                          </a:solidFill>
                        </a:rPr>
                        <a:t>Làm mịn</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44"/>
                          </a:solidFill>
                        </a:rPr>
                        <a:t>(mức nền) Nâng cấp chất lượng Practice + Speak</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1207008">
                <a:tc>
                  <a:txBody>
                    <a:bodyPr/>
                    <a:lstStyle/>
                    <a:p>
                      <a:pPr algn="l" indent="0" marL="0">
                        <a:buNone/>
                      </a:pPr>
                      <a:r>
                        <a:rPr lang="en-US" sz="1200" b="1" dirty="0">
                          <a:solidFill>
                            <a:srgbClr val="2F6FED"/>
                          </a:solidFill>
                        </a:rPr>
                        <a:t>1.2</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1200" dirty="0">
                          <a:solidFill>
                            <a:srgbClr val="1F2A44"/>
                          </a:solidFill>
                        </a:rPr>
                        <a:t>Nâng cấp mạnh AI</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1200" dirty="0">
                          <a:solidFill>
                            <a:srgbClr val="1F2A44"/>
                          </a:solidFill>
                        </a:rPr>
                        <a:t>+ Tầng AI chẩn đoán/cá nhân hóa (AI Tutor, Adaptive Learning, Parent Mode)</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r h="1207008">
                <a:tc>
                  <a:txBody>
                    <a:bodyPr/>
                    <a:lstStyle/>
                    <a:p>
                      <a:pPr algn="l" indent="0" marL="0">
                        <a:buNone/>
                      </a:pPr>
                      <a:r>
                        <a:rPr lang="en-US" sz="1200" b="1" dirty="0">
                          <a:solidFill>
                            <a:srgbClr val="2F6FED"/>
                          </a:solidFill>
                        </a:rPr>
                        <a:t>1.3</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44"/>
                          </a:solidFill>
                        </a:rPr>
                        <a:t>Nâng cấp mạnh con người</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44"/>
                          </a:solidFill>
                        </a:rPr>
                        <a:t>+ Tầng con người chủ động (Big Class buổi 3, GVCN mở rộng)</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8"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1 / OPTION 1.1</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Option 1.1: Làm mịn</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Bef>
                <a:spcPts val="400"/>
              </a:spcBef>
              <a:spcAft>
                <a:spcPts val="100"/>
              </a:spcAft>
              <a:buNone/>
            </a:pPr>
            <a:r>
              <a:rPr lang="en-US" sz="1400" i="1" dirty="0">
                <a:solidFill>
                  <a:srgbClr val="5B6472"/>
                </a:solidFill>
                <a:latin typeface="Calibri" pitchFamily="34" charset="0"/>
                <a:ea typeface="Calibri" pitchFamily="34" charset="-122"/>
                <a:cs typeface="Calibri" pitchFamily="34" charset="-120"/>
              </a:rPr>
              <a:t>Nâng cấp chất lượng nội dung có sẵn, không đổi cấu trúc sản phẩm.</a:t>
            </a:r>
            <a:endParaRPr lang="en-US" sz="1400" dirty="0"/>
          </a:p>
          <a:p>
            <a:pPr indent="0" marL="0">
              <a:lnSpc>
                <a:spcPct val="105000"/>
              </a:lnSpc>
              <a:spcBef>
                <a:spcPts val="1000"/>
              </a:spcBef>
              <a:spcAft>
                <a:spcPts val="200"/>
              </a:spcAft>
              <a:buNone/>
            </a:pPr>
            <a:r>
              <a:rPr lang="en-US" sz="1600" b="1" dirty="0">
                <a:solidFill>
                  <a:srgbClr val="2F6FED"/>
                </a:solidFill>
                <a:latin typeface="Calibri" pitchFamily="34" charset="0"/>
                <a:ea typeface="Calibri" pitchFamily="34" charset="-122"/>
                <a:cs typeface="Calibri" pitchFamily="34" charset="-120"/>
              </a:rPr>
              <a:t>Bối cảnh</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Đúng định vị Product Growth Engine ở mức tối thiểu — ứng dụng AI vào 2 module đã có (Practice, Speak), chưa mở rộng sang các công đoạn khác của hành trình học.</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Rủi ro triển khai thấp nhất trong 4 concept.</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Đây là đường cơ sở (baseline) để đối chiếu — cần kết quả khảo sát để nhận biết mức giá 390k có được chấp nhận không.</a:t>
            </a:r>
            <a:endParaRPr lang="en-US" sz="1400" dirty="0"/>
          </a:p>
          <a:p>
            <a:pPr indent="0" marL="0">
              <a:lnSpc>
                <a:spcPct val="105000"/>
              </a:lnSpc>
              <a:spcBef>
                <a:spcPts val="1000"/>
              </a:spcBef>
              <a:spcAft>
                <a:spcPts val="200"/>
              </a:spcAft>
              <a:buNone/>
            </a:pPr>
            <a:r>
              <a:rPr lang="en-US" sz="1600" b="1" dirty="0">
                <a:solidFill>
                  <a:srgbClr val="2F6FED"/>
                </a:solidFill>
                <a:latin typeface="Calibri" pitchFamily="34" charset="0"/>
                <a:ea typeface="Calibri" pitchFamily="34" charset="-122"/>
                <a:cs typeface="Calibri" pitchFamily="34" charset="-120"/>
              </a:rPr>
              <a:t>Cấu phần</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Nâng cấp kho đề Practice + AI Mocktest</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Nâng cấp độ chính xác chấm-chữa phát âm Speak</a:t>
            </a:r>
            <a:endParaRPr lang="en-US" sz="14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1 / OPTION 1.2</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Option 1.2: Nâng cấp mạnh AI</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Bef>
                <a:spcPts val="400"/>
              </a:spcBef>
              <a:spcAft>
                <a:spcPts val="100"/>
              </a:spcAft>
              <a:buNone/>
            </a:pPr>
            <a:r>
              <a:rPr lang="en-US" sz="1250" i="1" dirty="0">
                <a:solidFill>
                  <a:srgbClr val="5B6472"/>
                </a:solidFill>
                <a:latin typeface="Calibri" pitchFamily="34" charset="0"/>
                <a:ea typeface="Calibri" pitchFamily="34" charset="-122"/>
                <a:cs typeface="Calibri" pitchFamily="34" charset="-120"/>
              </a:rPr>
              <a:t>Đầu tư sâu vào tầng công nghệ chẩn đoán và cá nhân hóa — kế thừa toàn bộ Option 1.1.</a:t>
            </a:r>
            <a:endParaRPr lang="en-US" sz="1250" dirty="0"/>
          </a:p>
          <a:p>
            <a:pPr indent="0" marL="0">
              <a:lnSpc>
                <a:spcPct val="105000"/>
              </a:lnSpc>
              <a:spcBef>
                <a:spcPts val="1000"/>
              </a:spcBef>
              <a:spcAft>
                <a:spcPts val="200"/>
              </a:spcAft>
              <a:buNone/>
            </a:pPr>
            <a:r>
              <a:rPr lang="en-US" sz="1450" b="1" dirty="0">
                <a:solidFill>
                  <a:srgbClr val="2F6FED"/>
                </a:solidFill>
                <a:latin typeface="Calibri" pitchFamily="34" charset="0"/>
                <a:ea typeface="Calibri" pitchFamily="34" charset="-122"/>
                <a:cs typeface="Calibri" pitchFamily="34" charset="-120"/>
              </a:rPr>
              <a:t>Bối cảnh</a:t>
            </a:r>
            <a:endParaRPr lang="en-US" sz="1250" dirty="0"/>
          </a:p>
          <a:p>
            <a:pPr marL="177800" indent="-177800">
              <a:lnSpc>
                <a:spcPct val="105000"/>
              </a:lnSpc>
              <a:spcAft>
                <a:spcPts val="400"/>
              </a:spcAft>
              <a:buSzPct val="100000"/>
              <a:buChar char="•"/>
            </a:pPr>
            <a:r>
              <a:rPr lang="en-US" sz="1250" dirty="0">
                <a:solidFill>
                  <a:srgbClr val="1F2A44"/>
                </a:solidFill>
                <a:latin typeface="Calibri" pitchFamily="34" charset="0"/>
                <a:ea typeface="Calibri" pitchFamily="34" charset="-122"/>
                <a:cs typeface="Calibri" pitchFamily="34" charset="-120"/>
              </a:rPr>
              <a:t>● Nền tảng kỹ thuật hiện có: NLO Taxonomy 1.473 đơn vị kiến thức (Lớp 1-8) — cùng bậc quy mô với ALEKS (~1.000), Carnegie MATHia (~700); Question Bank mục tiêu 1.000.000 câu hỏi; Video Bank ~900-950 video mini-lesson; hiện có 60-70.000 học sinh học thường xuyên.</a:t>
            </a:r>
            <a:endParaRPr lang="en-US" sz="1250" dirty="0"/>
          </a:p>
          <a:p>
            <a:pPr marL="177800" indent="-177800">
              <a:lnSpc>
                <a:spcPct val="105000"/>
              </a:lnSpc>
              <a:spcAft>
                <a:spcPts val="400"/>
              </a:spcAft>
              <a:buSzPct val="100000"/>
              <a:buChar char="•"/>
            </a:pPr>
            <a:r>
              <a:rPr lang="en-US" sz="1250" dirty="0">
                <a:solidFill>
                  <a:srgbClr val="1F2A44"/>
                </a:solidFill>
                <a:latin typeface="Calibri" pitchFamily="34" charset="0"/>
                <a:ea typeface="Calibri" pitchFamily="34" charset="-122"/>
                <a:cs typeface="Calibri" pitchFamily="34" charset="-120"/>
              </a:rPr>
              <a:t>Công ty chủ trương “ứng dụng AI nhanh, không xây R&amp;D lớn” — ưu tiên hợp tác/tận dụng công nghệ có sẵn thay vì tự xây toàn bộ.</a:t>
            </a:r>
            <a:endParaRPr lang="en-US" sz="1250" dirty="0"/>
          </a:p>
          <a:p>
            <a:pPr indent="0" marL="0">
              <a:lnSpc>
                <a:spcPct val="105000"/>
              </a:lnSpc>
              <a:spcBef>
                <a:spcPts val="1000"/>
              </a:spcBef>
              <a:spcAft>
                <a:spcPts val="200"/>
              </a:spcAft>
              <a:buNone/>
            </a:pPr>
            <a:r>
              <a:rPr lang="en-US" sz="1450" b="1" dirty="0">
                <a:solidFill>
                  <a:srgbClr val="2F6FED"/>
                </a:solidFill>
                <a:latin typeface="Calibri" pitchFamily="34" charset="0"/>
                <a:ea typeface="Calibri" pitchFamily="34" charset="-122"/>
                <a:cs typeface="Calibri" pitchFamily="34" charset="-120"/>
              </a:rPr>
              <a:t>Cấu phần</a:t>
            </a:r>
            <a:endParaRPr lang="en-US" sz="1250" dirty="0"/>
          </a:p>
          <a:p>
            <a:pPr marL="177800" indent="-177800">
              <a:lnSpc>
                <a:spcPct val="105000"/>
              </a:lnSpc>
              <a:spcAft>
                <a:spcPts val="400"/>
              </a:spcAft>
              <a:buSzPct val="100000"/>
              <a:buChar char="•"/>
            </a:pPr>
            <a:r>
              <a:rPr lang="en-US" sz="1250" dirty="0">
                <a:solidFill>
                  <a:srgbClr val="1F2A44"/>
                </a:solidFill>
                <a:latin typeface="Calibri" pitchFamily="34" charset="0"/>
                <a:ea typeface="Calibri" pitchFamily="34" charset="-122"/>
                <a:cs typeface="Calibri" pitchFamily="34" charset="-120"/>
              </a:rPr>
              <a:t>AI Tutor 30 phút cố định sau Big Class</a:t>
            </a:r>
            <a:endParaRPr lang="en-US" sz="1250" dirty="0"/>
          </a:p>
          <a:p>
            <a:pPr marL="177800" indent="-177800">
              <a:lnSpc>
                <a:spcPct val="105000"/>
              </a:lnSpc>
              <a:spcAft>
                <a:spcPts val="400"/>
              </a:spcAft>
              <a:buSzPct val="100000"/>
              <a:buChar char="•"/>
            </a:pPr>
            <a:r>
              <a:rPr lang="en-US" sz="1250" dirty="0">
                <a:solidFill>
                  <a:srgbClr val="1F2A44"/>
                </a:solidFill>
                <a:latin typeface="Calibri" pitchFamily="34" charset="0"/>
                <a:ea typeface="Calibri" pitchFamily="34" charset="-122"/>
                <a:cs typeface="Calibri" pitchFamily="34" charset="-120"/>
              </a:rPr>
              <a:t>Adaptive Learning: chẩn đoán theo 1.473 đơn vị kiến thức (NLO), tự động vá lỗ hổng — cùng bậc quy mô với ALEKS (~1.000), Carnegie MATHia (~700)</a:t>
            </a:r>
            <a:endParaRPr lang="en-US" sz="1250" dirty="0"/>
          </a:p>
          <a:p>
            <a:pPr marL="177800" indent="-177800">
              <a:lnSpc>
                <a:spcPct val="105000"/>
              </a:lnSpc>
              <a:spcAft>
                <a:spcPts val="400"/>
              </a:spcAft>
              <a:buSzPct val="100000"/>
              <a:buChar char="•"/>
            </a:pPr>
            <a:r>
              <a:rPr lang="en-US" sz="1250" dirty="0">
                <a:solidFill>
                  <a:srgbClr val="1F2A44"/>
                </a:solidFill>
                <a:latin typeface="Calibri" pitchFamily="34" charset="0"/>
                <a:ea typeface="Calibri" pitchFamily="34" charset="-122"/>
                <a:cs typeface="Calibri" pitchFamily="34" charset="-120"/>
              </a:rPr>
              <a:t>Parent Mode — Mastery Map: giao diện dành riêng cho phụ huynh để theo dõi tiến bộ của con — xem được điểm yếu của con tại từng đơn vị kiến thức nhỏ nhất</a:t>
            </a:r>
            <a:endParaRPr lang="en-US" sz="125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1 / OPTION 1.3</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Option 1.3: Nâng cấp mạnh con người</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Bef>
                <a:spcPts val="400"/>
              </a:spcBef>
              <a:spcAft>
                <a:spcPts val="100"/>
              </a:spcAft>
              <a:buNone/>
            </a:pPr>
            <a:r>
              <a:rPr lang="en-US" sz="1400" i="1" dirty="0">
                <a:solidFill>
                  <a:srgbClr val="5B6472"/>
                </a:solidFill>
                <a:latin typeface="Calibri" pitchFamily="34" charset="0"/>
                <a:ea typeface="Calibri" pitchFamily="34" charset="-122"/>
                <a:cs typeface="Calibri" pitchFamily="34" charset="-120"/>
              </a:rPr>
              <a:t>Kế thừa toàn bộ Option 1.2, cộng thêm tầng con người chủ động.</a:t>
            </a:r>
            <a:endParaRPr lang="en-US" sz="1400" dirty="0"/>
          </a:p>
          <a:p>
            <a:pPr indent="0" marL="0">
              <a:lnSpc>
                <a:spcPct val="105000"/>
              </a:lnSpc>
              <a:spcBef>
                <a:spcPts val="1000"/>
              </a:spcBef>
              <a:spcAft>
                <a:spcPts val="200"/>
              </a:spcAft>
              <a:buNone/>
            </a:pPr>
            <a:r>
              <a:rPr lang="en-US" sz="1600" b="1" dirty="0">
                <a:solidFill>
                  <a:srgbClr val="2F6FED"/>
                </a:solidFill>
                <a:latin typeface="Calibri" pitchFamily="34" charset="0"/>
                <a:ea typeface="Calibri" pitchFamily="34" charset="-122"/>
                <a:cs typeface="Calibri" pitchFamily="34" charset="-120"/>
              </a:rPr>
              <a:t>Bối cảnh</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Mục tiêu riêng của Option 1.3: khác 2 Option còn lại, mục tiêu chính không chỉ là xác nhận một cấu trúc vận hành — mà là tạo ra bộ SA/SB (Sales Argument/Sales Benefit) đủ mạnh để đội Sales dùng bán hàng ngay, kể cả khi phần vận hành (tỷ lệ 1:2.000, SLA GVCN) chưa hoàn thiện.</a:t>
            </a:r>
            <a:endParaRPr lang="en-US" sz="1400" dirty="0"/>
          </a:p>
          <a:p>
            <a:pPr indent="0" marL="0">
              <a:lnSpc>
                <a:spcPct val="105000"/>
              </a:lnSpc>
              <a:spcBef>
                <a:spcPts val="1000"/>
              </a:spcBef>
              <a:spcAft>
                <a:spcPts val="200"/>
              </a:spcAft>
              <a:buNone/>
            </a:pPr>
            <a:r>
              <a:rPr lang="en-US" sz="1600" b="1" dirty="0">
                <a:solidFill>
                  <a:srgbClr val="2F6FED"/>
                </a:solidFill>
                <a:latin typeface="Calibri" pitchFamily="34" charset="0"/>
                <a:ea typeface="Calibri" pitchFamily="34" charset="-122"/>
                <a:cs typeface="Calibri" pitchFamily="34" charset="-120"/>
              </a:rPr>
              <a:t>Cấu phần</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Thêm buổi Big Class thứ 3/tuần</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GVCN mở rộng: chủ động giao bài, theo sát tiến độ, giới hạn đổi GV (≤2 lần/6 tháng), tỷ lệ mục tiêu 1:2.000</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Thông báo tình hình học sau mỗi buổi nếu có vấn đề</a:t>
            </a:r>
            <a:endParaRPr lang="en-US" sz="14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2 — LÀM MỊN VÀ THÊM MÔN</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Concept 2: Giới thiệu</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Aft>
                <a:spcPts val="200"/>
              </a:spcAft>
              <a:buNone/>
            </a:pPr>
            <a:r>
              <a:rPr lang="en-US" sz="1400" b="1" dirty="0">
                <a:solidFill>
                  <a:srgbClr val="2F6FED"/>
                </a:solidFill>
                <a:latin typeface="Calibri" pitchFamily="34" charset="0"/>
                <a:ea typeface="Calibri" pitchFamily="34" charset="-122"/>
                <a:cs typeface="Calibri" pitchFamily="34" charset="-120"/>
              </a:rPr>
              <a:t>Vì sao cân nhắc concept này?</a:t>
            </a:r>
            <a:endParaRPr lang="en-US" sz="1400" dirty="0"/>
          </a:p>
          <a:p>
            <a:pPr marL="177800" indent="-177800">
              <a:lnSpc>
                <a:spcPct val="105000"/>
              </a:lnSpc>
              <a:spcAft>
                <a:spcPts val="400"/>
              </a:spcAft>
              <a:buSzPct val="100000"/>
              <a:buChar char="•"/>
            </a:pPr>
            <a:r>
              <a:rPr lang="en-US" sz="1200" dirty="0">
                <a:solidFill>
                  <a:srgbClr val="1F2A44"/>
                </a:solidFill>
                <a:latin typeface="Calibri" pitchFamily="34" charset="0"/>
                <a:ea typeface="Calibri" pitchFamily="34" charset="-122"/>
                <a:cs typeface="Calibri" pitchFamily="34" charset="-120"/>
              </a:rPr>
              <a:t>Concept 1 tối ưu theo chiều sâu (chất lượng tiếng Anh); Concept 2 mở rộng theo chiều rộng — đáp ứng nhóm phụ huynh phổ thông muốn con “phát triển toàn diện”, không chỉ một môn/một kỹ năng.</a:t>
            </a:r>
            <a:endParaRPr lang="en-US" sz="1400" dirty="0"/>
          </a:p>
          <a:p>
            <a:pPr marL="177800" indent="-177800">
              <a:lnSpc>
                <a:spcPct val="105000"/>
              </a:lnSpc>
              <a:spcAft>
                <a:spcPts val="400"/>
              </a:spcAft>
              <a:buSzPct val="100000"/>
              <a:buChar char="•"/>
            </a:pPr>
            <a:r>
              <a:rPr lang="en-US" sz="1200" dirty="0">
                <a:solidFill>
                  <a:srgbClr val="1F2A44"/>
                </a:solidFill>
                <a:latin typeface="Calibri" pitchFamily="34" charset="0"/>
                <a:ea typeface="Calibri" pitchFamily="34" charset="-122"/>
                <a:cs typeface="Calibri" pitchFamily="34" charset="-120"/>
              </a:rPr>
              <a:t>Giữ nền Concept 1 (khuyến nghị Option 1.2) + thêm 1 buổi Live/tuần môn khác. 3 Option theo môn học, không nhất thiết loại trừ nhau — có thể triển khai song song.</a:t>
            </a:r>
            <a:endParaRPr lang="en-US" sz="1400" dirty="0"/>
          </a:p>
          <a:p>
            <a:pPr indent="0" marL="0">
              <a:lnSpc>
                <a:spcPct val="105000"/>
              </a:lnSpc>
              <a:spcBef>
                <a:spcPts val="1000"/>
              </a:spcBef>
              <a:spcAft>
                <a:spcPts val="200"/>
              </a:spcAft>
              <a:buNone/>
            </a:pPr>
            <a:r>
              <a:rPr lang="en-US" sz="1400" b="1" dirty="0">
                <a:solidFill>
                  <a:srgbClr val="2F6FED"/>
                </a:solidFill>
                <a:latin typeface="Calibri" pitchFamily="34" charset="0"/>
                <a:ea typeface="Calibri" pitchFamily="34" charset="-122"/>
                <a:cs typeface="Calibri" pitchFamily="34" charset="-120"/>
              </a:rPr>
              <a:t>Bối cảnh và vị trí sản phẩm</a:t>
            </a:r>
            <a:endParaRPr lang="en-US" sz="1400" dirty="0"/>
          </a:p>
          <a:p>
            <a:pPr marL="177800" indent="-177800">
              <a:lnSpc>
                <a:spcPct val="105000"/>
              </a:lnSpc>
              <a:spcAft>
                <a:spcPts val="400"/>
              </a:spcAft>
              <a:buSzPct val="100000"/>
              <a:buChar char="•"/>
            </a:pPr>
            <a:r>
              <a:rPr lang="en-US" sz="1200" dirty="0">
                <a:solidFill>
                  <a:srgbClr val="1F2A44"/>
                </a:solidFill>
                <a:latin typeface="Calibri" pitchFamily="34" charset="0"/>
                <a:ea typeface="Calibri" pitchFamily="34" charset="-122"/>
                <a:cs typeface="Calibri" pitchFamily="34" charset="-120"/>
              </a:rPr>
              <a:t>Từ 2 buổi Live tiếng Anh/tuần lên 3 buổi/tuần (2 tiếng Anh + 1 môn thêm tùy Option).</a:t>
            </a:r>
            <a:endParaRPr lang="en-US" sz="1400" dirty="0"/>
          </a:p>
          <a:p>
            <a:pPr marL="177800" indent="-177800">
              <a:lnSpc>
                <a:spcPct val="105000"/>
              </a:lnSpc>
              <a:spcAft>
                <a:spcPts val="400"/>
              </a:spcAft>
              <a:buSzPct val="100000"/>
              <a:buChar char="•"/>
            </a:pPr>
            <a:r>
              <a:rPr lang="en-US" sz="1200" dirty="0">
                <a:solidFill>
                  <a:srgbClr val="1F2A44"/>
                </a:solidFill>
                <a:latin typeface="Calibri" pitchFamily="34" charset="0"/>
                <a:ea typeface="Calibri" pitchFamily="34" charset="-122"/>
                <a:cs typeface="Calibri" pitchFamily="34" charset="-120"/>
              </a:rPr>
              <a:t>Đây là buổi Live thật (GV/lịch riêng) — kết hợp Edupia Club + AI Practice + AI Speak, cộng thêm 2 buổi Live tiếng Anh/tuần đã có (nền Concept 1).</a:t>
            </a:r>
            <a:endParaRPr lang="en-US" sz="1400" dirty="0"/>
          </a:p>
          <a:p>
            <a:pPr indent="0" marL="0">
              <a:lnSpc>
                <a:spcPct val="105000"/>
              </a:lnSpc>
              <a:spcBef>
                <a:spcPts val="1000"/>
              </a:spcBef>
              <a:spcAft>
                <a:spcPts val="200"/>
              </a:spcAft>
              <a:buNone/>
            </a:pPr>
            <a:r>
              <a:rPr lang="en-US" sz="1400" b="1" dirty="0">
                <a:solidFill>
                  <a:srgbClr val="2F6FED"/>
                </a:solidFill>
                <a:latin typeface="Calibri" pitchFamily="34" charset="0"/>
                <a:ea typeface="Calibri" pitchFamily="34" charset="-122"/>
                <a:cs typeface="Calibri" pitchFamily="34" charset="-120"/>
              </a:rPr>
              <a:t>Khách hàng mục tiêu</a:t>
            </a:r>
            <a:endParaRPr lang="en-US" sz="1400" dirty="0"/>
          </a:p>
          <a:p>
            <a:pPr indent="0" marL="0">
              <a:lnSpc>
                <a:spcPct val="105000"/>
              </a:lnSpc>
              <a:spcBef>
                <a:spcPts val="400"/>
              </a:spcBef>
              <a:spcAft>
                <a:spcPts val="100"/>
              </a:spcAft>
              <a:buNone/>
            </a:pPr>
            <a:r>
              <a:rPr lang="en-US" sz="1200" i="1" dirty="0">
                <a:solidFill>
                  <a:srgbClr val="5B6472"/>
                </a:solidFill>
                <a:latin typeface="Calibri" pitchFamily="34" charset="0"/>
                <a:ea typeface="Calibri" pitchFamily="34" charset="-122"/>
                <a:cs typeface="Calibri" pitchFamily="34" charset="-120"/>
              </a:rPr>
              <a:t>Đối thủ thay thế (Competitive Alternative)</a:t>
            </a:r>
            <a:endParaRPr lang="en-US" sz="1400" dirty="0"/>
          </a:p>
          <a:p>
            <a:pPr indent="0" marL="0">
              <a:lnSpc>
                <a:spcPct val="105000"/>
              </a:lnSpc>
              <a:spcAft>
                <a:spcPts val="400"/>
              </a:spcAft>
              <a:buNone/>
            </a:pPr>
            <a:r>
              <a:rPr lang="en-US" sz="1200" dirty="0">
                <a:solidFill>
                  <a:srgbClr val="1F2A44"/>
                </a:solidFill>
                <a:latin typeface="Calibri" pitchFamily="34" charset="0"/>
                <a:ea typeface="Calibri" pitchFamily="34" charset="-122"/>
                <a:cs typeface="Calibri" pitchFamily="34" charset="-120"/>
              </a:rPr>
              <a:t>Nếu không chọn Edupia Class, phụ huynh sẽ đăng ký riêng biệt một nền tảng/trung tâm khác cho môn/hoạt động bổ trợ — tốn thêm công quản lý ở nhiều nơi khác nhau.</a:t>
            </a:r>
            <a:endParaRPr lang="en-US" sz="1400" dirty="0"/>
          </a:p>
          <a:p>
            <a:pPr indent="0" marL="0">
              <a:lnSpc>
                <a:spcPct val="105000"/>
              </a:lnSpc>
              <a:spcBef>
                <a:spcPts val="400"/>
              </a:spcBef>
              <a:spcAft>
                <a:spcPts val="100"/>
              </a:spcAft>
              <a:buNone/>
            </a:pPr>
            <a:r>
              <a:rPr lang="en-US" sz="1200" i="1" dirty="0">
                <a:solidFill>
                  <a:srgbClr val="5B6472"/>
                </a:solidFill>
                <a:latin typeface="Calibri" pitchFamily="34" charset="0"/>
                <a:ea typeface="Calibri" pitchFamily="34" charset="-122"/>
                <a:cs typeface="Calibri" pitchFamily="34" charset="-120"/>
              </a:rPr>
              <a:t>Phân khúc mục tiêu</a:t>
            </a:r>
            <a:endParaRPr lang="en-US" sz="1400" dirty="0"/>
          </a:p>
          <a:p>
            <a:pPr indent="0" marL="0">
              <a:lnSpc>
                <a:spcPct val="105000"/>
              </a:lnSpc>
              <a:spcAft>
                <a:spcPts val="400"/>
              </a:spcAft>
              <a:buNone/>
            </a:pPr>
            <a:r>
              <a:rPr lang="en-US" sz="1200" dirty="0">
                <a:solidFill>
                  <a:srgbClr val="1F2A44"/>
                </a:solidFill>
                <a:latin typeface="Calibri" pitchFamily="34" charset="0"/>
                <a:ea typeface="Calibri" pitchFamily="34" charset="-122"/>
                <a:cs typeface="Calibri" pitchFamily="34" charset="-120"/>
              </a:rPr>
              <a:t>Phụ huynh phổ thông quan tâm phát triển toàn diện cho con, có xu hướng đăng ký nhiều hoạt động cùng lúc — muốn gộp về một nhà cung cấp quen thuộc thay vì quản lý ở nhiều nơi.</a:t>
            </a:r>
            <a:endParaRPr lang="en-US" sz="1400" dirty="0"/>
          </a:p>
          <a:p>
            <a:pPr indent="0" marL="0">
              <a:lnSpc>
                <a:spcPct val="105000"/>
              </a:lnSpc>
              <a:spcBef>
                <a:spcPts val="1000"/>
              </a:spcBef>
              <a:spcAft>
                <a:spcPts val="200"/>
              </a:spcAft>
              <a:buNone/>
            </a:pPr>
            <a:r>
              <a:rPr lang="en-US" sz="1400" b="1" dirty="0">
                <a:solidFill>
                  <a:srgbClr val="2F6FED"/>
                </a:solidFill>
                <a:latin typeface="Calibri" pitchFamily="34" charset="0"/>
                <a:ea typeface="Calibri" pitchFamily="34" charset="-122"/>
                <a:cs typeface="Calibri" pitchFamily="34" charset="-120"/>
              </a:rPr>
              <a:t>Giải pháp</a:t>
            </a:r>
            <a:endParaRPr lang="en-US" sz="1400" dirty="0"/>
          </a:p>
          <a:p>
            <a:pPr indent="0" marL="0">
              <a:lnSpc>
                <a:spcPct val="105000"/>
              </a:lnSpc>
              <a:spcBef>
                <a:spcPts val="400"/>
              </a:spcBef>
              <a:spcAft>
                <a:spcPts val="100"/>
              </a:spcAft>
              <a:buNone/>
            </a:pPr>
            <a:r>
              <a:rPr lang="en-US" sz="1200" i="1" dirty="0">
                <a:solidFill>
                  <a:srgbClr val="5B6472"/>
                </a:solidFill>
                <a:latin typeface="Calibri" pitchFamily="34" charset="0"/>
                <a:ea typeface="Calibri" pitchFamily="34" charset="-122"/>
                <a:cs typeface="Calibri" pitchFamily="34" charset="-120"/>
              </a:rPr>
              <a:t>Positioning Statement</a:t>
            </a:r>
            <a:endParaRPr lang="en-US" sz="1400" dirty="0"/>
          </a:p>
          <a:p>
            <a:pPr indent="0" marL="0">
              <a:lnSpc>
                <a:spcPct val="105000"/>
              </a:lnSpc>
              <a:spcAft>
                <a:spcPts val="400"/>
              </a:spcAft>
              <a:buNone/>
            </a:pPr>
            <a:r>
              <a:rPr lang="en-US" sz="1200" dirty="0">
                <a:solidFill>
                  <a:srgbClr val="1F2A44"/>
                </a:solidFill>
                <a:latin typeface="Calibri" pitchFamily="34" charset="0"/>
                <a:ea typeface="Calibri" pitchFamily="34" charset="-122"/>
                <a:cs typeface="Calibri" pitchFamily="34" charset="-120"/>
              </a:rPr>
              <a:t>Đối với phụ huynh muốn con vừa học tiếng Anh có cấu trúc, vừa phát triển thêm một mảng khác mà không phải quản lý nhiều nơi khác nhau — Edupia Class có thêm 1 buổi Live/tuần theo Option đã chọn, bên cạnh 2 buổi tiếng Anh.</a:t>
            </a:r>
            <a:endParaRPr lang="en-US" sz="1400" dirty="0"/>
          </a:p>
          <a:p>
            <a:pPr indent="0" marL="0">
              <a:lnSpc>
                <a:spcPct val="105000"/>
              </a:lnSpc>
              <a:spcBef>
                <a:spcPts val="400"/>
              </a:spcBef>
              <a:spcAft>
                <a:spcPts val="100"/>
              </a:spcAft>
              <a:buNone/>
            </a:pPr>
            <a:r>
              <a:rPr lang="en-US" sz="1200" i="1" dirty="0">
                <a:solidFill>
                  <a:srgbClr val="5B6472"/>
                </a:solidFill>
                <a:latin typeface="Calibri" pitchFamily="34" charset="0"/>
                <a:ea typeface="Calibri" pitchFamily="34" charset="-122"/>
                <a:cs typeface="Calibri" pitchFamily="34" charset="-120"/>
              </a:rPr>
              <a:t>USP</a:t>
            </a:r>
            <a:endParaRPr lang="en-US" sz="1400" dirty="0"/>
          </a:p>
          <a:p>
            <a:pPr indent="0" marL="0">
              <a:lnSpc>
                <a:spcPct val="105000"/>
              </a:lnSpc>
              <a:spcAft>
                <a:spcPts val="400"/>
              </a:spcAft>
              <a:buNone/>
            </a:pPr>
            <a:r>
              <a:rPr lang="en-US" sz="1200" dirty="0">
                <a:solidFill>
                  <a:srgbClr val="1F2A44"/>
                </a:solidFill>
                <a:latin typeface="Calibri" pitchFamily="34" charset="0"/>
                <a:ea typeface="Calibri" pitchFamily="34" charset="-122"/>
                <a:cs typeface="Calibri" pitchFamily="34" charset="-120"/>
              </a:rPr>
              <a:t>“Chương trình tiếng Anh trực tuyến có thêm 1 buổi học riêng mỗi tuần, giúp phụ huynh không cần tìm thêm hoạt động bổ trợ ở nơi khác.”</a:t>
            </a:r>
            <a:endParaRPr lang="en-US" sz="14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2 — LÀM MỊN VÀ THÊM MÔN</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Concept 2: Cấu trúc sản phẩm</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07008"/>
            <a:ext cx="11274552" cy="384048"/>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Concept 2 vẫn giữ nguyên concept hiện tại của sản phẩm — chỉ cộng thêm 1 buổi Live/tuần theo môn. Không thay đổi hay bớt đi phần nào của nền Concept 1.</a:t>
            </a:r>
            <a:endParaRPr lang="en-US" sz="1100" dirty="0"/>
          </a:p>
        </p:txBody>
      </p:sp>
      <p:sp>
        <p:nvSpPr>
          <p:cNvPr id="6" name="Text 4"/>
          <p:cNvSpPr/>
          <p:nvPr/>
        </p:nvSpPr>
        <p:spPr>
          <a:xfrm>
            <a:off x="457200" y="1572768"/>
            <a:ext cx="11274552" cy="1920240"/>
          </a:xfrm>
          <a:prstGeom prst="rect">
            <a:avLst/>
          </a:prstGeom>
          <a:noFill/>
          <a:ln/>
        </p:spPr>
        <p:txBody>
          <a:bodyPr wrap="square" rtlCol="0" anchor="t"/>
          <a:lstStyle/>
          <a:p>
            <a:pPr indent="0" marL="0">
              <a:spcAft>
                <a:spcPts val="300"/>
              </a:spcAft>
              <a:buNone/>
            </a:pPr>
            <a:r>
              <a:rPr lang="en-US" sz="1300" b="1" dirty="0">
                <a:solidFill>
                  <a:srgbClr val="2F6FED"/>
                </a:solidFill>
                <a:latin typeface="Calibri" pitchFamily="34" charset="0"/>
                <a:ea typeface="Calibri" pitchFamily="34" charset="-122"/>
                <a:cs typeface="Calibri" pitchFamily="34" charset="-120"/>
              </a:rPr>
              <a:t>Nền giữ nguyên, không đổi:</a:t>
            </a:r>
            <a:endParaRPr lang="en-US" sz="1300" dirty="0"/>
          </a:p>
          <a:p>
            <a:pPr marL="342900" indent="-342900">
              <a:buSzPct val="100000"/>
              <a:buChar char="•"/>
            </a:pPr>
            <a:r>
              <a:rPr lang="en-US" sz="1200" dirty="0">
                <a:solidFill>
                  <a:srgbClr val="000000"/>
                </a:solidFill>
                <a:latin typeface="Calibri" pitchFamily="34" charset="0"/>
                <a:ea typeface="Calibri" pitchFamily="34" charset="-122"/>
                <a:cs typeface="Calibri" pitchFamily="34" charset="-120"/>
              </a:rPr>
              <a:t>Edupia Club + AI Practice + AI Speak</a:t>
            </a:r>
            <a:endParaRPr lang="en-US" sz="1300" dirty="0"/>
          </a:p>
          <a:p>
            <a:pPr marL="342900" indent="-342900">
              <a:spcAft>
                <a:spcPts val="1000"/>
              </a:spcAft>
              <a:buSzPct val="100000"/>
              <a:buChar char="•"/>
            </a:pPr>
            <a:r>
              <a:rPr lang="en-US" sz="1200" dirty="0">
                <a:solidFill>
                  <a:srgbClr val="000000"/>
                </a:solidFill>
                <a:latin typeface="Calibri" pitchFamily="34" charset="0"/>
                <a:ea typeface="Calibri" pitchFamily="34" charset="-122"/>
                <a:cs typeface="Calibri" pitchFamily="34" charset="-120"/>
              </a:rPr>
              <a:t>2 buổi Live tiếng Anh/tuần (nền Concept 1, khuyến nghị ở Option 1.2)</a:t>
            </a:r>
            <a:endParaRPr lang="en-US" sz="1300" dirty="0"/>
          </a:p>
          <a:p>
            <a:pPr indent="0" marL="0">
              <a:spcAft>
                <a:spcPts val="300"/>
              </a:spcAft>
              <a:buNone/>
            </a:pPr>
            <a:r>
              <a:rPr lang="en-US" sz="1300" b="1" dirty="0">
                <a:solidFill>
                  <a:srgbClr val="2F6FED"/>
                </a:solidFill>
                <a:latin typeface="Calibri" pitchFamily="34" charset="0"/>
                <a:ea typeface="Calibri" pitchFamily="34" charset="-122"/>
                <a:cs typeface="Calibri" pitchFamily="34" charset="-120"/>
              </a:rPr>
              <a:t>Cộng thêm — chọn 1 hoặc kết hợp nhiều Option (không loại trừ nhau):</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538728"/>
          <a:ext cx="11274552" cy="2862072"/>
        </p:xfrm>
        <a:graphic>
          <a:graphicData uri="http://schemas.openxmlformats.org/drawingml/2006/table">
            <a:tbl>
              <a:tblPr/>
              <a:tblGrid>
                <a:gridCol w="1371600"/>
                <a:gridCol w="9902952"/>
              </a:tblGrid>
              <a:tr h="715518">
                <a:tc>
                  <a:txBody>
                    <a:bodyPr/>
                    <a:lstStyle/>
                    <a:p>
                      <a:pPr indent="0" marL="0">
                        <a:buNone/>
                      </a:pPr>
                      <a:r>
                        <a:rPr lang="en-US" sz="1200" b="1" dirty="0">
                          <a:solidFill>
                            <a:srgbClr val="FFFFFF"/>
                          </a:solidFill>
                        </a:rPr>
                        <a:t>Option</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rPr>
                        <a:t>Môn/hoạt động thêm (1 buổi Live/tuần)</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r>
              <a:tr h="715518">
                <a:tc>
                  <a:txBody>
                    <a:bodyPr/>
                    <a:lstStyle/>
                    <a:p>
                      <a:pPr indent="0" marL="0">
                        <a:buNone/>
                      </a:pPr>
                      <a:r>
                        <a:rPr lang="en-US" sz="1200" b="1" dirty="0">
                          <a:solidFill>
                            <a:srgbClr val="2F6FED"/>
                          </a:solidFill>
                        </a:rPr>
                        <a:t>2.1</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tcPr>
                </a:tc>
                <a:tc>
                  <a:txBody>
                    <a:bodyPr/>
                    <a:lstStyle/>
                    <a:p>
                      <a:pPr indent="0" marL="0">
                        <a:buNone/>
                      </a:pPr>
                      <a:r>
                        <a:rPr lang="en-US" sz="1200" dirty="0">
                          <a:solidFill>
                            <a:srgbClr val="000000"/>
                          </a:solidFill>
                        </a:rPr>
                        <a:t>Môn phổ thông — Toán hoặc Tiếng Việt</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tcPr>
                </a:tc>
              </a:tr>
              <a:tr h="715518">
                <a:tc>
                  <a:txBody>
                    <a:bodyPr/>
                    <a:lstStyle/>
                    <a:p>
                      <a:pPr indent="0" marL="0">
                        <a:buNone/>
                      </a:pPr>
                      <a:r>
                        <a:rPr lang="en-US" sz="1200" b="1" dirty="0">
                          <a:solidFill>
                            <a:srgbClr val="2F6FED"/>
                          </a:solidFill>
                        </a:rPr>
                        <a:t>2.2</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indent="0" marL="0">
                        <a:buNone/>
                      </a:pPr>
                      <a:r>
                        <a:rPr lang="en-US" sz="1200" dirty="0">
                          <a:solidFill>
                            <a:srgbClr val="000000"/>
                          </a:solidFill>
                        </a:rPr>
                        <a:t>STEM/STEAM hoặc kỹ năng AI cơ bản</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r h="715518">
                <a:tc>
                  <a:txBody>
                    <a:bodyPr/>
                    <a:lstStyle/>
                    <a:p>
                      <a:pPr indent="0" marL="0">
                        <a:buNone/>
                      </a:pPr>
                      <a:r>
                        <a:rPr lang="en-US" sz="1200" b="1" dirty="0">
                          <a:solidFill>
                            <a:srgbClr val="2F6FED"/>
                          </a:solidFill>
                        </a:rPr>
                        <a:t>2.3</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tcPr>
                </a:tc>
                <a:tc>
                  <a:txBody>
                    <a:bodyPr/>
                    <a:lstStyle/>
                    <a:p>
                      <a:pPr indent="0" marL="0">
                        <a:buNone/>
                      </a:pPr>
                      <a:r>
                        <a:rPr lang="en-US" sz="1200" dirty="0">
                          <a:solidFill>
                            <a:srgbClr val="000000"/>
                          </a:solidFill>
                        </a:rPr>
                        <a:t>Kỹ năng sống &amp; STEAM</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tcPr>
                </a:tc>
              </a:tr>
            </a:tbl>
          </a:graphicData>
        </a:graphic>
      </p:graphicFrame>
      <p:sp>
        <p:nvSpPr>
          <p:cNvPr id="8" name="Text 5"/>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9" name="Text 6"/>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2 — LÀM MỊN VÀ THÊM MÔN</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Concept 2: Option 2.1 / 2.2 / 2.3</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Aft>
                <a:spcPts val="200"/>
              </a:spcAft>
              <a:buNone/>
            </a:pPr>
            <a:r>
              <a:rPr lang="en-US" sz="1500" b="1" dirty="0">
                <a:solidFill>
                  <a:srgbClr val="2F6FED"/>
                </a:solidFill>
                <a:latin typeface="Calibri" pitchFamily="34" charset="0"/>
                <a:ea typeface="Calibri" pitchFamily="34" charset="-122"/>
                <a:cs typeface="Calibri" pitchFamily="34" charset="-120"/>
              </a:rPr>
              <a:t>Option 2.1 — Thêm môn phổ thông (Toán, Tiếng Việt...)</a:t>
            </a:r>
            <a:endParaRPr lang="en-US" sz="1500" dirty="0"/>
          </a:p>
          <a:p>
            <a:pPr indent="0" marL="0">
              <a:lnSpc>
                <a:spcPct val="105000"/>
              </a:lnSpc>
              <a:spcBef>
                <a:spcPts val="400"/>
              </a:spcBef>
              <a:spcAft>
                <a:spcPts val="100"/>
              </a:spcAft>
              <a:buNone/>
            </a:pPr>
            <a:r>
              <a:rPr lang="en-US" sz="1300" i="1" dirty="0">
                <a:solidFill>
                  <a:srgbClr val="5B6472"/>
                </a:solidFill>
                <a:latin typeface="Calibri" pitchFamily="34" charset="0"/>
                <a:ea typeface="Calibri" pitchFamily="34" charset="-122"/>
                <a:cs typeface="Calibri" pitchFamily="34" charset="-120"/>
              </a:rPr>
              <a:t>Job thực dụng rõ nhất: gộp môn chính khoá vào cùng một nền tảng.</a:t>
            </a:r>
            <a:endParaRPr lang="en-US" sz="1500" dirty="0"/>
          </a:p>
          <a:p>
            <a:pPr marL="177800" indent="-177800">
              <a:lnSpc>
                <a:spcPct val="105000"/>
              </a:lnSpc>
              <a:spcAft>
                <a:spcPts val="400"/>
              </a:spcAft>
              <a:buSzPct val="100000"/>
              <a:buChar char="•"/>
            </a:pPr>
            <a:r>
              <a:rPr lang="en-US" sz="1300" dirty="0">
                <a:solidFill>
                  <a:srgbClr val="1F2A44"/>
                </a:solidFill>
                <a:latin typeface="Calibri" pitchFamily="34" charset="0"/>
                <a:ea typeface="Calibri" pitchFamily="34" charset="-122"/>
                <a:cs typeface="Calibri" pitchFamily="34" charset="-120"/>
              </a:rPr>
              <a:t>1 buổi Live/tuần Toán hoặc Tiếng Việt, xây giáo trình + tuyển GV mới</a:t>
            </a:r>
            <a:endParaRPr lang="en-US" sz="1500" dirty="0"/>
          </a:p>
          <a:p>
            <a:pPr indent="0" marL="0">
              <a:lnSpc>
                <a:spcPct val="105000"/>
              </a:lnSpc>
              <a:spcBef>
                <a:spcPts val="1000"/>
              </a:spcBef>
              <a:spcAft>
                <a:spcPts val="200"/>
              </a:spcAft>
              <a:buNone/>
            </a:pPr>
            <a:r>
              <a:rPr lang="en-US" sz="1500" b="1" dirty="0">
                <a:solidFill>
                  <a:srgbClr val="2F6FED"/>
                </a:solidFill>
                <a:latin typeface="Calibri" pitchFamily="34" charset="0"/>
                <a:ea typeface="Calibri" pitchFamily="34" charset="-122"/>
                <a:cs typeface="Calibri" pitchFamily="34" charset="-120"/>
              </a:rPr>
              <a:t>Option 2.2 — Thêm STEM/STEAM/AI cơ bản</a:t>
            </a:r>
            <a:endParaRPr lang="en-US" sz="1500" dirty="0"/>
          </a:p>
          <a:p>
            <a:pPr indent="0" marL="0">
              <a:lnSpc>
                <a:spcPct val="105000"/>
              </a:lnSpc>
              <a:spcBef>
                <a:spcPts val="400"/>
              </a:spcBef>
              <a:spcAft>
                <a:spcPts val="100"/>
              </a:spcAft>
              <a:buNone/>
            </a:pPr>
            <a:r>
              <a:rPr lang="en-US" sz="1300" i="1" dirty="0">
                <a:solidFill>
                  <a:srgbClr val="5B6472"/>
                </a:solidFill>
                <a:latin typeface="Calibri" pitchFamily="34" charset="0"/>
                <a:ea typeface="Calibri" pitchFamily="34" charset="-122"/>
                <a:cs typeface="Calibri" pitchFamily="34" charset="-120"/>
              </a:rPr>
              <a:t>Nhắm phụ huynh thành thị quan tâm tư duy công nghệ sớm cho con.</a:t>
            </a:r>
            <a:endParaRPr lang="en-US" sz="1500" dirty="0"/>
          </a:p>
          <a:p>
            <a:pPr marL="177800" indent="-177800">
              <a:lnSpc>
                <a:spcPct val="105000"/>
              </a:lnSpc>
              <a:spcAft>
                <a:spcPts val="400"/>
              </a:spcAft>
              <a:buSzPct val="100000"/>
              <a:buChar char="•"/>
            </a:pPr>
            <a:r>
              <a:rPr lang="en-US" sz="1300" dirty="0">
                <a:solidFill>
                  <a:srgbClr val="1F2A44"/>
                </a:solidFill>
                <a:latin typeface="Calibri" pitchFamily="34" charset="0"/>
                <a:ea typeface="Calibri" pitchFamily="34" charset="-122"/>
                <a:cs typeface="Calibri" pitchFamily="34" charset="-120"/>
              </a:rPr>
              <a:t>1 buổi Live/tuần STEM/STEAM hoặc kỹ năng AI cơ bản</a:t>
            </a:r>
            <a:endParaRPr lang="en-US" sz="1500" dirty="0"/>
          </a:p>
          <a:p>
            <a:pPr indent="0" marL="0">
              <a:lnSpc>
                <a:spcPct val="105000"/>
              </a:lnSpc>
              <a:spcBef>
                <a:spcPts val="1000"/>
              </a:spcBef>
              <a:spcAft>
                <a:spcPts val="200"/>
              </a:spcAft>
              <a:buNone/>
            </a:pPr>
            <a:r>
              <a:rPr lang="en-US" sz="1500" b="1" dirty="0">
                <a:solidFill>
                  <a:srgbClr val="2F6FED"/>
                </a:solidFill>
                <a:latin typeface="Calibri" pitchFamily="34" charset="0"/>
                <a:ea typeface="Calibri" pitchFamily="34" charset="-122"/>
                <a:cs typeface="Calibri" pitchFamily="34" charset="-120"/>
              </a:rPr>
              <a:t>Option 2.3 — Thêm kỹ năng sống/ngoại khóa</a:t>
            </a:r>
            <a:endParaRPr lang="en-US" sz="1500" dirty="0"/>
          </a:p>
          <a:p>
            <a:pPr indent="0" marL="0">
              <a:lnSpc>
                <a:spcPct val="105000"/>
              </a:lnSpc>
              <a:spcBef>
                <a:spcPts val="400"/>
              </a:spcBef>
              <a:spcAft>
                <a:spcPts val="100"/>
              </a:spcAft>
              <a:buNone/>
            </a:pPr>
            <a:r>
              <a:rPr lang="en-US" sz="1300" i="1" dirty="0">
                <a:solidFill>
                  <a:srgbClr val="5B6472"/>
                </a:solidFill>
                <a:latin typeface="Calibri" pitchFamily="34" charset="0"/>
                <a:ea typeface="Calibri" pitchFamily="34" charset="-122"/>
                <a:cs typeface="Calibri" pitchFamily="34" charset="-120"/>
              </a:rPr>
              <a:t>Phát triển toàn diện cho con, không chỉ kiến thức.</a:t>
            </a:r>
            <a:endParaRPr lang="en-US" sz="1500" dirty="0"/>
          </a:p>
          <a:p>
            <a:pPr marL="177800" indent="-177800">
              <a:lnSpc>
                <a:spcPct val="105000"/>
              </a:lnSpc>
              <a:spcAft>
                <a:spcPts val="400"/>
              </a:spcAft>
              <a:buSzPct val="100000"/>
              <a:buChar char="•"/>
            </a:pPr>
            <a:r>
              <a:rPr lang="en-US" sz="1300" dirty="0">
                <a:solidFill>
                  <a:srgbClr val="1F2A44"/>
                </a:solidFill>
                <a:latin typeface="Calibri" pitchFamily="34" charset="0"/>
                <a:ea typeface="Calibri" pitchFamily="34" charset="-122"/>
                <a:cs typeface="Calibri" pitchFamily="34" charset="-120"/>
              </a:rPr>
              <a:t>1 buổi Live/tuần Kỹ năng sống &amp; STEAM</a:t>
            </a:r>
            <a:endParaRPr lang="en-US" sz="15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3 — GIA SƯ AI 1:1</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Concept 3: Giới thiệu</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Aft>
                <a:spcPts val="200"/>
              </a:spcAft>
              <a:buNone/>
            </a:pPr>
            <a:r>
              <a:rPr lang="en-US" sz="1300" b="1" dirty="0">
                <a:solidFill>
                  <a:srgbClr val="2F6FED"/>
                </a:solidFill>
                <a:latin typeface="Calibri" pitchFamily="34" charset="0"/>
                <a:ea typeface="Calibri" pitchFamily="34" charset="-122"/>
                <a:cs typeface="Calibri" pitchFamily="34" charset="-120"/>
              </a:rPr>
              <a:t>Vì sao cân nhắc concept này?</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Concept 1 và 2 vẫn giữ Big Class + GV thật làm trung tâm, AI chỉ hỗ trợ. Concept 3 thử một bước dịch chuyển xa hơn — để AI đóng vai trò gia sư chính, đúng tinh thần “thắng bằng ứng dụng AI/dữ liệu vào tất cả công đoạn” của chiến lược công ty.</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 Mẫu hình “AI song hành” (AI đóng vai gia sư, giám sát/theo sát liên tục) đã vận hành thật ở quy mô lớn tại Trung Quốc (TAL/Xueersi, Doushen) — không phải ý tưởng thuần lý thuyết (xem case study).</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Bối cảnh và vị trí sản phẩm</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Định vị trên 2 trục — giá và mức độ tương tác con người — giữa 2 sản phẩm hiện có: Edupia AI Class (self-learning thuần, 250k, không có “gia sư”) — Concept 3 (390k) — Edupia Tutor 1-4/1-6 (gia sư sống dạy nhóm, đắt hơn).</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Đây là định hướng xây dựng từ nghiên cứu thị trường AI gia sư toàn cầu — khác biệt bản chất so với Concept 1/2: AI là gia sư chính, không chỉ hỗ trợ lớp học.</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Khách hàng mục tiêu</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Đối thủ thay thế (Competitive Alternative)</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Nếu không chọn Edupia Class, phụ huynh sẽ dùng app tự học không có tương tác “gia sư” (Monkey, ELSA, Duolingo) — thiếu cảm giác đồng hành; hoặc thuê gia sư người thật (Tutor 1-1, hoặc bên ngoài) — có tương tác nhưng đắt hơn nhiều (từ 600.000đ/tháng trở lên).</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Phân khúc mục tiêu</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Phụ huynh muốn con có một “gia sư” đồng hành 1:1 nhưng không đủ khả năng chi trả gia sư người thật ở mức giá hiện tại.</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Giải pháp (khung nền chung cho cả 2 Option — mỗi Option có positioning/USP riêng, xem slide chi tiết)</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Positioning Statement</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Đối với phụ huynh muốn con có một gia sư đồng hành theo sát nhưng không đủ khả năng chi trả gia sư người thật — Edupia Class là gia sư AI 1:1, luôn sẵn sàng, theo dõi liên tục và can thiệp đúng lúc.</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USP (dự thảo)</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“Gia sư AI 1:1 luôn sẵn sàng, theo dõi và can thiệp liên tục — mẫu hình ‘AI song hành’ đã vận hành thật ở quy mô lớn tại thị trường khác, lần đầu áp dụng tại Việt Nam.”</a:t>
            </a:r>
            <a:endParaRPr lang="en-US" sz="13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3 — GIA SƯ AI 1:1</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Concept 3: Cấu trúc sản phẩm</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Bef>
                <a:spcPts val="400"/>
              </a:spcBef>
              <a:spcAft>
                <a:spcPts val="100"/>
              </a:spcAft>
              <a:buNone/>
            </a:pPr>
            <a:r>
              <a:rPr lang="en-US" sz="1400" i="1" dirty="0">
                <a:solidFill>
                  <a:srgbClr val="5B6472"/>
                </a:solidFill>
                <a:latin typeface="Calibri" pitchFamily="34" charset="0"/>
                <a:ea typeface="Calibri" pitchFamily="34" charset="-122"/>
                <a:cs typeface="Calibri" pitchFamily="34" charset="-120"/>
              </a:rPr>
              <a:t>2 trục lựa chọn độc lập, có thể kết hợp với nhau.</a:t>
            </a:r>
            <a:endParaRPr lang="en-US" sz="1400" dirty="0"/>
          </a:p>
          <a:p>
            <a:pPr indent="0" marL="0">
              <a:lnSpc>
                <a:spcPct val="105000"/>
              </a:lnSpc>
              <a:spcBef>
                <a:spcPts val="1000"/>
              </a:spcBef>
              <a:spcAft>
                <a:spcPts val="200"/>
              </a:spcAft>
              <a:buNone/>
            </a:pPr>
            <a:r>
              <a:rPr lang="en-US" sz="1600" b="1" dirty="0">
                <a:solidFill>
                  <a:srgbClr val="2F6FED"/>
                </a:solidFill>
                <a:latin typeface="Calibri" pitchFamily="34" charset="0"/>
                <a:ea typeface="Calibri" pitchFamily="34" charset="-122"/>
                <a:cs typeface="Calibri" pitchFamily="34" charset="-120"/>
              </a:rPr>
              <a:t>Trục 1 — “AI xuất hiện dưới hình hài nào” (persona)</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Option 3.1 (AI nhân hoá giáo viên ngôi sao) hoặc Option 3.2 (AI tích hợp mascot + gamification hoá) — xem 2 slide chi tiết tiếp theo.</a:t>
            </a:r>
            <a:endParaRPr lang="en-US" sz="1400" dirty="0"/>
          </a:p>
          <a:p>
            <a:pPr indent="0" marL="0">
              <a:lnSpc>
                <a:spcPct val="105000"/>
              </a:lnSpc>
              <a:spcBef>
                <a:spcPts val="1000"/>
              </a:spcBef>
              <a:spcAft>
                <a:spcPts val="200"/>
              </a:spcAft>
              <a:buNone/>
            </a:pPr>
            <a:r>
              <a:rPr lang="en-US" sz="1600" b="1" dirty="0">
                <a:solidFill>
                  <a:srgbClr val="2F6FED"/>
                </a:solidFill>
                <a:latin typeface="Calibri" pitchFamily="34" charset="0"/>
                <a:ea typeface="Calibri" pitchFamily="34" charset="-122"/>
                <a:cs typeface="Calibri" pitchFamily="34" charset="-120"/>
              </a:rPr>
              <a:t>Trục 2 — “AI làm gì” (cơ chế kỹ thuật)</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Phương án A — “AI Song Hành”: AI giám sát/nhắc bài/phát hiện lỗ hổng liên tục cả tuần, GVCN chỉ can thiệp khi có ngoại lệ.</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Phương án B — “AI luyện hội thoại”: AI hội thoại giọng nói thời gian thực — gần với hướng nâng cấp Speak đã có.</a:t>
            </a:r>
            <a:endParaRPr lang="en-US" sz="14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3 / OPTION 3.1</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Option 3.1: AI nhân hóa giáo viên ngôi sao</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Aft>
                <a:spcPts val="200"/>
              </a:spcAft>
              <a:buNone/>
            </a:pPr>
            <a:r>
              <a:rPr lang="en-US" sz="1250" b="1" dirty="0">
                <a:solidFill>
                  <a:srgbClr val="2F6FED"/>
                </a:solidFill>
                <a:latin typeface="Calibri" pitchFamily="34" charset="0"/>
                <a:ea typeface="Calibri" pitchFamily="34" charset="-122"/>
                <a:cs typeface="Calibri" pitchFamily="34" charset="-120"/>
              </a:rPr>
              <a:t>Ý tưởng cốt lõi</a:t>
            </a:r>
            <a:endParaRPr lang="en-US" sz="1250" dirty="0"/>
          </a:p>
          <a:p>
            <a:pPr marL="177800" indent="-177800">
              <a:lnSpc>
                <a:spcPct val="105000"/>
              </a:lnSpc>
              <a:spcAft>
                <a:spcPts val="400"/>
              </a:spcAft>
              <a:buSzPct val="100000"/>
              <a:buChar char="•"/>
            </a:pPr>
            <a:r>
              <a:rPr lang="en-US" sz="1050" dirty="0">
                <a:solidFill>
                  <a:srgbClr val="1F2A44"/>
                </a:solidFill>
                <a:latin typeface="Calibri" pitchFamily="34" charset="0"/>
                <a:ea typeface="Calibri" pitchFamily="34" charset="-122"/>
                <a:cs typeface="Calibri" pitchFamily="34" charset="-120"/>
              </a:rPr>
              <a:t>AI mang danh tính/giọng nói/phong cách một “giáo viên ngôi sao” cụ thể — nhân bản chất lượng giảng dạy ra quy mô lớn.</a:t>
            </a:r>
            <a:endParaRPr lang="en-US" sz="1250" dirty="0"/>
          </a:p>
          <a:p>
            <a:pPr marL="177800" indent="-177800">
              <a:lnSpc>
                <a:spcPct val="105000"/>
              </a:lnSpc>
              <a:spcAft>
                <a:spcPts val="400"/>
              </a:spcAft>
              <a:buSzPct val="100000"/>
              <a:buChar char="•"/>
            </a:pPr>
            <a:r>
              <a:rPr lang="en-US" sz="1050" dirty="0">
                <a:solidFill>
                  <a:srgbClr val="1F2A44"/>
                </a:solidFill>
                <a:latin typeface="Calibri" pitchFamily="34" charset="0"/>
                <a:ea typeface="Calibri" pitchFamily="34" charset="-122"/>
                <a:cs typeface="Calibri" pitchFamily="34" charset="-120"/>
              </a:rPr>
              <a:t>● Gợi lại cơ chế kinh tế đã chứng minh thật ở mô hình gia sư ngôi sao Hong Kong: 1 GV livestream tới 1.000 học sinh tạo doanh thu tương đương 20 lớp truyền thống trên 1 lương GV — nhưng ở đó hoàn toàn là người thật, chưa có lớp AI nào làm vậy.</a:t>
            </a:r>
            <a:endParaRPr lang="en-US" sz="1250" dirty="0"/>
          </a:p>
          <a:p>
            <a:pPr indent="0" marL="0">
              <a:lnSpc>
                <a:spcPct val="105000"/>
              </a:lnSpc>
              <a:spcBef>
                <a:spcPts val="1000"/>
              </a:spcBef>
              <a:spcAft>
                <a:spcPts val="200"/>
              </a:spcAft>
              <a:buNone/>
            </a:pPr>
            <a:r>
              <a:rPr lang="en-US" sz="1250" b="1" dirty="0">
                <a:solidFill>
                  <a:srgbClr val="2F6FED"/>
                </a:solidFill>
                <a:latin typeface="Calibri" pitchFamily="34" charset="0"/>
                <a:ea typeface="Calibri" pitchFamily="34" charset="-122"/>
                <a:cs typeface="Calibri" pitchFamily="34" charset="-120"/>
              </a:rPr>
              <a:t>Khách hàng mục tiêu</a:t>
            </a:r>
            <a:endParaRPr lang="en-US" sz="1250" dirty="0"/>
          </a:p>
          <a:p>
            <a:pPr indent="0" marL="0">
              <a:lnSpc>
                <a:spcPct val="105000"/>
              </a:lnSpc>
              <a:spcBef>
                <a:spcPts val="400"/>
              </a:spcBef>
              <a:spcAft>
                <a:spcPts val="100"/>
              </a:spcAft>
              <a:buNone/>
            </a:pPr>
            <a:r>
              <a:rPr lang="en-US" sz="1050" i="1" dirty="0">
                <a:solidFill>
                  <a:srgbClr val="5B6472"/>
                </a:solidFill>
                <a:latin typeface="Calibri" pitchFamily="34" charset="0"/>
                <a:ea typeface="Calibri" pitchFamily="34" charset="-122"/>
                <a:cs typeface="Calibri" pitchFamily="34" charset="-120"/>
              </a:rPr>
              <a:t>Phân khúc mục tiêu</a:t>
            </a:r>
            <a:endParaRPr lang="en-US" sz="1250" dirty="0"/>
          </a:p>
          <a:p>
            <a:pPr indent="0" marL="0">
              <a:lnSpc>
                <a:spcPct val="105000"/>
              </a:lnSpc>
              <a:spcAft>
                <a:spcPts val="400"/>
              </a:spcAft>
              <a:buNone/>
            </a:pPr>
            <a:r>
              <a:rPr lang="en-US" sz="1050" dirty="0">
                <a:solidFill>
                  <a:srgbClr val="1F2A44"/>
                </a:solidFill>
                <a:latin typeface="Calibri" pitchFamily="34" charset="0"/>
                <a:ea typeface="Calibri" pitchFamily="34" charset="-122"/>
                <a:cs typeface="Calibri" pitchFamily="34" charset="-120"/>
              </a:rPr>
              <a:t>Phụ huynh muốn con học với một “giáo viên giỏi nhất” nhưng không đủ khả năng chi trả gia sư ngôi sao người thật — niềm tin neo vào thương hiệu/track-record giáo viên cụ thể, gần với insight thị trường Hong Kong: phụ huynh quyết định mua theo track-record thi cử/thương hiệu cá nhân của GV, không phải phương pháp sư phạm.</a:t>
            </a:r>
            <a:endParaRPr lang="en-US" sz="1250" dirty="0"/>
          </a:p>
          <a:p>
            <a:pPr indent="0" marL="0">
              <a:lnSpc>
                <a:spcPct val="105000"/>
              </a:lnSpc>
              <a:spcBef>
                <a:spcPts val="1000"/>
              </a:spcBef>
              <a:spcAft>
                <a:spcPts val="200"/>
              </a:spcAft>
              <a:buNone/>
            </a:pPr>
            <a:r>
              <a:rPr lang="en-US" sz="1250" b="1" dirty="0">
                <a:solidFill>
                  <a:srgbClr val="2F6FED"/>
                </a:solidFill>
                <a:latin typeface="Calibri" pitchFamily="34" charset="0"/>
                <a:ea typeface="Calibri" pitchFamily="34" charset="-122"/>
                <a:cs typeface="Calibri" pitchFamily="34" charset="-120"/>
              </a:rPr>
              <a:t>Giải pháp</a:t>
            </a:r>
            <a:endParaRPr lang="en-US" sz="1250" dirty="0"/>
          </a:p>
          <a:p>
            <a:pPr indent="0" marL="0">
              <a:lnSpc>
                <a:spcPct val="105000"/>
              </a:lnSpc>
              <a:spcBef>
                <a:spcPts val="400"/>
              </a:spcBef>
              <a:spcAft>
                <a:spcPts val="100"/>
              </a:spcAft>
              <a:buNone/>
            </a:pPr>
            <a:r>
              <a:rPr lang="en-US" sz="1050" i="1" dirty="0">
                <a:solidFill>
                  <a:srgbClr val="5B6472"/>
                </a:solidFill>
                <a:latin typeface="Calibri" pitchFamily="34" charset="0"/>
                <a:ea typeface="Calibri" pitchFamily="34" charset="-122"/>
                <a:cs typeface="Calibri" pitchFamily="34" charset="-120"/>
              </a:rPr>
              <a:t>Positioning Statement (dự thảo)</a:t>
            </a:r>
            <a:endParaRPr lang="en-US" sz="1250" dirty="0"/>
          </a:p>
          <a:p>
            <a:pPr indent="0" marL="0">
              <a:lnSpc>
                <a:spcPct val="105000"/>
              </a:lnSpc>
              <a:spcAft>
                <a:spcPts val="400"/>
              </a:spcAft>
              <a:buNone/>
            </a:pPr>
            <a:r>
              <a:rPr lang="en-US" sz="1050" dirty="0">
                <a:solidFill>
                  <a:srgbClr val="1F2A44"/>
                </a:solidFill>
                <a:latin typeface="Calibri" pitchFamily="34" charset="0"/>
                <a:ea typeface="Calibri" pitchFamily="34" charset="-122"/>
                <a:cs typeface="Calibri" pitchFamily="34" charset="-120"/>
              </a:rPr>
              <a:t>Đối với phụ huynh muốn con học với một “giáo viên giỏi nhất” nhưng không đủ khả năng chi trả gia sư ngôi sao người thật — Edupia Class là AI mang phong cách và chất lượng giảng dạy của một giáo viên ngôi sao, sẵn sàng mọi lúc.</a:t>
            </a:r>
            <a:endParaRPr lang="en-US" sz="1250" dirty="0"/>
          </a:p>
          <a:p>
            <a:pPr indent="0" marL="0">
              <a:lnSpc>
                <a:spcPct val="105000"/>
              </a:lnSpc>
              <a:spcBef>
                <a:spcPts val="400"/>
              </a:spcBef>
              <a:spcAft>
                <a:spcPts val="100"/>
              </a:spcAft>
              <a:buNone/>
            </a:pPr>
            <a:r>
              <a:rPr lang="en-US" sz="1050" i="1" dirty="0">
                <a:solidFill>
                  <a:srgbClr val="5B6472"/>
                </a:solidFill>
                <a:latin typeface="Calibri" pitchFamily="34" charset="0"/>
                <a:ea typeface="Calibri" pitchFamily="34" charset="-122"/>
                <a:cs typeface="Calibri" pitchFamily="34" charset="-120"/>
              </a:rPr>
              <a:t>USP (dự thảo)</a:t>
            </a:r>
            <a:endParaRPr lang="en-US" sz="1250" dirty="0"/>
          </a:p>
          <a:p>
            <a:pPr indent="0" marL="0">
              <a:lnSpc>
                <a:spcPct val="105000"/>
              </a:lnSpc>
              <a:spcAft>
                <a:spcPts val="400"/>
              </a:spcAft>
              <a:buNone/>
            </a:pPr>
            <a:r>
              <a:rPr lang="en-US" sz="1050" dirty="0">
                <a:solidFill>
                  <a:srgbClr val="1F2A44"/>
                </a:solidFill>
                <a:latin typeface="Calibri" pitchFamily="34" charset="0"/>
                <a:ea typeface="Calibri" pitchFamily="34" charset="-122"/>
                <a:cs typeface="Calibri" pitchFamily="34" charset="-120"/>
              </a:rPr>
              <a:t>AI mượn đúng cơ chế niềm tin đã chứng minh ở mô hình gia sư ngôi sao — thương hiệu giáo viên là lý do mua hàng, khác với AI trung tính/vô danh.</a:t>
            </a:r>
            <a:endParaRPr lang="en-US" sz="1250" dirty="0"/>
          </a:p>
          <a:p>
            <a:pPr indent="0" marL="0">
              <a:lnSpc>
                <a:spcPct val="105000"/>
              </a:lnSpc>
              <a:spcBef>
                <a:spcPts val="1000"/>
              </a:spcBef>
              <a:spcAft>
                <a:spcPts val="200"/>
              </a:spcAft>
              <a:buNone/>
            </a:pPr>
            <a:r>
              <a:rPr lang="en-US" sz="1250" b="1" dirty="0">
                <a:solidFill>
                  <a:srgbClr val="2F6FED"/>
                </a:solidFill>
                <a:latin typeface="Calibri" pitchFamily="34" charset="0"/>
                <a:ea typeface="Calibri" pitchFamily="34" charset="-122"/>
                <a:cs typeface="Calibri" pitchFamily="34" charset="-120"/>
              </a:rPr>
              <a:t>Hướng thiết kế</a:t>
            </a:r>
            <a:endParaRPr lang="en-US" sz="1250" dirty="0"/>
          </a:p>
          <a:p>
            <a:pPr marL="177800" indent="-177800">
              <a:lnSpc>
                <a:spcPct val="105000"/>
              </a:lnSpc>
              <a:spcAft>
                <a:spcPts val="400"/>
              </a:spcAft>
              <a:buSzPct val="100000"/>
              <a:buChar char="•"/>
            </a:pPr>
            <a:r>
              <a:rPr lang="en-US" sz="1050" dirty="0">
                <a:solidFill>
                  <a:srgbClr val="1F2A44"/>
                </a:solidFill>
                <a:latin typeface="Calibri" pitchFamily="34" charset="0"/>
                <a:ea typeface="Calibri" pitchFamily="34" charset="-122"/>
                <a:cs typeface="Calibri" pitchFamily="34" charset="-120"/>
              </a:rPr>
              <a:t>Nên xây một nhân vật giáo viên thương hiệu nguyên bản (không nhân bản giọng nói/hình ảnh một GV thật cụ thể) — gần với cách Hong Kong xây “thương hiệu GV ngôi sao” qua track-record + marketing hơn là qua công nghệ nhân bản người thật.</a:t>
            </a:r>
            <a:endParaRPr lang="en-US" sz="1250" dirty="0"/>
          </a:p>
          <a:p>
            <a:pPr marL="177800" indent="-177800">
              <a:lnSpc>
                <a:spcPct val="105000"/>
              </a:lnSpc>
              <a:spcAft>
                <a:spcPts val="400"/>
              </a:spcAft>
              <a:buSzPct val="100000"/>
              <a:buChar char="•"/>
            </a:pPr>
            <a:r>
              <a:rPr lang="en-US" sz="1050" dirty="0">
                <a:solidFill>
                  <a:srgbClr val="1F2A44"/>
                </a:solidFill>
                <a:latin typeface="Calibri" pitchFamily="34" charset="0"/>
                <a:ea typeface="Calibri" pitchFamily="34" charset="-122"/>
                <a:cs typeface="Calibri" pitchFamily="34" charset="-120"/>
              </a:rPr>
              <a:t>Về bản chất, Option 3.1 gần với bài toán thương hiệu/marketing hơn là một bài toán công nghệ AI thuần túy — khác Option 3.2.</a:t>
            </a:r>
            <a:endParaRPr lang="en-US" sz="125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3 / OPTION 3.2</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Option 3.2: AI tích hợp mascot + gamification hóa</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indent="0" marL="0">
              <a:lnSpc>
                <a:spcPct val="105000"/>
              </a:lnSpc>
              <a:spcAft>
                <a:spcPts val="200"/>
              </a:spcAft>
              <a:buNone/>
            </a:pPr>
            <a:r>
              <a:rPr lang="en-US" sz="1300" b="1" dirty="0">
                <a:solidFill>
                  <a:srgbClr val="2F6FED"/>
                </a:solidFill>
                <a:latin typeface="Calibri" pitchFamily="34" charset="0"/>
                <a:ea typeface="Calibri" pitchFamily="34" charset="-122"/>
                <a:cs typeface="Calibri" pitchFamily="34" charset="-120"/>
              </a:rPr>
              <a:t>Ý tưởng cốt lõi</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AI xuất hiện qua một nhân vật mascot (hoạt hình/con vật/giả tưởng) gắn với cơ chế trò chơi hoá (điểm, streak, cấp độ, phần thưởng) — mascot không chỉ trang trí mà là giao diện của chính lớp cá nhân hoá AI.</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 Theo mẫu Duolingo (hệ thống “Birdbrain” cá nhân hoá ~1,25 tỷ bài tập/ngày) và Prodigy Math (thuật toán tự phát hiện điểm mạnh/yếu, giữ học sinh trong vùng phát triển gần nhất).</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Khách hàng mục tiêu</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Phân khúc mục tiêu</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Đối tượng trải nghiệm trực tiếp mở rộng ra chính học sinh, không chỉ phụ huynh là người quyết định mua — job chính là hứng thú/động lực học qua cơ chế trò chơi, khác về bản chất với job “có người lớn đồng hành đáng tin cậy” của Option 3.1. ● Bằng chứng học thuật (2 nghiên cứu peer-reviewed): trò chơi hoá cải thiện thật hứng thú/động lực trong lúc dùng, hiệu ứng giảm nhẹ sau khi ngừng can thiệp.</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Giải pháp</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Positioning Statement (dự thảo)</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Đối với phụ huynh muốn con vừa học vừa hứng thú, không phải ép học — Edupia Class có một người bạn AI đồng hành dưới hình hài nhân vật quen thuộc, biến việc luyện tập thành hành trình game hoá nhưng vẫn bám sát đúng tiến độ học thật của con.</a:t>
            </a:r>
            <a:endParaRPr lang="en-US" sz="1300" dirty="0"/>
          </a:p>
          <a:p>
            <a:pPr indent="0" marL="0">
              <a:lnSpc>
                <a:spcPct val="105000"/>
              </a:lnSpc>
              <a:spcBef>
                <a:spcPts val="400"/>
              </a:spcBef>
              <a:spcAft>
                <a:spcPts val="100"/>
              </a:spcAft>
              <a:buNone/>
            </a:pPr>
            <a:r>
              <a:rPr lang="en-US" sz="1100" i="1" dirty="0">
                <a:solidFill>
                  <a:srgbClr val="5B6472"/>
                </a:solidFill>
                <a:latin typeface="Calibri" pitchFamily="34" charset="0"/>
                <a:ea typeface="Calibri" pitchFamily="34" charset="-122"/>
                <a:cs typeface="Calibri" pitchFamily="34" charset="-120"/>
              </a:rPr>
              <a:t>USP (dự thảo)</a:t>
            </a:r>
            <a:endParaRPr lang="en-US" sz="1300" dirty="0"/>
          </a:p>
          <a:p>
            <a:pPr indent="0" marL="0">
              <a:lnSpc>
                <a:spcPct val="105000"/>
              </a:lnSpc>
              <a:spcAft>
                <a:spcPts val="400"/>
              </a:spcAft>
              <a:buNone/>
            </a:pPr>
            <a:r>
              <a:rPr lang="en-US" sz="1100" dirty="0">
                <a:solidFill>
                  <a:srgbClr val="1F2A44"/>
                </a:solidFill>
                <a:latin typeface="Calibri" pitchFamily="34" charset="0"/>
                <a:ea typeface="Calibri" pitchFamily="34" charset="-122"/>
                <a:cs typeface="Calibri" pitchFamily="34" charset="-120"/>
              </a:rPr>
              <a:t>Mascot phản ánh đúng dữ liệu học tập cá nhân hoá của từng học sinh — khác với mascot chỉ trang trí, không có AI thật đứng sau.</a:t>
            </a:r>
            <a:endParaRPr lang="en-US" sz="1300" dirty="0"/>
          </a:p>
          <a:p>
            <a:pPr indent="0" marL="0">
              <a:lnSpc>
                <a:spcPct val="105000"/>
              </a:lnSpc>
              <a:spcBef>
                <a:spcPts val="1000"/>
              </a:spcBef>
              <a:spcAft>
                <a:spcPts val="200"/>
              </a:spcAft>
              <a:buNone/>
            </a:pPr>
            <a:r>
              <a:rPr lang="en-US" sz="1300" b="1" dirty="0">
                <a:solidFill>
                  <a:srgbClr val="2F6FED"/>
                </a:solidFill>
                <a:latin typeface="Calibri" pitchFamily="34" charset="0"/>
                <a:ea typeface="Calibri" pitchFamily="34" charset="-122"/>
                <a:cs typeface="Calibri" pitchFamily="34" charset="-120"/>
              </a:rPr>
              <a:t>Hướng thiết kế</a:t>
            </a:r>
            <a:endParaRPr lang="en-US" sz="1300" dirty="0"/>
          </a:p>
          <a:p>
            <a:pPr marL="177800" indent="-177800">
              <a:lnSpc>
                <a:spcPct val="105000"/>
              </a:lnSpc>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Mascot cần gắn AI cá nhân hoá thật, dùng chung hạ tầng Adaptive Learning đang xây cho Option 1.2 — không phải một lớp vỏ UX trang trí bọc ngoài nội dung tĩnh.</a:t>
            </a:r>
            <a:endParaRPr lang="en-US" sz="13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CONCEPT 3 — GIA SƯ AI 1:1</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Concept 3: Lộ trình triển khai — 3 giai đoạn xây niềm tin</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07008"/>
            <a:ext cx="11274552" cy="384048"/>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Đây không chỉ là lộ trình kỹ thuật “thay con người bằng AI” tăng dần — mà là một lộ trình xây niềm tin. Cơ chế “con người luôn là chốt chặn cuối” giữ nguyên xuyên suốt cả 3 giai đoạn.</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11274552" cy="4828032"/>
        </p:xfrm>
        <a:graphic>
          <a:graphicData uri="http://schemas.openxmlformats.org/drawingml/2006/table">
            <a:tbl>
              <a:tblPr/>
              <a:tblGrid>
                <a:gridCol w="1280160"/>
                <a:gridCol w="3291840"/>
                <a:gridCol w="3200400"/>
                <a:gridCol w="3776472"/>
              </a:tblGrid>
              <a:tr h="1207008">
                <a:tc>
                  <a:txBody>
                    <a:bodyPr/>
                    <a:lstStyle/>
                    <a:p>
                      <a:pPr algn="l" indent="0" marL="0">
                        <a:buNone/>
                      </a:pPr>
                      <a:r>
                        <a:rPr lang="en-US" sz="1000" b="1" dirty="0">
                          <a:solidFill>
                            <a:srgbClr val="FFFFFF"/>
                          </a:solidFill>
                        </a:rPr>
                        <a:t>Giai đoạn</a:t>
                      </a:r>
                      <a:endParaRPr lang="en-US" sz="10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rPr>
                        <a:t>Vai trò AI</a:t>
                      </a:r>
                      <a:endParaRPr lang="en-US" sz="10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rPr>
                        <a:t>Vai trò con người</a:t>
                      </a:r>
                      <a:endParaRPr lang="en-US" sz="10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rPr>
                        <a:t>Cơ chế xác nhận niềm tin</a:t>
                      </a:r>
                      <a:endParaRPr lang="en-US" sz="10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r>
              <a:tr h="1207008">
                <a:tc>
                  <a:txBody>
                    <a:bodyPr/>
                    <a:lstStyle/>
                    <a:p>
                      <a:pPr algn="l" indent="0" marL="0">
                        <a:buNone/>
                      </a:pPr>
                      <a:r>
                        <a:rPr lang="en-US" sz="950" b="1" dirty="0">
                          <a:solidFill>
                            <a:srgbClr val="2F6FED"/>
                          </a:solidFill>
                        </a:rPr>
                        <a:t>Giai đoạn 1</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44"/>
                          </a:solidFill>
                        </a:rPr>
                        <a:t>“Trợ giảng”: chấm-chữa bài sau buổi học; tương tác liên tục với học sinh lúc tự học/làm bài tập về nhà</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44"/>
                          </a:solidFill>
                        </a:rPr>
                        <a:t>GV thật vẫn dạy buổi học sống (giữ nguyên mô hình Edupia Tutor hiện tại)</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44"/>
                          </a:solidFill>
                        </a:rPr>
                        <a:t>GV xem dữ liệu học tập AI đã thu thập/phân tích trước mỗi buổi học sống — buổi học được điều chỉnh dựa trên dữ liệu đó</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1207008">
                <a:tc>
                  <a:txBody>
                    <a:bodyPr/>
                    <a:lstStyle/>
                    <a:p>
                      <a:pPr algn="l" indent="0" marL="0">
                        <a:buNone/>
                      </a:pPr>
                      <a:r>
                        <a:rPr lang="en-US" sz="950" b="1" dirty="0">
                          <a:solidFill>
                            <a:srgbClr val="2F6FED"/>
                          </a:solidFill>
                        </a:rPr>
                        <a:t>Giai đoạn 2</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950" dirty="0">
                          <a:solidFill>
                            <a:srgbClr val="1F2A44"/>
                          </a:solidFill>
                        </a:rPr>
                        <a:t>Dạy trực tiếp trong lớp học online</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950" dirty="0">
                          <a:solidFill>
                            <a:srgbClr val="1F2A44"/>
                          </a:solidFill>
                        </a:rPr>
                        <a:t>GV thật đóng vai trợ giảng — hỗ trợ/giám sát</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950" dirty="0">
                          <a:solidFill>
                            <a:srgbClr val="1F2A44"/>
                          </a:solidFill>
                        </a:rPr>
                        <a:t>Con người vẫn hiện diện trực tiếp trong lớp, có thể can thiệp ngay khi cần</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r h="1207008">
                <a:tc>
                  <a:txBody>
                    <a:bodyPr/>
                    <a:lstStyle/>
                    <a:p>
                      <a:pPr algn="l" indent="0" marL="0">
                        <a:buNone/>
                      </a:pPr>
                      <a:r>
                        <a:rPr lang="en-US" sz="950" b="1" dirty="0">
                          <a:solidFill>
                            <a:srgbClr val="2F6FED"/>
                          </a:solidFill>
                        </a:rPr>
                        <a:t>Giai đoạn 3</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44"/>
                          </a:solidFill>
                        </a:rPr>
                        <a:t>Chạy độc lập hoàn toàn trong lớp; có thể có “trợ giảng AI” khác hỗ trợ/giám sát chéo</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44"/>
                          </a:solidFill>
                        </a:rPr>
                        <a:t>Không còn hiện diện live trong từng buổi — chuyển sang vai trò giám sát/audit định kỳ</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A44"/>
                          </a:solidFill>
                        </a:rPr>
                        <a:t>Con người thực hiện giám sát chéo/audit định kỳ trên output của AI — vẫn là cơ chế chốt chặn con người, chỉ đổi tần suất/hình thức so với Giai đoạn 1-2</a:t>
                      </a:r>
                      <a:endParaRPr lang="en-US" sz="9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8"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3 — CASE STUDY</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Case study cho Concept 2: Duolingo mở rộng sang môn mới</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 Duolingo ra mắt Music (11/2023, cùng đợt nâng cấp Math) và Chess (2025) như các môn học mới bên cạnh ngôn ngữ, dùng chung engine gamification/mascot đã có.</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 Chess trở thành môn tăng trưởng nhanh nhất trong lịch sử Duolingo — vượt 1 triệu người dùng hoạt động hàng ngày (DAU) chỉ trong quý ra mắt.</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Liên hệ Concept 2: minh chứng một nền tảng học ngôn ngữ có thể mở rộng sang môn học khác (không liên quan ngôn ngữ) và vẫn giữ được engagement, nếu tận dụng đúng hạ tầng gamification sẵn có — ủng hộ hướng Option 2.2/2.3 (môn bổ trợ) hơn Option 2.1 (môn cạnh tranh nội bộ).</a:t>
            </a:r>
            <a:endParaRPr lang="en-US" sz="1400" dirty="0"/>
          </a:p>
          <a:p>
            <a:pPr indent="0" marL="0">
              <a:lnSpc>
                <a:spcPct val="105000"/>
              </a:lnSpc>
              <a:spcBef>
                <a:spcPts val="400"/>
              </a:spcBef>
              <a:spcAft>
                <a:spcPts val="100"/>
              </a:spcAft>
              <a:buNone/>
            </a:pPr>
            <a:r>
              <a:rPr lang="en-US" sz="1400" i="1" dirty="0">
                <a:solidFill>
                  <a:srgbClr val="5B6472"/>
                </a:solidFill>
                <a:latin typeface="Calibri" pitchFamily="34" charset="0"/>
                <a:ea typeface="Calibri" pitchFamily="34" charset="-122"/>
                <a:cs typeface="Calibri" pitchFamily="34" charset="-120"/>
              </a:rPr>
              <a:t>Nguồn: Entrepreneur, VentureBeat, blog Duolingo (04-2025); Seeking Alpha (11-2023).</a:t>
            </a:r>
            <a:endParaRPr lang="en-US" sz="14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3 — CASE STUDY</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Case study cho Concept 3: mô hình AI “song hành” tại Trung Quốc</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 Squirrel AI — công ty AI-tutor Trung Quốc, tuyên bố đã phục vụ hơn 24 triệu học sinh qua hơn 1.700 trung tâm học tập, dùng “adaptive model” chẩn đoán và cá nhân hoá lộ trình học K-12.</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 TAL/Xueersi — một trong những công ty edtech lớn nhất Trung Quốc — ra mắt “AI song hành 2 GV” (lớp tương tác AI + GV thật) tháng 6/2026: GV thật dạy nội dung cốt lõi, AI đảm nhiệm giám sát/trả lời/bù lỗ hổng liên tục. Doushen vận hành mô hình tương tự.</a:t>
            </a:r>
            <a:endParaRPr lang="en-US" sz="1400" dirty="0"/>
          </a:p>
          <a:p>
            <a:pPr marL="177800" indent="-177800">
              <a:lnSpc>
                <a:spcPct val="105000"/>
              </a:lnSpc>
              <a:spcAft>
                <a:spcPts val="400"/>
              </a:spcAft>
              <a:buSzPct val="100000"/>
              <a:buChar char="•"/>
            </a:pPr>
            <a:r>
              <a:rPr lang="en-US" sz="1400" dirty="0">
                <a:solidFill>
                  <a:srgbClr val="1F2A44"/>
                </a:solidFill>
                <a:latin typeface="Calibri" pitchFamily="34" charset="0"/>
                <a:ea typeface="Calibri" pitchFamily="34" charset="-122"/>
                <a:cs typeface="Calibri" pitchFamily="34" charset="-120"/>
              </a:rPr>
              <a:t>Liên hệ Concept 3: đây là bằng chứng vận hành thật (không chỉ ý tưởng) cho mẫu hình “AI Song Hành” (Phương án A) — Edupia Class sẽ đi tiên phong ở dải giá 390k VND (~$15-16/tháng), giữa 2 cực cao và thấp của thị trường AI-tutor toàn cầu hiện nay.</a:t>
            </a:r>
            <a:endParaRPr lang="en-US" sz="1400" dirty="0"/>
          </a:p>
          <a:p>
            <a:pPr indent="0" marL="0">
              <a:lnSpc>
                <a:spcPct val="105000"/>
              </a:lnSpc>
              <a:spcBef>
                <a:spcPts val="400"/>
              </a:spcBef>
              <a:spcAft>
                <a:spcPts val="100"/>
              </a:spcAft>
              <a:buNone/>
            </a:pPr>
            <a:r>
              <a:rPr lang="en-US" sz="1400" i="1" dirty="0">
                <a:solidFill>
                  <a:srgbClr val="5B6472"/>
                </a:solidFill>
                <a:latin typeface="Calibri" pitchFamily="34" charset="0"/>
                <a:ea typeface="Calibri" pitchFamily="34" charset="-122"/>
                <a:cs typeface="Calibri" pitchFamily="34" charset="-120"/>
              </a:rPr>
              <a:t>Nguồn: 02_discovery/research/market-ai-tutor-landscape-concept5-2026-08-17/research.md; HundrED, Wikipedia (Squirrel AI).</a:t>
            </a:r>
            <a:endParaRPr lang="en-US" sz="14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4 — KẾ HOẠCH TRIỂN KHAI</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Lộ trình 7 mốc (T8/2026 → T1/2027)</a:t>
            </a:r>
            <a:endParaRPr lang="en-US" sz="2500" dirty="0"/>
          </a:p>
        </p:txBody>
      </p:sp>
      <p:sp>
        <p:nvSpPr>
          <p:cNvPr id="4" name="Shape 2"/>
          <p:cNvSpPr/>
          <p:nvPr/>
        </p:nvSpPr>
        <p:spPr>
          <a:xfrm>
            <a:off x="457200" y="1115568"/>
            <a:ext cx="822960" cy="41148"/>
          </a:xfrm>
          <a:prstGeom prst="rect">
            <a:avLst/>
          </a:prstGeom>
          <a:solidFill>
            <a:srgbClr val="2F6FED"/>
          </a:solidFill>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11274552" cy="5102352"/>
        </p:xfrm>
        <a:graphic>
          <a:graphicData uri="http://schemas.openxmlformats.org/drawingml/2006/table">
            <a:tbl>
              <a:tblPr/>
              <a:tblGrid>
                <a:gridCol w="2743200"/>
                <a:gridCol w="8988552"/>
              </a:tblGrid>
              <a:tr h="637794">
                <a:tc>
                  <a:txBody>
                    <a:bodyPr/>
                    <a:lstStyle/>
                    <a:p>
                      <a:pPr algn="l" indent="0" marL="0">
                        <a:buNone/>
                      </a:pPr>
                      <a:r>
                        <a:rPr lang="en-US" sz="1250" b="1" dirty="0">
                          <a:solidFill>
                            <a:srgbClr val="FFFFFF"/>
                          </a:solidFill>
                        </a:rPr>
                        <a:t>Mốc</a:t>
                      </a:r>
                      <a:endParaRPr lang="en-US" sz="125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1250" b="1" dirty="0">
                          <a:solidFill>
                            <a:srgbClr val="FFFFFF"/>
                          </a:solidFill>
                        </a:rPr>
                        <a:t>Nội dung</a:t>
                      </a:r>
                      <a:endParaRPr lang="en-US" sz="125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r>
              <a:tr h="637794">
                <a:tc>
                  <a:txBody>
                    <a:bodyPr/>
                    <a:lstStyle/>
                    <a:p>
                      <a:pPr algn="l" indent="0" marL="0">
                        <a:buNone/>
                      </a:pPr>
                      <a:r>
                        <a:rPr lang="en-US" sz="1200" b="1" dirty="0">
                          <a:solidFill>
                            <a:srgbClr val="2F6FED"/>
                          </a:solidFill>
                        </a:rPr>
                        <a:t>Trước 31/08/2026</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44"/>
                          </a:solidFill>
                        </a:rPr>
                        <a:t>Trình bày slide concept trước BOD/team</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637794">
                <a:tc>
                  <a:txBody>
                    <a:bodyPr/>
                    <a:lstStyle/>
                    <a:p>
                      <a:pPr algn="l" indent="0" marL="0">
                        <a:buNone/>
                      </a:pPr>
                      <a:r>
                        <a:rPr lang="en-US" sz="1200" b="1" dirty="0">
                          <a:solidFill>
                            <a:srgbClr val="2F6FED"/>
                          </a:solidFill>
                        </a:rPr>
                        <a:t>01–15/09/2026</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1200" dirty="0">
                          <a:solidFill>
                            <a:srgbClr val="1F2A44"/>
                          </a:solidFill>
                        </a:rPr>
                        <a:t>Xây bảng hỏi và phương án khảo sát</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r h="637794">
                <a:tc>
                  <a:txBody>
                    <a:bodyPr/>
                    <a:lstStyle/>
                    <a:p>
                      <a:pPr algn="l" indent="0" marL="0">
                        <a:buNone/>
                      </a:pPr>
                      <a:r>
                        <a:rPr lang="en-US" sz="1200" b="1" dirty="0">
                          <a:solidFill>
                            <a:srgbClr val="2F6FED"/>
                          </a:solidFill>
                        </a:rPr>
                        <a:t>15/09–15/10/2026</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44"/>
                          </a:solidFill>
                        </a:rPr>
                        <a:t>Khảo sát thực tế ~100 phụ huynh Tier 3/4 — qua điện thoại + trực tiếp tận nhà</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637794">
                <a:tc>
                  <a:txBody>
                    <a:bodyPr/>
                    <a:lstStyle/>
                    <a:p>
                      <a:pPr algn="l" indent="0" marL="0">
                        <a:buNone/>
                      </a:pPr>
                      <a:r>
                        <a:rPr lang="en-US" sz="1200" b="1" dirty="0">
                          <a:solidFill>
                            <a:srgbClr val="2F6FED"/>
                          </a:solidFill>
                        </a:rPr>
                        <a:t>15/10–30/10/2026</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1200" dirty="0">
                          <a:solidFill>
                            <a:srgbClr val="1F2A44"/>
                          </a:solidFill>
                        </a:rPr>
                        <a:t>Xử lý kết quả khảo sát, chọn phương án concept, xây kịch bản bán hàng, chuẩn bị Marketing, đào tạo Sale</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r h="637794">
                <a:tc>
                  <a:txBody>
                    <a:bodyPr/>
                    <a:lstStyle/>
                    <a:p>
                      <a:pPr algn="l" indent="0" marL="0">
                        <a:buNone/>
                      </a:pPr>
                      <a:r>
                        <a:rPr lang="en-US" sz="1200" b="1" dirty="0">
                          <a:solidFill>
                            <a:srgbClr val="2F6FED"/>
                          </a:solidFill>
                        </a:rPr>
                        <a:t>Tháng 11/2026</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44"/>
                          </a:solidFill>
                        </a:rPr>
                        <a:t>Test bán vòng 1 — quảng cáo + Sale gọi điện, thu tiền thật để đo tỷ lệ chốt; sau đó hoàn tiền + tặng 1 tháng học trải nghiệm</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637794">
                <a:tc>
                  <a:txBody>
                    <a:bodyPr/>
                    <a:lstStyle/>
                    <a:p>
                      <a:pPr algn="l" indent="0" marL="0">
                        <a:buNone/>
                      </a:pPr>
                      <a:r>
                        <a:rPr lang="en-US" sz="1200" b="1" dirty="0">
                          <a:solidFill>
                            <a:srgbClr val="2F6FED"/>
                          </a:solidFill>
                        </a:rPr>
                        <a:t>Tháng 12/2026</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1200" dirty="0">
                          <a:solidFill>
                            <a:srgbClr val="1F2A44"/>
                          </a:solidFill>
                        </a:rPr>
                        <a:t>Làm mịn kịch bản/sản phẩm theo phản hồi vòng 1 → test bán vòng 2</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r h="637794">
                <a:tc>
                  <a:txBody>
                    <a:bodyPr/>
                    <a:lstStyle/>
                    <a:p>
                      <a:pPr algn="l" indent="0" marL="0">
                        <a:buNone/>
                      </a:pPr>
                      <a:r>
                        <a:rPr lang="en-US" sz="1200" b="1" dirty="0">
                          <a:solidFill>
                            <a:srgbClr val="2F6FED"/>
                          </a:solidFill>
                        </a:rPr>
                        <a:t>Tháng 1/2027</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44"/>
                          </a:solidFill>
                        </a:rPr>
                        <a:t>Đổ nguồn lực chính thức code/hoàn thiện sản phẩm — 1-6 tháng tuỳ concept được chọn</a:t>
                      </a:r>
                      <a:endParaRPr lang="en-US" sz="120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4"/>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21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5 — SƠ ĐỒ PHÂN CHIA TRÁCH NHIỆM</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RACI theo 4 bộ phận x từng giai đoạn</a:t>
            </a:r>
            <a:endParaRPr lang="en-US" sz="2500" dirty="0"/>
          </a:p>
        </p:txBody>
      </p:sp>
      <p:sp>
        <p:nvSpPr>
          <p:cNvPr id="4" name="Shape 2"/>
          <p:cNvSpPr/>
          <p:nvPr/>
        </p:nvSpPr>
        <p:spPr>
          <a:xfrm>
            <a:off x="457200" y="1115568"/>
            <a:ext cx="822960" cy="41148"/>
          </a:xfrm>
          <a:prstGeom prst="rect">
            <a:avLst/>
          </a:prstGeom>
          <a:solidFill>
            <a:srgbClr val="2F6FED"/>
          </a:solidFill>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11274552" cy="5102352"/>
        </p:xfrm>
        <a:graphic>
          <a:graphicData uri="http://schemas.openxmlformats.org/drawingml/2006/table">
            <a:tbl>
              <a:tblPr/>
              <a:tblGrid>
                <a:gridCol w="2011680"/>
                <a:gridCol w="2542032"/>
                <a:gridCol w="2542032"/>
                <a:gridCol w="2542032"/>
                <a:gridCol w="2551176"/>
              </a:tblGrid>
              <a:tr h="728907">
                <a:tc>
                  <a:txBody>
                    <a:bodyPr/>
                    <a:lstStyle/>
                    <a:p>
                      <a:pPr algn="l" indent="0" marL="0">
                        <a:buNone/>
                      </a:pPr>
                      <a:r>
                        <a:rPr lang="en-US" sz="900" b="1" dirty="0">
                          <a:solidFill>
                            <a:srgbClr val="FFFFFF"/>
                          </a:solidFill>
                        </a:rPr>
                        <a:t>Giai đoạn</a:t>
                      </a:r>
                      <a:endParaRPr lang="en-US" sz="9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rPr>
                        <a:t>Chiến lược</a:t>
                      </a:r>
                      <a:endParaRPr lang="en-US" sz="9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rPr>
                        <a:t>Sản phẩm &amp; Công nghệ</a:t>
                      </a:r>
                      <a:endParaRPr lang="en-US" sz="9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rPr>
                        <a:t>Marketing</a:t>
                      </a:r>
                      <a:endParaRPr lang="en-US" sz="9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rPr>
                        <a:t>Sales</a:t>
                      </a:r>
                      <a:endParaRPr lang="en-US" sz="900" dirty="0"/>
                    </a:p>
                  </a:txBody>
                  <a:tcPr marL="76200" marR="76200" marT="50800" marB="5080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B2A4A"/>
                    </a:solidFill>
                  </a:tcPr>
                </a:tc>
              </a:tr>
              <a:tr h="728907">
                <a:tc>
                  <a:txBody>
                    <a:bodyPr/>
                    <a:lstStyle/>
                    <a:p>
                      <a:pPr algn="l" indent="0" marL="0">
                        <a:buNone/>
                      </a:pPr>
                      <a:r>
                        <a:rPr lang="en-US" sz="850" b="1" dirty="0">
                          <a:solidFill>
                            <a:srgbClr val="2F6FED"/>
                          </a:solidFill>
                        </a:rPr>
                        <a:t>Trước 31/08 — Trình bày concept</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Cung cấp số liệu/định hướng “ao cá” 390-400k làm đầu vào; tham vấn nội dung slide</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Chủ trì xây &amp; trình bày slide 3 concept; điều phối nghiên cứu</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Tham vấn nội dung, chuẩn bị góp ý</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Tham vấn nội dung, chuẩn bị góp ý</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728907">
                <a:tc>
                  <a:txBody>
                    <a:bodyPr/>
                    <a:lstStyle/>
                    <a:p>
                      <a:pPr algn="l" indent="0" marL="0">
                        <a:buNone/>
                      </a:pPr>
                      <a:r>
                        <a:rPr lang="en-US" sz="850" b="1" dirty="0">
                          <a:solidFill>
                            <a:srgbClr val="2F6FED"/>
                          </a:solidFill>
                        </a:rPr>
                        <a:t>01/09–15/10 — Xây &amp; chạy khảo sát</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Theo dõi tiến độ, tham vấn tiêu chí đánh giá</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Chủ trì thiết kế bảng hỏi, điều phối khảo sát thực tế Tier 3/4</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Cử nhân sự tham gia khảo sát thực địa, góp ý bảng hỏi</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Cử nhân sự tham gia khảo sát thực địa, góp ý bảng hỏi</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r h="728907">
                <a:tc>
                  <a:txBody>
                    <a:bodyPr/>
                    <a:lstStyle/>
                    <a:p>
                      <a:pPr algn="l" indent="0" marL="0">
                        <a:buNone/>
                      </a:pPr>
                      <a:r>
                        <a:rPr lang="en-US" sz="850" b="1" dirty="0">
                          <a:solidFill>
                            <a:srgbClr val="2F6FED"/>
                          </a:solidFill>
                        </a:rPr>
                        <a:t>15/10–30/10 — Chọn phương án &amp; chuẩn bị bán</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Tham gia quyết định chọn concept cuối cùng</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Xử lý kết quả khảo sát, chủ trì chọn phương án</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Xây nội dung quảng cáo cho concept đã chọn</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Xây kịch bản tư vấn/cơ chế bán hàng, đào tạo đội Sale</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728907">
                <a:tc>
                  <a:txBody>
                    <a:bodyPr/>
                    <a:lstStyle/>
                    <a:p>
                      <a:pPr algn="l" indent="0" marL="0">
                        <a:buNone/>
                      </a:pPr>
                      <a:r>
                        <a:rPr lang="en-US" sz="850" b="1" dirty="0">
                          <a:solidFill>
                            <a:srgbClr val="2F6FED"/>
                          </a:solidFill>
                        </a:rPr>
                        <a:t>Tháng 11 — Test bán vòng 1</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Theo dõi kết quả, tham vấn quyết định tiếp theo</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Hỗ trợ kỹ thuật, theo dõi vận hành hoàn tiền</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Chạy chiến dịch quảng cáo thật</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Gọi điện tư vấn, thu tiền thật, đo tỷ lệ chốt</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r h="728907">
                <a:tc>
                  <a:txBody>
                    <a:bodyPr/>
                    <a:lstStyle/>
                    <a:p>
                      <a:pPr algn="l" indent="0" marL="0">
                        <a:buNone/>
                      </a:pPr>
                      <a:r>
                        <a:rPr lang="en-US" sz="850" b="1" dirty="0">
                          <a:solidFill>
                            <a:srgbClr val="2F6FED"/>
                          </a:solidFill>
                        </a:rPr>
                        <a:t>Tháng 12 — Làm mịn &amp; Test bán vòng 2</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Theo dõi kết quả 2 vòng, chuẩn bị đối chiếu</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Làm mịn sản phẩm theo phản hồi</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Làm mịn nội dung quảng cáo</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44"/>
                          </a:solidFill>
                        </a:rPr>
                        <a:t>Làm mịn kịch bản bán, chạy vòng 2</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728907">
                <a:tc>
                  <a:txBody>
                    <a:bodyPr/>
                    <a:lstStyle/>
                    <a:p>
                      <a:pPr algn="l" indent="0" marL="0">
                        <a:buNone/>
                      </a:pPr>
                      <a:r>
                        <a:rPr lang="en-US" sz="850" b="1" dirty="0">
                          <a:solidFill>
                            <a:srgbClr val="2F6FED"/>
                          </a:solidFill>
                        </a:rPr>
                        <a:t>Tháng 1/2027 — Bắt đầu xây dựng</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Phê duyệt ngân sách/nguồn lực (qua BOD)</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Đổ nguồn lực code/hoàn thiện sản phẩm</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c>
                  <a:txBody>
                    <a:bodyPr/>
                    <a:lstStyle/>
                    <a:p>
                      <a:pPr algn="l" indent="0" marL="0">
                        <a:buNone/>
                      </a:pPr>
                      <a:r>
                        <a:rPr lang="en-US" sz="850" dirty="0">
                          <a:solidFill>
                            <a:srgbClr val="1F2A44"/>
                          </a:solidFill>
                        </a:rPr>
                        <a:t>—</a:t>
                      </a:r>
                      <a:endParaRPr lang="en-US" sz="850" dirty="0"/>
                    </a:p>
                  </a:txBody>
                  <a:tcPr marL="76200" marR="76200" marT="50800" marB="5080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EAF1FE"/>
                    </a:solidFill>
                  </a:tcPr>
                </a:tc>
              </a:tr>
            </a:tbl>
          </a:graphicData>
        </a:graphic>
      </p:graphicFrame>
      <p:sp>
        <p:nvSpPr>
          <p:cNvPr id="6" name="Text 3"/>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4"/>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22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rtlCol="0" anchor="ctr"/>
          <a:lstStyle/>
          <a:p>
            <a:pPr indent="0" marL="0">
              <a:buNone/>
            </a:pPr>
            <a:r>
              <a:rPr lang="en-US" sz="1100" b="1" spc="100" kern="0" dirty="0">
                <a:solidFill>
                  <a:srgbClr val="2F6FED"/>
                </a:solidFill>
                <a:latin typeface="Calibri" pitchFamily="34" charset="0"/>
                <a:ea typeface="Calibri" pitchFamily="34" charset="-122"/>
                <a:cs typeface="Calibri" pitchFamily="34" charset="-120"/>
              </a:rPr>
              <a:t>PHẦN 6 — NEXT STEP</a:t>
            </a:r>
            <a:endParaRPr lang="en-US" sz="1100" dirty="0"/>
          </a:p>
        </p:txBody>
      </p:sp>
      <p:sp>
        <p:nvSpPr>
          <p:cNvPr id="3" name="Text 1"/>
          <p:cNvSpPr/>
          <p:nvPr/>
        </p:nvSpPr>
        <p:spPr>
          <a:xfrm>
            <a:off x="457200" y="512064"/>
            <a:ext cx="11274552" cy="640080"/>
          </a:xfrm>
          <a:prstGeom prst="rect">
            <a:avLst/>
          </a:prstGeom>
          <a:noFill/>
          <a:ln/>
        </p:spPr>
        <p:txBody>
          <a:bodyPr wrap="square" rtlCol="0" anchor="ctr"/>
          <a:lstStyle/>
          <a:p>
            <a:pPr indent="0" marL="0">
              <a:buNone/>
            </a:pPr>
            <a:r>
              <a:rPr lang="en-US" sz="2500" b="1" dirty="0">
                <a:solidFill>
                  <a:srgbClr val="1F2A44"/>
                </a:solidFill>
                <a:latin typeface="Calibri" pitchFamily="34" charset="0"/>
                <a:ea typeface="Calibri" pitchFamily="34" charset="-122"/>
                <a:cs typeface="Calibri" pitchFamily="34" charset="-120"/>
              </a:rPr>
              <a:t>Bước tiếp theo</a:t>
            </a:r>
            <a:endParaRPr lang="en-US" sz="2500" dirty="0"/>
          </a:p>
        </p:txBody>
      </p:sp>
      <p:sp>
        <p:nvSpPr>
          <p:cNvPr id="4" name="Shape 2"/>
          <p:cNvSpPr/>
          <p:nvPr/>
        </p:nvSpPr>
        <p:spPr>
          <a:xfrm>
            <a:off x="457200" y="1115568"/>
            <a:ext cx="822960" cy="41148"/>
          </a:xfrm>
          <a:prstGeom prst="rect">
            <a:avLst/>
          </a:prstGeom>
          <a:solidFill>
            <a:srgbClr val="2F6FED"/>
          </a:solidFill>
          <a:ln/>
        </p:spPr>
      </p:sp>
      <p:sp>
        <p:nvSpPr>
          <p:cNvPr id="5" name="Text 3"/>
          <p:cNvSpPr/>
          <p:nvPr/>
        </p:nvSpPr>
        <p:spPr>
          <a:xfrm>
            <a:off x="457200" y="1298448"/>
            <a:ext cx="11274552" cy="5148072"/>
          </a:xfrm>
          <a:prstGeom prst="rect">
            <a:avLst/>
          </a:prstGeom>
          <a:noFill/>
          <a:ln/>
        </p:spPr>
        <p:txBody>
          <a:bodyPr wrap="square" rtlCol="0" anchor="t"/>
          <a:lstStyle/>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Hoàn thiện slide này, trình bày nội bộ T6-T7 (21-22/08/2026) để thu thập góp ý và finalize.</a:t>
            </a:r>
            <a:endParaRPr lang="en-US" sz="1600" dirty="0"/>
          </a:p>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Từ tuần sau: chính thức thành lập Squad liên phòng ban (Sản phẩm, Công nghệ, Sales, Marketing, Chiến lược) để phối hợp vận hành dự án.</a:t>
            </a:r>
            <a:endParaRPr lang="en-US" sz="1600" dirty="0"/>
          </a:p>
          <a:p>
            <a:pPr marL="177800" indent="-177800">
              <a:lnSpc>
                <a:spcPct val="105000"/>
              </a:lnSpc>
              <a:spcAft>
                <a:spcPts val="400"/>
              </a:spcAft>
              <a:buSzPct val="100000"/>
              <a:buChar char="•"/>
            </a:pPr>
            <a:r>
              <a:rPr lang="en-US" sz="1600" dirty="0">
                <a:solidFill>
                  <a:srgbClr val="1F2A44"/>
                </a:solidFill>
                <a:latin typeface="Calibri" pitchFamily="34" charset="0"/>
                <a:ea typeface="Calibri" pitchFamily="34" charset="-122"/>
                <a:cs typeface="Calibri" pitchFamily="34" charset="-120"/>
              </a:rPr>
              <a:t>Bắt đầu trình bày với các bên liên quan (BOD và các bộ phận) từ tuần sau.</a:t>
            </a:r>
            <a:endParaRPr lang="en-US" sz="1600" dirty="0"/>
          </a:p>
        </p:txBody>
      </p:sp>
      <p:sp>
        <p:nvSpPr>
          <p:cNvPr id="6" name="Text 4"/>
          <p:cNvSpPr/>
          <p:nvPr/>
        </p:nvSpPr>
        <p:spPr>
          <a:xfrm>
            <a:off x="457200" y="6547104"/>
            <a:ext cx="7315200" cy="256032"/>
          </a:xfrm>
          <a:prstGeom prst="rect">
            <a:avLst/>
          </a:prstGeom>
          <a:noFill/>
          <a:ln/>
        </p:spPr>
        <p:txBody>
          <a:bodyPr wrap="square" rtlCol="0" anchor="ctr"/>
          <a:lstStyle/>
          <a:p>
            <a:pPr indent="0" marL="0">
              <a:buNone/>
            </a:pPr>
            <a:r>
              <a:rPr lang="en-US" sz="850" dirty="0">
                <a:solidFill>
                  <a:srgbClr val="5B6472"/>
                </a:solidFill>
                <a:latin typeface="Calibri" pitchFamily="34" charset="0"/>
                <a:ea typeface="Calibri" pitchFamily="34" charset="-122"/>
                <a:cs typeface="Calibri" pitchFamily="34" charset="-120"/>
              </a:rPr>
              <a:t>AI Class Plus · Họp trình bày concept · 20/08/2026</a:t>
            </a:r>
            <a:endParaRPr lang="en-US" sz="850" dirty="0"/>
          </a:p>
        </p:txBody>
      </p:sp>
      <p:sp>
        <p:nvSpPr>
          <p:cNvPr id="7" name="Text 5"/>
          <p:cNvSpPr/>
          <p:nvPr/>
        </p:nvSpPr>
        <p:spPr>
          <a:xfrm>
            <a:off x="11430000" y="6547104"/>
            <a:ext cx="365760" cy="256032"/>
          </a:xfrm>
          <a:prstGeom prst="rect">
            <a:avLst/>
          </a:prstGeom>
          <a:noFill/>
          <a:ln/>
        </p:spPr>
        <p:txBody>
          <a:bodyPr wrap="square" rtlCol="0" anchor="ctr"/>
          <a:lstStyle/>
          <a:p>
            <a:pPr algn="r" indent="0" marL="0">
              <a:buNone/>
            </a:pPr>
            <a:r>
              <a:rPr lang="en-US" sz="850" dirty="0">
                <a:solidFill>
                  <a:srgbClr val="5B6472"/>
                </a:solidFill>
                <a:latin typeface="Calibri" pitchFamily="34" charset="0"/>
                <a:ea typeface="Calibri" pitchFamily="34" charset="-122"/>
                <a:cs typeface="Calibri" pitchFamily="34" charset="-120"/>
              </a:rPr>
              <a:t>23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Class Plus — 3 định hướng concept</dc:title>
  <dc:subject>PptxGenJS Presentation</dc:subject>
  <dc:creator>Product</dc:creator>
  <cp:lastModifiedBy>Product</cp:lastModifiedBy>
  <cp:revision>1</cp:revision>
  <dcterms:created xsi:type="dcterms:W3CDTF">2026-08-20T08:54:17Z</dcterms:created>
  <dcterms:modified xsi:type="dcterms:W3CDTF">2026-08-20T08:54:17Z</dcterms:modified>
</cp:coreProperties>
</file>