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1675"/>
  <p:notesSz cx="6858000" cy="12191675"/>
  <p:embeddedFontLst>
    <p:embeddedFont>
      <p:font typeface="Noto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8F6E73-484D-44E5-BF7E-94BD7A95E101}">
  <a:tblStyle styleId="{538F6E73-484D-44E5-BF7E-94BD7A95E10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otoSans-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otoSans-italic.fntdata"/><Relationship Id="rId12" Type="http://schemas.openxmlformats.org/officeDocument/2006/relationships/slide" Target="slides/slide7.xml"/><Relationship Id="rId34" Type="http://schemas.openxmlformats.org/officeDocument/2006/relationships/font" Target="fonts/NotoSa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Noto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fb1dbca22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fb1dbca22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fb1dbca22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fb1dbca22c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fb1dbca22c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g3fb1dbca22c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b1dbca22c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b1dbca22c_1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g3fb1dbca22c_1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fb1dbca22c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g3fb1dbca22c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g3fb1dbca22c_1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b1dbca22c_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g3fb1dbca22c_1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g3fb1dbca22c_1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1dbca22c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fb1dbca22c_1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g3fb1dbca22c_1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1dbca22c_1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3fb1dbca22c_1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3fb1dbca22c_1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b1dbca22c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fb1dbca22c_1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fb1dbca22c_1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b1dbca22c_1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fb1dbca22c_1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fb1dbca22c_1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b1dbca22c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fb1dbca22c_1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3fb1dbca22c_1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b1dbca22c_1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fb1dbca22c_1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fb1dbca22c_1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b1dbca22c_1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fb1dbca22c_1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fb1dbca22c_1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b1dbca22c_1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fb1dbca22c_1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fb1dbca22c_1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b1dbca22c_1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fb1dbca22c_1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fb1dbca22c_1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b1dbca22c_1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fb1dbca22c_1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fb1dbca22c_1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b1dbca22c_1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fb1dbca22c_1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fb1dbca22c_1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b1dbca22c_1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fb1dbca22c_1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fb1dbca22c_1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b1dbca22c_1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fb1dbca22c_1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fb1dbca22c_1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b1dbca22c_1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fb1dbca22c_1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fb1dbca22c_1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b1dbca22c_1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fb1dbca22c_1_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3fb1dbca22c_1_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b1dbca22c_1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fb1dbca22c_1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fb1dbca22c_1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b1dbca22c_1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fb1dbca22c_1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fb1dbca22c_1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b1dbca22c_1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fb1dbca22c_1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fb1dbca22c_1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b1dbca22c_1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fb1dbca22c_1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fb1dbca22c_1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b1dbca22c_1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fb1dbca22c_1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fb1dbca22c_1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b1dbca22c_1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fb1dbca22c_1_2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3fb1dbca22c_1_2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b1dbca22c_1_2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fb1dbca22c_1_2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3fb1dbca22c_1_2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48640" y="320040"/>
            <a:ext cx="7315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300"/>
              <a:buFont typeface="Arial"/>
              <a:buNone/>
            </a:pPr>
            <a:r>
              <a:rPr b="1" i="0" lang="en-US" sz="1300" u="none" cap="none" strike="noStrike">
                <a:solidFill>
                  <a:srgbClr val="A5BE00"/>
                </a:solidFill>
                <a:latin typeface="Arial"/>
                <a:ea typeface="Arial"/>
                <a:cs typeface="Arial"/>
                <a:sym typeface="Arial"/>
              </a:rPr>
              <a:t>EDUPIA / AI CLASS PLUS</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8640" y="685800"/>
            <a:ext cx="914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KHỐI SẢN PHẨM – CÔNG NGHỆ · CONCEPT 1.2 · PHIÊN BẢN BÁN HÀNG</a:t>
            </a:r>
            <a:endParaRPr b="0" i="0" sz="1300" u="none" cap="none" strike="noStrike">
              <a:solidFill>
                <a:schemeClr val="dk1"/>
              </a:solidFill>
              <a:latin typeface="Calibri"/>
              <a:ea typeface="Calibri"/>
              <a:cs typeface="Calibri"/>
              <a:sym typeface="Calibri"/>
            </a:endParaRPr>
          </a:p>
        </p:txBody>
      </p:sp>
      <p:sp>
        <p:nvSpPr>
          <p:cNvPr id="19" name="Google Shape;19;p3"/>
          <p:cNvSpPr/>
          <p:nvPr/>
        </p:nvSpPr>
        <p:spPr>
          <a:xfrm>
            <a:off x="548640" y="2468880"/>
            <a:ext cx="11094300" cy="146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EDUPIA AI CLASS PLUS</a:t>
            </a:r>
            <a:endParaRPr b="0" i="0" sz="4000" u="none" cap="none" strike="noStrike">
              <a:solidFill>
                <a:schemeClr val="dk1"/>
              </a:solidFill>
              <a:latin typeface="Calibri"/>
              <a:ea typeface="Calibri"/>
              <a:cs typeface="Calibri"/>
              <a:sym typeface="Calibri"/>
            </a:endParaRPr>
          </a:p>
        </p:txBody>
      </p:sp>
      <p:sp>
        <p:nvSpPr>
          <p:cNvPr id="20" name="Google Shape;20;p3"/>
          <p:cNvSpPr/>
          <p:nvPr/>
        </p:nvSpPr>
        <p:spPr>
          <a:xfrm>
            <a:off x="548640" y="3977640"/>
            <a:ext cx="10179900" cy="146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Arial"/>
              <a:buNone/>
            </a:pPr>
            <a:r>
              <a:rPr b="0" i="1" lang="en-US" sz="1900" u="none" cap="none" strike="noStrike">
                <a:solidFill>
                  <a:srgbClr val="FFFFFF"/>
                </a:solidFill>
                <a:latin typeface="Arial"/>
                <a:ea typeface="Arial"/>
                <a:cs typeface="Arial"/>
                <a:sym typeface="Arial"/>
              </a:rPr>
              <a:t>Con vẫn học với cô giáo như hiện tại — nhưng có thêm một "giáo viên riêng" luôn biết con đang yếu chỗ nào để kèm đúng chỗ đó.</a:t>
            </a:r>
            <a:endParaRPr b="0" i="0" sz="1900" u="none" cap="none" strike="noStrike">
              <a:solidFill>
                <a:schemeClr val="dk1"/>
              </a:solidFill>
              <a:latin typeface="Calibri"/>
              <a:ea typeface="Calibri"/>
              <a:cs typeface="Calibri"/>
              <a:sym typeface="Calibri"/>
            </a:endParaRPr>
          </a:p>
        </p:txBody>
      </p:sp>
      <p:sp>
        <p:nvSpPr>
          <p:cNvPr id="21" name="Google Shape;21;p3"/>
          <p:cNvSpPr/>
          <p:nvPr/>
        </p:nvSpPr>
        <p:spPr>
          <a:xfrm>
            <a:off x="548640" y="6217920"/>
            <a:ext cx="11094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FD2A0"/>
              </a:buClr>
              <a:buSzPts val="1100"/>
              <a:buFont typeface="Arial"/>
              <a:buNone/>
            </a:pPr>
            <a:r>
              <a:rPr b="0" i="0" lang="en-US" sz="1100" u="none" cap="none" strike="noStrike">
                <a:solidFill>
                  <a:srgbClr val="BFD2A0"/>
                </a:solidFill>
                <a:latin typeface="Arial"/>
                <a:ea typeface="Arial"/>
                <a:cs typeface="Arial"/>
                <a:sym typeface="Arial"/>
              </a:rPr>
              <a:t>2026-09-03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0" y="0"/>
            <a:ext cx="12191700" cy="1281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548640" y="502920"/>
            <a:ext cx="110943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800"/>
              <a:buFont typeface="Arial"/>
              <a:buNone/>
            </a:pPr>
            <a:r>
              <a:rPr b="1" i="0" lang="en-US" sz="2800" u="none" cap="none" strike="noStrike">
                <a:solidFill>
                  <a:srgbClr val="004671"/>
                </a:solidFill>
                <a:latin typeface="Arial"/>
                <a:ea typeface="Arial"/>
                <a:cs typeface="Arial"/>
                <a:sym typeface="Arial"/>
              </a:rPr>
              <a:t>MỤC LỤC</a:t>
            </a:r>
            <a:endParaRPr b="0" i="0" sz="2800" u="none" cap="none" strike="noStrike">
              <a:solidFill>
                <a:schemeClr val="dk1"/>
              </a:solidFill>
              <a:latin typeface="Calibri"/>
              <a:ea typeface="Calibri"/>
              <a:cs typeface="Calibri"/>
              <a:sym typeface="Calibri"/>
            </a:endParaRPr>
          </a:p>
        </p:txBody>
      </p:sp>
      <p:sp>
        <p:nvSpPr>
          <p:cNvPr id="29" name="Google Shape;29;p4"/>
          <p:cNvSpPr/>
          <p:nvPr/>
        </p:nvSpPr>
        <p:spPr>
          <a:xfrm>
            <a:off x="548640" y="155448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1</a:t>
            </a:r>
            <a:endParaRPr b="0" i="0" sz="2800" u="none" cap="none" strike="noStrike">
              <a:solidFill>
                <a:schemeClr val="dk1"/>
              </a:solidFill>
              <a:latin typeface="Calibri"/>
              <a:ea typeface="Calibri"/>
              <a:cs typeface="Calibri"/>
              <a:sym typeface="Calibri"/>
            </a:endParaRPr>
          </a:p>
        </p:txBody>
      </p:sp>
      <p:sp>
        <p:nvSpPr>
          <p:cNvPr id="30" name="Google Shape;30;p4"/>
          <p:cNvSpPr/>
          <p:nvPr/>
        </p:nvSpPr>
        <p:spPr>
          <a:xfrm>
            <a:off x="1371600" y="160020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lang="en-US" sz="2000">
                <a:solidFill>
                  <a:srgbClr val="1F2A33"/>
                </a:solidFill>
              </a:rPr>
              <a:t>Vì sao là Edupia AI Class Plus</a:t>
            </a:r>
            <a:endParaRPr sz="2000">
              <a:solidFill>
                <a:srgbClr val="1F2A33"/>
              </a:solidFill>
            </a:endParaRPr>
          </a:p>
        </p:txBody>
      </p:sp>
      <p:sp>
        <p:nvSpPr>
          <p:cNvPr id="31" name="Google Shape;31;p4"/>
          <p:cNvSpPr/>
          <p:nvPr/>
        </p:nvSpPr>
        <p:spPr>
          <a:xfrm>
            <a:off x="548640" y="251460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2</a:t>
            </a:r>
            <a:endParaRPr b="0" i="0" sz="2800" u="none" cap="none" strike="noStrike">
              <a:solidFill>
                <a:schemeClr val="dk1"/>
              </a:solidFill>
              <a:latin typeface="Calibri"/>
              <a:ea typeface="Calibri"/>
              <a:cs typeface="Calibri"/>
              <a:sym typeface="Calibri"/>
            </a:endParaRPr>
          </a:p>
        </p:txBody>
      </p:sp>
      <p:sp>
        <p:nvSpPr>
          <p:cNvPr id="32" name="Google Shape;32;p4"/>
          <p:cNvSpPr/>
          <p:nvPr/>
        </p:nvSpPr>
        <p:spPr>
          <a:xfrm>
            <a:off x="1371600" y="256032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Phụ huynh nào sẽ thấy giá trị rõ nhất</a:t>
            </a:r>
            <a:endParaRPr b="0" i="0" sz="2000" u="none" cap="none" strike="noStrike">
              <a:solidFill>
                <a:schemeClr val="dk1"/>
              </a:solidFill>
              <a:latin typeface="Calibri"/>
              <a:ea typeface="Calibri"/>
              <a:cs typeface="Calibri"/>
              <a:sym typeface="Calibri"/>
            </a:endParaRPr>
          </a:p>
        </p:txBody>
      </p:sp>
      <p:sp>
        <p:nvSpPr>
          <p:cNvPr id="33" name="Google Shape;33;p4"/>
          <p:cNvSpPr/>
          <p:nvPr/>
        </p:nvSpPr>
        <p:spPr>
          <a:xfrm>
            <a:off x="548640" y="347472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3</a:t>
            </a:r>
            <a:endParaRPr b="0" i="0" sz="2800" u="none" cap="none" strike="noStrike">
              <a:solidFill>
                <a:schemeClr val="dk1"/>
              </a:solidFill>
              <a:latin typeface="Calibri"/>
              <a:ea typeface="Calibri"/>
              <a:cs typeface="Calibri"/>
              <a:sym typeface="Calibri"/>
            </a:endParaRPr>
          </a:p>
        </p:txBody>
      </p:sp>
      <p:sp>
        <p:nvSpPr>
          <p:cNvPr id="34" name="Google Shape;34;p4"/>
          <p:cNvSpPr/>
          <p:nvPr/>
        </p:nvSpPr>
        <p:spPr>
          <a:xfrm>
            <a:off x="1371600" y="352044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Bố mẹ mong muốn gì cho con</a:t>
            </a:r>
            <a:endParaRPr b="0" i="0" sz="2000" u="none" cap="none" strike="noStrike">
              <a:solidFill>
                <a:schemeClr val="dk1"/>
              </a:solidFill>
              <a:latin typeface="Calibri"/>
              <a:ea typeface="Calibri"/>
              <a:cs typeface="Calibri"/>
              <a:sym typeface="Calibri"/>
            </a:endParaRPr>
          </a:p>
        </p:txBody>
      </p:sp>
      <p:sp>
        <p:nvSpPr>
          <p:cNvPr id="35" name="Google Shape;35;p4"/>
          <p:cNvSpPr/>
          <p:nvPr/>
        </p:nvSpPr>
        <p:spPr>
          <a:xfrm>
            <a:off x="548640" y="443484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4</a:t>
            </a:r>
            <a:endParaRPr b="0" i="0" sz="2800" u="none" cap="none" strike="noStrike">
              <a:solidFill>
                <a:schemeClr val="dk1"/>
              </a:solidFill>
              <a:latin typeface="Calibri"/>
              <a:ea typeface="Calibri"/>
              <a:cs typeface="Calibri"/>
              <a:sym typeface="Calibri"/>
            </a:endParaRPr>
          </a:p>
        </p:txBody>
      </p:sp>
      <p:sp>
        <p:nvSpPr>
          <p:cNvPr id="36" name="Google Shape;36;p4"/>
          <p:cNvSpPr/>
          <p:nvPr/>
        </p:nvSpPr>
        <p:spPr>
          <a:xfrm>
            <a:off x="1371600" y="448056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Con và bố mẹ nhận được gì</a:t>
            </a:r>
            <a:endParaRPr b="0" i="0" sz="2000" u="none" cap="none" strike="noStrike">
              <a:solidFill>
                <a:schemeClr val="dk1"/>
              </a:solidFill>
              <a:latin typeface="Calibri"/>
              <a:ea typeface="Calibri"/>
              <a:cs typeface="Calibri"/>
              <a:sym typeface="Calibri"/>
            </a:endParaRPr>
          </a:p>
        </p:txBody>
      </p:sp>
      <p:sp>
        <p:nvSpPr>
          <p:cNvPr id="37" name="Google Shape;37;p4"/>
          <p:cNvSpPr/>
          <p:nvPr/>
        </p:nvSpPr>
        <p:spPr>
          <a:xfrm>
            <a:off x="548640" y="539496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5</a:t>
            </a:r>
            <a:endParaRPr b="0" i="0" sz="2800" u="none" cap="none" strike="noStrike">
              <a:solidFill>
                <a:schemeClr val="dk1"/>
              </a:solidFill>
              <a:latin typeface="Calibri"/>
              <a:ea typeface="Calibri"/>
              <a:cs typeface="Calibri"/>
              <a:sym typeface="Calibri"/>
            </a:endParaRPr>
          </a:p>
        </p:txBody>
      </p:sp>
      <p:sp>
        <p:nvSpPr>
          <p:cNvPr id="38" name="Google Shape;38;p4"/>
          <p:cNvSpPr/>
          <p:nvPr/>
        </p:nvSpPr>
        <p:spPr>
          <a:xfrm>
            <a:off x="1371600" y="544068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Một tuần con sẽ học như thế nào</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43" name="Shape 43"/>
        <p:cNvGrpSpPr/>
        <p:nvPr/>
      </p:nvGrpSpPr>
      <p:grpSpPr>
        <a:xfrm>
          <a:off x="0" y="0"/>
          <a:ext cx="0" cy="0"/>
          <a:chOff x="0" y="0"/>
          <a:chExt cx="0" cy="0"/>
        </a:xfrm>
      </p:grpSpPr>
      <p:sp>
        <p:nvSpPr>
          <p:cNvPr id="44" name="Google Shape;44;p5"/>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1</a:t>
            </a:r>
            <a:endParaRPr b="0" i="0" sz="1600" u="none" cap="none" strike="noStrike">
              <a:solidFill>
                <a:schemeClr val="dk1"/>
              </a:solidFill>
              <a:latin typeface="Calibri"/>
              <a:ea typeface="Calibri"/>
              <a:cs typeface="Calibri"/>
              <a:sym typeface="Calibri"/>
            </a:endParaRPr>
          </a:p>
        </p:txBody>
      </p:sp>
      <p:sp>
        <p:nvSpPr>
          <p:cNvPr id="46" name="Google Shape;46;p5"/>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Vì sao l</a:t>
            </a:r>
            <a:r>
              <a:rPr b="1" lang="en-US" sz="3400">
                <a:solidFill>
                  <a:srgbClr val="FFFFFF"/>
                </a:solidFill>
              </a:rPr>
              <a:t>à </a:t>
            </a:r>
            <a:r>
              <a:rPr b="1" i="0" lang="en-US" sz="3400" u="none" cap="none" strike="noStrike">
                <a:solidFill>
                  <a:srgbClr val="FFFFFF"/>
                </a:solidFill>
                <a:latin typeface="Arial"/>
                <a:ea typeface="Arial"/>
                <a:cs typeface="Arial"/>
                <a:sym typeface="Arial"/>
              </a:rPr>
              <a:t>Edupia </a:t>
            </a:r>
            <a:r>
              <a:rPr b="1" lang="en-US" sz="3400">
                <a:solidFill>
                  <a:srgbClr val="FFFFFF"/>
                </a:solidFill>
              </a:rPr>
              <a:t>AI Class Plus</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6"/>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Bố mẹ đang gặp vấn đề gì?</a:t>
            </a:r>
            <a:endParaRPr b="0" i="0" sz="2200" u="none" cap="none" strike="noStrike">
              <a:solidFill>
                <a:schemeClr val="dk1"/>
              </a:solidFill>
              <a:latin typeface="Calibri"/>
              <a:ea typeface="Calibri"/>
              <a:cs typeface="Calibri"/>
              <a:sym typeface="Calibri"/>
            </a:endParaRPr>
          </a:p>
        </p:txBody>
      </p:sp>
      <p:cxnSp>
        <p:nvCxnSpPr>
          <p:cNvPr id="54" name="Google Shape;54;p6"/>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55" name="Google Shape;55;p6"/>
          <p:cNvGraphicFramePr/>
          <p:nvPr/>
        </p:nvGraphicFramePr>
        <p:xfrm>
          <a:off x="548640" y="1371600"/>
          <a:ext cx="3000000" cy="3000000"/>
        </p:xfrm>
        <a:graphic>
          <a:graphicData uri="http://schemas.openxmlformats.org/drawingml/2006/table">
            <a:tbl>
              <a:tblPr>
                <a:noFill/>
                <a:tableStyleId>{538F6E73-484D-44E5-BF7E-94BD7A95E101}</a:tableStyleId>
              </a:tblPr>
              <a:tblGrid>
                <a:gridCol w="5486400"/>
                <a:gridCol w="6153900"/>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Bố mẹ đang lo</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Điều thường xảy ra với con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học cùng lớp nhưng mỗi bạn yếu một chỗ</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vẫn học theo tốc độ chung, trong khi chỗ con chưa hiểu có thể bị bỏ qua</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Không biết chính xác con đang yếu phần nào</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Biết con "điểm chưa tốt" nhưng khó biết phải kèm lại từ đâu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Cho con học nhưng không biết có tiến bộ thật không</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Bố mẹ thiếu một cách đơn giản để nhìn thấy con đang tiến bộ ở đâu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Bố mẹ bận, không có thời gian kèm con mỗi ngày</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gặp bài khó ở nhà dễ chán, bỏ cuộc hoặc phải chờ bố mẹ về mới hỏi được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bl>
          </a:graphicData>
        </a:graphic>
      </p:graphicFrame>
      <p:sp>
        <p:nvSpPr>
          <p:cNvPr id="56" name="Google Shape;56;p6"/>
          <p:cNvSpPr/>
          <p:nvPr/>
        </p:nvSpPr>
        <p:spPr>
          <a:xfrm>
            <a:off x="548640" y="4636008"/>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731520" y="4745736"/>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58" name="Google Shape;58;p6"/>
          <p:cNvSpPr/>
          <p:nvPr/>
        </p:nvSpPr>
        <p:spPr>
          <a:xfrm>
            <a:off x="731520" y="5020056"/>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"Nhiều khi con không học kém, mà chỉ đang hổng một vài chỗ. Nhưng học lớp đông thì cô không thể lúc nào cũng biết chính xác từng bạn đang hổng ở đâu. Điều bố mẹ cần là biết đúng chỗ con yếu và có người kèm con sửa ngay chỗ đó."</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7"/>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Cơ hội của Edupia</a:t>
            </a:r>
            <a:endParaRPr b="0" i="0" sz="2200" u="none" cap="none" strike="noStrike">
              <a:solidFill>
                <a:schemeClr val="dk1"/>
              </a:solidFill>
              <a:latin typeface="Calibri"/>
              <a:ea typeface="Calibri"/>
              <a:cs typeface="Calibri"/>
              <a:sym typeface="Calibri"/>
            </a:endParaRPr>
          </a:p>
        </p:txBody>
      </p:sp>
      <p:cxnSp>
        <p:nvCxnSpPr>
          <p:cNvPr id="66" name="Google Shape;66;p7"/>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67" name="Google Shape;67;p7"/>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Từ "học chung" sang "được theo sát như có người kèm riêng": </a:t>
            </a:r>
            <a:r>
              <a:rPr b="0" i="0" lang="en-US" sz="1600" u="none" cap="none" strike="noStrike">
                <a:solidFill>
                  <a:srgbClr val="1F2A33"/>
                </a:solidFill>
                <a:latin typeface="Arial"/>
                <a:ea typeface="Arial"/>
                <a:cs typeface="Arial"/>
                <a:sym typeface="Arial"/>
              </a:rPr>
              <a:t>Trước đây, trải nghiệm được theo sát từng chỗ yếu của con thường gắn với trường quốc tế hoặc gia sư có chi phí cao.</a:t>
            </a:r>
            <a:endParaRPr b="0" i="0" sz="1600" u="none" cap="none" strike="noStrike">
              <a:solidFill>
                <a:schemeClr val="dk1"/>
              </a:solidFill>
              <a:latin typeface="Calibri"/>
              <a:ea typeface="Calibri"/>
              <a:cs typeface="Calibri"/>
              <a:sym typeface="Calibri"/>
            </a:endParaRPr>
          </a:p>
        </p:txBody>
      </p:sp>
      <p:sp>
        <p:nvSpPr>
          <p:cNvPr id="68" name="Google Shape;68;p7"/>
          <p:cNvSpPr/>
          <p:nvPr/>
        </p:nvSpPr>
        <p:spPr>
          <a:xfrm>
            <a:off x="548640" y="2249424"/>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A33"/>
              </a:buClr>
              <a:buSzPts val="1600"/>
              <a:buFont typeface="Arial"/>
              <a:buNone/>
            </a:pPr>
            <a:r>
              <a:rPr b="0" i="0" lang="en-US" sz="1600" u="none" cap="none" strike="noStrike">
                <a:solidFill>
                  <a:srgbClr val="1F2A33"/>
                </a:solidFill>
                <a:latin typeface="Arial"/>
                <a:ea typeface="Arial"/>
                <a:cs typeface="Arial"/>
                <a:sym typeface="Arial"/>
              </a:rPr>
              <a:t>Edupia đưa trải nghiệm "được kèm đúng chỗ con cần" vào một sản phẩm đại trà ở mức khoảng 390k/tháng.</a:t>
            </a:r>
            <a:endParaRPr b="0" i="0" sz="1600" u="none" cap="none" strike="noStrike">
              <a:solidFill>
                <a:schemeClr val="dk1"/>
              </a:solidFill>
              <a:latin typeface="Calibri"/>
              <a:ea typeface="Calibri"/>
              <a:cs typeface="Calibri"/>
              <a:sym typeface="Calibri"/>
            </a:endParaRPr>
          </a:p>
        </p:txBody>
      </p:sp>
      <p:sp>
        <p:nvSpPr>
          <p:cNvPr id="69" name="Google Shape;69;p7"/>
          <p:cNvSpPr/>
          <p:nvPr/>
        </p:nvSpPr>
        <p:spPr>
          <a:xfrm>
            <a:off x="548640" y="3127248"/>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731520" y="3236976"/>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71" name="Google Shape;71;p7"/>
          <p:cNvSpPr/>
          <p:nvPr/>
        </p:nvSpPr>
        <p:spPr>
          <a:xfrm>
            <a:off x="731520" y="3511296"/>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"Bố mẹ không cần thuê riêng một gia sư vài triệu mỗi tháng. Con vẫn học với cô giáo như bình thường, nhưng phía sau có thêm một hệ thống theo sát để biết con yếu đâu và giao đúng bài để con sửa chỗ đó."</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76" name="Shape 76"/>
        <p:cNvGrpSpPr/>
        <p:nvPr/>
      </p:nvGrpSpPr>
      <p:grpSpPr>
        <a:xfrm>
          <a:off x="0" y="0"/>
          <a:ext cx="0" cy="0"/>
          <a:chOff x="0" y="0"/>
          <a:chExt cx="0" cy="0"/>
        </a:xfrm>
      </p:grpSpPr>
      <p:sp>
        <p:nvSpPr>
          <p:cNvPr id="77" name="Google Shape;77;p8"/>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2</a:t>
            </a:r>
            <a:endParaRPr b="0" i="0" sz="1600" u="none" cap="none" strike="noStrike">
              <a:solidFill>
                <a:schemeClr val="dk1"/>
              </a:solidFill>
              <a:latin typeface="Calibri"/>
              <a:ea typeface="Calibri"/>
              <a:cs typeface="Calibri"/>
              <a:sym typeface="Calibri"/>
            </a:endParaRPr>
          </a:p>
        </p:txBody>
      </p:sp>
      <p:sp>
        <p:nvSpPr>
          <p:cNvPr id="79" name="Google Shape;79;p8"/>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Khách hàng mục tiêu</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9"/>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Phụ huynh nào sẽ thấy giá trị rõ nhất?</a:t>
            </a:r>
            <a:endParaRPr b="0" i="0" sz="2200" u="none" cap="none" strike="noStrike">
              <a:solidFill>
                <a:schemeClr val="dk1"/>
              </a:solidFill>
              <a:latin typeface="Calibri"/>
              <a:ea typeface="Calibri"/>
              <a:cs typeface="Calibri"/>
              <a:sym typeface="Calibri"/>
            </a:endParaRPr>
          </a:p>
        </p:txBody>
      </p:sp>
      <p:cxnSp>
        <p:nvCxnSpPr>
          <p:cNvPr id="87" name="Google Shape;87;p9"/>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88" name="Google Shape;88;p9"/>
          <p:cNvSpPr/>
          <p:nvPr/>
        </p:nvSpPr>
        <p:spPr>
          <a:xfrm>
            <a:off x="502920" y="1402080"/>
            <a:ext cx="73200" cy="2176200"/>
          </a:xfrm>
          <a:prstGeom prst="rect">
            <a:avLst/>
          </a:prstGeom>
          <a:solidFill>
            <a:srgbClr val="0046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9"/>
          <p:cNvSpPr/>
          <p:nvPr/>
        </p:nvSpPr>
        <p:spPr>
          <a:xfrm>
            <a:off x="731530" y="1402075"/>
            <a:ext cx="10911300" cy="2176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004671"/>
              </a:buClr>
              <a:buSzPts val="1250"/>
              <a:buFont typeface="Noto Sans"/>
              <a:buNone/>
            </a:pPr>
            <a:r>
              <a:rPr b="1" i="0" lang="en-US" sz="1800" u="none" cap="none" strike="noStrike">
                <a:solidFill>
                  <a:srgbClr val="004671"/>
                </a:solidFill>
                <a:latin typeface="Noto Sans"/>
                <a:ea typeface="Noto Sans"/>
                <a:cs typeface="Noto Sans"/>
                <a:sym typeface="Noto Sans"/>
              </a:rPr>
              <a:t>Nhân khẩu học</a:t>
            </a:r>
            <a:endParaRPr b="0" i="0" sz="18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Phụ huynh: 30–45 tuổi, đã dùng AI Class / Big Class, thu nhập khá – tốt trở lên</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Vị trí: Thành phố tỉnh, thị xã, nông thôn</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Nghề nghiệp: Văn phòng, kinh doanh nhỏ, lao động phổ thông — làm toàn thời gian (&gt;8h/ngày)</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Thu nhập hộ: 15–30 triệu/tháng (phân khúc "Good")</a:t>
            </a:r>
            <a:endParaRPr b="0" i="0" sz="1600" u="none" cap="none" strike="noStrike">
              <a:solidFill>
                <a:srgbClr val="000000"/>
              </a:solidFill>
              <a:latin typeface="Calibri"/>
              <a:ea typeface="Calibri"/>
              <a:cs typeface="Calibri"/>
              <a:sym typeface="Calibri"/>
            </a:endParaRPr>
          </a:p>
          <a:p>
            <a:pPr indent="-330200" lvl="0" marL="4572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Trình độ tiếng Anh: Đa số không biết tiếng Anh — không tự kèm con được</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Bối cảnh: Con học TA ở trường; ~50% từng/đang học thêm nhà GV; đã thử vài sản phẩm TA online</a:t>
            </a:r>
            <a:endParaRPr b="0" i="0" sz="1600" u="none" cap="none" strike="noStrike">
              <a:solidFill>
                <a:srgbClr val="22333F"/>
              </a:solidFill>
              <a:latin typeface="Noto Sans"/>
              <a:ea typeface="Noto Sans"/>
              <a:cs typeface="Noto Sans"/>
              <a:sym typeface="Noto Sans"/>
            </a:endParaRPr>
          </a:p>
        </p:txBody>
      </p:sp>
      <p:sp>
        <p:nvSpPr>
          <p:cNvPr id="90" name="Google Shape;90;p9"/>
          <p:cNvSpPr/>
          <p:nvPr/>
        </p:nvSpPr>
        <p:spPr>
          <a:xfrm>
            <a:off x="502920" y="4087368"/>
            <a:ext cx="73200" cy="2176200"/>
          </a:xfrm>
          <a:prstGeom prst="rect">
            <a:avLst/>
          </a:prstGeom>
          <a:solidFill>
            <a:srgbClr val="3B81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9"/>
          <p:cNvSpPr/>
          <p:nvPr/>
        </p:nvSpPr>
        <p:spPr>
          <a:xfrm>
            <a:off x="731530" y="4087369"/>
            <a:ext cx="10911300" cy="2176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004671"/>
              </a:buClr>
              <a:buSzPts val="1250"/>
              <a:buFont typeface="Noto Sans"/>
              <a:buNone/>
            </a:pPr>
            <a:r>
              <a:rPr b="1" i="0" lang="en-US" sz="1800" u="none" cap="none" strike="noStrike">
                <a:solidFill>
                  <a:srgbClr val="004671"/>
                </a:solidFill>
                <a:latin typeface="Noto Sans"/>
                <a:ea typeface="Noto Sans"/>
                <a:cs typeface="Noto Sans"/>
                <a:sym typeface="Noto Sans"/>
              </a:rPr>
              <a:t>Nỗi đau (Pain point)</a:t>
            </a:r>
            <a:endParaRPr b="0" i="0" sz="1800" u="none" cap="none" strike="noStrike">
              <a:solidFill>
                <a:srgbClr val="000000"/>
              </a:solidFill>
              <a:latin typeface="Calibri"/>
              <a:ea typeface="Calibri"/>
              <a:cs typeface="Calibri"/>
              <a:sym typeface="Calibri"/>
            </a:endParaRPr>
          </a:p>
          <a:p>
            <a:pPr indent="-204470" lvl="0" marL="1651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Con học lớp đông, không biết chính xác con yếu chỗ nào để kèm riêng.</a:t>
            </a:r>
            <a:endParaRPr b="0" i="0" sz="1600" u="none" cap="none" strike="noStrike">
              <a:solidFill>
                <a:srgbClr val="000000"/>
              </a:solidFill>
              <a:latin typeface="Calibri"/>
              <a:ea typeface="Calibri"/>
              <a:cs typeface="Calibri"/>
              <a:sym typeface="Calibri"/>
            </a:endParaRPr>
          </a:p>
          <a:p>
            <a:pPr indent="-204470" lvl="0" marL="1651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Đã thử app / gia sư nhưng không chắc học có đúng chỗ hổng không.</a:t>
            </a:r>
            <a:endParaRPr b="0" i="0" sz="1600" u="none" cap="none" strike="noStrike">
              <a:solidFill>
                <a:srgbClr val="000000"/>
              </a:solidFill>
              <a:latin typeface="Calibri"/>
              <a:ea typeface="Calibri"/>
              <a:cs typeface="Calibri"/>
              <a:sym typeface="Calibri"/>
            </a:endParaRPr>
          </a:p>
          <a:p>
            <a:pPr indent="-204470" lvl="0" marL="1651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Sợ con thua thiệt nếu không có ai theo sát 1-1.</a:t>
            </a:r>
            <a:endParaRPr b="0" i="0" sz="1600" u="none" cap="none" strike="noStrike">
              <a:solidFill>
                <a:srgbClr val="000000"/>
              </a:solidFill>
              <a:latin typeface="Calibri"/>
              <a:ea typeface="Calibri"/>
              <a:cs typeface="Calibri"/>
              <a:sym typeface="Calibri"/>
            </a:endParaRPr>
          </a:p>
          <a:p>
            <a:pPr indent="-204470" lvl="0" marL="1651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Muốn chăm sóc cao cấp nhưng gia sư con người quá đắt để duy trì đều.</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96" name="Shape 96"/>
        <p:cNvGrpSpPr/>
        <p:nvPr/>
      </p:nvGrpSpPr>
      <p:grpSpPr>
        <a:xfrm>
          <a:off x="0" y="0"/>
          <a:ext cx="0" cy="0"/>
          <a:chOff x="0" y="0"/>
          <a:chExt cx="0" cy="0"/>
        </a:xfrm>
      </p:grpSpPr>
      <p:sp>
        <p:nvSpPr>
          <p:cNvPr id="97" name="Google Shape;97;p10"/>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0"/>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3</a:t>
            </a:r>
            <a:endParaRPr b="0" i="0" sz="1600" u="none" cap="none" strike="noStrike">
              <a:solidFill>
                <a:schemeClr val="dk1"/>
              </a:solidFill>
              <a:latin typeface="Calibri"/>
              <a:ea typeface="Calibri"/>
              <a:cs typeface="Calibri"/>
              <a:sym typeface="Calibri"/>
            </a:endParaRPr>
          </a:p>
        </p:txBody>
      </p:sp>
      <p:sp>
        <p:nvSpPr>
          <p:cNvPr id="99" name="Google Shape;99;p10"/>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Bố mẹ mong muốn gì cho con</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1"/>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1"/>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điều bố mẹ thực sự mong muốn</a:t>
            </a:r>
            <a:endParaRPr b="0" i="0" sz="2200" u="none" cap="none" strike="noStrike">
              <a:solidFill>
                <a:schemeClr val="dk1"/>
              </a:solidFill>
              <a:latin typeface="Calibri"/>
              <a:ea typeface="Calibri"/>
              <a:cs typeface="Calibri"/>
              <a:sym typeface="Calibri"/>
            </a:endParaRPr>
          </a:p>
        </p:txBody>
      </p:sp>
      <p:cxnSp>
        <p:nvCxnSpPr>
          <p:cNvPr id="107" name="Google Shape;107;p11"/>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08" name="Google Shape;108;p11"/>
          <p:cNvSpPr/>
          <p:nvPr/>
        </p:nvSpPr>
        <p:spPr>
          <a:xfrm>
            <a:off x="548650" y="1371600"/>
            <a:ext cx="11094300" cy="51378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Char char="•"/>
            </a:pPr>
            <a:r>
              <a:rPr b="1" i="0" lang="en-US" sz="1600" u="none" cap="none" strike="noStrike">
                <a:solidFill>
                  <a:srgbClr val="1F2A33"/>
                </a:solidFill>
              </a:rPr>
              <a:t>Con học giỏi</a:t>
            </a:r>
            <a:r>
              <a:rPr b="1" lang="en-US" sz="1600">
                <a:solidFill>
                  <a:srgbClr val="1F2A33"/>
                </a:solidFill>
              </a:rPr>
              <a:t>:</a:t>
            </a:r>
            <a:endParaRPr b="1" i="0" sz="1600" u="none" cap="none" strike="noStrike">
              <a:solidFill>
                <a:srgbClr val="1F2A33"/>
              </a:solidFill>
            </a:endParaRPr>
          </a:p>
          <a:p>
            <a:pPr indent="0" lvl="0" marL="0" marR="0" rtl="0" algn="l">
              <a:spcBef>
                <a:spcPts val="0"/>
              </a:spcBef>
              <a:spcAft>
                <a:spcPts val="0"/>
              </a:spcAft>
              <a:buNone/>
            </a:pPr>
            <a:r>
              <a:rPr lang="en-US" sz="1600">
                <a:solidFill>
                  <a:srgbClr val="1F2A33"/>
                </a:solidFill>
              </a:rPr>
              <a:t>N</a:t>
            </a:r>
            <a:r>
              <a:rPr b="0" i="0" lang="en-US" sz="1600" u="none" cap="none" strike="noStrike">
                <a:solidFill>
                  <a:srgbClr val="1F2A33"/>
                </a:solidFill>
                <a:latin typeface="Arial"/>
                <a:ea typeface="Arial"/>
                <a:cs typeface="Arial"/>
                <a:sym typeface="Arial"/>
              </a:rPr>
              <a:t>ắm chắc kiến thức, học tiến bộ và đạt kết quả tốt, chứ không chỉ tham gia đầy đủ các buổi học.</a:t>
            </a:r>
            <a:endParaRPr b="0" i="0" sz="1600" u="none" cap="none" strike="noStrike">
              <a:solidFill>
                <a:srgbClr val="1F2A33"/>
              </a:solidFill>
              <a:latin typeface="Arial"/>
              <a:ea typeface="Arial"/>
              <a:cs typeface="Arial"/>
              <a:sym typeface="Arial"/>
            </a:endParaRPr>
          </a:p>
          <a:p>
            <a:pPr indent="0" lvl="0" marL="0" marR="0" rtl="0" algn="l">
              <a:spcBef>
                <a:spcPts val="0"/>
              </a:spcBef>
              <a:spcAft>
                <a:spcPts val="0"/>
              </a:spcAft>
              <a:buNone/>
            </a:pPr>
            <a:r>
              <a:t/>
            </a:r>
            <a:endParaRPr sz="1600">
              <a:solidFill>
                <a:srgbClr val="1F2A33"/>
              </a:solidFill>
            </a:endParaRPr>
          </a:p>
          <a:p>
            <a:pPr indent="-254000" lvl="0" marL="254000" marR="0" rtl="0" algn="l">
              <a:spcBef>
                <a:spcPts val="800"/>
              </a:spcBef>
              <a:spcAft>
                <a:spcPts val="0"/>
              </a:spcAft>
              <a:buClr>
                <a:srgbClr val="1F2A33"/>
              </a:buClr>
              <a:buSzPts val="1600"/>
              <a:buChar char="•"/>
            </a:pPr>
            <a:r>
              <a:rPr b="1" i="0" lang="en-US" sz="1600" u="none" cap="none" strike="noStrike">
                <a:solidFill>
                  <a:srgbClr val="1F2A33"/>
                </a:solidFill>
              </a:rPr>
              <a:t>Con được học tr</a:t>
            </a:r>
            <a:r>
              <a:rPr b="1" lang="en-US" sz="1600">
                <a:solidFill>
                  <a:srgbClr val="1F2A33"/>
                </a:solidFill>
              </a:rPr>
              <a:t>ực tiếp </a:t>
            </a:r>
            <a:r>
              <a:rPr b="1" i="0" lang="en-US" sz="1600" u="none" cap="none" strike="noStrike">
                <a:solidFill>
                  <a:srgbClr val="1F2A33"/>
                </a:solidFill>
              </a:rPr>
              <a:t>với giáo viên giỏi</a:t>
            </a:r>
            <a:r>
              <a:rPr b="1" lang="en-US" sz="1600">
                <a:solidFill>
                  <a:srgbClr val="1F2A33"/>
                </a:solidFill>
              </a:rPr>
              <a:t>:</a:t>
            </a:r>
            <a:endParaRPr b="1" sz="1600">
              <a:solidFill>
                <a:srgbClr val="1F2A33"/>
              </a:solidFill>
            </a:endParaRPr>
          </a:p>
          <a:p>
            <a:pPr indent="0" lvl="0" marL="0" marR="0" rtl="0" algn="l">
              <a:spcBef>
                <a:spcPts val="800"/>
              </a:spcBef>
              <a:spcAft>
                <a:spcPts val="0"/>
              </a:spcAft>
              <a:buNone/>
            </a:pPr>
            <a:r>
              <a:rPr lang="en-US" sz="1600">
                <a:solidFill>
                  <a:srgbClr val="1F2A33"/>
                </a:solidFill>
              </a:rPr>
              <a:t>C</a:t>
            </a:r>
            <a:r>
              <a:rPr b="0" i="0" lang="en-US" sz="1600" u="none" cap="none" strike="noStrike">
                <a:solidFill>
                  <a:srgbClr val="1F2A33"/>
                </a:solidFill>
                <a:latin typeface="Arial"/>
                <a:ea typeface="Arial"/>
                <a:cs typeface="Arial"/>
                <a:sym typeface="Arial"/>
              </a:rPr>
              <a:t>ó chuyên môn, phương pháp tốt và biết cách giúp con tiến bộ.</a:t>
            </a:r>
            <a:endParaRPr b="0" i="0" sz="1600" u="none" cap="none" strike="noStrike">
              <a:solidFill>
                <a:srgbClr val="1F2A33"/>
              </a:solidFill>
              <a:latin typeface="Arial"/>
              <a:ea typeface="Arial"/>
              <a:cs typeface="Arial"/>
              <a:sym typeface="Arial"/>
            </a:endParaRPr>
          </a:p>
          <a:p>
            <a:pPr indent="0" lvl="0" marL="0" marR="0" rtl="0" algn="l">
              <a:spcBef>
                <a:spcPts val="800"/>
              </a:spcBef>
              <a:spcAft>
                <a:spcPts val="0"/>
              </a:spcAft>
              <a:buNone/>
            </a:pPr>
            <a:r>
              <a:t/>
            </a:r>
            <a:endParaRPr sz="1600">
              <a:solidFill>
                <a:srgbClr val="1F2A33"/>
              </a:solidFill>
            </a:endParaRPr>
          </a:p>
          <a:p>
            <a:pPr indent="-254000" lvl="0" marL="254000" marR="0" rtl="0" algn="l">
              <a:spcBef>
                <a:spcPts val="800"/>
              </a:spcBef>
              <a:spcAft>
                <a:spcPts val="0"/>
              </a:spcAft>
              <a:buClr>
                <a:srgbClr val="1F2A33"/>
              </a:buClr>
              <a:buSzPts val="1600"/>
              <a:buChar char="•"/>
            </a:pPr>
            <a:r>
              <a:rPr b="1" i="0" lang="en-US" sz="1600" u="none" cap="none" strike="noStrike">
                <a:solidFill>
                  <a:srgbClr val="1F2A33"/>
                </a:solidFill>
              </a:rPr>
              <a:t>Con thích học</a:t>
            </a:r>
            <a:r>
              <a:rPr b="1" lang="en-US" sz="1600">
                <a:solidFill>
                  <a:srgbClr val="1F2A33"/>
                </a:solidFill>
              </a:rPr>
              <a:t>:</a:t>
            </a:r>
            <a:endParaRPr b="1" sz="1600">
              <a:solidFill>
                <a:srgbClr val="1F2A33"/>
              </a:solidFill>
            </a:endParaRPr>
          </a:p>
          <a:p>
            <a:pPr indent="0" lvl="0" marL="0" marR="0" rtl="0" algn="l">
              <a:spcBef>
                <a:spcPts val="800"/>
              </a:spcBef>
              <a:spcAft>
                <a:spcPts val="0"/>
              </a:spcAft>
              <a:buNone/>
            </a:pPr>
            <a:r>
              <a:rPr lang="en-US" sz="1600">
                <a:solidFill>
                  <a:srgbClr val="1F2A33"/>
                </a:solidFill>
              </a:rPr>
              <a:t>V</a:t>
            </a:r>
            <a:r>
              <a:rPr b="0" i="0" lang="en-US" sz="1600" u="none" cap="none" strike="noStrike">
                <a:solidFill>
                  <a:srgbClr val="1F2A33"/>
                </a:solidFill>
                <a:latin typeface="Arial"/>
                <a:ea typeface="Arial"/>
                <a:cs typeface="Arial"/>
                <a:sym typeface="Arial"/>
              </a:rPr>
              <a:t>iệc học không trở thành áp lực, con chủ động hơn, có động lực học và không phải ngày nào cũng cần bố mẹ nhắc.</a:t>
            </a:r>
            <a:endParaRPr b="0" i="0" sz="1600" u="none" cap="none" strike="noStrike">
              <a:solidFill>
                <a:srgbClr val="1F2A33"/>
              </a:solidFill>
              <a:latin typeface="Arial"/>
              <a:ea typeface="Arial"/>
              <a:cs typeface="Arial"/>
              <a:sym typeface="Arial"/>
            </a:endParaRPr>
          </a:p>
          <a:p>
            <a:pPr indent="0" lvl="0" marL="0" marR="0" rtl="0" algn="l">
              <a:spcBef>
                <a:spcPts val="800"/>
              </a:spcBef>
              <a:spcAft>
                <a:spcPts val="0"/>
              </a:spcAft>
              <a:buNone/>
            </a:pPr>
            <a:r>
              <a:t/>
            </a:r>
            <a:endParaRPr sz="1600">
              <a:solidFill>
                <a:srgbClr val="1F2A33"/>
              </a:solidFill>
            </a:endParaRPr>
          </a:p>
          <a:p>
            <a:pPr indent="-254000" lvl="0" marL="254000" marR="0" rtl="0" algn="l">
              <a:spcBef>
                <a:spcPts val="800"/>
              </a:spcBef>
              <a:spcAft>
                <a:spcPts val="0"/>
              </a:spcAft>
              <a:buClr>
                <a:srgbClr val="1F2A33"/>
              </a:buClr>
              <a:buSzPts val="1600"/>
              <a:buChar char="•"/>
            </a:pPr>
            <a:r>
              <a:rPr b="1" i="0" lang="en-US" sz="1600" u="none" cap="none" strike="noStrike">
                <a:solidFill>
                  <a:srgbClr val="1F2A33"/>
                </a:solidFill>
              </a:rPr>
              <a:t>Yên tâm giao phó con </a:t>
            </a:r>
            <a:r>
              <a:rPr b="1" lang="en-US" sz="1600">
                <a:solidFill>
                  <a:srgbClr val="1F2A33"/>
                </a:solidFill>
              </a:rPr>
              <a:t>:</a:t>
            </a:r>
            <a:endParaRPr b="1" sz="1600">
              <a:solidFill>
                <a:srgbClr val="1F2A33"/>
              </a:solidFill>
            </a:endParaRPr>
          </a:p>
          <a:p>
            <a:pPr indent="0" lvl="0" marL="0" marR="0" rtl="0" algn="l">
              <a:spcBef>
                <a:spcPts val="800"/>
              </a:spcBef>
              <a:spcAft>
                <a:spcPts val="0"/>
              </a:spcAft>
              <a:buNone/>
            </a:pPr>
            <a:r>
              <a:rPr lang="en-US" sz="1600">
                <a:solidFill>
                  <a:srgbClr val="1F2A33"/>
                </a:solidFill>
              </a:rPr>
              <a:t>C</a:t>
            </a:r>
            <a:r>
              <a:rPr b="0" i="0" lang="en-US" sz="1600" u="none" cap="none" strike="noStrike">
                <a:solidFill>
                  <a:srgbClr val="1F2A33"/>
                </a:solidFill>
                <a:latin typeface="Arial"/>
                <a:ea typeface="Arial"/>
                <a:cs typeface="Arial"/>
                <a:sym typeface="Arial"/>
              </a:rPr>
              <a:t>ó thể giao việc học cho Edupia, biết rằng con được theo sát, có người hỗ trợ và bố mẹ luôn nắm được tình hình học </a:t>
            </a:r>
            <a:endParaRPr b="0" i="0" sz="1600" u="none" cap="none" strike="noStrike">
              <a:solidFill>
                <a:srgbClr val="1F2A33"/>
              </a:solidFill>
              <a:latin typeface="Arial"/>
              <a:ea typeface="Arial"/>
              <a:cs typeface="Arial"/>
              <a:sym typeface="Arial"/>
            </a:endParaRPr>
          </a:p>
          <a:p>
            <a:pPr indent="0" lvl="0" marL="0" marR="0" rtl="0" algn="l">
              <a:spcBef>
                <a:spcPts val="800"/>
              </a:spcBef>
              <a:spcAft>
                <a:spcPts val="0"/>
              </a:spcAft>
              <a:buNone/>
            </a:pPr>
            <a:r>
              <a:rPr b="0" i="0" lang="en-US" sz="1600" u="none" cap="none" strike="noStrike">
                <a:solidFill>
                  <a:srgbClr val="1F2A33"/>
                </a:solidFill>
                <a:latin typeface="Arial"/>
                <a:ea typeface="Arial"/>
                <a:cs typeface="Arial"/>
                <a:sym typeface="Arial"/>
              </a:rPr>
              <a:t>tập.</a:t>
            </a:r>
            <a:endParaRPr sz="1600">
              <a:solidFill>
                <a:srgbClr val="1F2A33"/>
              </a:solidFill>
            </a:endParaRPr>
          </a:p>
          <a:p>
            <a:pPr indent="0" lvl="0" marL="0" marR="0" rtl="0" algn="l">
              <a:spcBef>
                <a:spcPts val="800"/>
              </a:spcBef>
              <a:spcAft>
                <a:spcPts val="0"/>
              </a:spcAft>
              <a:buNone/>
            </a:pPr>
            <a:r>
              <a:t/>
            </a:r>
            <a:endParaRPr sz="1600">
              <a:solidFill>
                <a:srgbClr val="1F2A33"/>
              </a:solidFill>
            </a:endParaRPr>
          </a:p>
          <a:p>
            <a:pPr indent="-254000" lvl="0" marL="254000" marR="0" rtl="0" algn="l">
              <a:spcBef>
                <a:spcPts val="800"/>
              </a:spcBef>
              <a:spcAft>
                <a:spcPts val="0"/>
              </a:spcAft>
              <a:buClr>
                <a:srgbClr val="1F2A33"/>
              </a:buClr>
              <a:buSzPts val="1600"/>
              <a:buChar char="•"/>
            </a:pPr>
            <a:r>
              <a:rPr b="1" i="0" lang="en-US" sz="1600" u="none" cap="none" strike="noStrike">
                <a:solidFill>
                  <a:srgbClr val="1F2A33"/>
                </a:solidFill>
              </a:rPr>
              <a:t>Con tự tin nói tiếng Anh:</a:t>
            </a:r>
            <a:endParaRPr b="1" sz="1600">
              <a:solidFill>
                <a:srgbClr val="1F2A33"/>
              </a:solidFill>
            </a:endParaRPr>
          </a:p>
          <a:p>
            <a:pPr indent="0" lvl="0" marL="0" marR="0" rtl="0" algn="l">
              <a:spcBef>
                <a:spcPts val="800"/>
              </a:spcBef>
              <a:spcAft>
                <a:spcPts val="0"/>
              </a:spcAft>
              <a:buNone/>
            </a:pPr>
            <a:r>
              <a:rPr lang="en-US" sz="1600">
                <a:solidFill>
                  <a:srgbClr val="1F2A33"/>
                </a:solidFill>
              </a:rPr>
              <a:t>K</a:t>
            </a:r>
            <a:r>
              <a:rPr b="0" i="0" lang="en-US" sz="1600" u="none" cap="none" strike="noStrike">
                <a:solidFill>
                  <a:srgbClr val="1F2A33"/>
                </a:solidFill>
                <a:latin typeface="Arial"/>
                <a:ea typeface="Arial"/>
                <a:cs typeface="Arial"/>
                <a:sym typeface="Arial"/>
              </a:rPr>
              <a:t>hông chỉ làm bài đúng mà thực sự dám mở miệng nói, giao tiếp và sử dụng tiếng Anh trong tình huống thực tế.</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113" name="Shape 113"/>
        <p:cNvGrpSpPr/>
        <p:nvPr/>
      </p:nvGrpSpPr>
      <p:grpSpPr>
        <a:xfrm>
          <a:off x="0" y="0"/>
          <a:ext cx="0" cy="0"/>
          <a:chOff x="0" y="0"/>
          <a:chExt cx="0" cy="0"/>
        </a:xfrm>
      </p:grpSpPr>
      <p:sp>
        <p:nvSpPr>
          <p:cNvPr id="114" name="Google Shape;114;p12"/>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2"/>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4</a:t>
            </a:r>
            <a:endParaRPr b="0" i="0" sz="1600" u="none" cap="none" strike="noStrike">
              <a:solidFill>
                <a:schemeClr val="dk1"/>
              </a:solidFill>
              <a:latin typeface="Calibri"/>
              <a:ea typeface="Calibri"/>
              <a:cs typeface="Calibri"/>
              <a:sym typeface="Calibri"/>
            </a:endParaRPr>
          </a:p>
        </p:txBody>
      </p:sp>
      <p:sp>
        <p:nvSpPr>
          <p:cNvPr id="116" name="Google Shape;116;p12"/>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Con và bố mẹ nhận được gì</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3"/>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Con học giỏi hơn</a:t>
            </a:r>
            <a:endParaRPr b="0" i="0" sz="2200" u="none" cap="none" strike="noStrike">
              <a:solidFill>
                <a:schemeClr val="dk1"/>
              </a:solidFill>
              <a:latin typeface="Calibri"/>
              <a:ea typeface="Calibri"/>
              <a:cs typeface="Calibri"/>
              <a:sym typeface="Calibri"/>
            </a:endParaRPr>
          </a:p>
        </p:txBody>
      </p:sp>
      <p:cxnSp>
        <p:nvCxnSpPr>
          <p:cNvPr id="124" name="Google Shape;124;p13"/>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25" name="Google Shape;125;p13"/>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yếu đâu — được kèm đúng đó. </a:t>
            </a:r>
            <a:r>
              <a:rPr b="0" i="0" lang="en-US" sz="1600" u="none" cap="none" strike="noStrike">
                <a:solidFill>
                  <a:srgbClr val="1F2A33"/>
                </a:solidFill>
                <a:latin typeface="Arial"/>
                <a:ea typeface="Arial"/>
                <a:cs typeface="Arial"/>
                <a:sym typeface="Arial"/>
              </a:rPr>
              <a:t>Edupia theo dõi quá trình học của con để biết con đang chắc phần nào, còn yếu phần nào và ưu tiên cho con luyện đúng phần cần cải thiện.</a:t>
            </a:r>
            <a:endParaRPr b="0" i="0" sz="1600" u="none" cap="none" strike="noStrike">
              <a:solidFill>
                <a:schemeClr val="dk1"/>
              </a:solidFill>
              <a:latin typeface="Calibri"/>
              <a:ea typeface="Calibri"/>
              <a:cs typeface="Calibri"/>
              <a:sym typeface="Calibri"/>
            </a:endParaRPr>
          </a:p>
        </p:txBody>
      </p:sp>
      <p:sp>
        <p:nvSpPr>
          <p:cNvPr id="126" name="Google Shape;126;p13"/>
          <p:cNvSpPr/>
          <p:nvPr/>
        </p:nvSpPr>
        <p:spPr>
          <a:xfrm>
            <a:off x="548640" y="224942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nhận được:</a:t>
            </a:r>
            <a:endParaRPr b="0" i="0" sz="1600" u="none" cap="none" strike="noStrike">
              <a:solidFill>
                <a:schemeClr val="dk1"/>
              </a:solidFill>
              <a:latin typeface="Calibri"/>
              <a:ea typeface="Calibri"/>
              <a:cs typeface="Calibri"/>
              <a:sym typeface="Calibri"/>
            </a:endParaRPr>
          </a:p>
        </p:txBody>
      </p:sp>
      <p:sp>
        <p:nvSpPr>
          <p:cNvPr id="127" name="Google Shape;127;p13"/>
          <p:cNvSpPr/>
          <p:nvPr/>
        </p:nvSpPr>
        <p:spPr>
          <a:xfrm>
            <a:off x="548640" y="2670048"/>
            <a:ext cx="11094300" cy="1591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Học đúng phần mình đang thiếu.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Không phải học lại lan man những phần đã biết.</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tập được điều chỉnh theo khả năng.</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cơ hội củng cố kiến thức ngay khi vừa phát hiện lỗ hổng.</a:t>
            </a:r>
            <a:endParaRPr b="0" i="0" sz="1600" u="none" cap="none" strike="noStrike">
              <a:solidFill>
                <a:schemeClr val="dk1"/>
              </a:solidFill>
              <a:latin typeface="Calibri"/>
              <a:ea typeface="Calibri"/>
              <a:cs typeface="Calibri"/>
              <a:sym typeface="Calibri"/>
            </a:endParaRPr>
          </a:p>
        </p:txBody>
      </p:sp>
      <p:sp>
        <p:nvSpPr>
          <p:cNvPr id="128" name="Google Shape;128;p13"/>
          <p:cNvSpPr/>
          <p:nvPr/>
        </p:nvSpPr>
        <p:spPr>
          <a:xfrm>
            <a:off x="548640" y="4443984"/>
            <a:ext cx="54900" cy="4938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777240" y="4443984"/>
            <a:ext cx="10865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biết con đang yếu ở đâu và thấy được quá trình con tiến bộ.</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4"/>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Con được học với giáo viên giỏi</a:t>
            </a:r>
            <a:endParaRPr b="0" i="0" sz="2200" u="none" cap="none" strike="noStrike">
              <a:solidFill>
                <a:schemeClr val="dk1"/>
              </a:solidFill>
              <a:latin typeface="Calibri"/>
              <a:ea typeface="Calibri"/>
              <a:cs typeface="Calibri"/>
              <a:sym typeface="Calibri"/>
            </a:endParaRPr>
          </a:p>
        </p:txBody>
      </p:sp>
      <p:cxnSp>
        <p:nvCxnSpPr>
          <p:cNvPr id="137" name="Google Shape;137;p14"/>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38" name="Google Shape;138;p14"/>
          <p:cNvSpPr/>
          <p:nvPr/>
        </p:nvSpPr>
        <p:spPr>
          <a:xfrm>
            <a:off x="548640" y="1371600"/>
            <a:ext cx="110943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Cô giáo giỏi vẫn là người dẫn dắt con — </a:t>
            </a:r>
            <a:r>
              <a:rPr b="1" lang="en-US" sz="1600">
                <a:solidFill>
                  <a:srgbClr val="004671"/>
                </a:solidFill>
              </a:rPr>
              <a:t>công nghệ</a:t>
            </a:r>
            <a:r>
              <a:rPr b="1" i="0" lang="en-US" sz="1600" u="none" cap="none" strike="noStrike">
                <a:solidFill>
                  <a:srgbClr val="004671"/>
                </a:solidFill>
                <a:latin typeface="Arial"/>
                <a:ea typeface="Arial"/>
                <a:cs typeface="Arial"/>
                <a:sym typeface="Arial"/>
              </a:rPr>
              <a:t> giúp cô theo sát con hơn. </a:t>
            </a:r>
            <a:r>
              <a:rPr b="0" i="0" lang="en-US" sz="1600" u="none" cap="none" strike="noStrike">
                <a:solidFill>
                  <a:srgbClr val="1F2A33"/>
                </a:solidFill>
                <a:latin typeface="Arial"/>
                <a:ea typeface="Arial"/>
                <a:cs typeface="Arial"/>
                <a:sym typeface="Arial"/>
              </a:rPr>
              <a:t>Con vẫn được học với giáo viên thật trong buổi học chính, theo chương trình bài bản. Phía sau đó, hệ thống hỗ trợ theo dõi kết quả của từng con để việc học được </a:t>
            </a:r>
            <a:r>
              <a:rPr lang="en-US" sz="1600">
                <a:solidFill>
                  <a:srgbClr val="1F2A33"/>
                </a:solidFill>
              </a:rPr>
              <a:t>sát sao</a:t>
            </a:r>
            <a:r>
              <a:rPr b="0" i="0" lang="en-US" sz="1600" u="none" cap="none" strike="noStrike">
                <a:solidFill>
                  <a:srgbClr val="1F2A33"/>
                </a:solidFill>
                <a:latin typeface="Arial"/>
                <a:ea typeface="Arial"/>
                <a:cs typeface="Arial"/>
                <a:sym typeface="Arial"/>
              </a:rPr>
              <a:t> hơn.</a:t>
            </a:r>
            <a:endParaRPr b="0" i="0" sz="1600" u="none" cap="none" strike="noStrike">
              <a:solidFill>
                <a:schemeClr val="dk1"/>
              </a:solidFill>
              <a:latin typeface="Calibri"/>
              <a:ea typeface="Calibri"/>
              <a:cs typeface="Calibri"/>
              <a:sym typeface="Calibri"/>
            </a:endParaRPr>
          </a:p>
        </p:txBody>
      </p:sp>
      <p:sp>
        <p:nvSpPr>
          <p:cNvPr id="139" name="Google Shape;139;p14"/>
          <p:cNvSpPr/>
          <p:nvPr/>
        </p:nvSpPr>
        <p:spPr>
          <a:xfrm>
            <a:off x="548640" y="252374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nhận được:</a:t>
            </a:r>
            <a:endParaRPr b="0" i="0" sz="1600" u="none" cap="none" strike="noStrike">
              <a:solidFill>
                <a:schemeClr val="dk1"/>
              </a:solidFill>
              <a:latin typeface="Calibri"/>
              <a:ea typeface="Calibri"/>
              <a:cs typeface="Calibri"/>
              <a:sym typeface="Calibri"/>
            </a:endParaRPr>
          </a:p>
        </p:txBody>
      </p:sp>
      <p:sp>
        <p:nvSpPr>
          <p:cNvPr id="140" name="Google Shape;140;p14"/>
          <p:cNvSpPr/>
          <p:nvPr/>
        </p:nvSpPr>
        <p:spPr>
          <a:xfrm>
            <a:off x="548640" y="2944368"/>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học theo chương trình có giáo viên hướng dẫn.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giải thích và sửa những phần chưa hiểu.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thêm người kèm riêng khi cần.</a:t>
            </a:r>
            <a:endParaRPr b="0" i="0" sz="1600" u="none" cap="none" strike="noStrike">
              <a:solidFill>
                <a:schemeClr val="dk1"/>
              </a:solidFill>
              <a:latin typeface="Calibri"/>
              <a:ea typeface="Calibri"/>
              <a:cs typeface="Calibri"/>
              <a:sym typeface="Calibri"/>
            </a:endParaRPr>
          </a:p>
        </p:txBody>
      </p:sp>
      <p:sp>
        <p:nvSpPr>
          <p:cNvPr id="141" name="Google Shape;141;p14"/>
          <p:cNvSpPr/>
          <p:nvPr/>
        </p:nvSpPr>
        <p:spPr>
          <a:xfrm>
            <a:off x="548640" y="4352544"/>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777240" y="4352544"/>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không phải lựa chọn giữa "lớp học có giáo viên giỏi" và "được kèm riêng" — Edupia kết hợp cả hai.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5"/>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Con thích học hơn</a:t>
            </a:r>
            <a:endParaRPr b="0" i="0" sz="2200" u="none" cap="none" strike="noStrike">
              <a:solidFill>
                <a:schemeClr val="dk1"/>
              </a:solidFill>
              <a:latin typeface="Calibri"/>
              <a:ea typeface="Calibri"/>
              <a:cs typeface="Calibri"/>
              <a:sym typeface="Calibri"/>
            </a:endParaRPr>
          </a:p>
        </p:txBody>
      </p:sp>
      <p:cxnSp>
        <p:nvCxnSpPr>
          <p:cNvPr id="150" name="Google Shape;150;p15"/>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51" name="Google Shape;151;p15"/>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Học vừa sức — biết mình đang tiến bộ — nên con có động lực học tiếp. </a:t>
            </a:r>
            <a:r>
              <a:rPr b="0" i="0" lang="en-US" sz="1600" u="none" cap="none" strike="noStrike">
                <a:solidFill>
                  <a:srgbClr val="1F2A33"/>
                </a:solidFill>
                <a:latin typeface="Arial"/>
                <a:ea typeface="Arial"/>
                <a:cs typeface="Arial"/>
                <a:sym typeface="Arial"/>
              </a:rPr>
              <a:t>Thay vì giao cùng một lượng bài cho tất cả học sinh, hệ thống điều chỉnh nội dung theo khả năng và kết quả của từng con.</a:t>
            </a:r>
            <a:endParaRPr b="0" i="0" sz="1600" u="none" cap="none" strike="noStrike">
              <a:solidFill>
                <a:schemeClr val="dk1"/>
              </a:solidFill>
              <a:latin typeface="Calibri"/>
              <a:ea typeface="Calibri"/>
              <a:cs typeface="Calibri"/>
              <a:sym typeface="Calibri"/>
            </a:endParaRPr>
          </a:p>
        </p:txBody>
      </p:sp>
      <p:sp>
        <p:nvSpPr>
          <p:cNvPr id="152" name="Google Shape;152;p15"/>
          <p:cNvSpPr/>
          <p:nvPr/>
        </p:nvSpPr>
        <p:spPr>
          <a:xfrm>
            <a:off x="548640" y="224942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nhận được:</a:t>
            </a:r>
            <a:endParaRPr b="0" i="0" sz="1600" u="none" cap="none" strike="noStrike">
              <a:solidFill>
                <a:schemeClr val="dk1"/>
              </a:solidFill>
              <a:latin typeface="Calibri"/>
              <a:ea typeface="Calibri"/>
              <a:cs typeface="Calibri"/>
              <a:sym typeface="Calibri"/>
            </a:endParaRPr>
          </a:p>
        </p:txBody>
      </p:sp>
      <p:sp>
        <p:nvSpPr>
          <p:cNvPr id="153" name="Google Shape;153;p15"/>
          <p:cNvSpPr/>
          <p:nvPr/>
        </p:nvSpPr>
        <p:spPr>
          <a:xfrm>
            <a:off x="548640" y="2670048"/>
            <a:ext cx="11094300" cy="19569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tập vừa sức.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Làm tốt được nâng độ khó.</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Chưa tốt được luyện lại.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nhiều hoạt động khác nhau: học, luyện nói, câu lạc bộ, thử thách.</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Nhìn thấy thành quả của chính mình trong quá trình học.</a:t>
            </a:r>
            <a:endParaRPr b="0" i="0" sz="1600" u="none" cap="none" strike="noStrike">
              <a:solidFill>
                <a:schemeClr val="dk1"/>
              </a:solidFill>
              <a:latin typeface="Calibri"/>
              <a:ea typeface="Calibri"/>
              <a:cs typeface="Calibri"/>
              <a:sym typeface="Calibri"/>
            </a:endParaRPr>
          </a:p>
        </p:txBody>
      </p:sp>
      <p:sp>
        <p:nvSpPr>
          <p:cNvPr id="154" name="Google Shape;154;p15"/>
          <p:cNvSpPr/>
          <p:nvPr/>
        </p:nvSpPr>
        <p:spPr>
          <a:xfrm>
            <a:off x="548640" y="4809744"/>
            <a:ext cx="54900" cy="4938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777240" y="4809744"/>
            <a:ext cx="10865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bớt phải ép, bớt phải nhắc con học mỗi ngày.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6"/>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Bố mẹ yên tâm giao phó con</a:t>
            </a:r>
            <a:endParaRPr b="0" i="0" sz="2200" u="none" cap="none" strike="noStrike">
              <a:solidFill>
                <a:schemeClr val="dk1"/>
              </a:solidFill>
              <a:latin typeface="Calibri"/>
              <a:ea typeface="Calibri"/>
              <a:cs typeface="Calibri"/>
              <a:sym typeface="Calibri"/>
            </a:endParaRPr>
          </a:p>
        </p:txBody>
      </p:sp>
      <p:cxnSp>
        <p:nvCxnSpPr>
          <p:cNvPr id="163" name="Google Shape;163;p16"/>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64" name="Google Shape;164;p16"/>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Có người theo sát con — bố mẹ không phải tự mình quản lý việc học. </a:t>
            </a:r>
            <a:r>
              <a:rPr b="0" i="0" lang="en-US" sz="1600" u="none" cap="none" strike="noStrike">
                <a:solidFill>
                  <a:srgbClr val="1F2A33"/>
                </a:solidFill>
                <a:latin typeface="Arial"/>
                <a:ea typeface="Arial"/>
                <a:cs typeface="Arial"/>
                <a:sym typeface="Arial"/>
              </a:rPr>
              <a:t>Giáo viên chủ nhiệm theo dõi quá trình học, hệ thống ghi nhận hoạt động và kết quả của con, đồng thời bố mẹ có thể xem tình hình học tập qua sổ liên lạc điện tử.</a:t>
            </a:r>
            <a:endParaRPr b="0" i="0" sz="1600" u="none" cap="none" strike="noStrike">
              <a:solidFill>
                <a:schemeClr val="dk1"/>
              </a:solidFill>
              <a:latin typeface="Calibri"/>
              <a:ea typeface="Calibri"/>
              <a:cs typeface="Calibri"/>
              <a:sym typeface="Calibri"/>
            </a:endParaRPr>
          </a:p>
        </p:txBody>
      </p:sp>
      <p:sp>
        <p:nvSpPr>
          <p:cNvPr id="165" name="Google Shape;165;p16"/>
          <p:cNvSpPr/>
          <p:nvPr/>
        </p:nvSpPr>
        <p:spPr>
          <a:xfrm>
            <a:off x="548640" y="224942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nhận được:</a:t>
            </a:r>
            <a:endParaRPr b="0" i="0" sz="1600" u="none" cap="none" strike="noStrike">
              <a:solidFill>
                <a:schemeClr val="dk1"/>
              </a:solidFill>
              <a:latin typeface="Calibri"/>
              <a:ea typeface="Calibri"/>
              <a:cs typeface="Calibri"/>
              <a:sym typeface="Calibri"/>
            </a:endParaRPr>
          </a:p>
        </p:txBody>
      </p:sp>
      <p:sp>
        <p:nvSpPr>
          <p:cNvPr id="166" name="Google Shape;166;p16"/>
          <p:cNvSpPr/>
          <p:nvPr/>
        </p:nvSpPr>
        <p:spPr>
          <a:xfrm>
            <a:off x="548640" y="2670048"/>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người nhắc nhở và hỗ trợ khi cần.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theo dõi xuyên suốt quá trình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Không dễ bị bỏ lại phía sau khi gặp khó khăn.</a:t>
            </a:r>
            <a:endParaRPr b="0" i="0" sz="1600" u="none" cap="none" strike="noStrike">
              <a:solidFill>
                <a:schemeClr val="dk1"/>
              </a:solidFill>
              <a:latin typeface="Calibri"/>
              <a:ea typeface="Calibri"/>
              <a:cs typeface="Calibri"/>
              <a:sym typeface="Calibri"/>
            </a:endParaRPr>
          </a:p>
        </p:txBody>
      </p:sp>
      <p:sp>
        <p:nvSpPr>
          <p:cNvPr id="167" name="Google Shape;167;p16"/>
          <p:cNvSpPr/>
          <p:nvPr/>
        </p:nvSpPr>
        <p:spPr>
          <a:xfrm>
            <a:off x="548640" y="407822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Bố mẹ nhận được:</a:t>
            </a:r>
            <a:endParaRPr b="0" i="0" sz="1600" u="none" cap="none" strike="noStrike">
              <a:solidFill>
                <a:schemeClr val="dk1"/>
              </a:solidFill>
              <a:latin typeface="Calibri"/>
              <a:ea typeface="Calibri"/>
              <a:cs typeface="Calibri"/>
              <a:sym typeface="Calibri"/>
            </a:endParaRPr>
          </a:p>
        </p:txBody>
      </p:sp>
      <p:sp>
        <p:nvSpPr>
          <p:cNvPr id="168" name="Google Shape;168;p16"/>
          <p:cNvSpPr/>
          <p:nvPr/>
        </p:nvSpPr>
        <p:spPr>
          <a:xfrm>
            <a:off x="548640" y="4498848"/>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Biết con có đi học, học gì và tiến bộ thế nào.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người đồng hành cùng gia đình.</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Không cần ngồi cạnh con mỗi ngày để kiểm tra từng bài.</a:t>
            </a:r>
            <a:endParaRPr b="0" i="0" sz="1600" u="none" cap="none" strike="noStrike">
              <a:solidFill>
                <a:schemeClr val="dk1"/>
              </a:solidFill>
              <a:latin typeface="Calibri"/>
              <a:ea typeface="Calibri"/>
              <a:cs typeface="Calibri"/>
              <a:sym typeface="Calibri"/>
            </a:endParaRPr>
          </a:p>
        </p:txBody>
      </p:sp>
      <p:sp>
        <p:nvSpPr>
          <p:cNvPr id="169" name="Google Shape;169;p16"/>
          <p:cNvSpPr/>
          <p:nvPr/>
        </p:nvSpPr>
        <p:spPr>
          <a:xfrm>
            <a:off x="548640" y="5907024"/>
            <a:ext cx="54900" cy="4938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777240" y="5907024"/>
            <a:ext cx="10865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giao việc học cho Edupia, nhưng vẫn luôn biết con đang học thế nào."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7"/>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Con tự tin nói tiếng Anh</a:t>
            </a:r>
            <a:endParaRPr b="0" i="0" sz="2200" u="none" cap="none" strike="noStrike">
              <a:solidFill>
                <a:schemeClr val="dk1"/>
              </a:solidFill>
              <a:latin typeface="Calibri"/>
              <a:ea typeface="Calibri"/>
              <a:cs typeface="Calibri"/>
              <a:sym typeface="Calibri"/>
            </a:endParaRPr>
          </a:p>
        </p:txBody>
      </p:sp>
      <p:cxnSp>
        <p:nvCxnSpPr>
          <p:cNvPr id="178" name="Google Shape;178;p17"/>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79" name="Google Shape;179;p17"/>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được nói thường xuyên — nói sai được sửa — nói nhiều sẽ tự tin hơn. </a:t>
            </a:r>
            <a:r>
              <a:rPr b="0" i="0" lang="en-US" sz="1600" u="none" cap="none" strike="noStrike">
                <a:solidFill>
                  <a:srgbClr val="1F2A33"/>
                </a:solidFill>
                <a:latin typeface="Arial"/>
                <a:ea typeface="Arial"/>
                <a:cs typeface="Arial"/>
                <a:sym typeface="Arial"/>
              </a:rPr>
              <a:t>Edupia tạo môi trường để con luyện nói với AI thông qua các tình huống gần với thực tế.</a:t>
            </a:r>
            <a:endParaRPr b="0" i="0" sz="1600" u="none" cap="none" strike="noStrike">
              <a:solidFill>
                <a:schemeClr val="dk1"/>
              </a:solidFill>
              <a:latin typeface="Calibri"/>
              <a:ea typeface="Calibri"/>
              <a:cs typeface="Calibri"/>
              <a:sym typeface="Calibri"/>
            </a:endParaRPr>
          </a:p>
        </p:txBody>
      </p:sp>
      <p:sp>
        <p:nvSpPr>
          <p:cNvPr id="180" name="Google Shape;180;p17"/>
          <p:cNvSpPr/>
          <p:nvPr/>
        </p:nvSpPr>
        <p:spPr>
          <a:xfrm>
            <a:off x="548640" y="224942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nhận được:</a:t>
            </a:r>
            <a:endParaRPr b="0" i="0" sz="1600" u="none" cap="none" strike="noStrike">
              <a:solidFill>
                <a:schemeClr val="dk1"/>
              </a:solidFill>
              <a:latin typeface="Calibri"/>
              <a:ea typeface="Calibri"/>
              <a:cs typeface="Calibri"/>
              <a:sym typeface="Calibri"/>
            </a:endParaRPr>
          </a:p>
        </p:txBody>
      </p:sp>
      <p:sp>
        <p:nvSpPr>
          <p:cNvPr id="181" name="Google Shape;181;p17"/>
          <p:cNvSpPr/>
          <p:nvPr/>
        </p:nvSpPr>
        <p:spPr>
          <a:xfrm>
            <a:off x="548640" y="2670048"/>
            <a:ext cx="11094300" cy="19569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nói thường xuyên mà không sợ bị đánh giá.</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gợi ý khi chưa biết nói gì.</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sửa lỗi phát âm và cách nói.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Luyện từ câu đơn giản đến hội thoại thực tế.</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Nội dung luyện nói phù hợp với trình độ và phần con đang cần cải thiện.</a:t>
            </a:r>
            <a:endParaRPr b="0" i="0" sz="1600" u="none" cap="none" strike="noStrike">
              <a:solidFill>
                <a:schemeClr val="dk1"/>
              </a:solidFill>
              <a:latin typeface="Calibri"/>
              <a:ea typeface="Calibri"/>
              <a:cs typeface="Calibri"/>
              <a:sym typeface="Calibri"/>
            </a:endParaRPr>
          </a:p>
        </p:txBody>
      </p:sp>
      <p:sp>
        <p:nvSpPr>
          <p:cNvPr id="182" name="Google Shape;182;p17"/>
          <p:cNvSpPr/>
          <p:nvPr/>
        </p:nvSpPr>
        <p:spPr>
          <a:xfrm>
            <a:off x="548640" y="4809744"/>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7"/>
          <p:cNvSpPr/>
          <p:nvPr/>
        </p:nvSpPr>
        <p:spPr>
          <a:xfrm>
            <a:off x="777240" y="4809744"/>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không chỉ thấy con làm bài tốt hơn, mà còn thấy con dám nói tiếng Anh.</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18"/>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điều bố mẹ mong muốn → 5 giá trị Edupia mang lại</a:t>
            </a:r>
            <a:endParaRPr b="0" i="0" sz="2200" u="none" cap="none" strike="noStrike">
              <a:solidFill>
                <a:schemeClr val="dk1"/>
              </a:solidFill>
              <a:latin typeface="Calibri"/>
              <a:ea typeface="Calibri"/>
              <a:cs typeface="Calibri"/>
              <a:sym typeface="Calibri"/>
            </a:endParaRPr>
          </a:p>
        </p:txBody>
      </p:sp>
      <p:cxnSp>
        <p:nvCxnSpPr>
          <p:cNvPr id="191" name="Google Shape;191;p18"/>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192" name="Google Shape;192;p18"/>
          <p:cNvGraphicFramePr/>
          <p:nvPr/>
        </p:nvGraphicFramePr>
        <p:xfrm>
          <a:off x="548640" y="1371600"/>
          <a:ext cx="3000000" cy="3000000"/>
        </p:xfrm>
        <a:graphic>
          <a:graphicData uri="http://schemas.openxmlformats.org/drawingml/2006/table">
            <a:tbl>
              <a:tblPr>
                <a:noFill/>
                <a:tableStyleId>{538F6E73-484D-44E5-BF7E-94BD7A95E101}</a:tableStyleId>
              </a:tblPr>
              <a:tblGrid>
                <a:gridCol w="5279325"/>
                <a:gridCol w="5921625"/>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Bố mẹ mong muốn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Edupia giúp con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1. Con học giỏi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Học đúng chỗ yếu, được kèm và luyện đến khi chắc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2. Con học tr</a:t>
                      </a:r>
                      <a:r>
                        <a:rPr lang="en-US">
                          <a:solidFill>
                            <a:srgbClr val="1F2A33"/>
                          </a:solidFill>
                        </a:rPr>
                        <a:t>ực tiếp</a:t>
                      </a:r>
                      <a:r>
                        <a:rPr lang="en-US" sz="1400" u="none" cap="none" strike="noStrike">
                          <a:solidFill>
                            <a:srgbClr val="1F2A33"/>
                          </a:solidFill>
                          <a:latin typeface="Arial"/>
                          <a:ea typeface="Arial"/>
                          <a:cs typeface="Arial"/>
                          <a:sym typeface="Arial"/>
                        </a:rPr>
                        <a:t> với GV giỏi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Giáo viên thật dẫn dắt + c</a:t>
                      </a:r>
                      <a:r>
                        <a:rPr lang="en-US">
                          <a:solidFill>
                            <a:srgbClr val="1F2A33"/>
                          </a:solidFill>
                        </a:rPr>
                        <a:t>ông nghệ </a:t>
                      </a:r>
                      <a:r>
                        <a:rPr lang="en-US" sz="1400" u="none" cap="none" strike="noStrike">
                          <a:solidFill>
                            <a:srgbClr val="1F2A33"/>
                          </a:solidFill>
                          <a:latin typeface="Arial"/>
                          <a:ea typeface="Arial"/>
                          <a:cs typeface="Arial"/>
                          <a:sym typeface="Arial"/>
                        </a:rPr>
                        <a:t>AI hỗ trợ theo sát từng con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3. Con thích học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Học vừa sức, thấy tiến bộ, nhiều hoạt động để duy trì động lực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4. Yên tâm giao phó con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a:solidFill>
                            <a:srgbClr val="1F2A33"/>
                          </a:solidFill>
                        </a:rPr>
                        <a:t>Giáo viên chủ nhiệm theo dõi quá trình học, hệ thống ghi nhận hoạt động và kết quả của con, bố mẹ xem tình hình học tập qua sổ liên lạc điện tử</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5. Con tự tin nói tiếng Anh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Luyện nói thường xuyên, được sửa và thực hành tình huống thực tế</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193" name="Google Shape;193;p18"/>
          <p:cNvSpPr/>
          <p:nvPr/>
        </p:nvSpPr>
        <p:spPr>
          <a:xfrm>
            <a:off x="548640" y="5102352"/>
            <a:ext cx="54900" cy="10791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
          <p:cNvSpPr/>
          <p:nvPr/>
        </p:nvSpPr>
        <p:spPr>
          <a:xfrm>
            <a:off x="777240" y="5102352"/>
            <a:ext cx="10865700" cy="107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Thông điệp chốt: Bố mẹ không mua thêm một ứng dụng học tiếng Anh. Bố mẹ mua một cách để con học tốt hơn, được thầy cô giỏi dẫn dắt, thích học hơn, được theo sát và tự tin sử dụng tiếng Anh.</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9"/>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So với những lựa chọn bố mẹ đang có</a:t>
            </a:r>
            <a:endParaRPr b="0" i="0" sz="2200" u="none" cap="none" strike="noStrike">
              <a:solidFill>
                <a:schemeClr val="dk1"/>
              </a:solidFill>
              <a:latin typeface="Calibri"/>
              <a:ea typeface="Calibri"/>
              <a:cs typeface="Calibri"/>
              <a:sym typeface="Calibri"/>
            </a:endParaRPr>
          </a:p>
        </p:txBody>
      </p:sp>
      <p:cxnSp>
        <p:nvCxnSpPr>
          <p:cNvPr id="202" name="Google Shape;202;p19"/>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203" name="Google Shape;203;p19"/>
          <p:cNvGraphicFramePr/>
          <p:nvPr/>
        </p:nvGraphicFramePr>
        <p:xfrm>
          <a:off x="548640" y="1371600"/>
          <a:ext cx="3000000" cy="3000000"/>
        </p:xfrm>
        <a:graphic>
          <a:graphicData uri="http://schemas.openxmlformats.org/drawingml/2006/table">
            <a:tbl>
              <a:tblPr>
                <a:noFill/>
                <a:tableStyleId>{538F6E73-484D-44E5-BF7E-94BD7A95E101}</a:tableStyleId>
              </a:tblPr>
              <a:tblGrid>
                <a:gridCol w="2743200"/>
                <a:gridCol w="2194550"/>
                <a:gridCol w="2194550"/>
                <a:gridCol w="2194550"/>
                <a:gridCol w="1856225"/>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Điều bố mẹ cần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App tự học</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Edupia AI Class hi</a:t>
                      </a:r>
                      <a:r>
                        <a:rPr b="1" lang="en-US" sz="1450">
                          <a:solidFill>
                            <a:srgbClr val="FFFFFF"/>
                          </a:solidFill>
                        </a:rPr>
                        <a:t>ện tại</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Gia sư người thật</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Edupia AI Class Plus</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 giáo viên thật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Không</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 — giữ nguyên buổi học chính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Biết con yếu chỗ nào</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Hạn chế</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Biết chung theo lớp</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Tuỳ gia sư</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Theo sát từng phần con đang yếu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 cách theo dõi tiến bộ</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Hạn chế</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Chung theo lớp</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Tuỳ gia sư</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Bố mẹ theo dõi được trong một nơi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Bố mẹ phải tự kèm</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Nhiều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Một phần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Ít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Ít hơn — hệ thống tự giao bài, giáo viên chủ nhiệm đồng hành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Chi phí/tháng</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60–200k</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~250k</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Vài triệu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~390k</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204" name="Google Shape;204;p19"/>
          <p:cNvSpPr/>
          <p:nvPr/>
        </p:nvSpPr>
        <p:spPr>
          <a:xfrm>
            <a:off x="548650" y="5105400"/>
            <a:ext cx="111831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731520" y="521512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06" name="Google Shape;206;p19"/>
          <p:cNvSpPr/>
          <p:nvPr/>
        </p:nvSpPr>
        <p:spPr>
          <a:xfrm>
            <a:off x="731520" y="5489448"/>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"AI Class Plus không thay cô giáo và cũng không bắt con học thêm một đống buổi. Điểm mới là con được theo sát cá nhân hơn — biết yếu đâu thì sửa đúng đó."</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211" name="Shape 211"/>
        <p:cNvGrpSpPr/>
        <p:nvPr/>
      </p:nvGrpSpPr>
      <p:grpSpPr>
        <a:xfrm>
          <a:off x="0" y="0"/>
          <a:ext cx="0" cy="0"/>
          <a:chOff x="0" y="0"/>
          <a:chExt cx="0" cy="0"/>
        </a:xfrm>
      </p:grpSpPr>
      <p:sp>
        <p:nvSpPr>
          <p:cNvPr id="212" name="Google Shape;212;p20"/>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5</a:t>
            </a:r>
            <a:endParaRPr b="0" i="0" sz="1600" u="none" cap="none" strike="noStrike">
              <a:solidFill>
                <a:schemeClr val="dk1"/>
              </a:solidFill>
              <a:latin typeface="Calibri"/>
              <a:ea typeface="Calibri"/>
              <a:cs typeface="Calibri"/>
              <a:sym typeface="Calibri"/>
            </a:endParaRPr>
          </a:p>
        </p:txBody>
      </p:sp>
      <p:sp>
        <p:nvSpPr>
          <p:cNvPr id="214" name="Google Shape;214;p20"/>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Một tuần con sẽ học như thế nào</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21"/>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1"/>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Con không cần học thêm một lịch mới</a:t>
            </a:r>
            <a:endParaRPr b="0" i="0" sz="2200" u="none" cap="none" strike="noStrike">
              <a:solidFill>
                <a:schemeClr val="dk1"/>
              </a:solidFill>
              <a:latin typeface="Calibri"/>
              <a:ea typeface="Calibri"/>
              <a:cs typeface="Calibri"/>
              <a:sym typeface="Calibri"/>
            </a:endParaRPr>
          </a:p>
        </p:txBody>
      </p:sp>
      <p:cxnSp>
        <p:nvCxnSpPr>
          <p:cNvPr id="222" name="Google Shape;222;p21"/>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23" name="Google Shape;223;p21"/>
          <p:cNvSpPr/>
          <p:nvPr/>
        </p:nvSpPr>
        <p:spPr>
          <a:xfrm>
            <a:off x="54865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A33"/>
              </a:buClr>
              <a:buSzPts val="1600"/>
              <a:buFont typeface="Arial"/>
              <a:buNone/>
            </a:pPr>
            <a:r>
              <a:rPr b="0" i="0" lang="en-US" sz="1600" u="none" cap="none" strike="noStrike">
                <a:solidFill>
                  <a:srgbClr val="1F2A33"/>
                </a:solidFill>
                <a:latin typeface="Arial"/>
                <a:ea typeface="Arial"/>
                <a:cs typeface="Arial"/>
                <a:sym typeface="Arial"/>
              </a:rPr>
              <a:t>Con vẫn học các buổi như hiện tại — nhưng mỗi hoạt động đều được nối với phần con đang cần cải thiện.</a:t>
            </a:r>
            <a:endParaRPr b="0" i="0" sz="1600" u="none" cap="none" strike="noStrike">
              <a:solidFill>
                <a:schemeClr val="dk1"/>
              </a:solidFill>
              <a:latin typeface="Calibri"/>
              <a:ea typeface="Calibri"/>
              <a:cs typeface="Calibri"/>
              <a:sym typeface="Calibri"/>
            </a:endParaRPr>
          </a:p>
        </p:txBody>
      </p:sp>
      <p:graphicFrame>
        <p:nvGraphicFramePr>
          <p:cNvPr id="224" name="Google Shape;224;p21"/>
          <p:cNvGraphicFramePr/>
          <p:nvPr/>
        </p:nvGraphicFramePr>
        <p:xfrm>
          <a:off x="548640" y="1944624"/>
          <a:ext cx="3000000" cy="3000000"/>
        </p:xfrm>
        <a:graphic>
          <a:graphicData uri="http://schemas.openxmlformats.org/drawingml/2006/table">
            <a:tbl>
              <a:tblPr>
                <a:noFill/>
                <a:tableStyleId>{538F6E73-484D-44E5-BF7E-94BD7A95E101}</a:tableStyleId>
              </a:tblPr>
              <a:tblGrid>
                <a:gridCol w="2926075"/>
                <a:gridCol w="2926075"/>
                <a:gridCol w="5330950"/>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Hoạt động</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Tần suất</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Con được gì</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Buổi học chính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2 buổi/tuần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Cô giáo thật dạy theo chương trình, nhận ra con đang vướng ở đâu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Kèm riêng 30 phút cuối buổi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Khi con cần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Nếu con chưa theo kịp, được kèm 1-1 với AI ngay lúc đó</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Bài tập về nhà</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Sau mỗi buổi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Được giao đúng phần cần luyện, bài vừa sức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Phòng luyện nói cùng AI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Mỗi ngày, tối đa 1 giờ</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Luyện nói thường xuyên theo đúng trình độ và phần cần củng cố</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Câu lạc bộ</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Ngoại khoá</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Tăng tự tin, kỹ năng xã hội và gắn với nội dung đang học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225" name="Google Shape;225;p21"/>
          <p:cNvSpPr/>
          <p:nvPr/>
        </p:nvSpPr>
        <p:spPr>
          <a:xfrm>
            <a:off x="548640" y="42672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A33"/>
              </a:buClr>
              <a:buSzPts val="1600"/>
              <a:buFont typeface="Arial"/>
              <a:buNone/>
            </a:pPr>
            <a:r>
              <a:rPr b="0" i="0" lang="en-US" sz="1600" u="none" cap="none" strike="noStrike">
                <a:solidFill>
                  <a:srgbClr val="1F2A33"/>
                </a:solidFill>
                <a:latin typeface="Arial"/>
                <a:ea typeface="Arial"/>
                <a:cs typeface="Arial"/>
                <a:sym typeface="Arial"/>
              </a:rPr>
              <a:t>Cộng thêm: Giáo viên chủ nhiệm và sổ liên lạc điện tử đồng hành xuyên suốt.</a:t>
            </a:r>
            <a:endParaRPr b="0" i="0" sz="1600" u="none" cap="none" strike="noStrike">
              <a:solidFill>
                <a:schemeClr val="dk1"/>
              </a:solidFill>
              <a:latin typeface="Calibri"/>
              <a:ea typeface="Calibri"/>
              <a:cs typeface="Calibri"/>
              <a:sym typeface="Calibri"/>
            </a:endParaRPr>
          </a:p>
        </p:txBody>
      </p:sp>
      <p:sp>
        <p:nvSpPr>
          <p:cNvPr id="226" name="Google Shape;226;p21"/>
          <p:cNvSpPr/>
          <p:nvPr/>
        </p:nvSpPr>
        <p:spPr>
          <a:xfrm>
            <a:off x="548640" y="4870704"/>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1"/>
          <p:cNvSpPr/>
          <p:nvPr/>
        </p:nvSpPr>
        <p:spPr>
          <a:xfrm>
            <a:off x="731520" y="4980432"/>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28" name="Google Shape;228;p21"/>
          <p:cNvSpPr/>
          <p:nvPr/>
        </p:nvSpPr>
        <p:spPr>
          <a:xfrm>
            <a:off x="731520" y="5254752"/>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"Bố mẹ không phải sắp xếp thêm một lịch học mới cho con. Con vẫn học như hiện tại, chỉ là ở mỗi bước đều có hệ thống theo sát để biết con đang cần gì và hỗ trợ đúng lúc."</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2"/>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"Người kèm riêng" theo sát con như thế nào?</a:t>
            </a:r>
            <a:endParaRPr b="0" i="0" sz="2200" u="none" cap="none" strike="noStrike">
              <a:solidFill>
                <a:schemeClr val="dk1"/>
              </a:solidFill>
              <a:latin typeface="Calibri"/>
              <a:ea typeface="Calibri"/>
              <a:cs typeface="Calibri"/>
              <a:sym typeface="Calibri"/>
            </a:endParaRPr>
          </a:p>
        </p:txBody>
      </p:sp>
      <p:cxnSp>
        <p:nvCxnSpPr>
          <p:cNvPr id="236" name="Google Shape;236;p22"/>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37" name="Google Shape;237;p22"/>
          <p:cNvSpPr/>
          <p:nvPr/>
        </p:nvSpPr>
        <p:spPr>
          <a:xfrm>
            <a:off x="548640" y="137160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Không phải con học một bài giống nhau rồi thôi. Edupia theo dõi rất chi tiết từng phần nhỏ trong chương trình tiếng Anh:</a:t>
            </a:r>
            <a:endParaRPr b="0" i="0" sz="1600" u="none" cap="none" strike="noStrike">
              <a:solidFill>
                <a:schemeClr val="dk1"/>
              </a:solidFill>
              <a:latin typeface="Calibri"/>
              <a:ea typeface="Calibri"/>
              <a:cs typeface="Calibri"/>
              <a:sym typeface="Calibri"/>
            </a:endParaRPr>
          </a:p>
        </p:txBody>
      </p:sp>
      <p:sp>
        <p:nvSpPr>
          <p:cNvPr id="238" name="Google Shape;238;p22"/>
          <p:cNvSpPr/>
          <p:nvPr/>
        </p:nvSpPr>
        <p:spPr>
          <a:xfrm>
            <a:off x="548640" y="2048256"/>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có hồ sơ học tập riêng, cập nhật theo quá trình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Hệ thống nhận ra con đang chắc phần nào, còn yếu phần nào.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Từ đó chọn bài học và bài luyện phù hợp với chính con.</a:t>
            </a:r>
            <a:endParaRPr b="0" i="0" sz="1600" u="none" cap="none" strike="noStrike">
              <a:solidFill>
                <a:schemeClr val="dk1"/>
              </a:solidFill>
              <a:latin typeface="Calibri"/>
              <a:ea typeface="Calibri"/>
              <a:cs typeface="Calibri"/>
              <a:sym typeface="Calibri"/>
            </a:endParaRPr>
          </a:p>
        </p:txBody>
      </p:sp>
      <p:sp>
        <p:nvSpPr>
          <p:cNvPr id="239" name="Google Shape;239;p22"/>
          <p:cNvSpPr/>
          <p:nvPr/>
        </p:nvSpPr>
        <p:spPr>
          <a:xfrm>
            <a:off x="548640" y="3456432"/>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Bằng chứng: </a:t>
            </a:r>
            <a:r>
              <a:rPr b="0" i="0" lang="en-US" sz="1600" u="none" cap="none" strike="noStrike">
                <a:solidFill>
                  <a:srgbClr val="1F2A33"/>
                </a:solidFill>
                <a:latin typeface="Arial"/>
                <a:ea typeface="Arial"/>
                <a:cs typeface="Arial"/>
                <a:sym typeface="Arial"/>
              </a:rPr>
              <a:t>Edupia hiện đã chia chương trình tiếng Anh lớp 1–8 thành hơn 1.400 điểm kiến thức nhỏ để có thể theo dõi chi tiết.</a:t>
            </a:r>
            <a:endParaRPr b="0" i="0" sz="1600" u="none" cap="none" strike="noStrike">
              <a:solidFill>
                <a:schemeClr val="dk1"/>
              </a:solidFill>
              <a:latin typeface="Calibri"/>
              <a:ea typeface="Calibri"/>
              <a:cs typeface="Calibri"/>
              <a:sym typeface="Calibri"/>
            </a:endParaRPr>
          </a:p>
        </p:txBody>
      </p:sp>
      <p:sp>
        <p:nvSpPr>
          <p:cNvPr id="240" name="Google Shape;240;p22"/>
          <p:cNvSpPr/>
          <p:nvPr/>
        </p:nvSpPr>
        <p:spPr>
          <a:xfrm>
            <a:off x="548640" y="4334256"/>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731520" y="4443984"/>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42" name="Google Shape;242;p22"/>
          <p:cNvSpPr/>
          <p:nvPr/>
        </p:nvSpPr>
        <p:spPr>
          <a:xfrm>
            <a:off x="731520" y="4718304"/>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"Không phải chỉ biết con được 7 hay 8 điểm. Edupia cố gắng biết sâu hơn: con đang yếu đúng phần nào để còn sửa đúng phần đó."</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23"/>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Buổi học chính: vẫn là cô giáo, nhưng được theo sát hơn</a:t>
            </a:r>
            <a:endParaRPr b="0" i="0" sz="2200" u="none" cap="none" strike="noStrike">
              <a:solidFill>
                <a:schemeClr val="dk1"/>
              </a:solidFill>
              <a:latin typeface="Calibri"/>
              <a:ea typeface="Calibri"/>
              <a:cs typeface="Calibri"/>
              <a:sym typeface="Calibri"/>
            </a:endParaRPr>
          </a:p>
        </p:txBody>
      </p:sp>
      <p:cxnSp>
        <p:nvCxnSpPr>
          <p:cNvPr id="250" name="Google Shape;250;p23"/>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51" name="Google Shape;251;p23"/>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vẫn học với cô giáo tại đúng khung giờ cố định mỗi tuần:</a:t>
            </a:r>
            <a:endParaRPr b="0" i="0" sz="1600" u="none" cap="none" strike="noStrike">
              <a:solidFill>
                <a:schemeClr val="dk1"/>
              </a:solidFill>
              <a:latin typeface="Calibri"/>
              <a:ea typeface="Calibri"/>
              <a:cs typeface="Calibri"/>
              <a:sym typeface="Calibri"/>
            </a:endParaRPr>
          </a:p>
        </p:txBody>
      </p:sp>
      <p:sp>
        <p:nvSpPr>
          <p:cNvPr id="252" name="Google Shape;252;p23"/>
          <p:cNvSpPr/>
          <p:nvPr/>
        </p:nvSpPr>
        <p:spPr>
          <a:xfrm>
            <a:off x="548640" y="1792224"/>
            <a:ext cx="11094300" cy="14997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Đầu buổi: cô giáo gọi tên chào con bằng giọng thật.</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Trong buổi: cô khen ngợi khi con trả lời đúng và tương tác với con.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Cuối buổi: trợ giảng AI hỗ trợ nhận xét kết quả học tập của con và nhắc con làm bài tập về nhà.</a:t>
            </a:r>
            <a:endParaRPr b="0" i="0" sz="1600" u="none" cap="none" strike="noStrike">
              <a:solidFill>
                <a:schemeClr val="dk1"/>
              </a:solidFill>
              <a:latin typeface="Calibri"/>
              <a:ea typeface="Calibri"/>
              <a:cs typeface="Calibri"/>
              <a:sym typeface="Calibri"/>
            </a:endParaRPr>
          </a:p>
        </p:txBody>
      </p:sp>
      <p:sp>
        <p:nvSpPr>
          <p:cNvPr id="253" name="Google Shape;253;p23"/>
          <p:cNvSpPr/>
          <p:nvPr/>
        </p:nvSpPr>
        <p:spPr>
          <a:xfrm>
            <a:off x="548640" y="3474720"/>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3"/>
          <p:cNvSpPr/>
          <p:nvPr/>
        </p:nvSpPr>
        <p:spPr>
          <a:xfrm>
            <a:off x="731520" y="358444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55" name="Google Shape;255;p23"/>
          <p:cNvSpPr/>
          <p:nvPr/>
        </p:nvSpPr>
        <p:spPr>
          <a:xfrm>
            <a:off x="731520" y="3858768"/>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"Con vẫn học trực tuyến với cô giáo tại đúng khung giờ cố định mỗi tuần, giống một buổi phát sóng trực tiếp. Cô gọi tên và tương tác với con trong buổi học. Cuối buổi có trợ giảng AI nhận xét cụ thể hôm nay con học thế nào và nhắc con làm bài."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24"/>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Con chưa hiểu bài? Được kèm ngay trong buổi</a:t>
            </a:r>
            <a:endParaRPr b="0" i="0" sz="2200" u="none" cap="none" strike="noStrike">
              <a:solidFill>
                <a:schemeClr val="dk1"/>
              </a:solidFill>
              <a:latin typeface="Calibri"/>
              <a:ea typeface="Calibri"/>
              <a:cs typeface="Calibri"/>
              <a:sym typeface="Calibri"/>
            </a:endParaRPr>
          </a:p>
        </p:txBody>
      </p:sp>
      <p:cxnSp>
        <p:nvCxnSpPr>
          <p:cNvPr id="263" name="Google Shape;263;p24"/>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64" name="Google Shape;264;p24"/>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Kèm riêng 30 phút cuối buổi: </a:t>
            </a:r>
            <a:r>
              <a:rPr b="0" i="0" lang="en-US" sz="1600" u="none" cap="none" strike="noStrike">
                <a:solidFill>
                  <a:srgbClr val="1F2A33"/>
                </a:solidFill>
                <a:latin typeface="Arial"/>
                <a:ea typeface="Arial"/>
                <a:cs typeface="Arial"/>
                <a:sym typeface="Arial"/>
              </a:rPr>
              <a:t>nếu trong buổi học chính con chưa theo kịp, con được chuyển sang học riêng 1-1 với AI trong 30 phút cuối buổi để xử lý phần vừa hổng.</a:t>
            </a:r>
            <a:endParaRPr b="0" i="0" sz="1600" u="none" cap="none" strike="noStrike">
              <a:solidFill>
                <a:schemeClr val="dk1"/>
              </a:solidFill>
              <a:latin typeface="Calibri"/>
              <a:ea typeface="Calibri"/>
              <a:cs typeface="Calibri"/>
              <a:sym typeface="Calibri"/>
            </a:endParaRPr>
          </a:p>
        </p:txBody>
      </p:sp>
      <p:sp>
        <p:nvSpPr>
          <p:cNvPr id="265" name="Google Shape;265;p24"/>
          <p:cNvSpPr/>
          <p:nvPr/>
        </p:nvSpPr>
        <p:spPr>
          <a:xfrm>
            <a:off x="548640" y="2249424"/>
            <a:ext cx="110943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Vì sao điều này quan trọng? </a:t>
            </a:r>
            <a:r>
              <a:rPr b="0" i="0" lang="en-US" sz="1600" u="none" cap="none" strike="noStrike">
                <a:solidFill>
                  <a:srgbClr val="1F2A33"/>
                </a:solidFill>
                <a:latin typeface="Arial"/>
                <a:ea typeface="Arial"/>
                <a:cs typeface="Arial"/>
                <a:sym typeface="Arial"/>
              </a:rPr>
              <a:t>Con thường dễ nản nhất khi: </a:t>
            </a:r>
            <a:r>
              <a:rPr b="1" i="0" lang="en-US" sz="1600" u="none" cap="none" strike="noStrike">
                <a:solidFill>
                  <a:srgbClr val="1F2A33"/>
                </a:solidFill>
              </a:rPr>
              <a:t>Không hiểu bài → về nhà tự làm → không biết hỏi ai → bỏ cuộc</a:t>
            </a:r>
            <a:r>
              <a:rPr b="0" i="0" lang="en-US" sz="1600" u="none" cap="none" strike="noStrike">
                <a:solidFill>
                  <a:srgbClr val="1F2A33"/>
                </a:solidFill>
                <a:latin typeface="Arial"/>
                <a:ea typeface="Arial"/>
                <a:cs typeface="Arial"/>
                <a:sym typeface="Arial"/>
              </a:rPr>
              <a:t>. Edupia cố gắng xử lý ngay từ bước: </a:t>
            </a:r>
            <a:r>
              <a:rPr b="1" i="0" lang="en-US" sz="1600" u="none" cap="none" strike="noStrike">
                <a:solidFill>
                  <a:srgbClr val="1F2A33"/>
                </a:solidFill>
              </a:rPr>
              <a:t>Chưa hiểu → kèm ngay → hiểu bài → về nhà luyện tiếp</a:t>
            </a:r>
            <a:r>
              <a:rPr b="0" i="0" lang="en-US" sz="1600" u="none" cap="none" strike="noStrike">
                <a:solidFill>
                  <a:srgbClr val="1F2A33"/>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266" name="Google Shape;266;p24"/>
          <p:cNvSpPr/>
          <p:nvPr/>
        </p:nvSpPr>
        <p:spPr>
          <a:xfrm>
            <a:off x="548640" y="3401568"/>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4"/>
          <p:cNvSpPr/>
          <p:nvPr/>
        </p:nvSpPr>
        <p:spPr>
          <a:xfrm>
            <a:off x="731520" y="3511296"/>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68" name="Google Shape;268;p24"/>
          <p:cNvSpPr/>
          <p:nvPr/>
        </p:nvSpPr>
        <p:spPr>
          <a:xfrm>
            <a:off x="731520" y="3785616"/>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"Nếu trong buổi học con chưa theo kịp, con được kèm riêng ngay 30 phút cuối để xử lý phần chưa hiểu. Như vậy con không phải mang chỗ hổng đó về nhà rồi tự mò một mình."</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25"/>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Bài tập về nhà: không giao một đống bài giống nhau cho tất cả</a:t>
            </a:r>
            <a:endParaRPr b="0" i="0" sz="2200" u="none" cap="none" strike="noStrike">
              <a:solidFill>
                <a:schemeClr val="dk1"/>
              </a:solidFill>
              <a:latin typeface="Calibri"/>
              <a:ea typeface="Calibri"/>
              <a:cs typeface="Calibri"/>
              <a:sym typeface="Calibri"/>
            </a:endParaRPr>
          </a:p>
        </p:txBody>
      </p:sp>
      <p:cxnSp>
        <p:nvCxnSpPr>
          <p:cNvPr id="276" name="Google Shape;276;p25"/>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77" name="Google Shape;277;p25"/>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được giao bài theo đúng phần mình cần luyện:</a:t>
            </a:r>
            <a:endParaRPr b="0" i="0" sz="1600" u="none" cap="none" strike="noStrike">
              <a:solidFill>
                <a:schemeClr val="dk1"/>
              </a:solidFill>
              <a:latin typeface="Calibri"/>
              <a:ea typeface="Calibri"/>
              <a:cs typeface="Calibri"/>
              <a:sym typeface="Calibri"/>
            </a:endParaRPr>
          </a:p>
        </p:txBody>
      </p:sp>
      <p:sp>
        <p:nvSpPr>
          <p:cNvPr id="278" name="Google Shape;278;p25"/>
          <p:cNvSpPr/>
          <p:nvPr/>
        </p:nvSpPr>
        <p:spPr>
          <a:xfrm>
            <a:off x="548640" y="1792224"/>
            <a:ext cx="11094300" cy="18654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Hệ thống chọn 1–2 phần con đang yếu để ưu tiên luyện.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Làm xong được chấm, chữa và giải thích ngay.</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Làm tốt thì bài khó dần; làm chưa tốt thì bài dễ lại.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tập có cả phần đang yếu, phần mới học và phần ôn lại để con không quên kiến thức cũ.</a:t>
            </a:r>
            <a:endParaRPr b="0" i="0" sz="1600" u="none" cap="none" strike="noStrike">
              <a:solidFill>
                <a:schemeClr val="dk1"/>
              </a:solidFill>
              <a:latin typeface="Calibri"/>
              <a:ea typeface="Calibri"/>
              <a:cs typeface="Calibri"/>
              <a:sym typeface="Calibri"/>
            </a:endParaRPr>
          </a:p>
        </p:txBody>
      </p:sp>
      <p:sp>
        <p:nvSpPr>
          <p:cNvPr id="279" name="Google Shape;279;p25"/>
          <p:cNvSpPr/>
          <p:nvPr/>
        </p:nvSpPr>
        <p:spPr>
          <a:xfrm>
            <a:off x="548640" y="3840480"/>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p:nvPr/>
        </p:nvSpPr>
        <p:spPr>
          <a:xfrm>
            <a:off x="731520" y="395020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81" name="Google Shape;281;p25"/>
          <p:cNvSpPr/>
          <p:nvPr/>
        </p:nvSpPr>
        <p:spPr>
          <a:xfrm>
            <a:off x="731520" y="4224528"/>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"Bố mẹ không cần bắt con làm thật nhiều bài. Quan trọng là con làm đúng những phần con đang yếu. Làm tốt thì bài nâng dần, còn đang đuối thì hệ thống điều chỉnh để con vẫn học được."</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6"/>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6"/>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Phòng luyện nói cùng AI: con được nói nhiều hơn</a:t>
            </a:r>
            <a:endParaRPr b="0" i="0" sz="2200" u="none" cap="none" strike="noStrike">
              <a:solidFill>
                <a:schemeClr val="dk1"/>
              </a:solidFill>
              <a:latin typeface="Calibri"/>
              <a:ea typeface="Calibri"/>
              <a:cs typeface="Calibri"/>
              <a:sym typeface="Calibri"/>
            </a:endParaRPr>
          </a:p>
        </p:txBody>
      </p:sp>
      <p:cxnSp>
        <p:nvCxnSpPr>
          <p:cNvPr id="289" name="Google Shape;289;p26"/>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90" name="Google Shape;290;p26"/>
          <p:cNvSpPr/>
          <p:nvPr/>
        </p:nvSpPr>
        <p:spPr>
          <a:xfrm>
            <a:off x="54864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đi từ dễ đến khó: </a:t>
            </a:r>
            <a:r>
              <a:rPr b="0" i="0" lang="en-US" sz="1600" u="none" cap="none" strike="noStrike">
                <a:solidFill>
                  <a:srgbClr val="1F2A33"/>
                </a:solidFill>
                <a:latin typeface="Arial"/>
                <a:ea typeface="Arial"/>
                <a:cs typeface="Arial"/>
                <a:sym typeface="Arial"/>
              </a:rPr>
              <a:t>Từ vựng → câu đơn → hội thoại tình huống thật. Ví dụ: mua sắm, du lịch, thể thao...</a:t>
            </a:r>
            <a:endParaRPr b="0" i="0" sz="1600" u="none" cap="none" strike="noStrike">
              <a:solidFill>
                <a:schemeClr val="dk1"/>
              </a:solidFill>
              <a:latin typeface="Calibri"/>
              <a:ea typeface="Calibri"/>
              <a:cs typeface="Calibri"/>
              <a:sym typeface="Calibri"/>
            </a:endParaRPr>
          </a:p>
        </p:txBody>
      </p:sp>
      <p:sp>
        <p:nvSpPr>
          <p:cNvPr id="291" name="Google Shape;291;p26"/>
          <p:cNvSpPr/>
          <p:nvPr/>
        </p:nvSpPr>
        <p:spPr>
          <a:xfrm>
            <a:off x="548640" y="197510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được gì?</a:t>
            </a:r>
            <a:endParaRPr b="0" i="0" sz="1600" u="none" cap="none" strike="noStrike">
              <a:solidFill>
                <a:schemeClr val="dk1"/>
              </a:solidFill>
              <a:latin typeface="Calibri"/>
              <a:ea typeface="Calibri"/>
              <a:cs typeface="Calibri"/>
              <a:sym typeface="Calibri"/>
            </a:endParaRPr>
          </a:p>
        </p:txBody>
      </p:sp>
      <p:sp>
        <p:nvSpPr>
          <p:cNvPr id="292" name="Google Shape;292;p26"/>
          <p:cNvSpPr/>
          <p:nvPr/>
        </p:nvSpPr>
        <p:spPr>
          <a:xfrm>
            <a:off x="548640" y="2395728"/>
            <a:ext cx="11094300" cy="19569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Chưa tự tin vẫn có thể bắt đầu vì có gợi ý câu trả lời.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Nói sai chỗ nào được hướng dẫn sửa chỗ đó.</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giọng cô giáo hướng dẫn những lỗi phát âm cụ thể.</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luyện được điều chỉnh theo 3 mức trình độ.</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Chủ đề luyện nói bám vào phần con đang cần củng cố.</a:t>
            </a:r>
            <a:endParaRPr b="0" i="0" sz="1600" u="none" cap="none" strike="noStrike">
              <a:solidFill>
                <a:schemeClr val="dk1"/>
              </a:solidFill>
              <a:latin typeface="Calibri"/>
              <a:ea typeface="Calibri"/>
              <a:cs typeface="Calibri"/>
              <a:sym typeface="Calibri"/>
            </a:endParaRPr>
          </a:p>
        </p:txBody>
      </p:sp>
      <p:sp>
        <p:nvSpPr>
          <p:cNvPr id="293" name="Google Shape;293;p26"/>
          <p:cNvSpPr/>
          <p:nvPr/>
        </p:nvSpPr>
        <p:spPr>
          <a:xfrm>
            <a:off x="548640" y="4535424"/>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
          <p:cNvSpPr/>
          <p:nvPr/>
        </p:nvSpPr>
        <p:spPr>
          <a:xfrm>
            <a:off x="731520" y="4645152"/>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95" name="Google Shape;295;p26"/>
          <p:cNvSpPr/>
          <p:nvPr/>
        </p:nvSpPr>
        <p:spPr>
          <a:xfrm>
            <a:off x="731520" y="4919472"/>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"Con không chỉ bấm chọn đúng hay sai. Con được nói thật. Nếu phát âm chưa đúng, hệ thống chỉ cho con biết đang sai ở đâu và cần sửa thế nào. Con yếu thì luyện từ dễ, con khá thì được nâng lên."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27"/>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Câu lạc bộ: học mà vẫn có môi trường để con tự tin hơn</a:t>
            </a:r>
            <a:endParaRPr b="0" i="0" sz="2200" u="none" cap="none" strike="noStrike">
              <a:solidFill>
                <a:schemeClr val="dk1"/>
              </a:solidFill>
              <a:latin typeface="Calibri"/>
              <a:ea typeface="Calibri"/>
              <a:cs typeface="Calibri"/>
              <a:sym typeface="Calibri"/>
            </a:endParaRPr>
          </a:p>
        </p:txBody>
      </p:sp>
      <p:cxnSp>
        <p:nvCxnSpPr>
          <p:cNvPr id="303" name="Google Shape;303;p27"/>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04" name="Google Shape;304;p27"/>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Không chỉ học kiến thức trong sách. Câu lạc bộ giúp con có thêm cơ hội:</a:t>
            </a:r>
            <a:endParaRPr b="0" i="0" sz="1600" u="none" cap="none" strike="noStrike">
              <a:solidFill>
                <a:schemeClr val="dk1"/>
              </a:solidFill>
              <a:latin typeface="Calibri"/>
              <a:ea typeface="Calibri"/>
              <a:cs typeface="Calibri"/>
              <a:sym typeface="Calibri"/>
            </a:endParaRPr>
          </a:p>
        </p:txBody>
      </p:sp>
      <p:sp>
        <p:nvSpPr>
          <p:cNvPr id="305" name="Google Shape;305;p27"/>
          <p:cNvSpPr/>
          <p:nvPr/>
        </p:nvSpPr>
        <p:spPr>
          <a:xfrm>
            <a:off x="548640" y="1792224"/>
            <a:ext cx="11094300" cy="1591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Khám phá thế giới, kỹ năng sống, khoa học công nghệ.</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Tham gia nhiệm vụ và thử thách theo tuần.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Thử thách từ vựng bám vào nội dung con đang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Tích điểm và ghi nhận vào quá trình học của con.</a:t>
            </a:r>
            <a:endParaRPr b="0" i="0" sz="1600" u="none" cap="none" strike="noStrike">
              <a:solidFill>
                <a:schemeClr val="dk1"/>
              </a:solidFill>
              <a:latin typeface="Calibri"/>
              <a:ea typeface="Calibri"/>
              <a:cs typeface="Calibri"/>
              <a:sym typeface="Calibri"/>
            </a:endParaRPr>
          </a:p>
        </p:txBody>
      </p:sp>
      <p:sp>
        <p:nvSpPr>
          <p:cNvPr id="306" name="Google Shape;306;p27"/>
          <p:cNvSpPr/>
          <p:nvPr/>
        </p:nvSpPr>
        <p:spPr>
          <a:xfrm>
            <a:off x="548640" y="3566160"/>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731520" y="367588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308" name="Google Shape;308;p27"/>
          <p:cNvSpPr/>
          <p:nvPr/>
        </p:nvSpPr>
        <p:spPr>
          <a:xfrm>
            <a:off x="731520" y="3950208"/>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"Ngoài học kiến thức, con còn có môi trường để thử sức, tương tác và tự tin hơn — nhưng hoạt động vẫn gắn với những gì con đang học."</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8"/>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Bố mẹ không cần tự theo sát từng ngày</a:t>
            </a:r>
            <a:endParaRPr b="0" i="0" sz="2200" u="none" cap="none" strike="noStrike">
              <a:solidFill>
                <a:schemeClr val="dk1"/>
              </a:solidFill>
              <a:latin typeface="Calibri"/>
              <a:ea typeface="Calibri"/>
              <a:cs typeface="Calibri"/>
              <a:sym typeface="Calibri"/>
            </a:endParaRPr>
          </a:p>
        </p:txBody>
      </p:sp>
      <p:cxnSp>
        <p:nvCxnSpPr>
          <p:cNvPr id="316" name="Google Shape;316;p28"/>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17" name="Google Shape;317;p28"/>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Giáo viên chủ nhiệm:</a:t>
            </a:r>
            <a:endParaRPr b="0" i="0" sz="1600" u="none" cap="none" strike="noStrike">
              <a:solidFill>
                <a:schemeClr val="dk1"/>
              </a:solidFill>
              <a:latin typeface="Calibri"/>
              <a:ea typeface="Calibri"/>
              <a:cs typeface="Calibri"/>
              <a:sym typeface="Calibri"/>
            </a:endParaRPr>
          </a:p>
        </p:txBody>
      </p:sp>
      <p:sp>
        <p:nvSpPr>
          <p:cNvPr id="318" name="Google Shape;318;p28"/>
          <p:cNvSpPr/>
          <p:nvPr/>
        </p:nvSpPr>
        <p:spPr>
          <a:xfrm>
            <a:off x="548640" y="1792224"/>
            <a:ext cx="11094300" cy="1591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Theo dõi tiến độ.</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Hỗ trợ con.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Nhắc lịch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Gọi điện báo tình hình học tập cho phụ huynh.</a:t>
            </a:r>
            <a:endParaRPr b="0" i="0" sz="1600" u="none" cap="none" strike="noStrike">
              <a:solidFill>
                <a:schemeClr val="dk1"/>
              </a:solidFill>
              <a:latin typeface="Calibri"/>
              <a:ea typeface="Calibri"/>
              <a:cs typeface="Calibri"/>
              <a:sym typeface="Calibri"/>
            </a:endParaRPr>
          </a:p>
        </p:txBody>
      </p:sp>
      <p:sp>
        <p:nvSpPr>
          <p:cNvPr id="319" name="Google Shape;319;p28"/>
          <p:cNvSpPr/>
          <p:nvPr/>
        </p:nvSpPr>
        <p:spPr>
          <a:xfrm>
            <a:off x="548640" y="356616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Sổ liên lạc điện tử:</a:t>
            </a:r>
            <a:endParaRPr b="0" i="0" sz="1600" u="none" cap="none" strike="noStrike">
              <a:solidFill>
                <a:schemeClr val="dk1"/>
              </a:solidFill>
              <a:latin typeface="Calibri"/>
              <a:ea typeface="Calibri"/>
              <a:cs typeface="Calibri"/>
              <a:sym typeface="Calibri"/>
            </a:endParaRPr>
          </a:p>
        </p:txBody>
      </p:sp>
      <p:sp>
        <p:nvSpPr>
          <p:cNvPr id="320" name="Google Shape;320;p28"/>
          <p:cNvSpPr/>
          <p:nvPr/>
        </p:nvSpPr>
        <p:spPr>
          <a:xfrm>
            <a:off x="548640" y="3986784"/>
            <a:ext cx="11094300" cy="1591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Cho bố mẹ biết con đang học đến đâu.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Biết con mạnh – yếu phần nào.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Theo dõi tiến bộ theo thời gian.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Tập hợp hoạt động học vào một nơi.</a:t>
            </a:r>
            <a:endParaRPr b="0" i="0" sz="1600" u="none" cap="none" strike="noStrike">
              <a:solidFill>
                <a:schemeClr val="dk1"/>
              </a:solidFill>
              <a:latin typeface="Calibri"/>
              <a:ea typeface="Calibri"/>
              <a:cs typeface="Calibri"/>
              <a:sym typeface="Calibri"/>
            </a:endParaRPr>
          </a:p>
        </p:txBody>
      </p:sp>
      <p:sp>
        <p:nvSpPr>
          <p:cNvPr id="321" name="Google Shape;321;p28"/>
          <p:cNvSpPr/>
          <p:nvPr/>
        </p:nvSpPr>
        <p:spPr>
          <a:xfrm>
            <a:off x="548640" y="576072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Điểm danh đầu &amp; cuối buổi: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p29"/>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9"/>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Bố mẹ không cần tự theo sát từng ngày (tiếp)</a:t>
            </a:r>
            <a:endParaRPr b="0" i="0" sz="2200" u="none" cap="none" strike="noStrike">
              <a:solidFill>
                <a:schemeClr val="dk1"/>
              </a:solidFill>
              <a:latin typeface="Calibri"/>
              <a:ea typeface="Calibri"/>
              <a:cs typeface="Calibri"/>
              <a:sym typeface="Calibri"/>
            </a:endParaRPr>
          </a:p>
        </p:txBody>
      </p:sp>
      <p:cxnSp>
        <p:nvCxnSpPr>
          <p:cNvPr id="329" name="Google Shape;329;p29"/>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30" name="Google Shape;330;p29"/>
          <p:cNvSpPr/>
          <p:nvPr/>
        </p:nvSpPr>
        <p:spPr>
          <a:xfrm>
            <a:off x="548640" y="1371600"/>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vào lớp, điện thoại phụ huynh có thông báo.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Hệ thống ghi nhận việc con tham gia buổi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hình ảnh lúc đầu và cuối buổi theo thiết kế sản phẩm.</a:t>
            </a:r>
            <a:endParaRPr b="0" i="0" sz="1600" u="none" cap="none" strike="noStrike">
              <a:solidFill>
                <a:schemeClr val="dk1"/>
              </a:solidFill>
              <a:latin typeface="Calibri"/>
              <a:ea typeface="Calibri"/>
              <a:cs typeface="Calibri"/>
              <a:sym typeface="Calibri"/>
            </a:endParaRPr>
          </a:p>
        </p:txBody>
      </p:sp>
      <p:sp>
        <p:nvSpPr>
          <p:cNvPr id="331" name="Google Shape;331;p29"/>
          <p:cNvSpPr/>
          <p:nvPr/>
        </p:nvSpPr>
        <p:spPr>
          <a:xfrm>
            <a:off x="548640" y="2779776"/>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9"/>
          <p:cNvSpPr/>
          <p:nvPr/>
        </p:nvSpPr>
        <p:spPr>
          <a:xfrm>
            <a:off x="731520" y="2889504"/>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333" name="Google Shape;333;p29"/>
          <p:cNvSpPr/>
          <p:nvPr/>
        </p:nvSpPr>
        <p:spPr>
          <a:xfrm>
            <a:off x="731520" y="3163824"/>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"Bố mẹ không cần ngày nào cũng ngồi cạnh con để kiểm tra. Vào app là biết hôm nay con học gì, đang mạnh – yếu phần nào; có giáo viên chủ nhiệm theo dõi và báo tình hình cho bố mẹ."</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