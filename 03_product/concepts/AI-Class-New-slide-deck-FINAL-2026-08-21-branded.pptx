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19"/>
    <p:sldId id="269" r:id="rId20"/>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C5786">
              <a:alpha val="60000"/>
            </a:srgbClr>
          </a:solidFill>
          <a:ln/>
        </p:spPr>
      </p:sp>
      <p:sp>
        <p:nvSpPr>
          <p:cNvPr id="3" name="Shape 1"/>
          <p:cNvSpPr/>
          <p:nvPr/>
        </p:nvSpPr>
        <p:spPr>
          <a:xfrm>
            <a:off x="10058400" y="-548640"/>
            <a:ext cx="4206240" cy="4206240"/>
          </a:xfrm>
          <a:prstGeom prst="ellipse">
            <a:avLst/>
          </a:prstGeom>
          <a:solidFill>
            <a:srgbClr val="A5BE00">
              <a:alpha val="18000"/>
            </a:srgbClr>
          </a:solidFill>
          <a:ln/>
        </p:spPr>
      </p:sp>
      <p:pic>
        <p:nvPicPr>
          <p:cNvPr id="4" name="Image 0" descr="C:\Users\landa\AppData\Local\Temp\claude\c--Users-landa--Personal--D---n-AI-Class-new\8a85e8a7-bdeb-42d6-9168-79c96b849bd1\scratchpad\pptx-gen\logo-edupia-ai-class-white.png">    </p:cNvPr>
          <p:cNvPicPr>
            <a:picLocks noChangeAspect="1"/>
          </p:cNvPicPr>
          <p:nvPr/>
        </p:nvPicPr>
        <p:blipFill>
          <a:blip r:embed="rId1"/>
          <a:stretch>
            <a:fillRect/>
          </a:stretch>
        </p:blipFill>
        <p:spPr>
          <a:xfrm>
            <a:off x="822960" y="502920"/>
            <a:ext cx="1371600" cy="1170432"/>
          </a:xfrm>
          <a:prstGeom prst="rect">
            <a:avLst/>
          </a:prstGeom>
        </p:spPr>
      </p:pic>
      <p:sp>
        <p:nvSpPr>
          <p:cNvPr id="5" name="Text 2"/>
          <p:cNvSpPr/>
          <p:nvPr/>
        </p:nvSpPr>
        <p:spPr>
          <a:xfrm>
            <a:off x="822960" y="2697480"/>
            <a:ext cx="9144000" cy="365760"/>
          </a:xfrm>
          <a:prstGeom prst="rect">
            <a:avLst/>
          </a:prstGeom>
          <a:noFill/>
          <a:ln/>
        </p:spPr>
        <p:txBody>
          <a:bodyPr wrap="square" rtlCol="0" anchor="ctr"/>
          <a:lstStyle/>
          <a:p>
            <a:pPr indent="0" marL="0">
              <a:buNone/>
            </a:pPr>
            <a:r>
              <a:rPr lang="en-US" sz="1300" b="1" spc="200" kern="0" dirty="0">
                <a:solidFill>
                  <a:srgbClr val="A5BE00"/>
                </a:solidFill>
                <a:latin typeface="Noto Sans" pitchFamily="34" charset="0"/>
                <a:ea typeface="Noto Sans" pitchFamily="34" charset="-122"/>
                <a:cs typeface="Noto Sans" pitchFamily="34" charset="-120"/>
              </a:rPr>
              <a:t>HỌP TRÌNH BÀY CONCEPT</a:t>
            </a:r>
            <a:endParaRPr lang="en-US" sz="1300" dirty="0"/>
          </a:p>
        </p:txBody>
      </p:sp>
      <p:sp>
        <p:nvSpPr>
          <p:cNvPr id="6" name="Text 3"/>
          <p:cNvSpPr/>
          <p:nvPr/>
        </p:nvSpPr>
        <p:spPr>
          <a:xfrm>
            <a:off x="804672" y="3063240"/>
            <a:ext cx="10058400" cy="1051560"/>
          </a:xfrm>
          <a:prstGeom prst="rect">
            <a:avLst/>
          </a:prstGeom>
          <a:noFill/>
          <a:ln/>
        </p:spPr>
        <p:txBody>
          <a:bodyPr wrap="square" rtlCol="0" anchor="ctr"/>
          <a:lstStyle/>
          <a:p>
            <a:pPr indent="0" marL="0">
              <a:buNone/>
            </a:pPr>
            <a:r>
              <a:rPr lang="en-US" sz="4600" b="1" dirty="0">
                <a:solidFill>
                  <a:srgbClr val="FFFFFF"/>
                </a:solidFill>
                <a:latin typeface="Poppins" pitchFamily="34" charset="0"/>
                <a:ea typeface="Poppins" pitchFamily="34" charset="-122"/>
                <a:cs typeface="Poppins" pitchFamily="34" charset="-120"/>
              </a:rPr>
              <a:t>Edupia AI Class New</a:t>
            </a:r>
            <a:endParaRPr lang="en-US" sz="4600" dirty="0"/>
          </a:p>
        </p:txBody>
      </p:sp>
      <p:sp>
        <p:nvSpPr>
          <p:cNvPr id="7" name="Text 4"/>
          <p:cNvSpPr/>
          <p:nvPr/>
        </p:nvSpPr>
        <p:spPr>
          <a:xfrm>
            <a:off x="822960" y="4069080"/>
            <a:ext cx="9144000" cy="502920"/>
          </a:xfrm>
          <a:prstGeom prst="rect">
            <a:avLst/>
          </a:prstGeom>
          <a:noFill/>
          <a:ln/>
        </p:spPr>
        <p:txBody>
          <a:bodyPr wrap="square" rtlCol="0" anchor="ctr"/>
          <a:lstStyle/>
          <a:p>
            <a:pPr indent="0" marL="0">
              <a:buNone/>
            </a:pPr>
            <a:r>
              <a:rPr lang="en-US" sz="2000" dirty="0">
                <a:solidFill>
                  <a:srgbClr val="CFE3EE"/>
                </a:solidFill>
                <a:latin typeface="Noto Sans" pitchFamily="34" charset="0"/>
                <a:ea typeface="Noto Sans" pitchFamily="34" charset="-122"/>
                <a:cs typeface="Noto Sans" pitchFamily="34" charset="-120"/>
              </a:rPr>
              <a:t>Định hướng sản phẩm mới</a:t>
            </a:r>
            <a:endParaRPr lang="en-US" sz="2000" dirty="0"/>
          </a:p>
        </p:txBody>
      </p:sp>
      <p:sp>
        <p:nvSpPr>
          <p:cNvPr id="8" name="Shape 5"/>
          <p:cNvSpPr/>
          <p:nvPr/>
        </p:nvSpPr>
        <p:spPr>
          <a:xfrm>
            <a:off x="841248" y="4800600"/>
            <a:ext cx="640080" cy="41148"/>
          </a:xfrm>
          <a:prstGeom prst="rect">
            <a:avLst/>
          </a:prstGeom>
          <a:solidFill>
            <a:srgbClr val="3B81B1"/>
          </a:solidFill>
          <a:ln/>
        </p:spPr>
      </p:sp>
      <p:sp>
        <p:nvSpPr>
          <p:cNvPr id="9" name="Text 6"/>
          <p:cNvSpPr/>
          <p:nvPr/>
        </p:nvSpPr>
        <p:spPr>
          <a:xfrm>
            <a:off x="822960" y="5989320"/>
            <a:ext cx="9144000" cy="365760"/>
          </a:xfrm>
          <a:prstGeom prst="rect">
            <a:avLst/>
          </a:prstGeom>
          <a:noFill/>
          <a:ln/>
        </p:spPr>
        <p:txBody>
          <a:bodyPr wrap="square" rtlCol="0" anchor="ctr"/>
          <a:lstStyle/>
          <a:p>
            <a:pPr indent="0" marL="0">
              <a:buNone/>
            </a:pPr>
            <a:r>
              <a:rPr lang="en-US" sz="1300" dirty="0">
                <a:solidFill>
                  <a:srgbClr val="9FC4D8"/>
                </a:solidFill>
                <a:latin typeface="Noto Sans" pitchFamily="34" charset="0"/>
                <a:ea typeface="Noto Sans" pitchFamily="34" charset="-122"/>
                <a:cs typeface="Noto Sans" pitchFamily="34" charset="-120"/>
              </a:rPr>
              <a:t>Khối Sản phẩm và Công nghệ  ·  27/08/2026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NỘI DUNG TRÌNH BÀY</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3000" b="1" dirty="0">
                <a:solidFill>
                  <a:srgbClr val="004671"/>
                </a:solidFill>
                <a:latin typeface="Noto Sans" pitchFamily="34" charset="0"/>
                <a:ea typeface="Noto Sans" pitchFamily="34" charset="-122"/>
                <a:cs typeface="Noto Sans" pitchFamily="34" charset="-120"/>
              </a:rPr>
              <a:t>Agenda</a:t>
            </a:r>
            <a:endParaRPr lang="en-US" sz="30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Shape 3"/>
          <p:cNvSpPr/>
          <p:nvPr/>
        </p:nvSpPr>
        <p:spPr>
          <a:xfrm>
            <a:off x="502920" y="2194560"/>
            <a:ext cx="566928" cy="566928"/>
          </a:xfrm>
          <a:prstGeom prst="ellipse">
            <a:avLst/>
          </a:prstGeom>
          <a:solidFill>
            <a:srgbClr val="004671"/>
          </a:solidFill>
          <a:ln/>
        </p:spPr>
      </p:sp>
      <p:sp>
        <p:nvSpPr>
          <p:cNvPr id="7" name="Text 4"/>
          <p:cNvSpPr/>
          <p:nvPr/>
        </p:nvSpPr>
        <p:spPr>
          <a:xfrm>
            <a:off x="502920" y="2194560"/>
            <a:ext cx="566928" cy="566928"/>
          </a:xfrm>
          <a:prstGeom prst="rect">
            <a:avLst/>
          </a:prstGeom>
          <a:noFill/>
          <a:ln/>
        </p:spPr>
        <p:txBody>
          <a:bodyPr wrap="square" rtlCol="0" anchor="ctr"/>
          <a:lstStyle/>
          <a:p>
            <a:pPr algn="ctr" indent="0" marL="0">
              <a:buNone/>
            </a:pPr>
            <a:r>
              <a:rPr lang="en-US" sz="2000" b="1" dirty="0">
                <a:solidFill>
                  <a:srgbClr val="FFFFFF"/>
                </a:solidFill>
                <a:latin typeface="Noto Sans" pitchFamily="34" charset="0"/>
                <a:ea typeface="Noto Sans" pitchFamily="34" charset="-122"/>
                <a:cs typeface="Noto Sans" pitchFamily="34" charset="-120"/>
              </a:rPr>
              <a:t>1</a:t>
            </a:r>
            <a:endParaRPr lang="en-US" sz="2000" dirty="0"/>
          </a:p>
        </p:txBody>
      </p:sp>
      <p:sp>
        <p:nvSpPr>
          <p:cNvPr id="8" name="Text 5"/>
          <p:cNvSpPr/>
          <p:nvPr/>
        </p:nvSpPr>
        <p:spPr>
          <a:xfrm>
            <a:off x="1371600" y="2221992"/>
            <a:ext cx="8229600" cy="512064"/>
          </a:xfrm>
          <a:prstGeom prst="rect">
            <a:avLst/>
          </a:prstGeom>
          <a:noFill/>
          <a:ln/>
        </p:spPr>
        <p:txBody>
          <a:bodyPr wrap="square" rtlCol="0" anchor="ctr"/>
          <a:lstStyle/>
          <a:p>
            <a:pPr indent="0" marL="0">
              <a:buNone/>
            </a:pPr>
            <a:r>
              <a:rPr lang="en-US" sz="1800" b="1" dirty="0">
                <a:solidFill>
                  <a:srgbClr val="22333F"/>
                </a:solidFill>
                <a:latin typeface="Noto Sans" pitchFamily="34" charset="0"/>
                <a:ea typeface="Noto Sans" pitchFamily="34" charset="-122"/>
                <a:cs typeface="Noto Sans" pitchFamily="34" charset="-120"/>
              </a:rPr>
              <a:t>Mục tiêu chiến lược</a:t>
            </a:r>
            <a:endParaRPr lang="en-US" sz="1800" dirty="0"/>
          </a:p>
        </p:txBody>
      </p:sp>
      <p:sp>
        <p:nvSpPr>
          <p:cNvPr id="9" name="Shape 6"/>
          <p:cNvSpPr/>
          <p:nvPr/>
        </p:nvSpPr>
        <p:spPr>
          <a:xfrm>
            <a:off x="786384" y="2761488"/>
            <a:ext cx="0" cy="153162"/>
          </a:xfrm>
          <a:prstGeom prst="line">
            <a:avLst/>
          </a:prstGeom>
          <a:noFill/>
          <a:ln w="15875">
            <a:solidFill>
              <a:srgbClr val="DCE7EA"/>
            </a:solidFill>
            <a:prstDash val="dash"/>
          </a:ln>
        </p:spPr>
      </p:sp>
      <p:sp>
        <p:nvSpPr>
          <p:cNvPr id="10" name="Shape 7"/>
          <p:cNvSpPr/>
          <p:nvPr/>
        </p:nvSpPr>
        <p:spPr>
          <a:xfrm>
            <a:off x="502920" y="3634740"/>
            <a:ext cx="566928" cy="566928"/>
          </a:xfrm>
          <a:prstGeom prst="ellipse">
            <a:avLst/>
          </a:prstGeom>
          <a:solidFill>
            <a:srgbClr val="004671"/>
          </a:solidFill>
          <a:ln/>
        </p:spPr>
      </p:sp>
      <p:sp>
        <p:nvSpPr>
          <p:cNvPr id="11" name="Text 8"/>
          <p:cNvSpPr/>
          <p:nvPr/>
        </p:nvSpPr>
        <p:spPr>
          <a:xfrm>
            <a:off x="502920" y="3634740"/>
            <a:ext cx="566928" cy="566928"/>
          </a:xfrm>
          <a:prstGeom prst="rect">
            <a:avLst/>
          </a:prstGeom>
          <a:noFill/>
          <a:ln/>
        </p:spPr>
        <p:txBody>
          <a:bodyPr wrap="square" rtlCol="0" anchor="ctr"/>
          <a:lstStyle/>
          <a:p>
            <a:pPr algn="ctr" indent="0" marL="0">
              <a:buNone/>
            </a:pPr>
            <a:r>
              <a:rPr lang="en-US" sz="2000" b="1" dirty="0">
                <a:solidFill>
                  <a:srgbClr val="FFFFFF"/>
                </a:solidFill>
                <a:latin typeface="Noto Sans" pitchFamily="34" charset="0"/>
                <a:ea typeface="Noto Sans" pitchFamily="34" charset="-122"/>
                <a:cs typeface="Noto Sans" pitchFamily="34" charset="-120"/>
              </a:rPr>
              <a:t>3</a:t>
            </a:r>
            <a:endParaRPr lang="en-US" sz="2000" dirty="0"/>
          </a:p>
        </p:txBody>
      </p:sp>
      <p:sp>
        <p:nvSpPr>
          <p:cNvPr id="12" name="Text 9"/>
          <p:cNvSpPr/>
          <p:nvPr/>
        </p:nvSpPr>
        <p:spPr>
          <a:xfrm>
            <a:off x="1371600" y="3662172"/>
            <a:ext cx="8229600" cy="512064"/>
          </a:xfrm>
          <a:prstGeom prst="rect">
            <a:avLst/>
          </a:prstGeom>
          <a:noFill/>
          <a:ln/>
        </p:spPr>
        <p:txBody>
          <a:bodyPr wrap="square" rtlCol="0" anchor="ctr"/>
          <a:lstStyle/>
          <a:p>
            <a:pPr indent="0" marL="0">
              <a:buNone/>
            </a:pPr>
            <a:r>
              <a:rPr lang="en-US" sz="1800" b="1" dirty="0">
                <a:solidFill>
                  <a:srgbClr val="22333F"/>
                </a:solidFill>
                <a:latin typeface="Noto Sans" pitchFamily="34" charset="0"/>
                <a:ea typeface="Noto Sans" pitchFamily="34" charset="-122"/>
                <a:cs typeface="Noto Sans" pitchFamily="34" charset="-120"/>
              </a:rPr>
              <a:t>Định hướng concept sản phẩm</a:t>
            </a:r>
            <a:endParaRPr lang="en-US" sz="1800" dirty="0"/>
          </a:p>
        </p:txBody>
      </p:sp>
      <p:sp>
        <p:nvSpPr>
          <p:cNvPr id="13" name="Shape 10"/>
          <p:cNvSpPr/>
          <p:nvPr/>
        </p:nvSpPr>
        <p:spPr>
          <a:xfrm>
            <a:off x="786384" y="4201668"/>
            <a:ext cx="0" cy="153162"/>
          </a:xfrm>
          <a:prstGeom prst="line">
            <a:avLst/>
          </a:prstGeom>
          <a:noFill/>
          <a:ln w="15875">
            <a:solidFill>
              <a:srgbClr val="DCE7EA"/>
            </a:solidFill>
            <a:prstDash val="dash"/>
          </a:ln>
        </p:spPr>
      </p:sp>
      <p:sp>
        <p:nvSpPr>
          <p:cNvPr id="14" name="Shape 11"/>
          <p:cNvSpPr/>
          <p:nvPr/>
        </p:nvSpPr>
        <p:spPr>
          <a:xfrm>
            <a:off x="502920" y="4354830"/>
            <a:ext cx="566928" cy="566928"/>
          </a:xfrm>
          <a:prstGeom prst="ellipse">
            <a:avLst/>
          </a:prstGeom>
          <a:solidFill>
            <a:srgbClr val="3B81B1"/>
          </a:solidFill>
          <a:ln/>
        </p:spPr>
      </p:sp>
      <p:sp>
        <p:nvSpPr>
          <p:cNvPr id="15" name="Text 12"/>
          <p:cNvSpPr/>
          <p:nvPr/>
        </p:nvSpPr>
        <p:spPr>
          <a:xfrm>
            <a:off x="502920" y="4354830"/>
            <a:ext cx="566928" cy="566928"/>
          </a:xfrm>
          <a:prstGeom prst="rect">
            <a:avLst/>
          </a:prstGeom>
          <a:noFill/>
          <a:ln/>
        </p:spPr>
        <p:txBody>
          <a:bodyPr wrap="square" rtlCol="0" anchor="ctr"/>
          <a:lstStyle/>
          <a:p>
            <a:pPr algn="ctr" indent="0" marL="0">
              <a:buNone/>
            </a:pPr>
            <a:r>
              <a:rPr lang="en-US" sz="2000" b="1" dirty="0">
                <a:solidFill>
                  <a:srgbClr val="FFFFFF"/>
                </a:solidFill>
                <a:latin typeface="Noto Sans" pitchFamily="34" charset="0"/>
                <a:ea typeface="Noto Sans" pitchFamily="34" charset="-122"/>
                <a:cs typeface="Noto Sans" pitchFamily="34" charset="-120"/>
              </a:rPr>
              <a:t>4</a:t>
            </a:r>
            <a:endParaRPr lang="en-US" sz="2000" dirty="0"/>
          </a:p>
        </p:txBody>
      </p:sp>
      <p:sp>
        <p:nvSpPr>
          <p:cNvPr id="16" name="Text 13"/>
          <p:cNvSpPr/>
          <p:nvPr/>
        </p:nvSpPr>
        <p:spPr>
          <a:xfrm>
            <a:off x="1371600" y="4382262"/>
            <a:ext cx="8229600" cy="512064"/>
          </a:xfrm>
          <a:prstGeom prst="rect">
            <a:avLst/>
          </a:prstGeom>
          <a:noFill/>
          <a:ln/>
        </p:spPr>
        <p:txBody>
          <a:bodyPr wrap="square" rtlCol="0" anchor="ctr"/>
          <a:lstStyle/>
          <a:p>
            <a:pPr indent="0" marL="0">
              <a:buNone/>
            </a:pPr>
            <a:r>
              <a:rPr lang="en-US" sz="1800" b="1" dirty="0">
                <a:solidFill>
                  <a:srgbClr val="22333F"/>
                </a:solidFill>
                <a:latin typeface="Noto Sans" pitchFamily="34" charset="0"/>
                <a:ea typeface="Noto Sans" pitchFamily="34" charset="-122"/>
                <a:cs typeface="Noto Sans" pitchFamily="34" charset="-120"/>
              </a:rPr>
              <a:t>Kế hoạch triển khai</a:t>
            </a:r>
            <a:endParaRPr lang="en-US" sz="1800" dirty="0"/>
          </a:p>
        </p:txBody>
      </p:sp>
      <p:sp>
        <p:nvSpPr>
          <p:cNvPr id="17" name="Shape 14"/>
          <p:cNvSpPr/>
          <p:nvPr/>
        </p:nvSpPr>
        <p:spPr>
          <a:xfrm>
            <a:off x="786384" y="4921758"/>
            <a:ext cx="0" cy="153162"/>
          </a:xfrm>
          <a:prstGeom prst="line">
            <a:avLst/>
          </a:prstGeom>
          <a:noFill/>
          <a:ln w="15875">
            <a:solidFill>
              <a:srgbClr val="DCE7EA"/>
            </a:solidFill>
            <a:prstDash val="dash"/>
          </a:ln>
        </p:spPr>
      </p:sp>
      <p:sp>
        <p:nvSpPr>
          <p:cNvPr id="18" name="Shape 15"/>
          <p:cNvSpPr/>
          <p:nvPr/>
        </p:nvSpPr>
        <p:spPr>
          <a:xfrm>
            <a:off x="502920" y="5074920"/>
            <a:ext cx="566928" cy="566928"/>
          </a:xfrm>
          <a:prstGeom prst="ellipse">
            <a:avLst/>
          </a:prstGeom>
          <a:solidFill>
            <a:srgbClr val="004671"/>
          </a:solidFill>
          <a:ln/>
        </p:spPr>
      </p:sp>
      <p:sp>
        <p:nvSpPr>
          <p:cNvPr id="19" name="Text 16"/>
          <p:cNvSpPr/>
          <p:nvPr/>
        </p:nvSpPr>
        <p:spPr>
          <a:xfrm>
            <a:off x="502920" y="5074920"/>
            <a:ext cx="566928" cy="566928"/>
          </a:xfrm>
          <a:prstGeom prst="rect">
            <a:avLst/>
          </a:prstGeom>
          <a:noFill/>
          <a:ln/>
        </p:spPr>
        <p:txBody>
          <a:bodyPr wrap="square" rtlCol="0" anchor="ctr"/>
          <a:lstStyle/>
          <a:p>
            <a:pPr algn="ctr" indent="0" marL="0">
              <a:buNone/>
            </a:pPr>
            <a:r>
              <a:rPr lang="en-US" sz="2000" b="1" dirty="0">
                <a:solidFill>
                  <a:srgbClr val="FFFFFF"/>
                </a:solidFill>
                <a:latin typeface="Noto Sans" pitchFamily="34" charset="0"/>
                <a:ea typeface="Noto Sans" pitchFamily="34" charset="-122"/>
                <a:cs typeface="Noto Sans" pitchFamily="34" charset="-120"/>
              </a:rPr>
              <a:t>5</a:t>
            </a:r>
            <a:endParaRPr lang="en-US" sz="2000" dirty="0"/>
          </a:p>
        </p:txBody>
      </p:sp>
      <p:sp>
        <p:nvSpPr>
          <p:cNvPr id="20" name="Text 17"/>
          <p:cNvSpPr/>
          <p:nvPr/>
        </p:nvSpPr>
        <p:spPr>
          <a:xfrm>
            <a:off x="1371600" y="5102352"/>
            <a:ext cx="8229600" cy="512064"/>
          </a:xfrm>
          <a:prstGeom prst="rect">
            <a:avLst/>
          </a:prstGeom>
          <a:noFill/>
          <a:ln/>
        </p:spPr>
        <p:txBody>
          <a:bodyPr wrap="square" rtlCol="0" anchor="ctr"/>
          <a:lstStyle/>
          <a:p>
            <a:pPr indent="0" marL="0">
              <a:buNone/>
            </a:pPr>
            <a:r>
              <a:rPr lang="en-US" sz="1800" b="1" dirty="0">
                <a:solidFill>
                  <a:srgbClr val="22333F"/>
                </a:solidFill>
                <a:latin typeface="Noto Sans" pitchFamily="34" charset="0"/>
                <a:ea typeface="Noto Sans" pitchFamily="34" charset="-122"/>
                <a:cs typeface="Noto Sans" pitchFamily="34" charset="-120"/>
              </a:rPr>
              <a:t>Phân chia trách nhiệm</a:t>
            </a:r>
            <a:endParaRPr lang="en-US" sz="1800" dirty="0"/>
          </a:p>
        </p:txBody>
      </p:sp>
      <p:pic>
        <p:nvPicPr>
          <p:cNvPr id="21"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22" name="Text 18"/>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23" name="Text 19"/>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1 / 12</a:t>
            </a:r>
            <a:endParaRPr lang="en-US" sz="850" dirty="0"/>
          </a:p>
        </p:txBody>
      </p:sp>
      <p:sp xmlns:p="http://schemas.openxmlformats.org/presentationml/2006/main" xmlns:a="http://schemas.openxmlformats.org/drawingml/2006/main">
        <p:nvSpPr>
          <p:cNvPr id="24" name="Shape 24"/>
          <p:cNvSpPr/>
          <p:nvPr/>
        </p:nvSpPr>
        <p:spPr>
          <a:xfrm>
            <a:off x="502920" y="2914650"/>
            <a:ext cx="566928" cy="566928"/>
          </a:xfrm>
          <a:prstGeom prst="ellipse">
            <a:avLst/>
          </a:prstGeom>
          <a:solidFill>
            <a:srgbClr val="3B81B1"/>
          </a:solidFill>
          <a:ln/>
        </p:spPr>
      </p:sp>
      <p:sp xmlns:p="http://schemas.openxmlformats.org/presentationml/2006/main" xmlns:a="http://schemas.openxmlformats.org/drawingml/2006/main">
        <p:nvSpPr>
          <p:cNvPr id="25" name="Text 25"/>
          <p:cNvSpPr/>
          <p:nvPr/>
        </p:nvSpPr>
        <p:spPr>
          <a:xfrm>
            <a:off x="502920" y="2914650"/>
            <a:ext cx="566928" cy="566928"/>
          </a:xfrm>
          <a:prstGeom prst="rect">
            <a:avLst/>
          </a:prstGeom>
          <a:noFill/>
          <a:ln/>
        </p:spPr>
        <p:txBody>
          <a:bodyPr wrap="square" rtlCol="0" anchor="ctr"/>
          <a:lstStyle/>
          <a:p>
            <a:pPr algn="ctr" indent="0" marL="0">
              <a:buNone/>
            </a:pPr>
            <a:r>
              <a:rPr lang="en-US" sz="2000" b="1" dirty="0">
                <a:solidFill>
                  <a:srgbClr val="FFFFFF"/>
                </a:solidFill>
                <a:latin typeface="Noto Sans" pitchFamily="34" charset="0"/>
                <a:ea typeface="Noto Sans" pitchFamily="34" charset="-122"/>
                <a:cs typeface="Noto Sans" pitchFamily="34" charset="-120"/>
              </a:rPr>
              <a:t>2</a:t>
            </a:r>
            <a:endParaRPr lang="en-US" sz="2000" dirty="0"/>
          </a:p>
        </p:txBody>
      </p:sp>
      <p:sp xmlns:p="http://schemas.openxmlformats.org/presentationml/2006/main" xmlns:a="http://schemas.openxmlformats.org/drawingml/2006/main">
        <p:nvSpPr>
          <p:cNvPr id="26" name="Text 26"/>
          <p:cNvSpPr/>
          <p:nvPr/>
        </p:nvSpPr>
        <p:spPr>
          <a:xfrm>
            <a:off x="1371600" y="2942082"/>
            <a:ext cx="8229600" cy="512064"/>
          </a:xfrm>
          <a:prstGeom prst="rect">
            <a:avLst/>
          </a:prstGeom>
          <a:noFill/>
          <a:ln/>
        </p:spPr>
        <p:txBody>
          <a:bodyPr wrap="square" rtlCol="0" anchor="ctr"/>
          <a:lstStyle/>
          <a:p>
            <a:pPr indent="0" marL="0">
              <a:buNone/>
            </a:pPr>
            <a:r>
              <a:rPr lang="en-US" sz="1800" b="1" dirty="0">
                <a:solidFill>
                  <a:srgbClr val="22333F"/>
                </a:solidFill>
                <a:latin typeface="Noto Sans" pitchFamily="34" charset="0"/>
                <a:ea typeface="Noto Sans" pitchFamily="34" charset="-122"/>
                <a:cs typeface="Noto Sans" pitchFamily="34" charset="-120"/>
              </a:rPr>
              <a:t>Chân dung khách hàng mục tiêu</a:t>
            </a:r>
            <a:endParaRPr lang="en-US" sz="1800" dirty="0"/>
          </a:p>
        </p:txBody>
      </p:sp>
      <p:sp xmlns:p="http://schemas.openxmlformats.org/presentationml/2006/main" xmlns:a="http://schemas.openxmlformats.org/drawingml/2006/main">
        <p:nvSpPr>
          <p:cNvPr id="27" name="Shape 27"/>
          <p:cNvSpPr/>
          <p:nvPr/>
        </p:nvSpPr>
        <p:spPr>
          <a:xfrm>
            <a:off x="786384" y="3481578"/>
            <a:ext cx="0" cy="153162"/>
          </a:xfrm>
          <a:prstGeom prst="line">
            <a:avLst/>
          </a:prstGeom>
          <a:noFill/>
          <a:ln w="15875">
            <a:solidFill>
              <a:srgbClr val="DCE7EA"/>
            </a:solidFill>
            <a:prstDash val="dash"/>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1 — MỤC TIÊU CHIẾN LƯỢC</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Vì sao là 390k – 400k?</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Text 3"/>
          <p:cNvSpPr/>
          <p:nvPr/>
        </p:nvSpPr>
        <p:spPr>
          <a:xfrm>
            <a:off x="502920" y="1371600"/>
            <a:ext cx="11183112" cy="2331720"/>
          </a:xfrm>
          <a:prstGeom prst="rect">
            <a:avLst/>
          </a:prstGeom>
          <a:noFill/>
          <a:ln/>
        </p:spPr>
        <p:txBody>
          <a:bodyPr wrap="square" rtlCol="0" anchor="t"/>
          <a:lstStyle/>
          <a:p>
            <a:pPr indent="0" marL="0">
              <a:spcAft>
                <a:spcPts val="200"/>
              </a:spcAft>
              <a:buNone/>
            </a:pPr>
            <a:r>
              <a:rPr lang="en-US" sz="1400" b="1" dirty="0">
                <a:solidFill>
                  <a:srgbClr val="004671"/>
                </a:solidFill>
                <a:latin typeface="Noto Sans" pitchFamily="34" charset="0"/>
                <a:ea typeface="Noto Sans" pitchFamily="34" charset="-122"/>
                <a:cs typeface="Noto Sans" pitchFamily="34" charset="-120"/>
              </a:rPr>
              <a:t>Mục tiêu chiến lược</a:t>
            </a:r>
            <a:endParaRPr lang="en-US" sz="1400" dirty="0"/>
          </a:p>
          <a:p>
            <a:pPr indent="0" marL="0">
              <a:spcAft>
                <a:spcPts val="600"/>
              </a:spcAft>
              <a:buNone/>
            </a:pPr>
            <a:r>
              <a:rPr lang="en-US" sz="1050" i="1" dirty="0">
                <a:solidFill>
                  <a:srgbClr val="5B6472"/>
                </a:solidFill>
                <a:latin typeface="Noto Sans" pitchFamily="34" charset="0"/>
                <a:ea typeface="Noto Sans" pitchFamily="34" charset="-122"/>
                <a:cs typeface="Noto Sans" pitchFamily="34" charset="-120"/>
              </a:rPr>
              <a:t>(Chiến lược Educa 2026-2028)</a:t>
            </a:r>
            <a:endParaRPr lang="en-US" sz="1400" dirty="0"/>
          </a:p>
          <a:p>
            <a:pPr marL="342900" indent="-342900">
              <a:spcAft>
                <a:spcPts val="800"/>
              </a:spcAft>
              <a:buSzPct val="100000"/>
              <a:buChar char="•"/>
            </a:pPr>
            <a:r>
              <a:rPr lang="en-US" sz="1200" dirty="0">
                <a:solidFill>
                  <a:srgbClr val="22333F"/>
                </a:solidFill>
                <a:latin typeface="Noto Sans" pitchFamily="34" charset="0"/>
                <a:ea typeface="Noto Sans" pitchFamily="34" charset="-122"/>
                <a:cs typeface="Noto Sans" pitchFamily="34" charset="-120"/>
              </a:rPr>
              <a:t>Educa tập trung nguồn lực vào phân khúc đại trà (mass) — tái định vị Edupia AI Class theo hướng nâng chất lượng học tập bằng AI, dịch chuyển lên mức giá cao hơn nhưng vẫn trong khả năng chi trả của đa số gia đình Việt Nam.</a:t>
            </a:r>
            <a:endParaRPr lang="en-US" sz="1400" dirty="0"/>
          </a:p>
          <a:p>
            <a:pPr marL="342900" indent="-342900">
              <a:buSzPct val="100000"/>
              <a:buChar char="•"/>
            </a:pPr>
            <a:r>
              <a:rPr lang="en-US" sz="1200" i="1" dirty="0">
                <a:solidFill>
                  <a:srgbClr val="22333F"/>
                </a:solidFill>
                <a:latin typeface="Noto Sans" pitchFamily="34" charset="0"/>
                <a:ea typeface="Noto Sans" pitchFamily="34" charset="-122"/>
                <a:cs typeface="Noto Sans" pitchFamily="34" charset="-120"/>
              </a:rPr>
              <a:t>Cách thắng: “Lợi thế của các sản phẩm này không nằm ở việc thu hút giáo viên nổi tiếng nhất hay mức độ trưởng thành về công nghệ cá nhân hóa nhất, mà ở khả năng tạo ra hiệu quả học tập vượt trội nhất thông qua việc ứng dụng AI/Dữ liệu vào tất cả các công đoạn.”</a:t>
            </a:r>
            <a:endParaRPr lang="en-US" sz="1400" dirty="0"/>
          </a:p>
        </p:txBody>
      </p:sp>
      <p:sp>
        <p:nvSpPr>
          <p:cNvPr id="7" name="Shape 4"/>
          <p:cNvSpPr/>
          <p:nvPr/>
        </p:nvSpPr>
        <p:spPr>
          <a:xfrm>
            <a:off x="502920" y="3886200"/>
            <a:ext cx="11183112" cy="2331720"/>
          </a:xfrm>
          <a:prstGeom prst="rect">
            <a:avLst/>
          </a:prstGeom>
          <a:solidFill>
            <a:srgbClr val="F2FAFB"/>
          </a:solidFill>
          <a:ln w="12700">
            <a:solidFill>
              <a:srgbClr val="DCE7EA"/>
            </a:solidFill>
            <a:prstDash val="solid"/>
          </a:ln>
        </p:spPr>
      </p:sp>
      <p:sp>
        <p:nvSpPr>
          <p:cNvPr id="8" name="Text 5"/>
          <p:cNvSpPr/>
          <p:nvPr/>
        </p:nvSpPr>
        <p:spPr>
          <a:xfrm>
            <a:off x="731520" y="4069080"/>
            <a:ext cx="10725912" cy="1965960"/>
          </a:xfrm>
          <a:prstGeom prst="rect">
            <a:avLst/>
          </a:prstGeom>
          <a:noFill/>
          <a:ln/>
        </p:spPr>
        <p:txBody>
          <a:bodyPr wrap="square" rtlCol="0" anchor="t"/>
          <a:lstStyle/>
          <a:p>
            <a:pPr indent="0" marL="0">
              <a:spcAft>
                <a:spcPts val="200"/>
              </a:spcAft>
              <a:buNone/>
            </a:pPr>
            <a:r>
              <a:rPr lang="en-US" sz="1400" b="1" dirty="0">
                <a:solidFill>
                  <a:srgbClr val="004671"/>
                </a:solidFill>
                <a:latin typeface="Noto Sans" pitchFamily="34" charset="0"/>
                <a:ea typeface="Noto Sans" pitchFamily="34" charset="-122"/>
                <a:cs typeface="Noto Sans" pitchFamily="34" charset="-120"/>
              </a:rPr>
              <a:t>Mục tiêu cụ thể</a:t>
            </a:r>
            <a:endParaRPr lang="en-US" sz="1400" dirty="0"/>
          </a:p>
          <a:p>
            <a:pPr indent="0" marL="0">
              <a:spcAft>
                <a:spcPts val="600"/>
              </a:spcAft>
              <a:buNone/>
            </a:pPr>
            <a:r>
              <a:rPr lang="en-US" sz="1050" i="1" dirty="0">
                <a:solidFill>
                  <a:srgbClr val="5B6472"/>
                </a:solidFill>
                <a:latin typeface="Noto Sans" pitchFamily="34" charset="0"/>
                <a:ea typeface="Noto Sans" pitchFamily="34" charset="-122"/>
                <a:cs typeface="Noto Sans" pitchFamily="34" charset="-120"/>
              </a:rPr>
              <a:t>(cấp sản phẩm — Edupia AI Class New)</a:t>
            </a:r>
            <a:endParaRPr lang="en-US" sz="1400" dirty="0"/>
          </a:p>
          <a:p>
            <a:pPr marL="342900" indent="-342900">
              <a:spcAft>
                <a:spcPts val="500"/>
              </a:spcAft>
              <a:buSzPct val="100000"/>
              <a:buChar char="•"/>
            </a:pPr>
            <a:r>
              <a:rPr lang="en-US" sz="1200" dirty="0">
                <a:solidFill>
                  <a:srgbClr val="22333F"/>
                </a:solidFill>
                <a:latin typeface="Noto Sans" pitchFamily="34" charset="0"/>
                <a:ea typeface="Noto Sans" pitchFamily="34" charset="-122"/>
                <a:cs typeface="Noto Sans" pitchFamily="34" charset="-120"/>
              </a:rPr>
              <a:t>Thị trường hiện có một phân khúc công ty đang bỏ lỡ: giữa sản phẩm tự học giá rẻ (Edupia AI Class hiện tại - Big Class - 250k) và sản phẩm có gia sư/GV thật cao cấp hơn (Edupia Tutor) → Cần một sản phẩm phù hợp để đánh đúng vào tệp khách hàng này.</a:t>
            </a:r>
            <a:endParaRPr lang="en-US" sz="1400" dirty="0"/>
          </a:p>
          <a:p>
            <a:pPr marL="342900" indent="-342900">
              <a:spcAft>
                <a:spcPts val="500"/>
              </a:spcAft>
              <a:buSzPct val="100000"/>
              <a:buChar char="•"/>
            </a:pPr>
            <a:r>
              <a:rPr lang="en-US" sz="1200" dirty="0">
                <a:solidFill>
                  <a:srgbClr val="22333F"/>
                </a:solidFill>
                <a:latin typeface="Noto Sans" pitchFamily="34" charset="0"/>
                <a:ea typeface="Noto Sans" pitchFamily="34" charset="-122"/>
                <a:cs typeface="Noto Sans" pitchFamily="34" charset="-120"/>
              </a:rPr>
              <a:t>Edupia AI Class New sẽ là sản phẩm mass ở dải giá này — vai trò Product Growth Engine: dẫn dắt tăng trưởng người dùng, doanh thu, lợi nhuận.</a:t>
            </a:r>
            <a:endParaRPr lang="en-US" sz="1400" dirty="0"/>
          </a:p>
          <a:p>
            <a:pPr marL="342900" indent="-342900">
              <a:buSzPct val="100000"/>
              <a:buChar char="•"/>
            </a:pPr>
            <a:r>
              <a:rPr lang="en-US" sz="1200" b="1" dirty="0">
                <a:solidFill>
                  <a:srgbClr val="004671"/>
                </a:solidFill>
                <a:latin typeface="Noto Sans" pitchFamily="34" charset="0"/>
                <a:ea typeface="Noto Sans" pitchFamily="34" charset="-122"/>
                <a:cs typeface="Noto Sans" pitchFamily="34" charset="-120"/>
              </a:rPr>
              <a:t>Giá bán: 390k là giá mục tiêu sau khi đầu tư 1 trong 3 concept dưới đây.</a:t>
            </a:r>
            <a:endParaRPr lang="en-US" sz="1400" dirty="0"/>
          </a:p>
        </p:txBody>
      </p:sp>
      <p:pic>
        <p:nvPicPr>
          <p:cNvPr id="9"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10" name="Text 6"/>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11" name="Text 7"/>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2 / 12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3 — ĐỊNH HƯỚNG CONCEPT SẢN PHẨM</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Khoảng trống thị trường</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Text 3"/>
          <p:cNvSpPr/>
          <p:nvPr/>
        </p:nvSpPr>
        <p:spPr>
          <a:xfrm>
            <a:off x="502920" y="1280160"/>
            <a:ext cx="11183112" cy="384048"/>
          </a:xfrm>
          <a:prstGeom prst="rect">
            <a:avLst/>
          </a:prstGeom>
          <a:noFill/>
          <a:ln/>
        </p:spPr>
        <p:txBody>
          <a:bodyPr wrap="square" rtlCol="0" anchor="ctr"/>
          <a:lstStyle/>
          <a:p>
            <a:pPr indent="0" marL="0">
              <a:buNone/>
            </a:pPr>
            <a:r>
              <a:rPr lang="en-US" sz="1050" i="1" dirty="0">
                <a:solidFill>
                  <a:srgbClr val="5B6472"/>
                </a:solidFill>
                <a:latin typeface="Noto Sans" pitchFamily="34" charset="0"/>
                <a:ea typeface="Noto Sans" pitchFamily="34" charset="-122"/>
                <a:cs typeface="Noto Sans" pitchFamily="34" charset="-120"/>
              </a:rPr>
              <a:t>Định vị các lựa chọn học tiếng Anh hiện có theo 2 trục: mức độ cá nhân hóa và chi phí — cho thấy khoảng trống ở đúng mức giá 390k mà chưa lựa chọn nào lấp đầy.</a:t>
            </a:r>
            <a:endParaRPr lang="en-US" sz="1050" dirty="0"/>
          </a:p>
        </p:txBody>
      </p:sp>
      <p:sp>
        <p:nvSpPr>
          <p:cNvPr id="7" name="Shape 4"/>
          <p:cNvSpPr/>
          <p:nvPr/>
        </p:nvSpPr>
        <p:spPr>
          <a:xfrm>
            <a:off x="4206240" y="5760720"/>
            <a:ext cx="0" cy="-3959352"/>
          </a:xfrm>
          <a:prstGeom prst="line">
            <a:avLst/>
          </a:prstGeom>
          <a:noFill/>
          <a:ln w="22225">
            <a:solidFill>
              <a:srgbClr val="004671"/>
            </a:solidFill>
            <a:prstDash val="solid"/>
            <a:tailEnd type="triangle"/>
          </a:ln>
        </p:spPr>
      </p:sp>
      <p:sp>
        <p:nvSpPr>
          <p:cNvPr id="8" name="Shape 5"/>
          <p:cNvSpPr/>
          <p:nvPr/>
        </p:nvSpPr>
        <p:spPr>
          <a:xfrm>
            <a:off x="4206240" y="5760720"/>
            <a:ext cx="1463040" cy="0"/>
          </a:xfrm>
          <a:prstGeom prst="line">
            <a:avLst/>
          </a:prstGeom>
          <a:noFill/>
          <a:ln w="22225">
            <a:solidFill>
              <a:srgbClr val="004671"/>
            </a:solidFill>
            <a:prstDash val="solid"/>
            <a:tailEnd type="triangle"/>
          </a:ln>
        </p:spPr>
      </p:sp>
      <p:sp>
        <p:nvSpPr>
          <p:cNvPr id="9" name="Text 6"/>
          <p:cNvSpPr/>
          <p:nvPr/>
        </p:nvSpPr>
        <p:spPr>
          <a:xfrm>
            <a:off x="2560320" y="1508760"/>
            <a:ext cx="3291840" cy="274320"/>
          </a:xfrm>
          <a:prstGeom prst="rect">
            <a:avLst/>
          </a:prstGeom>
          <a:noFill/>
          <a:ln/>
        </p:spPr>
        <p:txBody>
          <a:bodyPr wrap="square" rtlCol="0" anchor="ctr"/>
          <a:lstStyle/>
          <a:p>
            <a:pPr algn="ctr" indent="0" marL="0">
              <a:buNone/>
            </a:pPr>
            <a:r>
              <a:rPr lang="en-US" sz="1050" b="1" dirty="0">
                <a:solidFill>
                  <a:srgbClr val="004671"/>
                </a:solidFill>
                <a:latin typeface="Noto Sans" pitchFamily="34" charset="0"/>
                <a:ea typeface="Noto Sans" pitchFamily="34" charset="-122"/>
                <a:cs typeface="Noto Sans" pitchFamily="34" charset="-120"/>
              </a:rPr>
              <a:t>MỨC ĐỘ CÁ NHÂN HÓA</a:t>
            </a:r>
            <a:endParaRPr lang="en-US" sz="1050" dirty="0"/>
          </a:p>
        </p:txBody>
      </p:sp>
      <p:sp>
        <p:nvSpPr>
          <p:cNvPr id="10" name="Text 7"/>
          <p:cNvSpPr/>
          <p:nvPr/>
        </p:nvSpPr>
        <p:spPr>
          <a:xfrm>
            <a:off x="5742432" y="5614416"/>
            <a:ext cx="1188720" cy="292608"/>
          </a:xfrm>
          <a:prstGeom prst="rect">
            <a:avLst/>
          </a:prstGeom>
          <a:noFill/>
          <a:ln/>
        </p:spPr>
        <p:txBody>
          <a:bodyPr wrap="square" rtlCol="0" anchor="ctr"/>
          <a:lstStyle/>
          <a:p>
            <a:pPr indent="0" marL="0">
              <a:buNone/>
            </a:pPr>
            <a:r>
              <a:rPr lang="en-US" sz="1050" b="1" dirty="0">
                <a:solidFill>
                  <a:srgbClr val="004671"/>
                </a:solidFill>
                <a:latin typeface="Noto Sans" pitchFamily="34" charset="0"/>
                <a:ea typeface="Noto Sans" pitchFamily="34" charset="-122"/>
                <a:cs typeface="Noto Sans" pitchFamily="34" charset="-120"/>
              </a:rPr>
              <a:t>CHI PHÍ</a:t>
            </a:r>
            <a:endParaRPr lang="en-US" sz="1050" dirty="0"/>
          </a:p>
        </p:txBody>
      </p:sp>
      <p:sp>
        <p:nvSpPr>
          <p:cNvPr id="11" name="Shape 8"/>
          <p:cNvSpPr/>
          <p:nvPr/>
        </p:nvSpPr>
        <p:spPr>
          <a:xfrm>
            <a:off x="4142232" y="5362956"/>
            <a:ext cx="128016" cy="128016"/>
          </a:xfrm>
          <a:prstGeom prst="ellipse">
            <a:avLst/>
          </a:prstGeom>
          <a:solidFill>
            <a:srgbClr val="3B81B1"/>
          </a:solidFill>
          <a:ln w="9525">
            <a:solidFill>
              <a:srgbClr val="004671"/>
            </a:solidFill>
            <a:prstDash val="solid"/>
          </a:ln>
        </p:spPr>
      </p:sp>
      <p:sp>
        <p:nvSpPr>
          <p:cNvPr id="12" name="Text 9"/>
          <p:cNvSpPr/>
          <p:nvPr/>
        </p:nvSpPr>
        <p:spPr>
          <a:xfrm>
            <a:off x="1874520" y="5253228"/>
            <a:ext cx="2148840" cy="347472"/>
          </a:xfrm>
          <a:prstGeom prst="rect">
            <a:avLst/>
          </a:prstGeom>
          <a:noFill/>
          <a:ln/>
        </p:spPr>
        <p:txBody>
          <a:bodyPr wrap="square" rtlCol="0" anchor="ctr"/>
          <a:lstStyle/>
          <a:p>
            <a:pPr algn="r" indent="0" marL="0">
              <a:buNone/>
            </a:pPr>
            <a:r>
              <a:rPr lang="en-US" sz="1150" b="1" dirty="0">
                <a:solidFill>
                  <a:srgbClr val="004671"/>
                </a:solidFill>
                <a:latin typeface="Noto Sans" pitchFamily="34" charset="0"/>
                <a:ea typeface="Noto Sans" pitchFamily="34" charset="-122"/>
                <a:cs typeface="Noto Sans" pitchFamily="34" charset="-120"/>
              </a:rPr>
              <a:t>Self Learning</a:t>
            </a:r>
            <a:endParaRPr lang="en-US" sz="1150" dirty="0"/>
          </a:p>
        </p:txBody>
      </p:sp>
      <p:sp>
        <p:nvSpPr>
          <p:cNvPr id="13" name="Text 10"/>
          <p:cNvSpPr/>
          <p:nvPr/>
        </p:nvSpPr>
        <p:spPr>
          <a:xfrm>
            <a:off x="4434840" y="5253228"/>
            <a:ext cx="3931920" cy="347472"/>
          </a:xfrm>
          <a:prstGeom prst="rect">
            <a:avLst/>
          </a:prstGeom>
          <a:noFill/>
          <a:ln/>
        </p:spPr>
        <p:txBody>
          <a:bodyPr wrap="square" rtlCol="0" anchor="ctr"/>
          <a:lstStyle/>
          <a:p>
            <a:pPr indent="0" marL="0">
              <a:buNone/>
            </a:pPr>
            <a:r>
              <a:rPr lang="en-US" sz="1000" i="1" dirty="0">
                <a:solidFill>
                  <a:srgbClr val="5B6472"/>
                </a:solidFill>
                <a:latin typeface="Noto Sans" pitchFamily="34" charset="0"/>
                <a:ea typeface="Noto Sans" pitchFamily="34" charset="-122"/>
                <a:cs typeface="Noto Sans" pitchFamily="34" charset="-120"/>
              </a:rPr>
              <a:t>Edupia AI Class hiện tại (250k, tự học)</a:t>
            </a:r>
            <a:endParaRPr lang="en-US" sz="1000" dirty="0"/>
          </a:p>
        </p:txBody>
      </p:sp>
      <p:sp>
        <p:nvSpPr>
          <p:cNvPr id="14" name="Shape 11"/>
          <p:cNvSpPr/>
          <p:nvPr/>
        </p:nvSpPr>
        <p:spPr>
          <a:xfrm>
            <a:off x="4142232" y="4786884"/>
            <a:ext cx="128016" cy="128016"/>
          </a:xfrm>
          <a:prstGeom prst="ellipse">
            <a:avLst/>
          </a:prstGeom>
          <a:solidFill>
            <a:srgbClr val="3B81B1"/>
          </a:solidFill>
          <a:ln w="9525">
            <a:solidFill>
              <a:srgbClr val="004671"/>
            </a:solidFill>
            <a:prstDash val="solid"/>
          </a:ln>
        </p:spPr>
      </p:sp>
      <p:sp>
        <p:nvSpPr>
          <p:cNvPr id="15" name="Text 12"/>
          <p:cNvSpPr/>
          <p:nvPr/>
        </p:nvSpPr>
        <p:spPr>
          <a:xfrm>
            <a:off x="1874520" y="4677156"/>
            <a:ext cx="2148840" cy="347472"/>
          </a:xfrm>
          <a:prstGeom prst="rect">
            <a:avLst/>
          </a:prstGeom>
          <a:noFill/>
          <a:ln/>
        </p:spPr>
        <p:txBody>
          <a:bodyPr wrap="square" rtlCol="0" anchor="ctr"/>
          <a:lstStyle/>
          <a:p>
            <a:pPr algn="r" indent="0" marL="0">
              <a:buNone/>
            </a:pPr>
            <a:r>
              <a:rPr lang="en-US" sz="1150" b="1" dirty="0">
                <a:solidFill>
                  <a:srgbClr val="004671"/>
                </a:solidFill>
                <a:latin typeface="Noto Sans" pitchFamily="34" charset="0"/>
                <a:ea typeface="Noto Sans" pitchFamily="34" charset="-122"/>
                <a:cs typeface="Noto Sans" pitchFamily="34" charset="-120"/>
              </a:rPr>
              <a:t>Big Class</a:t>
            </a:r>
            <a:endParaRPr lang="en-US" sz="1150" dirty="0"/>
          </a:p>
        </p:txBody>
      </p:sp>
      <p:sp>
        <p:nvSpPr>
          <p:cNvPr id="16" name="Text 13"/>
          <p:cNvSpPr/>
          <p:nvPr/>
        </p:nvSpPr>
        <p:spPr>
          <a:xfrm>
            <a:off x="4434840" y="4677156"/>
            <a:ext cx="3931920" cy="347472"/>
          </a:xfrm>
          <a:prstGeom prst="rect">
            <a:avLst/>
          </a:prstGeom>
          <a:noFill/>
          <a:ln/>
        </p:spPr>
        <p:txBody>
          <a:bodyPr wrap="square" rtlCol="0" anchor="ctr"/>
          <a:lstStyle/>
          <a:p>
            <a:pPr indent="0" marL="0">
              <a:buNone/>
            </a:pPr>
            <a:r>
              <a:rPr lang="en-US" sz="1000" i="1" dirty="0">
                <a:solidFill>
                  <a:srgbClr val="5B6472"/>
                </a:solidFill>
                <a:latin typeface="Noto Sans" pitchFamily="34" charset="0"/>
                <a:ea typeface="Noto Sans" pitchFamily="34" charset="-122"/>
                <a:cs typeface="Noto Sans" pitchFamily="34" charset="-120"/>
              </a:rPr>
              <a:t>Lớp học nhóm đông, GV thật, chưa có AI hỗ trợ sâu</a:t>
            </a:r>
            <a:endParaRPr lang="en-US" sz="1000" dirty="0"/>
          </a:p>
        </p:txBody>
      </p:sp>
      <p:sp>
        <p:nvSpPr>
          <p:cNvPr id="17" name="Shape 14"/>
          <p:cNvSpPr/>
          <p:nvPr/>
        </p:nvSpPr>
        <p:spPr>
          <a:xfrm>
            <a:off x="4142232" y="4210812"/>
            <a:ext cx="128016" cy="128016"/>
          </a:xfrm>
          <a:prstGeom prst="ellipse">
            <a:avLst/>
          </a:prstGeom>
          <a:solidFill>
            <a:srgbClr val="3B81B1"/>
          </a:solidFill>
          <a:ln w="9525">
            <a:solidFill>
              <a:srgbClr val="004671"/>
            </a:solidFill>
            <a:prstDash val="solid"/>
          </a:ln>
        </p:spPr>
      </p:sp>
      <p:sp>
        <p:nvSpPr>
          <p:cNvPr id="18" name="Text 15"/>
          <p:cNvSpPr/>
          <p:nvPr/>
        </p:nvSpPr>
        <p:spPr>
          <a:xfrm>
            <a:off x="1874520" y="4101084"/>
            <a:ext cx="2148840" cy="347472"/>
          </a:xfrm>
          <a:prstGeom prst="rect">
            <a:avLst/>
          </a:prstGeom>
          <a:noFill/>
          <a:ln/>
        </p:spPr>
        <p:txBody>
          <a:bodyPr wrap="square" rtlCol="0" anchor="ctr"/>
          <a:lstStyle/>
          <a:p>
            <a:pPr algn="r" indent="0" marL="0">
              <a:buNone/>
            </a:pPr>
            <a:r>
              <a:rPr lang="en-US" sz="1150" b="1" dirty="0">
                <a:solidFill>
                  <a:srgbClr val="004671"/>
                </a:solidFill>
                <a:latin typeface="Noto Sans" pitchFamily="34" charset="0"/>
                <a:ea typeface="Noto Sans" pitchFamily="34" charset="-122"/>
                <a:cs typeface="Noto Sans" pitchFamily="34" charset="-120"/>
              </a:rPr>
              <a:t>Big Class + AI</a:t>
            </a:r>
            <a:endParaRPr lang="en-US" sz="1150" dirty="0"/>
          </a:p>
        </p:txBody>
      </p:sp>
      <p:sp>
        <p:nvSpPr>
          <p:cNvPr id="19" name="Text 16"/>
          <p:cNvSpPr/>
          <p:nvPr/>
        </p:nvSpPr>
        <p:spPr>
          <a:xfrm>
            <a:off x="4434840" y="4101084"/>
            <a:ext cx="3931920" cy="347472"/>
          </a:xfrm>
          <a:prstGeom prst="rect">
            <a:avLst/>
          </a:prstGeom>
          <a:noFill/>
          <a:ln/>
        </p:spPr>
        <p:txBody>
          <a:bodyPr wrap="square" rtlCol="0" anchor="ctr"/>
          <a:lstStyle/>
          <a:p>
            <a:pPr indent="0" marL="0">
              <a:buNone/>
            </a:pPr>
            <a:r>
              <a:rPr lang="en-US" sz="1000" i="1" dirty="0">
                <a:solidFill>
                  <a:srgbClr val="5B6472"/>
                </a:solidFill>
                <a:latin typeface="Noto Sans" pitchFamily="34" charset="0"/>
                <a:ea typeface="Noto Sans" pitchFamily="34" charset="-122"/>
                <a:cs typeface="Noto Sans" pitchFamily="34" charset="-120"/>
              </a:rPr>
              <a:t>Concept 1/2 — làm mịn &amp; nâng cấp trên nền Big Class</a:t>
            </a:r>
            <a:endParaRPr lang="en-US" sz="1000" dirty="0"/>
          </a:p>
        </p:txBody>
      </p:sp>
      <p:sp>
        <p:nvSpPr>
          <p:cNvPr id="20" name="Shape 17"/>
          <p:cNvSpPr/>
          <p:nvPr/>
        </p:nvSpPr>
        <p:spPr>
          <a:xfrm>
            <a:off x="3223260" y="3415284"/>
            <a:ext cx="1965960" cy="566928"/>
          </a:xfrm>
          <a:prstGeom prst="roundRect">
            <a:avLst>
              <a:gd name="adj" fmla="val 9677"/>
            </a:avLst>
          </a:prstGeom>
          <a:solidFill>
            <a:srgbClr val="A5BE00"/>
          </a:solidFill>
          <a:ln w="15875">
            <a:solidFill>
              <a:srgbClr val="004671"/>
            </a:solidFill>
            <a:prstDash val="solid"/>
          </a:ln>
        </p:spPr>
      </p:sp>
      <p:sp>
        <p:nvSpPr>
          <p:cNvPr id="21" name="Text 18"/>
          <p:cNvSpPr/>
          <p:nvPr/>
        </p:nvSpPr>
        <p:spPr>
          <a:xfrm>
            <a:off x="3223260" y="3415284"/>
            <a:ext cx="1965960" cy="566928"/>
          </a:xfrm>
          <a:prstGeom prst="rect">
            <a:avLst/>
          </a:prstGeom>
          <a:noFill/>
          <a:ln/>
        </p:spPr>
        <p:txBody>
          <a:bodyPr wrap="square" rtlCol="0" anchor="ctr"/>
          <a:lstStyle/>
          <a:p>
            <a:pPr algn="ctr" indent="0" marL="0">
              <a:lnSpc>
                <a:spcPct val="100000"/>
              </a:lnSpc>
              <a:buNone/>
            </a:pPr>
            <a:r>
              <a:rPr lang="en-US" sz="1250" b="1" dirty="0">
                <a:solidFill>
                  <a:srgbClr val="004671"/>
                </a:solidFill>
                <a:latin typeface="Noto Sans" pitchFamily="34" charset="0"/>
                <a:ea typeface="Noto Sans" pitchFamily="34" charset="-122"/>
                <a:cs typeface="Noto Sans" pitchFamily="34" charset="-120"/>
              </a:rPr>
              <a:t>AI TUTOR</a:t>
            </a:r>
            <a:endParaRPr lang="en-US" sz="1250" dirty="0"/>
          </a:p>
          <a:p>
            <a:pPr algn="ctr" indent="0" marL="0">
              <a:lnSpc>
                <a:spcPct val="100000"/>
              </a:lnSpc>
              <a:buNone/>
            </a:pPr>
            <a:r>
              <a:rPr lang="en-US" sz="900" b="1" dirty="0">
                <a:solidFill>
                  <a:srgbClr val="004671"/>
                </a:solidFill>
                <a:latin typeface="Noto Sans" pitchFamily="34" charset="0"/>
                <a:ea typeface="Noto Sans" pitchFamily="34" charset="-122"/>
                <a:cs typeface="Noto Sans" pitchFamily="34" charset="-120"/>
              </a:rPr>
              <a:t>MARKET GAP @ 390K</a:t>
            </a:r>
            <a:endParaRPr lang="en-US" sz="1250" dirty="0"/>
          </a:p>
        </p:txBody>
      </p:sp>
      <p:sp>
        <p:nvSpPr>
          <p:cNvPr id="22" name="Text 19"/>
          <p:cNvSpPr/>
          <p:nvPr/>
        </p:nvSpPr>
        <p:spPr>
          <a:xfrm>
            <a:off x="5417820" y="3515868"/>
            <a:ext cx="3931920" cy="365760"/>
          </a:xfrm>
          <a:prstGeom prst="rect">
            <a:avLst/>
          </a:prstGeom>
          <a:noFill/>
          <a:ln/>
        </p:spPr>
        <p:txBody>
          <a:bodyPr wrap="square" rtlCol="0" anchor="ctr"/>
          <a:lstStyle/>
          <a:p>
            <a:pPr indent="0" marL="0">
              <a:buNone/>
            </a:pPr>
            <a:r>
              <a:rPr lang="en-US" sz="1050" b="1" dirty="0">
                <a:solidFill>
                  <a:srgbClr val="004671"/>
                </a:solidFill>
                <a:latin typeface="Noto Sans" pitchFamily="34" charset="0"/>
                <a:ea typeface="Noto Sans" pitchFamily="34" charset="-122"/>
                <a:cs typeface="Noto Sans" pitchFamily="34" charset="-120"/>
              </a:rPr>
              <a:t>Concept 3 — chưa có lựa chọn nào lấp khoảng trống này</a:t>
            </a:r>
            <a:endParaRPr lang="en-US" sz="1050" dirty="0"/>
          </a:p>
        </p:txBody>
      </p:sp>
      <p:sp>
        <p:nvSpPr>
          <p:cNvPr id="23" name="Shape 20"/>
          <p:cNvSpPr/>
          <p:nvPr/>
        </p:nvSpPr>
        <p:spPr>
          <a:xfrm>
            <a:off x="4142232" y="3058668"/>
            <a:ext cx="128016" cy="128016"/>
          </a:xfrm>
          <a:prstGeom prst="ellipse">
            <a:avLst/>
          </a:prstGeom>
          <a:solidFill>
            <a:srgbClr val="3B81B1"/>
          </a:solidFill>
          <a:ln w="9525">
            <a:solidFill>
              <a:srgbClr val="004671"/>
            </a:solidFill>
            <a:prstDash val="solid"/>
          </a:ln>
        </p:spPr>
      </p:sp>
      <p:sp>
        <p:nvSpPr>
          <p:cNvPr id="24" name="Text 21"/>
          <p:cNvSpPr/>
          <p:nvPr/>
        </p:nvSpPr>
        <p:spPr>
          <a:xfrm>
            <a:off x="1874520" y="2948940"/>
            <a:ext cx="2148840" cy="347472"/>
          </a:xfrm>
          <a:prstGeom prst="rect">
            <a:avLst/>
          </a:prstGeom>
          <a:noFill/>
          <a:ln/>
        </p:spPr>
        <p:txBody>
          <a:bodyPr wrap="square" rtlCol="0" anchor="ctr"/>
          <a:lstStyle/>
          <a:p>
            <a:pPr algn="r" indent="0" marL="0">
              <a:buNone/>
            </a:pPr>
            <a:r>
              <a:rPr lang="en-US" sz="1150" b="1" dirty="0">
                <a:solidFill>
                  <a:srgbClr val="004671"/>
                </a:solidFill>
                <a:latin typeface="Noto Sans" pitchFamily="34" charset="0"/>
                <a:ea typeface="Noto Sans" pitchFamily="34" charset="-122"/>
                <a:cs typeface="Noto Sans" pitchFamily="34" charset="-120"/>
              </a:rPr>
              <a:t>Small-Group Tutor</a:t>
            </a:r>
            <a:endParaRPr lang="en-US" sz="1150" dirty="0"/>
          </a:p>
        </p:txBody>
      </p:sp>
      <p:sp>
        <p:nvSpPr>
          <p:cNvPr id="25" name="Text 22"/>
          <p:cNvSpPr/>
          <p:nvPr/>
        </p:nvSpPr>
        <p:spPr>
          <a:xfrm>
            <a:off x="4434840" y="2948940"/>
            <a:ext cx="3931920" cy="347472"/>
          </a:xfrm>
          <a:prstGeom prst="rect">
            <a:avLst/>
          </a:prstGeom>
          <a:noFill/>
          <a:ln/>
        </p:spPr>
        <p:txBody>
          <a:bodyPr wrap="square" rtlCol="0" anchor="ctr"/>
          <a:lstStyle/>
          <a:p>
            <a:pPr indent="0" marL="0">
              <a:buNone/>
            </a:pPr>
            <a:r>
              <a:rPr lang="en-US" sz="1000" i="1" dirty="0">
                <a:solidFill>
                  <a:srgbClr val="5B6472"/>
                </a:solidFill>
                <a:latin typeface="Noto Sans" pitchFamily="34" charset="0"/>
                <a:ea typeface="Noto Sans" pitchFamily="34" charset="-122"/>
                <a:cs typeface="Noto Sans" pitchFamily="34" charset="-120"/>
              </a:rPr>
              <a:t>Edupia Tutor 1-4/1-6</a:t>
            </a:r>
            <a:endParaRPr lang="en-US" sz="1000" dirty="0"/>
          </a:p>
        </p:txBody>
      </p:sp>
      <p:sp>
        <p:nvSpPr>
          <p:cNvPr id="26" name="Shape 23"/>
          <p:cNvSpPr/>
          <p:nvPr/>
        </p:nvSpPr>
        <p:spPr>
          <a:xfrm>
            <a:off x="4142232" y="2482596"/>
            <a:ext cx="128016" cy="128016"/>
          </a:xfrm>
          <a:prstGeom prst="ellipse">
            <a:avLst/>
          </a:prstGeom>
          <a:solidFill>
            <a:srgbClr val="3B81B1"/>
          </a:solidFill>
          <a:ln w="9525">
            <a:solidFill>
              <a:srgbClr val="004671"/>
            </a:solidFill>
            <a:prstDash val="solid"/>
          </a:ln>
        </p:spPr>
      </p:sp>
      <p:sp>
        <p:nvSpPr>
          <p:cNvPr id="27" name="Text 24"/>
          <p:cNvSpPr/>
          <p:nvPr/>
        </p:nvSpPr>
        <p:spPr>
          <a:xfrm>
            <a:off x="1874520" y="2372868"/>
            <a:ext cx="2148840" cy="347472"/>
          </a:xfrm>
          <a:prstGeom prst="rect">
            <a:avLst/>
          </a:prstGeom>
          <a:noFill/>
          <a:ln/>
        </p:spPr>
        <p:txBody>
          <a:bodyPr wrap="square" rtlCol="0" anchor="ctr"/>
          <a:lstStyle/>
          <a:p>
            <a:pPr algn="r" indent="0" marL="0">
              <a:buNone/>
            </a:pPr>
            <a:r>
              <a:rPr lang="en-US" sz="1150" b="1" dirty="0">
                <a:solidFill>
                  <a:srgbClr val="004671"/>
                </a:solidFill>
                <a:latin typeface="Noto Sans" pitchFamily="34" charset="0"/>
                <a:ea typeface="Noto Sans" pitchFamily="34" charset="-122"/>
                <a:cs typeface="Noto Sans" pitchFamily="34" charset="-120"/>
              </a:rPr>
              <a:t>Private Tutor</a:t>
            </a:r>
            <a:endParaRPr lang="en-US" sz="1150" dirty="0"/>
          </a:p>
        </p:txBody>
      </p:sp>
      <p:sp>
        <p:nvSpPr>
          <p:cNvPr id="28" name="Text 25"/>
          <p:cNvSpPr/>
          <p:nvPr/>
        </p:nvSpPr>
        <p:spPr>
          <a:xfrm>
            <a:off x="4434840" y="2372868"/>
            <a:ext cx="3931920" cy="347472"/>
          </a:xfrm>
          <a:prstGeom prst="rect">
            <a:avLst/>
          </a:prstGeom>
          <a:noFill/>
          <a:ln/>
        </p:spPr>
        <p:txBody>
          <a:bodyPr wrap="square" rtlCol="0" anchor="ctr"/>
          <a:lstStyle/>
          <a:p>
            <a:pPr indent="0" marL="0">
              <a:buNone/>
            </a:pPr>
            <a:r>
              <a:rPr lang="en-US" sz="1000" i="1" dirty="0">
                <a:solidFill>
                  <a:srgbClr val="5B6472"/>
                </a:solidFill>
                <a:latin typeface="Noto Sans" pitchFamily="34" charset="0"/>
                <a:ea typeface="Noto Sans" pitchFamily="34" charset="-122"/>
                <a:cs typeface="Noto Sans" pitchFamily="34" charset="-120"/>
              </a:rPr>
              <a:t>Edupia Tutor 1-1</a:t>
            </a:r>
            <a:endParaRPr lang="en-US" sz="1000" dirty="0"/>
          </a:p>
        </p:txBody>
      </p:sp>
      <p:sp>
        <p:nvSpPr>
          <p:cNvPr id="29" name="Text 26"/>
          <p:cNvSpPr/>
          <p:nvPr/>
        </p:nvSpPr>
        <p:spPr>
          <a:xfrm>
            <a:off x="502920" y="5989320"/>
            <a:ext cx="11183112" cy="384048"/>
          </a:xfrm>
          <a:prstGeom prst="rect">
            <a:avLst/>
          </a:prstGeom>
          <a:noFill/>
          <a:ln/>
        </p:spPr>
        <p:txBody>
          <a:bodyPr wrap="square" rtlCol="0" anchor="ctr"/>
          <a:lstStyle/>
          <a:p>
            <a:pPr indent="0" marL="0">
              <a:buNone/>
            </a:pPr>
            <a:r>
              <a:rPr lang="en-US" sz="950" i="1" dirty="0">
                <a:solidFill>
                  <a:srgbClr val="5B6472"/>
                </a:solidFill>
                <a:latin typeface="Noto Sans" pitchFamily="34" charset="0"/>
                <a:ea typeface="Noto Sans" pitchFamily="34" charset="-122"/>
                <a:cs typeface="Noto Sans" pitchFamily="34" charset="-120"/>
              </a:rPr>
              <a:t>Liên hệ: khoảng trống này là câu trả lời trực quan cho câu hỏi ở Slide 3 (“thị trường đang có phân khúc công ty đang bỏ lỡ”) — nằm giữa nhóm tự động hoá hoàn toàn (Self Learning → Big Class + AI) và nhóm gia sư người thật (Small-Group Tutor → Private Tutor).</a:t>
            </a:r>
            <a:endParaRPr lang="en-US" sz="950" dirty="0"/>
          </a:p>
        </p:txBody>
      </p:sp>
      <p:pic>
        <p:nvPicPr>
          <p:cNvPr id="30"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31" name="Text 27"/>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32" name="Text 28"/>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5 / 12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3 — ĐỊNH HƯỚNG CONCEPT SẢN PHẨM</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Từ yếu tố tạo tiến bộ đến 3 hướng tạo giá trị</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Text 3"/>
          <p:cNvSpPr/>
          <p:nvPr/>
        </p:nvSpPr>
        <p:spPr>
          <a:xfrm>
            <a:off x="502920" y="1280160"/>
            <a:ext cx="11183112" cy="384048"/>
          </a:xfrm>
          <a:prstGeom prst="rect">
            <a:avLst/>
          </a:prstGeom>
          <a:noFill/>
          <a:ln/>
        </p:spPr>
        <p:txBody>
          <a:bodyPr wrap="square" rtlCol="0" anchor="ctr"/>
          <a:lstStyle/>
          <a:p>
            <a:pPr indent="0" marL="0">
              <a:buNone/>
            </a:pPr>
            <a:r>
              <a:rPr lang="en-US" sz="1050" i="1" dirty="0">
                <a:solidFill>
                  <a:srgbClr val="5B6472"/>
                </a:solidFill>
                <a:latin typeface="Noto Sans" pitchFamily="34" charset="0"/>
                <a:ea typeface="Noto Sans" pitchFamily="34" charset="-122"/>
                <a:cs typeface="Noto Sans" pitchFamily="34" charset="-120"/>
              </a:rPr>
              <a:t>Giải thích khung tư duy đứng sau việc có đúng 3 định hướng concept — mỗi concept là một hướng tạo giá trị khác nhau, không phải 3 lựa chọn ngẫu nhiên.</a:t>
            </a:r>
            <a:endParaRPr lang="en-US" sz="1050" dirty="0"/>
          </a:p>
        </p:txBody>
      </p:sp>
      <p:sp>
        <p:nvSpPr>
          <p:cNvPr id="7" name="Shape 4"/>
          <p:cNvSpPr/>
          <p:nvPr/>
        </p:nvSpPr>
        <p:spPr>
          <a:xfrm>
            <a:off x="2627711" y="1709928"/>
            <a:ext cx="6933529" cy="438912"/>
          </a:xfrm>
          <a:prstGeom prst="roundRect">
            <a:avLst>
              <a:gd name="adj" fmla="val 10417"/>
            </a:avLst>
          </a:prstGeom>
          <a:solidFill>
            <a:srgbClr val="F2FAFB"/>
          </a:solidFill>
          <a:ln w="12700">
            <a:solidFill>
              <a:srgbClr val="004671"/>
            </a:solidFill>
            <a:prstDash val="solid"/>
          </a:ln>
        </p:spPr>
      </p:sp>
      <p:sp>
        <p:nvSpPr>
          <p:cNvPr id="8" name="Text 5"/>
          <p:cNvSpPr/>
          <p:nvPr/>
        </p:nvSpPr>
        <p:spPr>
          <a:xfrm>
            <a:off x="2627711" y="1709928"/>
            <a:ext cx="6933529" cy="438912"/>
          </a:xfrm>
          <a:prstGeom prst="rect">
            <a:avLst/>
          </a:prstGeom>
          <a:noFill/>
          <a:ln/>
        </p:spPr>
        <p:txBody>
          <a:bodyPr wrap="square" rtlCol="0" anchor="ctr"/>
          <a:lstStyle/>
          <a:p>
            <a:pPr algn="ctr" indent="0" marL="0">
              <a:buNone/>
            </a:pPr>
            <a:r>
              <a:rPr lang="en-US" sz="1300" b="1" dirty="0">
                <a:solidFill>
                  <a:srgbClr val="004671"/>
                </a:solidFill>
                <a:latin typeface="Noto Sans" pitchFamily="34" charset="0"/>
                <a:ea typeface="Noto Sans" pitchFamily="34" charset="-122"/>
                <a:cs typeface="Noto Sans" pitchFamily="34" charset="-120"/>
              </a:rPr>
              <a:t>Teacher  +  AI  +  Environment  +  Accountability</a:t>
            </a:r>
            <a:endParaRPr lang="en-US" sz="1300" dirty="0"/>
          </a:p>
        </p:txBody>
      </p:sp>
      <p:sp>
        <p:nvSpPr>
          <p:cNvPr id="9" name="Shape 6"/>
          <p:cNvSpPr/>
          <p:nvPr/>
        </p:nvSpPr>
        <p:spPr>
          <a:xfrm>
            <a:off x="6094476" y="2148840"/>
            <a:ext cx="0" cy="155448"/>
          </a:xfrm>
          <a:prstGeom prst="line">
            <a:avLst/>
          </a:prstGeom>
          <a:noFill/>
          <a:ln w="19050">
            <a:solidFill>
              <a:srgbClr val="004671"/>
            </a:solidFill>
            <a:prstDash val="solid"/>
            <a:tailEnd type="triangle"/>
          </a:ln>
        </p:spPr>
      </p:sp>
      <p:sp>
        <p:nvSpPr>
          <p:cNvPr id="10" name="Shape 7"/>
          <p:cNvSpPr/>
          <p:nvPr/>
        </p:nvSpPr>
        <p:spPr>
          <a:xfrm>
            <a:off x="4081516" y="2304288"/>
            <a:ext cx="4025920" cy="384048"/>
          </a:xfrm>
          <a:prstGeom prst="roundRect">
            <a:avLst>
              <a:gd name="adj" fmla="val 11905"/>
            </a:avLst>
          </a:prstGeom>
          <a:solidFill>
            <a:srgbClr val="004671"/>
          </a:solidFill>
          <a:ln/>
        </p:spPr>
      </p:sp>
      <p:sp>
        <p:nvSpPr>
          <p:cNvPr id="11" name="Text 8"/>
          <p:cNvSpPr/>
          <p:nvPr/>
        </p:nvSpPr>
        <p:spPr>
          <a:xfrm>
            <a:off x="4081516" y="2304288"/>
            <a:ext cx="4025920" cy="384048"/>
          </a:xfrm>
          <a:prstGeom prst="rect">
            <a:avLst/>
          </a:prstGeom>
          <a:noFill/>
          <a:ln/>
        </p:spPr>
        <p:txBody>
          <a:bodyPr wrap="square" rtlCol="0" anchor="ctr"/>
          <a:lstStyle/>
          <a:p>
            <a:pPr algn="ctr" indent="0" marL="0">
              <a:buNone/>
            </a:pPr>
            <a:r>
              <a:rPr lang="en-US" sz="1300" b="1" dirty="0">
                <a:solidFill>
                  <a:srgbClr val="FFFFFF"/>
                </a:solidFill>
                <a:latin typeface="Noto Sans" pitchFamily="34" charset="0"/>
                <a:ea typeface="Noto Sans" pitchFamily="34" charset="-122"/>
                <a:cs typeface="Noto Sans" pitchFamily="34" charset="-120"/>
              </a:rPr>
              <a:t>STUDENT PROGRESS</a:t>
            </a:r>
            <a:endParaRPr lang="en-US" sz="1300" dirty="0"/>
          </a:p>
        </p:txBody>
      </p:sp>
      <p:sp>
        <p:nvSpPr>
          <p:cNvPr id="12" name="Text 9"/>
          <p:cNvSpPr/>
          <p:nvPr/>
        </p:nvSpPr>
        <p:spPr>
          <a:xfrm>
            <a:off x="502920" y="2761488"/>
            <a:ext cx="11183112" cy="292608"/>
          </a:xfrm>
          <a:prstGeom prst="rect">
            <a:avLst/>
          </a:prstGeom>
          <a:noFill/>
          <a:ln/>
        </p:spPr>
        <p:txBody>
          <a:bodyPr wrap="square" rtlCol="0" anchor="ctr"/>
          <a:lstStyle/>
          <a:p>
            <a:pPr algn="ctr" indent="0" marL="0">
              <a:buNone/>
            </a:pPr>
            <a:r>
              <a:rPr lang="en-US" sz="1200" b="1" i="1" dirty="0">
                <a:solidFill>
                  <a:srgbClr val="3B81B1"/>
                </a:solidFill>
                <a:latin typeface="Noto Sans" pitchFamily="34" charset="0"/>
                <a:ea typeface="Noto Sans" pitchFamily="34" charset="-122"/>
                <a:cs typeface="Noto Sans" pitchFamily="34" charset="-120"/>
              </a:rPr>
              <a:t>HOW CAN WE CREATE MORE VALUE?</a:t>
            </a:r>
            <a:endParaRPr lang="en-US" sz="1200" dirty="0"/>
          </a:p>
        </p:txBody>
      </p:sp>
      <p:sp>
        <p:nvSpPr>
          <p:cNvPr id="13" name="Shape 10"/>
          <p:cNvSpPr/>
          <p:nvPr/>
        </p:nvSpPr>
        <p:spPr>
          <a:xfrm>
            <a:off x="6094476" y="3054096"/>
            <a:ext cx="0" cy="146304"/>
          </a:xfrm>
          <a:prstGeom prst="line">
            <a:avLst/>
          </a:prstGeom>
          <a:noFill/>
          <a:ln w="15875">
            <a:solidFill>
              <a:srgbClr val="5B6472"/>
            </a:solidFill>
            <a:prstDash val="solid"/>
          </a:ln>
        </p:spPr>
      </p:sp>
      <p:sp>
        <p:nvSpPr>
          <p:cNvPr id="14" name="Shape 11"/>
          <p:cNvSpPr/>
          <p:nvPr/>
        </p:nvSpPr>
        <p:spPr>
          <a:xfrm>
            <a:off x="2366772" y="3200400"/>
            <a:ext cx="7455408" cy="0"/>
          </a:xfrm>
          <a:prstGeom prst="line">
            <a:avLst/>
          </a:prstGeom>
          <a:noFill/>
          <a:ln w="15875">
            <a:solidFill>
              <a:srgbClr val="5B6472"/>
            </a:solidFill>
            <a:prstDash val="solid"/>
          </a:ln>
        </p:spPr>
      </p:sp>
      <p:sp>
        <p:nvSpPr>
          <p:cNvPr id="15" name="Shape 12"/>
          <p:cNvSpPr/>
          <p:nvPr/>
        </p:nvSpPr>
        <p:spPr>
          <a:xfrm>
            <a:off x="2366772" y="3200400"/>
            <a:ext cx="0" cy="164592"/>
          </a:xfrm>
          <a:prstGeom prst="line">
            <a:avLst/>
          </a:prstGeom>
          <a:noFill/>
          <a:ln w="15875">
            <a:solidFill>
              <a:srgbClr val="5B6472"/>
            </a:solidFill>
            <a:prstDash val="solid"/>
            <a:tailEnd type="triangle"/>
          </a:ln>
        </p:spPr>
      </p:sp>
      <p:sp>
        <p:nvSpPr>
          <p:cNvPr id="16" name="Shape 13"/>
          <p:cNvSpPr/>
          <p:nvPr/>
        </p:nvSpPr>
        <p:spPr>
          <a:xfrm>
            <a:off x="6094476" y="3200400"/>
            <a:ext cx="0" cy="164592"/>
          </a:xfrm>
          <a:prstGeom prst="line">
            <a:avLst/>
          </a:prstGeom>
          <a:noFill/>
          <a:ln w="15875">
            <a:solidFill>
              <a:srgbClr val="5B6472"/>
            </a:solidFill>
            <a:prstDash val="solid"/>
            <a:tailEnd type="triangle"/>
          </a:ln>
        </p:spPr>
      </p:sp>
      <p:sp>
        <p:nvSpPr>
          <p:cNvPr id="17" name="Shape 14"/>
          <p:cNvSpPr/>
          <p:nvPr/>
        </p:nvSpPr>
        <p:spPr>
          <a:xfrm>
            <a:off x="9822180" y="3200400"/>
            <a:ext cx="0" cy="164592"/>
          </a:xfrm>
          <a:prstGeom prst="line">
            <a:avLst/>
          </a:prstGeom>
          <a:noFill/>
          <a:ln w="15875">
            <a:solidFill>
              <a:srgbClr val="5B6472"/>
            </a:solidFill>
            <a:prstDash val="solid"/>
            <a:tailEnd type="triangle"/>
          </a:ln>
        </p:spPr>
      </p:sp>
      <p:sp>
        <p:nvSpPr>
          <p:cNvPr id="18" name="Text 15"/>
          <p:cNvSpPr/>
          <p:nvPr/>
        </p:nvSpPr>
        <p:spPr>
          <a:xfrm>
            <a:off x="720852" y="3383280"/>
            <a:ext cx="3291840" cy="347472"/>
          </a:xfrm>
          <a:prstGeom prst="rect">
            <a:avLst/>
          </a:prstGeom>
          <a:noFill/>
          <a:ln/>
        </p:spPr>
        <p:txBody>
          <a:bodyPr wrap="square" rtlCol="0" anchor="ctr"/>
          <a:lstStyle/>
          <a:p>
            <a:pPr algn="ctr" indent="0" marL="0">
              <a:buNone/>
            </a:pPr>
            <a:r>
              <a:rPr lang="en-US" sz="1700" b="1" dirty="0">
                <a:solidFill>
                  <a:srgbClr val="004671"/>
                </a:solidFill>
                <a:latin typeface="Noto Sans" pitchFamily="34" charset="0"/>
                <a:ea typeface="Noto Sans" pitchFamily="34" charset="-122"/>
                <a:cs typeface="Noto Sans" pitchFamily="34" charset="-120"/>
              </a:rPr>
              <a:t>DEEPEN</a:t>
            </a:r>
            <a:endParaRPr lang="en-US" sz="1700" dirty="0"/>
          </a:p>
        </p:txBody>
      </p:sp>
      <p:sp>
        <p:nvSpPr>
          <p:cNvPr id="19" name="Text 16"/>
          <p:cNvSpPr/>
          <p:nvPr/>
        </p:nvSpPr>
        <p:spPr>
          <a:xfrm>
            <a:off x="720852" y="3749040"/>
            <a:ext cx="3291840" cy="502920"/>
          </a:xfrm>
          <a:prstGeom prst="rect">
            <a:avLst/>
          </a:prstGeom>
          <a:noFill/>
          <a:ln/>
        </p:spPr>
        <p:txBody>
          <a:bodyPr wrap="square" rtlCol="0" anchor="ctr"/>
          <a:lstStyle/>
          <a:p>
            <a:pPr algn="ctr" indent="0" marL="0">
              <a:lnSpc>
                <a:spcPct val="105000"/>
              </a:lnSpc>
              <a:buNone/>
            </a:pPr>
            <a:r>
              <a:rPr lang="en-US" sz="1050" i="1" dirty="0">
                <a:solidFill>
                  <a:srgbClr val="5B6472"/>
                </a:solidFill>
                <a:latin typeface="Noto Sans" pitchFamily="34" charset="0"/>
                <a:ea typeface="Noto Sans" pitchFamily="34" charset="-122"/>
                <a:cs typeface="Noto Sans" pitchFamily="34" charset="-120"/>
              </a:rPr>
              <a:t>Làm tốt hơn</a:t>
            </a:r>
            <a:endParaRPr lang="en-US" sz="1050" dirty="0"/>
          </a:p>
          <a:p>
            <a:pPr algn="ctr" indent="0" marL="0">
              <a:lnSpc>
                <a:spcPct val="105000"/>
              </a:lnSpc>
              <a:buNone/>
            </a:pPr>
            <a:r>
              <a:rPr lang="en-US" sz="1050" i="1" dirty="0">
                <a:solidFill>
                  <a:srgbClr val="5B6472"/>
                </a:solidFill>
                <a:latin typeface="Noto Sans" pitchFamily="34" charset="0"/>
                <a:ea typeface="Noto Sans" pitchFamily="34" charset="-122"/>
                <a:cs typeface="Noto Sans" pitchFamily="34" charset="-120"/>
              </a:rPr>
              <a:t>mô hình hiện tại</a:t>
            </a:r>
            <a:endParaRPr lang="en-US" sz="1050" dirty="0"/>
          </a:p>
        </p:txBody>
      </p:sp>
      <p:sp>
        <p:nvSpPr>
          <p:cNvPr id="20" name="Shape 17"/>
          <p:cNvSpPr/>
          <p:nvPr/>
        </p:nvSpPr>
        <p:spPr>
          <a:xfrm>
            <a:off x="2366772" y="4279392"/>
            <a:ext cx="0" cy="164592"/>
          </a:xfrm>
          <a:prstGeom prst="line">
            <a:avLst/>
          </a:prstGeom>
          <a:noFill/>
          <a:ln w="19050">
            <a:solidFill>
              <a:srgbClr val="004671"/>
            </a:solidFill>
            <a:prstDash val="solid"/>
            <a:tailEnd type="triangle"/>
          </a:ln>
        </p:spPr>
      </p:sp>
      <p:sp>
        <p:nvSpPr>
          <p:cNvPr id="21" name="Shape 18"/>
          <p:cNvSpPr/>
          <p:nvPr/>
        </p:nvSpPr>
        <p:spPr>
          <a:xfrm>
            <a:off x="720852" y="4462272"/>
            <a:ext cx="3291840" cy="457200"/>
          </a:xfrm>
          <a:prstGeom prst="roundRect">
            <a:avLst>
              <a:gd name="adj" fmla="val 10000"/>
            </a:avLst>
          </a:prstGeom>
          <a:solidFill>
            <a:srgbClr val="004671"/>
          </a:solidFill>
          <a:ln/>
        </p:spPr>
      </p:sp>
      <p:sp>
        <p:nvSpPr>
          <p:cNvPr id="22" name="Text 19"/>
          <p:cNvSpPr/>
          <p:nvPr/>
        </p:nvSpPr>
        <p:spPr>
          <a:xfrm>
            <a:off x="720852" y="4462272"/>
            <a:ext cx="3291840" cy="457200"/>
          </a:xfrm>
          <a:prstGeom prst="rect">
            <a:avLst/>
          </a:prstGeom>
          <a:noFill/>
          <a:ln/>
        </p:spPr>
        <p:txBody>
          <a:bodyPr wrap="square" rtlCol="0" anchor="ctr"/>
          <a:lstStyle/>
          <a:p>
            <a:pPr algn="ctr" indent="0" marL="0">
              <a:buNone/>
            </a:pPr>
            <a:r>
              <a:rPr lang="en-US" sz="1400" b="1" dirty="0">
                <a:solidFill>
                  <a:srgbClr val="FFFFFF"/>
                </a:solidFill>
                <a:latin typeface="Noto Sans" pitchFamily="34" charset="0"/>
                <a:ea typeface="Noto Sans" pitchFamily="34" charset="-122"/>
                <a:cs typeface="Noto Sans" pitchFamily="34" charset="-120"/>
              </a:rPr>
              <a:t>CONCEPT 1</a:t>
            </a:r>
            <a:endParaRPr lang="en-US" sz="1400" dirty="0"/>
          </a:p>
        </p:txBody>
      </p:sp>
      <p:sp>
        <p:nvSpPr>
          <p:cNvPr id="23" name="Text 20"/>
          <p:cNvSpPr/>
          <p:nvPr/>
        </p:nvSpPr>
        <p:spPr>
          <a:xfrm>
            <a:off x="720852" y="5010912"/>
            <a:ext cx="3291840" cy="685800"/>
          </a:xfrm>
          <a:prstGeom prst="rect">
            <a:avLst/>
          </a:prstGeom>
          <a:noFill/>
          <a:ln/>
        </p:spPr>
        <p:txBody>
          <a:bodyPr wrap="square" rtlCol="0" anchor="ctr"/>
          <a:lstStyle/>
          <a:p>
            <a:pPr algn="ctr" indent="0" marL="0">
              <a:lnSpc>
                <a:spcPct val="108000"/>
              </a:lnSpc>
              <a:buNone/>
            </a:pPr>
            <a:r>
              <a:rPr lang="en-US" sz="1050" dirty="0">
                <a:solidFill>
                  <a:srgbClr val="22333F"/>
                </a:solidFill>
                <a:latin typeface="Noto Sans" pitchFamily="34" charset="0"/>
                <a:ea typeface="Noto Sans" pitchFamily="34" charset="-122"/>
                <a:cs typeface="Noto Sans" pitchFamily="34" charset="-120"/>
              </a:rPr>
              <a:t>Content (Option 1.1)</a:t>
            </a:r>
            <a:endParaRPr lang="en-US" sz="1050" dirty="0"/>
          </a:p>
          <a:p>
            <a:pPr algn="ctr" indent="0" marL="0">
              <a:lnSpc>
                <a:spcPct val="108000"/>
              </a:lnSpc>
              <a:buNone/>
            </a:pPr>
            <a:r>
              <a:rPr lang="en-US" sz="1050" dirty="0">
                <a:solidFill>
                  <a:srgbClr val="22333F"/>
                </a:solidFill>
                <a:latin typeface="Noto Sans" pitchFamily="34" charset="0"/>
                <a:ea typeface="Noto Sans" pitchFamily="34" charset="-122"/>
                <a:cs typeface="Noto Sans" pitchFamily="34" charset="-120"/>
              </a:rPr>
              <a:t>+ AI (Option 1.2)</a:t>
            </a:r>
            <a:endParaRPr lang="en-US" sz="1050" dirty="0"/>
          </a:p>
          <a:p>
            <a:pPr algn="ctr" indent="0" marL="0">
              <a:lnSpc>
                <a:spcPct val="108000"/>
              </a:lnSpc>
              <a:buNone/>
            </a:pPr>
            <a:r>
              <a:rPr lang="en-US" sz="1050" dirty="0">
                <a:solidFill>
                  <a:srgbClr val="22333F"/>
                </a:solidFill>
                <a:latin typeface="Noto Sans" pitchFamily="34" charset="0"/>
                <a:ea typeface="Noto Sans" pitchFamily="34" charset="-122"/>
                <a:cs typeface="Noto Sans" pitchFamily="34" charset="-120"/>
              </a:rPr>
              <a:t>+ GVCN (Option 1.3)</a:t>
            </a:r>
            <a:endParaRPr lang="en-US" sz="1050" dirty="0"/>
          </a:p>
        </p:txBody>
      </p:sp>
      <p:sp>
        <p:nvSpPr>
          <p:cNvPr id="24" name="Text 21"/>
          <p:cNvSpPr/>
          <p:nvPr/>
        </p:nvSpPr>
        <p:spPr>
          <a:xfrm>
            <a:off x="4448556" y="3383280"/>
            <a:ext cx="3291840" cy="347472"/>
          </a:xfrm>
          <a:prstGeom prst="rect">
            <a:avLst/>
          </a:prstGeom>
          <a:noFill/>
          <a:ln/>
        </p:spPr>
        <p:txBody>
          <a:bodyPr wrap="square" rtlCol="0" anchor="ctr"/>
          <a:lstStyle/>
          <a:p>
            <a:pPr algn="ctr" indent="0" marL="0">
              <a:buNone/>
            </a:pPr>
            <a:r>
              <a:rPr lang="en-US" sz="1700" b="1" dirty="0">
                <a:solidFill>
                  <a:srgbClr val="3B81B1"/>
                </a:solidFill>
                <a:latin typeface="Noto Sans" pitchFamily="34" charset="0"/>
                <a:ea typeface="Noto Sans" pitchFamily="34" charset="-122"/>
                <a:cs typeface="Noto Sans" pitchFamily="34" charset="-120"/>
              </a:rPr>
              <a:t>EXPAND</a:t>
            </a:r>
            <a:endParaRPr lang="en-US" sz="1700" dirty="0"/>
          </a:p>
        </p:txBody>
      </p:sp>
      <p:sp>
        <p:nvSpPr>
          <p:cNvPr id="25" name="Text 22"/>
          <p:cNvSpPr/>
          <p:nvPr/>
        </p:nvSpPr>
        <p:spPr>
          <a:xfrm>
            <a:off x="4448556" y="3749040"/>
            <a:ext cx="3291840" cy="502920"/>
          </a:xfrm>
          <a:prstGeom prst="rect">
            <a:avLst/>
          </a:prstGeom>
          <a:noFill/>
          <a:ln/>
        </p:spPr>
        <p:txBody>
          <a:bodyPr wrap="square" rtlCol="0" anchor="ctr"/>
          <a:lstStyle/>
          <a:p>
            <a:pPr algn="ctr" indent="0" marL="0">
              <a:lnSpc>
                <a:spcPct val="105000"/>
              </a:lnSpc>
              <a:buNone/>
            </a:pPr>
            <a:r>
              <a:rPr lang="en-US" sz="1050" i="1" dirty="0">
                <a:solidFill>
                  <a:srgbClr val="5B6472"/>
                </a:solidFill>
                <a:latin typeface="Noto Sans" pitchFamily="34" charset="0"/>
                <a:ea typeface="Noto Sans" pitchFamily="34" charset="-122"/>
                <a:cs typeface="Noto Sans" pitchFamily="34" charset="-120"/>
              </a:rPr>
              <a:t>Nhiều giá trị hơn</a:t>
            </a:r>
            <a:endParaRPr lang="en-US" sz="1050" dirty="0"/>
          </a:p>
          <a:p>
            <a:pPr algn="ctr" indent="0" marL="0">
              <a:lnSpc>
                <a:spcPct val="105000"/>
              </a:lnSpc>
              <a:buNone/>
            </a:pPr>
            <a:r>
              <a:rPr lang="en-US" sz="1050" i="1" dirty="0">
                <a:solidFill>
                  <a:srgbClr val="5B6472"/>
                </a:solidFill>
                <a:latin typeface="Noto Sans" pitchFamily="34" charset="0"/>
                <a:ea typeface="Noto Sans" pitchFamily="34" charset="-122"/>
                <a:cs typeface="Noto Sans" pitchFamily="34" charset="-120"/>
              </a:rPr>
              <a:t>cho gia đình</a:t>
            </a:r>
            <a:endParaRPr lang="en-US" sz="1050" dirty="0"/>
          </a:p>
        </p:txBody>
      </p:sp>
      <p:sp>
        <p:nvSpPr>
          <p:cNvPr id="26" name="Shape 23"/>
          <p:cNvSpPr/>
          <p:nvPr/>
        </p:nvSpPr>
        <p:spPr>
          <a:xfrm>
            <a:off x="6094476" y="4279392"/>
            <a:ext cx="0" cy="164592"/>
          </a:xfrm>
          <a:prstGeom prst="line">
            <a:avLst/>
          </a:prstGeom>
          <a:noFill/>
          <a:ln w="19050">
            <a:solidFill>
              <a:srgbClr val="3B81B1"/>
            </a:solidFill>
            <a:prstDash val="solid"/>
            <a:tailEnd type="triangle"/>
          </a:ln>
        </p:spPr>
      </p:sp>
      <p:sp>
        <p:nvSpPr>
          <p:cNvPr id="27" name="Shape 24"/>
          <p:cNvSpPr/>
          <p:nvPr/>
        </p:nvSpPr>
        <p:spPr>
          <a:xfrm>
            <a:off x="4448556" y="4462272"/>
            <a:ext cx="3291840" cy="457200"/>
          </a:xfrm>
          <a:prstGeom prst="roundRect">
            <a:avLst>
              <a:gd name="adj" fmla="val 10000"/>
            </a:avLst>
          </a:prstGeom>
          <a:solidFill>
            <a:srgbClr val="3B81B1"/>
          </a:solidFill>
          <a:ln/>
        </p:spPr>
      </p:sp>
      <p:sp>
        <p:nvSpPr>
          <p:cNvPr id="28" name="Text 25"/>
          <p:cNvSpPr/>
          <p:nvPr/>
        </p:nvSpPr>
        <p:spPr>
          <a:xfrm>
            <a:off x="4448556" y="4462272"/>
            <a:ext cx="3291840" cy="457200"/>
          </a:xfrm>
          <a:prstGeom prst="rect">
            <a:avLst/>
          </a:prstGeom>
          <a:noFill/>
          <a:ln/>
        </p:spPr>
        <p:txBody>
          <a:bodyPr wrap="square" rtlCol="0" anchor="ctr"/>
          <a:lstStyle/>
          <a:p>
            <a:pPr algn="ctr" indent="0" marL="0">
              <a:buNone/>
            </a:pPr>
            <a:r>
              <a:rPr lang="en-US" sz="1400" b="1" dirty="0">
                <a:solidFill>
                  <a:srgbClr val="FFFFFF"/>
                </a:solidFill>
                <a:latin typeface="Noto Sans" pitchFamily="34" charset="0"/>
                <a:ea typeface="Noto Sans" pitchFamily="34" charset="-122"/>
                <a:cs typeface="Noto Sans" pitchFamily="34" charset="-120"/>
              </a:rPr>
              <a:t>CONCEPT 2</a:t>
            </a:r>
            <a:endParaRPr lang="en-US" sz="1400" dirty="0"/>
          </a:p>
        </p:txBody>
      </p:sp>
      <p:sp>
        <p:nvSpPr>
          <p:cNvPr id="29" name="Text 26"/>
          <p:cNvSpPr/>
          <p:nvPr/>
        </p:nvSpPr>
        <p:spPr>
          <a:xfrm>
            <a:off x="4448556" y="5010912"/>
            <a:ext cx="3291840" cy="685800"/>
          </a:xfrm>
          <a:prstGeom prst="rect">
            <a:avLst/>
          </a:prstGeom>
          <a:noFill/>
          <a:ln/>
        </p:spPr>
        <p:txBody>
          <a:bodyPr wrap="square" rtlCol="0" anchor="ctr"/>
          <a:lstStyle/>
          <a:p>
            <a:pPr algn="ctr" indent="0" marL="0">
              <a:lnSpc>
                <a:spcPct val="108000"/>
              </a:lnSpc>
              <a:buNone/>
            </a:pPr>
            <a:r>
              <a:rPr lang="en-US" sz="1050" dirty="0">
                <a:solidFill>
                  <a:srgbClr val="22333F"/>
                </a:solidFill>
                <a:latin typeface="Noto Sans" pitchFamily="34" charset="0"/>
                <a:ea typeface="Noto Sans" pitchFamily="34" charset="-122"/>
                <a:cs typeface="Noto Sans" pitchFamily="34" charset="-120"/>
              </a:rPr>
              <a:t>+ 1-2 môn học khác</a:t>
            </a:r>
            <a:endParaRPr lang="en-US" sz="1050" dirty="0"/>
          </a:p>
          <a:p>
            <a:pPr algn="ctr" indent="0" marL="0">
              <a:lnSpc>
                <a:spcPct val="108000"/>
              </a:lnSpc>
              <a:buNone/>
            </a:pPr>
            <a:r>
              <a:rPr lang="en-US" sz="1050" dirty="0">
                <a:solidFill>
                  <a:srgbClr val="22333F"/>
                </a:solidFill>
                <a:latin typeface="Noto Sans" pitchFamily="34" charset="0"/>
                <a:ea typeface="Noto Sans" pitchFamily="34" charset="-122"/>
                <a:cs typeface="Noto Sans" pitchFamily="34" charset="-120"/>
              </a:rPr>
              <a:t>ngoài tiếng Anh</a:t>
            </a:r>
            <a:endParaRPr lang="en-US" sz="1050" dirty="0"/>
          </a:p>
        </p:txBody>
      </p:sp>
      <p:sp>
        <p:nvSpPr>
          <p:cNvPr id="30" name="Text 27"/>
          <p:cNvSpPr/>
          <p:nvPr/>
        </p:nvSpPr>
        <p:spPr>
          <a:xfrm>
            <a:off x="8176260" y="3383280"/>
            <a:ext cx="3291840" cy="347472"/>
          </a:xfrm>
          <a:prstGeom prst="rect">
            <a:avLst/>
          </a:prstGeom>
          <a:noFill/>
          <a:ln/>
        </p:spPr>
        <p:txBody>
          <a:bodyPr wrap="square" rtlCol="0" anchor="ctr"/>
          <a:lstStyle/>
          <a:p>
            <a:pPr algn="ctr" indent="0" marL="0">
              <a:buNone/>
            </a:pPr>
            <a:r>
              <a:rPr lang="en-US" sz="1700" b="1" dirty="0">
                <a:solidFill>
                  <a:srgbClr val="518E0D"/>
                </a:solidFill>
                <a:latin typeface="Noto Sans" pitchFamily="34" charset="0"/>
                <a:ea typeface="Noto Sans" pitchFamily="34" charset="-122"/>
                <a:cs typeface="Noto Sans" pitchFamily="34" charset="-120"/>
              </a:rPr>
              <a:t>TRANSFORM</a:t>
            </a:r>
            <a:endParaRPr lang="en-US" sz="1700" dirty="0"/>
          </a:p>
        </p:txBody>
      </p:sp>
      <p:sp>
        <p:nvSpPr>
          <p:cNvPr id="31" name="Text 28"/>
          <p:cNvSpPr/>
          <p:nvPr/>
        </p:nvSpPr>
        <p:spPr>
          <a:xfrm>
            <a:off x="8176260" y="3749040"/>
            <a:ext cx="3291840" cy="502920"/>
          </a:xfrm>
          <a:prstGeom prst="rect">
            <a:avLst/>
          </a:prstGeom>
          <a:noFill/>
          <a:ln/>
        </p:spPr>
        <p:txBody>
          <a:bodyPr wrap="square" rtlCol="0" anchor="ctr"/>
          <a:lstStyle/>
          <a:p>
            <a:pPr algn="ctr" indent="0" marL="0">
              <a:lnSpc>
                <a:spcPct val="105000"/>
              </a:lnSpc>
              <a:buNone/>
            </a:pPr>
            <a:r>
              <a:rPr lang="en-US" sz="1050" i="1" dirty="0">
                <a:solidFill>
                  <a:srgbClr val="5B6472"/>
                </a:solidFill>
                <a:latin typeface="Noto Sans" pitchFamily="34" charset="0"/>
                <a:ea typeface="Noto Sans" pitchFamily="34" charset="-122"/>
                <a:cs typeface="Noto Sans" pitchFamily="34" charset="-120"/>
              </a:rPr>
              <a:t>Thay đổi</a:t>
            </a:r>
            <a:endParaRPr lang="en-US" sz="1050" dirty="0"/>
          </a:p>
          <a:p>
            <a:pPr algn="ctr" indent="0" marL="0">
              <a:lnSpc>
                <a:spcPct val="105000"/>
              </a:lnSpc>
              <a:buNone/>
            </a:pPr>
            <a:r>
              <a:rPr lang="en-US" sz="1050" i="1" dirty="0">
                <a:solidFill>
                  <a:srgbClr val="5B6472"/>
                </a:solidFill>
                <a:latin typeface="Noto Sans" pitchFamily="34" charset="0"/>
                <a:ea typeface="Noto Sans" pitchFamily="34" charset="-122"/>
                <a:cs typeface="Noto Sans" pitchFamily="34" charset="-120"/>
              </a:rPr>
              <a:t>mô hình</a:t>
            </a:r>
            <a:endParaRPr lang="en-US" sz="1050" dirty="0"/>
          </a:p>
        </p:txBody>
      </p:sp>
      <p:sp>
        <p:nvSpPr>
          <p:cNvPr id="32" name="Shape 29"/>
          <p:cNvSpPr/>
          <p:nvPr/>
        </p:nvSpPr>
        <p:spPr>
          <a:xfrm>
            <a:off x="9822180" y="4279392"/>
            <a:ext cx="0" cy="164592"/>
          </a:xfrm>
          <a:prstGeom prst="line">
            <a:avLst/>
          </a:prstGeom>
          <a:noFill/>
          <a:ln w="19050">
            <a:solidFill>
              <a:srgbClr val="518E0D"/>
            </a:solidFill>
            <a:prstDash val="solid"/>
            <a:tailEnd type="triangle"/>
          </a:ln>
        </p:spPr>
      </p:sp>
      <p:sp>
        <p:nvSpPr>
          <p:cNvPr id="33" name="Shape 30"/>
          <p:cNvSpPr/>
          <p:nvPr/>
        </p:nvSpPr>
        <p:spPr>
          <a:xfrm>
            <a:off x="8176260" y="4462272"/>
            <a:ext cx="3291840" cy="457200"/>
          </a:xfrm>
          <a:prstGeom prst="roundRect">
            <a:avLst>
              <a:gd name="adj" fmla="val 10000"/>
            </a:avLst>
          </a:prstGeom>
          <a:solidFill>
            <a:srgbClr val="518E0D"/>
          </a:solidFill>
          <a:ln/>
        </p:spPr>
      </p:sp>
      <p:sp>
        <p:nvSpPr>
          <p:cNvPr id="34" name="Text 31"/>
          <p:cNvSpPr/>
          <p:nvPr/>
        </p:nvSpPr>
        <p:spPr>
          <a:xfrm>
            <a:off x="8176260" y="4462272"/>
            <a:ext cx="3291840" cy="457200"/>
          </a:xfrm>
          <a:prstGeom prst="rect">
            <a:avLst/>
          </a:prstGeom>
          <a:noFill/>
          <a:ln/>
        </p:spPr>
        <p:txBody>
          <a:bodyPr wrap="square" rtlCol="0" anchor="ctr"/>
          <a:lstStyle/>
          <a:p>
            <a:pPr algn="ctr" indent="0" marL="0">
              <a:buNone/>
            </a:pPr>
            <a:r>
              <a:rPr lang="en-US" sz="1400" b="1" dirty="0">
                <a:solidFill>
                  <a:srgbClr val="FFFFFF"/>
                </a:solidFill>
                <a:latin typeface="Noto Sans" pitchFamily="34" charset="0"/>
                <a:ea typeface="Noto Sans" pitchFamily="34" charset="-122"/>
                <a:cs typeface="Noto Sans" pitchFamily="34" charset="-120"/>
              </a:rPr>
              <a:t>CONCEPT 3</a:t>
            </a:r>
            <a:endParaRPr lang="en-US" sz="1400" dirty="0"/>
          </a:p>
        </p:txBody>
      </p:sp>
      <p:sp>
        <p:nvSpPr>
          <p:cNvPr id="35" name="Text 32"/>
          <p:cNvSpPr/>
          <p:nvPr/>
        </p:nvSpPr>
        <p:spPr>
          <a:xfrm>
            <a:off x="8176260" y="5010912"/>
            <a:ext cx="3291840" cy="685800"/>
          </a:xfrm>
          <a:prstGeom prst="rect">
            <a:avLst/>
          </a:prstGeom>
          <a:noFill/>
          <a:ln/>
        </p:spPr>
        <p:txBody>
          <a:bodyPr wrap="square" rtlCol="0" anchor="ctr"/>
          <a:lstStyle/>
          <a:p>
            <a:pPr algn="ctr" indent="0" marL="0">
              <a:lnSpc>
                <a:spcPct val="108000"/>
              </a:lnSpc>
              <a:buNone/>
            </a:pPr>
            <a:r>
              <a:rPr lang="en-US" sz="1050" dirty="0">
                <a:solidFill>
                  <a:srgbClr val="22333F"/>
                </a:solidFill>
                <a:latin typeface="Noto Sans" pitchFamily="34" charset="0"/>
                <a:ea typeface="Noto Sans" pitchFamily="34" charset="-122"/>
                <a:cs typeface="Noto Sans" pitchFamily="34" charset="-120"/>
              </a:rPr>
              <a:t>AI Tutor 1-1 đóng</a:t>
            </a:r>
            <a:endParaRPr lang="en-US" sz="1050" dirty="0"/>
          </a:p>
          <a:p>
            <a:pPr algn="ctr" indent="0" marL="0">
              <a:lnSpc>
                <a:spcPct val="108000"/>
              </a:lnSpc>
              <a:buNone/>
            </a:pPr>
            <a:r>
              <a:rPr lang="en-US" sz="1050" dirty="0">
                <a:solidFill>
                  <a:srgbClr val="22333F"/>
                </a:solidFill>
                <a:latin typeface="Noto Sans" pitchFamily="34" charset="0"/>
                <a:ea typeface="Noto Sans" pitchFamily="34" charset="-122"/>
                <a:cs typeface="Noto Sans" pitchFamily="34" charset="-120"/>
              </a:rPr>
              <a:t>vai trò gia sư chính</a:t>
            </a:r>
            <a:endParaRPr lang="en-US" sz="1050" dirty="0"/>
          </a:p>
        </p:txBody>
      </p:sp>
      <p:sp>
        <p:nvSpPr>
          <p:cNvPr id="36" name="Text 33"/>
          <p:cNvSpPr/>
          <p:nvPr/>
        </p:nvSpPr>
        <p:spPr>
          <a:xfrm>
            <a:off x="502920" y="6035040"/>
            <a:ext cx="11183112" cy="320040"/>
          </a:xfrm>
          <a:prstGeom prst="rect">
            <a:avLst/>
          </a:prstGeom>
          <a:noFill/>
          <a:ln/>
        </p:spPr>
        <p:txBody>
          <a:bodyPr wrap="square" rtlCol="0" anchor="ctr"/>
          <a:lstStyle/>
          <a:p>
            <a:pPr algn="ctr" indent="0" marL="0">
              <a:buNone/>
            </a:pPr>
            <a:r>
              <a:rPr lang="en-US" sz="950" i="1" dirty="0">
                <a:solidFill>
                  <a:srgbClr val="5B6472"/>
                </a:solidFill>
                <a:latin typeface="Noto Sans" pitchFamily="34" charset="0"/>
                <a:ea typeface="Noto Sans" pitchFamily="34" charset="-122"/>
                <a:cs typeface="Noto Sans" pitchFamily="34" charset="-120"/>
              </a:rPr>
              <a:t>Liên hệ: 3 hướng Deepen / Expand / Transform ánh xạ trực tiếp 1:1 với 3 Concept trình bày chi tiết ngay sau.</a:t>
            </a:r>
            <a:endParaRPr lang="en-US" sz="950" dirty="0"/>
          </a:p>
        </p:txBody>
      </p:sp>
      <p:pic>
        <p:nvPicPr>
          <p:cNvPr id="37"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38" name="Text 34"/>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39" name="Text 35"/>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6 / 12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3 — ĐỊNH HƯỚNG CONCEPT SẢN PHẨM</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Tổng quan nhanh 3 định hướng</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Shape 3"/>
          <p:cNvSpPr/>
          <p:nvPr/>
        </p:nvSpPr>
        <p:spPr>
          <a:xfrm>
            <a:off x="502920" y="1371600"/>
            <a:ext cx="3605784" cy="777240"/>
          </a:xfrm>
          <a:prstGeom prst="rect">
            <a:avLst/>
          </a:prstGeom>
          <a:solidFill>
            <a:srgbClr val="004671"/>
          </a:solidFill>
          <a:ln/>
        </p:spPr>
      </p:sp>
      <p:sp>
        <p:nvSpPr>
          <p:cNvPr id="7" name="Text 4"/>
          <p:cNvSpPr/>
          <p:nvPr/>
        </p:nvSpPr>
        <p:spPr>
          <a:xfrm>
            <a:off x="667512" y="1444752"/>
            <a:ext cx="3276600" cy="365760"/>
          </a:xfrm>
          <a:prstGeom prst="rect">
            <a:avLst/>
          </a:prstGeom>
          <a:noFill/>
          <a:ln/>
        </p:spPr>
        <p:txBody>
          <a:bodyPr wrap="square" rtlCol="0" anchor="ctr"/>
          <a:lstStyle/>
          <a:p>
            <a:pPr indent="0" marL="0">
              <a:buNone/>
            </a:pPr>
            <a:r>
              <a:rPr lang="en-US" sz="1600" b="1" dirty="0">
                <a:solidFill>
                  <a:srgbClr val="FFFFFF"/>
                </a:solidFill>
                <a:latin typeface="Noto Sans" pitchFamily="34" charset="0"/>
                <a:ea typeface="Noto Sans" pitchFamily="34" charset="-122"/>
                <a:cs typeface="Noto Sans" pitchFamily="34" charset="-120"/>
              </a:rPr>
              <a:t>Concept 1</a:t>
            </a:r>
            <a:endParaRPr lang="en-US" sz="1600" dirty="0"/>
          </a:p>
        </p:txBody>
      </p:sp>
      <p:sp>
        <p:nvSpPr>
          <p:cNvPr id="8" name="Text 5"/>
          <p:cNvSpPr/>
          <p:nvPr/>
        </p:nvSpPr>
        <p:spPr>
          <a:xfrm>
            <a:off x="667512" y="1792224"/>
            <a:ext cx="3276600" cy="320040"/>
          </a:xfrm>
          <a:prstGeom prst="rect">
            <a:avLst/>
          </a:prstGeom>
          <a:noFill/>
          <a:ln/>
        </p:spPr>
        <p:txBody>
          <a:bodyPr wrap="square" rtlCol="0" anchor="ctr"/>
          <a:lstStyle/>
          <a:p>
            <a:pPr indent="0" marL="0">
              <a:buNone/>
            </a:pPr>
            <a:r>
              <a:rPr lang="en-US" sz="1100" dirty="0">
                <a:solidFill>
                  <a:srgbClr val="E7F1F6"/>
                </a:solidFill>
                <a:latin typeface="Noto Sans" pitchFamily="34" charset="0"/>
                <a:ea typeface="Noto Sans" pitchFamily="34" charset="-122"/>
                <a:cs typeface="Noto Sans" pitchFamily="34" charset="-120"/>
              </a:rPr>
              <a:t>Làm mịn &amp; nâng cấp</a:t>
            </a:r>
            <a:endParaRPr lang="en-US" sz="1100" dirty="0"/>
          </a:p>
        </p:txBody>
      </p:sp>
      <p:sp>
        <p:nvSpPr>
          <p:cNvPr id="9" name="Shape 6"/>
          <p:cNvSpPr/>
          <p:nvPr/>
        </p:nvSpPr>
        <p:spPr>
          <a:xfrm>
            <a:off x="502920" y="2148840"/>
            <a:ext cx="3605784" cy="3657600"/>
          </a:xfrm>
          <a:prstGeom prst="rect">
            <a:avLst/>
          </a:prstGeom>
          <a:solidFill>
            <a:srgbClr val="F2FAFB"/>
          </a:solidFill>
          <a:ln w="12700">
            <a:solidFill>
              <a:srgbClr val="DCE7EA"/>
            </a:solidFill>
            <a:prstDash val="solid"/>
          </a:ln>
        </p:spPr>
      </p:sp>
      <p:sp>
        <p:nvSpPr>
          <p:cNvPr id="10" name="Text 7"/>
          <p:cNvSpPr/>
          <p:nvPr/>
        </p:nvSpPr>
        <p:spPr>
          <a:xfrm>
            <a:off x="667512" y="2331720"/>
            <a:ext cx="3276600" cy="3337560"/>
          </a:xfrm>
          <a:prstGeom prst="rect">
            <a:avLst/>
          </a:prstGeom>
          <a:noFill/>
          <a:ln/>
        </p:spPr>
        <p:txBody>
          <a:bodyPr wrap="square" rtlCol="0" anchor="t"/>
          <a:lstStyle/>
          <a:p>
            <a:pPr indent="0" marL="0">
              <a:lnSpc>
                <a:spcPct val="105000"/>
              </a:lnSpc>
              <a:spcAft>
                <a:spcPts val="200"/>
              </a:spcAft>
              <a:buNone/>
            </a:pPr>
            <a:r>
              <a:rPr lang="en-US" sz="1050" b="1" dirty="0">
                <a:solidFill>
                  <a:srgbClr val="004671"/>
                </a:solidFill>
                <a:latin typeface="Noto Sans" pitchFamily="34" charset="0"/>
                <a:ea typeface="Noto Sans" pitchFamily="34" charset="-122"/>
                <a:cs typeface="Noto Sans" pitchFamily="34" charset="-120"/>
              </a:rPr>
              <a:t>Concept chính</a:t>
            </a:r>
            <a:endParaRPr lang="en-US" sz="1050" dirty="0"/>
          </a:p>
          <a:p>
            <a:pPr indent="0" marL="0">
              <a:lnSpc>
                <a:spcPct val="105000"/>
              </a:lnSpc>
              <a:spcAft>
                <a:spcPts val="1000"/>
              </a:spcAft>
              <a:buNone/>
            </a:pPr>
            <a:r>
              <a:rPr lang="en-US" sz="1050" dirty="0">
                <a:solidFill>
                  <a:srgbClr val="22333F"/>
                </a:solidFill>
                <a:latin typeface="Noto Sans" pitchFamily="34" charset="0"/>
                <a:ea typeface="Noto Sans" pitchFamily="34" charset="-122"/>
                <a:cs typeface="Noto Sans" pitchFamily="34" charset="-120"/>
              </a:rPr>
              <a:t>Giữ Big Class làm trung tâm + AI Practice + AI Speak + AI Club, nâng cấp AI hỗ trợ sâu dần</a:t>
            </a:r>
            <a:endParaRPr lang="en-US" sz="1050" dirty="0"/>
          </a:p>
          <a:p>
            <a:pPr indent="0" marL="0">
              <a:lnSpc>
                <a:spcPct val="105000"/>
              </a:lnSpc>
              <a:spcAft>
                <a:spcPts val="300"/>
              </a:spcAft>
              <a:buNone/>
            </a:pPr>
            <a:r>
              <a:rPr lang="en-US" sz="1050" b="1" dirty="0">
                <a:solidFill>
                  <a:srgbClr val="004671"/>
                </a:solidFill>
                <a:latin typeface="Noto Sans" pitchFamily="34" charset="0"/>
                <a:ea typeface="Noto Sans" pitchFamily="34" charset="-122"/>
                <a:cs typeface="Noto Sans" pitchFamily="34" charset="-120"/>
              </a:rPr>
              <a:t>Các option</a:t>
            </a:r>
            <a:endParaRPr lang="en-US" sz="1050" dirty="0"/>
          </a:p>
          <a:p>
            <a:pPr marL="342900" indent="-342900">
              <a:lnSpc>
                <a:spcPct val="105000"/>
              </a:lnSpc>
              <a:spcAft>
                <a:spcPts val="500"/>
              </a:spcAft>
              <a:buSzPct val="100000"/>
              <a:buChar char="•"/>
            </a:pPr>
            <a:r>
              <a:rPr lang="en-US" sz="980" dirty="0">
                <a:solidFill>
                  <a:srgbClr val="22333F"/>
                </a:solidFill>
                <a:latin typeface="Noto Sans" pitchFamily="34" charset="0"/>
                <a:ea typeface="Noto Sans" pitchFamily="34" charset="-122"/>
                <a:cs typeface="Noto Sans" pitchFamily="34" charset="-120"/>
              </a:rPr>
              <a:t>Option 1.1: Nâng cấp chất lượng nội dung có sẵn, không đổi cấu trúc sản phẩm.</a:t>
            </a:r>
            <a:endParaRPr lang="en-US" sz="1050" dirty="0"/>
          </a:p>
          <a:p>
            <a:pPr marL="342900" indent="-342900">
              <a:lnSpc>
                <a:spcPct val="105000"/>
              </a:lnSpc>
              <a:spcAft>
                <a:spcPts val="500"/>
              </a:spcAft>
              <a:buSzPct val="100000"/>
              <a:buChar char="•"/>
            </a:pPr>
            <a:r>
              <a:rPr lang="en-US" sz="980" dirty="0">
                <a:solidFill>
                  <a:srgbClr val="22333F"/>
                </a:solidFill>
                <a:latin typeface="Noto Sans" pitchFamily="34" charset="0"/>
                <a:ea typeface="Noto Sans" pitchFamily="34" charset="-122"/>
                <a:cs typeface="Noto Sans" pitchFamily="34" charset="-120"/>
              </a:rPr>
              <a:t>Option 1.2: Đầu tư sâu vào tầng công nghệ AI chẩn đoán và cá nhân hóa + kế thừa toàn bộ Option 1.1</a:t>
            </a:r>
            <a:endParaRPr lang="en-US" sz="1050" dirty="0"/>
          </a:p>
          <a:p>
            <a:pPr marL="342900" indent="-342900">
              <a:lnSpc>
                <a:spcPct val="105000"/>
              </a:lnSpc>
              <a:spcAft>
                <a:spcPts val="500"/>
              </a:spcAft>
              <a:buSzPct val="100000"/>
              <a:buChar char="•"/>
            </a:pPr>
            <a:r>
              <a:rPr lang="en-US" sz="980" dirty="0">
                <a:solidFill>
                  <a:srgbClr val="22333F"/>
                </a:solidFill>
                <a:latin typeface="Noto Sans" pitchFamily="34" charset="0"/>
                <a:ea typeface="Noto Sans" pitchFamily="34" charset="-122"/>
                <a:cs typeface="Noto Sans" pitchFamily="34" charset="-120"/>
              </a:rPr>
              <a:t>Option 1.3: Nâng cấp mạnh tầng con người (GVCN chăm sóc thêm)</a:t>
            </a:r>
            <a:endParaRPr lang="en-US" sz="1050" dirty="0"/>
          </a:p>
        </p:txBody>
      </p:sp>
      <p:sp>
        <p:nvSpPr>
          <p:cNvPr id="11" name="Shape 8"/>
          <p:cNvSpPr/>
          <p:nvPr/>
        </p:nvSpPr>
        <p:spPr>
          <a:xfrm>
            <a:off x="4291584" y="1371600"/>
            <a:ext cx="3605784" cy="777240"/>
          </a:xfrm>
          <a:prstGeom prst="rect">
            <a:avLst/>
          </a:prstGeom>
          <a:solidFill>
            <a:srgbClr val="3B81B1"/>
          </a:solidFill>
          <a:ln/>
        </p:spPr>
      </p:sp>
      <p:sp>
        <p:nvSpPr>
          <p:cNvPr id="12" name="Text 9"/>
          <p:cNvSpPr/>
          <p:nvPr/>
        </p:nvSpPr>
        <p:spPr>
          <a:xfrm>
            <a:off x="4456176" y="1444752"/>
            <a:ext cx="3276600" cy="365760"/>
          </a:xfrm>
          <a:prstGeom prst="rect">
            <a:avLst/>
          </a:prstGeom>
          <a:noFill/>
          <a:ln/>
        </p:spPr>
        <p:txBody>
          <a:bodyPr wrap="square" rtlCol="0" anchor="ctr"/>
          <a:lstStyle/>
          <a:p>
            <a:pPr indent="0" marL="0">
              <a:buNone/>
            </a:pPr>
            <a:r>
              <a:rPr lang="en-US" sz="1600" b="1" dirty="0">
                <a:solidFill>
                  <a:srgbClr val="FFFFFF"/>
                </a:solidFill>
                <a:latin typeface="Noto Sans" pitchFamily="34" charset="0"/>
                <a:ea typeface="Noto Sans" pitchFamily="34" charset="-122"/>
                <a:cs typeface="Noto Sans" pitchFamily="34" charset="-120"/>
              </a:rPr>
              <a:t>Concept 2</a:t>
            </a:r>
            <a:endParaRPr lang="en-US" sz="1600" dirty="0"/>
          </a:p>
        </p:txBody>
      </p:sp>
      <p:sp>
        <p:nvSpPr>
          <p:cNvPr id="13" name="Text 10"/>
          <p:cNvSpPr/>
          <p:nvPr/>
        </p:nvSpPr>
        <p:spPr>
          <a:xfrm>
            <a:off x="4456176" y="1792224"/>
            <a:ext cx="3276600" cy="320040"/>
          </a:xfrm>
          <a:prstGeom prst="rect">
            <a:avLst/>
          </a:prstGeom>
          <a:noFill/>
          <a:ln/>
        </p:spPr>
        <p:txBody>
          <a:bodyPr wrap="square" rtlCol="0" anchor="ctr"/>
          <a:lstStyle/>
          <a:p>
            <a:pPr indent="0" marL="0">
              <a:buNone/>
            </a:pPr>
            <a:r>
              <a:rPr lang="en-US" sz="1100" dirty="0">
                <a:solidFill>
                  <a:srgbClr val="E7F1F6"/>
                </a:solidFill>
                <a:latin typeface="Noto Sans" pitchFamily="34" charset="0"/>
                <a:ea typeface="Noto Sans" pitchFamily="34" charset="-122"/>
                <a:cs typeface="Noto Sans" pitchFamily="34" charset="-120"/>
              </a:rPr>
              <a:t>Làm mịn + Thêm môn</a:t>
            </a:r>
            <a:endParaRPr lang="en-US" sz="1100" dirty="0"/>
          </a:p>
        </p:txBody>
      </p:sp>
      <p:sp>
        <p:nvSpPr>
          <p:cNvPr id="14" name="Shape 11"/>
          <p:cNvSpPr/>
          <p:nvPr/>
        </p:nvSpPr>
        <p:spPr>
          <a:xfrm>
            <a:off x="4291584" y="2148840"/>
            <a:ext cx="3605784" cy="3657600"/>
          </a:xfrm>
          <a:prstGeom prst="rect">
            <a:avLst/>
          </a:prstGeom>
          <a:solidFill>
            <a:srgbClr val="F2FAFB"/>
          </a:solidFill>
          <a:ln w="12700">
            <a:solidFill>
              <a:srgbClr val="DCE7EA"/>
            </a:solidFill>
            <a:prstDash val="solid"/>
          </a:ln>
        </p:spPr>
      </p:sp>
      <p:sp>
        <p:nvSpPr>
          <p:cNvPr id="15" name="Text 12"/>
          <p:cNvSpPr/>
          <p:nvPr/>
        </p:nvSpPr>
        <p:spPr>
          <a:xfrm>
            <a:off x="4456176" y="2331720"/>
            <a:ext cx="3276600" cy="3337560"/>
          </a:xfrm>
          <a:prstGeom prst="rect">
            <a:avLst/>
          </a:prstGeom>
          <a:noFill/>
          <a:ln/>
        </p:spPr>
        <p:txBody>
          <a:bodyPr wrap="square" rtlCol="0" anchor="t"/>
          <a:lstStyle/>
          <a:p>
            <a:pPr indent="0" marL="0">
              <a:lnSpc>
                <a:spcPct val="105000"/>
              </a:lnSpc>
              <a:spcAft>
                <a:spcPts val="200"/>
              </a:spcAft>
              <a:buNone/>
            </a:pPr>
            <a:r>
              <a:rPr lang="en-US" sz="1050" b="1" dirty="0">
                <a:solidFill>
                  <a:srgbClr val="3B81B1"/>
                </a:solidFill>
                <a:latin typeface="Noto Sans" pitchFamily="34" charset="0"/>
                <a:ea typeface="Noto Sans" pitchFamily="34" charset="-122"/>
                <a:cs typeface="Noto Sans" pitchFamily="34" charset="-120"/>
              </a:rPr>
              <a:t>Concept chính</a:t>
            </a:r>
            <a:endParaRPr lang="en-US" sz="1050" dirty="0"/>
          </a:p>
          <a:p>
            <a:pPr indent="0" marL="0">
              <a:lnSpc>
                <a:spcPct val="105000"/>
              </a:lnSpc>
              <a:spcAft>
                <a:spcPts val="1000"/>
              </a:spcAft>
              <a:buNone/>
            </a:pPr>
            <a:r>
              <a:rPr lang="en-US" sz="1050" dirty="0">
                <a:solidFill>
                  <a:srgbClr val="22333F"/>
                </a:solidFill>
                <a:latin typeface="Noto Sans" pitchFamily="34" charset="0"/>
                <a:ea typeface="Noto Sans" pitchFamily="34" charset="-122"/>
                <a:cs typeface="Noto Sans" pitchFamily="34" charset="-120"/>
              </a:rPr>
              <a:t>Giữ nền Concept Big Class hiện tại, thêm 1 buổi Live/tuần môn khác</a:t>
            </a:r>
            <a:endParaRPr lang="en-US" sz="1050" dirty="0"/>
          </a:p>
          <a:p>
            <a:pPr indent="0" marL="0">
              <a:lnSpc>
                <a:spcPct val="105000"/>
              </a:lnSpc>
              <a:spcAft>
                <a:spcPts val="300"/>
              </a:spcAft>
              <a:buNone/>
            </a:pPr>
            <a:r>
              <a:rPr lang="en-US" sz="1050" b="1" dirty="0">
                <a:solidFill>
                  <a:srgbClr val="3B81B1"/>
                </a:solidFill>
                <a:latin typeface="Noto Sans" pitchFamily="34" charset="0"/>
                <a:ea typeface="Noto Sans" pitchFamily="34" charset="-122"/>
                <a:cs typeface="Noto Sans" pitchFamily="34" charset="-120"/>
              </a:rPr>
              <a:t>Các option</a:t>
            </a:r>
            <a:endParaRPr lang="en-US" sz="1050" dirty="0"/>
          </a:p>
          <a:p>
            <a:pPr marL="342900" indent="-342900">
              <a:lnSpc>
                <a:spcPct val="105000"/>
              </a:lnSpc>
              <a:spcAft>
                <a:spcPts val="500"/>
              </a:spcAft>
              <a:buSzPct val="100000"/>
              <a:buChar char="•"/>
            </a:pPr>
            <a:r>
              <a:rPr lang="en-US" sz="980" dirty="0">
                <a:solidFill>
                  <a:srgbClr val="22333F"/>
                </a:solidFill>
                <a:latin typeface="Noto Sans" pitchFamily="34" charset="0"/>
                <a:ea typeface="Noto Sans" pitchFamily="34" charset="-122"/>
                <a:cs typeface="Noto Sans" pitchFamily="34" charset="-120"/>
              </a:rPr>
              <a:t>Option 2.1: Big Class + thêm môn học GDPT</a:t>
            </a:r>
            <a:endParaRPr lang="en-US" sz="1050" dirty="0"/>
          </a:p>
          <a:p>
            <a:pPr marL="342900" indent="-342900">
              <a:lnSpc>
                <a:spcPct val="105000"/>
              </a:lnSpc>
              <a:spcAft>
                <a:spcPts val="500"/>
              </a:spcAft>
              <a:buSzPct val="100000"/>
              <a:buChar char="•"/>
            </a:pPr>
            <a:r>
              <a:rPr lang="en-US" sz="980" dirty="0">
                <a:solidFill>
                  <a:srgbClr val="22333F"/>
                </a:solidFill>
                <a:latin typeface="Noto Sans" pitchFamily="34" charset="0"/>
                <a:ea typeface="Noto Sans" pitchFamily="34" charset="-122"/>
                <a:cs typeface="Noto Sans" pitchFamily="34" charset="-120"/>
              </a:rPr>
              <a:t>Option 2.2: Big Class + thêm môn khác (ngoài chương trình GDPT): STEM, STEAM, AI, Kỹ năng sống, …</a:t>
            </a:r>
            <a:endParaRPr lang="en-US" sz="1050" dirty="0"/>
          </a:p>
        </p:txBody>
      </p:sp>
      <p:sp>
        <p:nvSpPr>
          <p:cNvPr id="16" name="Shape 13"/>
          <p:cNvSpPr/>
          <p:nvPr/>
        </p:nvSpPr>
        <p:spPr>
          <a:xfrm>
            <a:off x="8080248" y="1371600"/>
            <a:ext cx="3605784" cy="777240"/>
          </a:xfrm>
          <a:prstGeom prst="rect">
            <a:avLst/>
          </a:prstGeom>
          <a:solidFill>
            <a:srgbClr val="518E0D"/>
          </a:solidFill>
          <a:ln/>
        </p:spPr>
      </p:sp>
      <p:sp>
        <p:nvSpPr>
          <p:cNvPr id="17" name="Text 14"/>
          <p:cNvSpPr/>
          <p:nvPr/>
        </p:nvSpPr>
        <p:spPr>
          <a:xfrm>
            <a:off x="8244840" y="1444752"/>
            <a:ext cx="3276600" cy="365760"/>
          </a:xfrm>
          <a:prstGeom prst="rect">
            <a:avLst/>
          </a:prstGeom>
          <a:noFill/>
          <a:ln/>
        </p:spPr>
        <p:txBody>
          <a:bodyPr wrap="square" rtlCol="0" anchor="ctr"/>
          <a:lstStyle/>
          <a:p>
            <a:pPr indent="0" marL="0">
              <a:buNone/>
            </a:pPr>
            <a:r>
              <a:rPr lang="en-US" sz="1600" b="1" dirty="0">
                <a:solidFill>
                  <a:srgbClr val="FFFFFF"/>
                </a:solidFill>
                <a:latin typeface="Noto Sans" pitchFamily="34" charset="0"/>
                <a:ea typeface="Noto Sans" pitchFamily="34" charset="-122"/>
                <a:cs typeface="Noto Sans" pitchFamily="34" charset="-120"/>
              </a:rPr>
              <a:t>Concept 3</a:t>
            </a:r>
            <a:endParaRPr lang="en-US" sz="1600" dirty="0"/>
          </a:p>
        </p:txBody>
      </p:sp>
      <p:sp>
        <p:nvSpPr>
          <p:cNvPr id="18" name="Text 15"/>
          <p:cNvSpPr/>
          <p:nvPr/>
        </p:nvSpPr>
        <p:spPr>
          <a:xfrm>
            <a:off x="8244840" y="1792224"/>
            <a:ext cx="3276600" cy="320040"/>
          </a:xfrm>
          <a:prstGeom prst="rect">
            <a:avLst/>
          </a:prstGeom>
          <a:noFill/>
          <a:ln/>
        </p:spPr>
        <p:txBody>
          <a:bodyPr wrap="square" rtlCol="0" anchor="ctr"/>
          <a:lstStyle/>
          <a:p>
            <a:pPr indent="0" marL="0">
              <a:buNone/>
            </a:pPr>
            <a:r>
              <a:rPr lang="en-US" sz="1100" dirty="0">
                <a:solidFill>
                  <a:srgbClr val="E7F1F6"/>
                </a:solidFill>
                <a:latin typeface="Noto Sans" pitchFamily="34" charset="0"/>
                <a:ea typeface="Noto Sans" pitchFamily="34" charset="-122"/>
                <a:cs typeface="Noto Sans" pitchFamily="34" charset="-120"/>
              </a:rPr>
              <a:t>Gia sư AI 1:1</a:t>
            </a:r>
            <a:endParaRPr lang="en-US" sz="1100" dirty="0"/>
          </a:p>
        </p:txBody>
      </p:sp>
      <p:sp>
        <p:nvSpPr>
          <p:cNvPr id="19" name="Shape 16"/>
          <p:cNvSpPr/>
          <p:nvPr/>
        </p:nvSpPr>
        <p:spPr>
          <a:xfrm>
            <a:off x="8080248" y="2148840"/>
            <a:ext cx="3605784" cy="3657600"/>
          </a:xfrm>
          <a:prstGeom prst="rect">
            <a:avLst/>
          </a:prstGeom>
          <a:solidFill>
            <a:srgbClr val="F2FAFB"/>
          </a:solidFill>
          <a:ln w="12700">
            <a:solidFill>
              <a:srgbClr val="DCE7EA"/>
            </a:solidFill>
            <a:prstDash val="solid"/>
          </a:ln>
        </p:spPr>
      </p:sp>
      <p:sp>
        <p:nvSpPr>
          <p:cNvPr id="20" name="Text 17"/>
          <p:cNvSpPr/>
          <p:nvPr/>
        </p:nvSpPr>
        <p:spPr>
          <a:xfrm>
            <a:off x="8244840" y="2331720"/>
            <a:ext cx="3276600" cy="3337560"/>
          </a:xfrm>
          <a:prstGeom prst="rect">
            <a:avLst/>
          </a:prstGeom>
          <a:noFill/>
          <a:ln/>
        </p:spPr>
        <p:txBody>
          <a:bodyPr wrap="square" rtlCol="0" anchor="t"/>
          <a:lstStyle/>
          <a:p>
            <a:pPr indent="0" marL="0">
              <a:lnSpc>
                <a:spcPct val="105000"/>
              </a:lnSpc>
              <a:spcAft>
                <a:spcPts val="200"/>
              </a:spcAft>
              <a:buNone/>
            </a:pPr>
            <a:r>
              <a:rPr lang="en-US" sz="1050" b="1" dirty="0">
                <a:solidFill>
                  <a:srgbClr val="518E0D"/>
                </a:solidFill>
                <a:latin typeface="Noto Sans" pitchFamily="34" charset="0"/>
                <a:ea typeface="Noto Sans" pitchFamily="34" charset="-122"/>
                <a:cs typeface="Noto Sans" pitchFamily="34" charset="-120"/>
              </a:rPr>
              <a:t>Concept chính</a:t>
            </a:r>
            <a:endParaRPr lang="en-US" sz="1050" dirty="0"/>
          </a:p>
          <a:p>
            <a:pPr indent="0" marL="0">
              <a:lnSpc>
                <a:spcPct val="105000"/>
              </a:lnSpc>
              <a:spcAft>
                <a:spcPts val="1000"/>
              </a:spcAft>
              <a:buNone/>
            </a:pPr>
            <a:r>
              <a:rPr lang="en-US" sz="1050" dirty="0">
                <a:solidFill>
                  <a:srgbClr val="22333F"/>
                </a:solidFill>
                <a:latin typeface="Noto Sans" pitchFamily="34" charset="0"/>
                <a:ea typeface="Noto Sans" pitchFamily="34" charset="-122"/>
                <a:cs typeface="Noto Sans" pitchFamily="34" charset="-120"/>
              </a:rPr>
              <a:t>AI Tutor 1-1 đóng vai trò gia sư chính trong các lớp học, không chỉ hỗ trợ lớp học</a:t>
            </a:r>
            <a:endParaRPr lang="en-US" sz="1050" dirty="0"/>
          </a:p>
          <a:p>
            <a:pPr indent="0" marL="0">
              <a:lnSpc>
                <a:spcPct val="105000"/>
              </a:lnSpc>
              <a:spcAft>
                <a:spcPts val="300"/>
              </a:spcAft>
              <a:buNone/>
            </a:pPr>
            <a:r>
              <a:rPr lang="en-US" sz="1050" b="1" dirty="0">
                <a:solidFill>
                  <a:srgbClr val="518E0D"/>
                </a:solidFill>
                <a:latin typeface="Noto Sans" pitchFamily="34" charset="0"/>
                <a:ea typeface="Noto Sans" pitchFamily="34" charset="-122"/>
                <a:cs typeface="Noto Sans" pitchFamily="34" charset="-120"/>
              </a:rPr>
              <a:t>Các option</a:t>
            </a:r>
            <a:endParaRPr lang="en-US" sz="1050" dirty="0"/>
          </a:p>
          <a:p>
            <a:pPr marL="342900" indent="-342900">
              <a:lnSpc>
                <a:spcPct val="105000"/>
              </a:lnSpc>
              <a:spcAft>
                <a:spcPts val="500"/>
              </a:spcAft>
              <a:buSzPct val="100000"/>
              <a:buChar char="•"/>
            </a:pPr>
            <a:r>
              <a:rPr lang="en-US" sz="980" dirty="0">
                <a:solidFill>
                  <a:srgbClr val="22333F"/>
                </a:solidFill>
                <a:latin typeface="Noto Sans" pitchFamily="34" charset="0"/>
                <a:ea typeface="Noto Sans" pitchFamily="34" charset="-122"/>
                <a:cs typeface="Noto Sans" pitchFamily="34" charset="-120"/>
              </a:rPr>
              <a:t>Option 3.1: AI nhân hoá “giáo viên ngôi sao”</a:t>
            </a:r>
            <a:endParaRPr lang="en-US" sz="1050" dirty="0"/>
          </a:p>
          <a:p>
            <a:pPr marL="342900" indent="-342900">
              <a:lnSpc>
                <a:spcPct val="105000"/>
              </a:lnSpc>
              <a:spcAft>
                <a:spcPts val="500"/>
              </a:spcAft>
              <a:buSzPct val="100000"/>
              <a:buChar char="•"/>
            </a:pPr>
            <a:r>
              <a:rPr lang="en-US" sz="980" dirty="0">
                <a:solidFill>
                  <a:srgbClr val="22333F"/>
                </a:solidFill>
                <a:latin typeface="Noto Sans" pitchFamily="34" charset="0"/>
                <a:ea typeface="Noto Sans" pitchFamily="34" charset="-122"/>
                <a:cs typeface="Noto Sans" pitchFamily="34" charset="-120"/>
              </a:rPr>
              <a:t>Option 3.2: AI tích hợp mascot + gamification</a:t>
            </a:r>
            <a:endParaRPr lang="en-US" sz="1050" dirty="0"/>
          </a:p>
        </p:txBody>
      </p:sp>
      <p:pic>
        <p:nvPicPr>
          <p:cNvPr id="21"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22" name="Text 18"/>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23" name="Text 19"/>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7 / 12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3 — ĐỊNH HƯỚNG CONCEPT SẢN PHẨM</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Concept 1: Làm mịn và nâng cấp</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Text 3"/>
          <p:cNvSpPr/>
          <p:nvPr/>
        </p:nvSpPr>
        <p:spPr>
          <a:xfrm>
            <a:off x="502920" y="1280160"/>
            <a:ext cx="11183112" cy="384048"/>
          </a:xfrm>
          <a:prstGeom prst="rect">
            <a:avLst/>
          </a:prstGeom>
          <a:noFill/>
          <a:ln/>
        </p:spPr>
        <p:txBody>
          <a:bodyPr wrap="square" rtlCol="0" anchor="ctr"/>
          <a:lstStyle/>
          <a:p>
            <a:pPr indent="0" marL="0">
              <a:buNone/>
            </a:pPr>
            <a:r>
              <a:rPr lang="en-US" sz="1050" i="1" dirty="0">
                <a:solidFill>
                  <a:srgbClr val="5B6472"/>
                </a:solidFill>
                <a:latin typeface="Noto Sans" pitchFamily="34" charset="0"/>
                <a:ea typeface="Noto Sans" pitchFamily="34" charset="-122"/>
                <a:cs typeface="Noto Sans" pitchFamily="34" charset="-120"/>
              </a:rPr>
              <a:t>Giữ nguyên Big Class + AI Practice + AI Speak + Edupia Club + GVCN hiện có — không đổi mô hình sản phẩm.</a:t>
            </a:r>
            <a:endParaRPr lang="en-US" sz="1050" dirty="0"/>
          </a:p>
        </p:txBody>
      </p:sp>
      <p:sp>
        <p:nvSpPr>
          <p:cNvPr id="7" name="Shape 4"/>
          <p:cNvSpPr/>
          <p:nvPr/>
        </p:nvSpPr>
        <p:spPr>
          <a:xfrm>
            <a:off x="502920" y="1664208"/>
            <a:ext cx="73152" cy="1289304"/>
          </a:xfrm>
          <a:prstGeom prst="rect">
            <a:avLst/>
          </a:prstGeom>
          <a:solidFill>
            <a:srgbClr val="004671"/>
          </a:solidFill>
          <a:ln/>
        </p:spPr>
      </p:sp>
      <p:sp>
        <p:nvSpPr>
          <p:cNvPr id="8" name="Text 5"/>
          <p:cNvSpPr/>
          <p:nvPr/>
        </p:nvSpPr>
        <p:spPr>
          <a:xfrm>
            <a:off x="731520" y="1664208"/>
            <a:ext cx="10954512" cy="1289304"/>
          </a:xfrm>
          <a:prstGeom prst="rect">
            <a:avLst/>
          </a:prstGeom>
          <a:noFill/>
          <a:ln/>
        </p:spPr>
        <p:txBody>
          <a:bodyPr wrap="square" rtlCol="0" anchor="t"/>
          <a:lstStyle/>
          <a:p>
            <a:pPr indent="0" marL="0">
              <a:lnSpc>
                <a:spcPct val="102000"/>
              </a:lnSpc>
              <a:spcAft>
                <a:spcPts val="200"/>
              </a:spcAft>
              <a:buNone/>
            </a:pPr>
            <a:r>
              <a:rPr lang="en-US" sz="1300" b="1" dirty="0">
                <a:solidFill>
                  <a:srgbClr val="004671"/>
                </a:solidFill>
                <a:latin typeface="Noto Sans" pitchFamily="34" charset="0"/>
                <a:ea typeface="Noto Sans" pitchFamily="34" charset="-122"/>
                <a:cs typeface="Noto Sans" pitchFamily="34" charset="-120"/>
              </a:rPr>
              <a:t>Option 1.1 — Nâng cấp chất lượng nội dung có sẵn, không đổi cấu trúc sản phẩm</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Nâng cấp kho đề Practice + AI Mocktest</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Nâng cấp độ chính xác chấm-chữa phát âm Speak</a:t>
            </a:r>
            <a:endParaRPr lang="en-US" sz="1300" dirty="0"/>
          </a:p>
        </p:txBody>
      </p:sp>
      <p:sp>
        <p:nvSpPr>
          <p:cNvPr id="9" name="Shape 6"/>
          <p:cNvSpPr/>
          <p:nvPr/>
        </p:nvSpPr>
        <p:spPr>
          <a:xfrm>
            <a:off x="502920" y="3136392"/>
            <a:ext cx="73152" cy="1289304"/>
          </a:xfrm>
          <a:prstGeom prst="rect">
            <a:avLst/>
          </a:prstGeom>
          <a:solidFill>
            <a:srgbClr val="3B81B1"/>
          </a:solidFill>
          <a:ln/>
        </p:spPr>
      </p:sp>
      <p:sp>
        <p:nvSpPr>
          <p:cNvPr id="10" name="Text 7"/>
          <p:cNvSpPr/>
          <p:nvPr/>
        </p:nvSpPr>
        <p:spPr>
          <a:xfrm>
            <a:off x="731520" y="3136392"/>
            <a:ext cx="10954512" cy="1289304"/>
          </a:xfrm>
          <a:prstGeom prst="rect">
            <a:avLst/>
          </a:prstGeom>
          <a:noFill/>
          <a:ln/>
        </p:spPr>
        <p:txBody>
          <a:bodyPr wrap="square" rtlCol="0" anchor="t"/>
          <a:lstStyle/>
          <a:p>
            <a:pPr indent="0" marL="0">
              <a:lnSpc>
                <a:spcPct val="102000"/>
              </a:lnSpc>
              <a:spcAft>
                <a:spcPts val="200"/>
              </a:spcAft>
              <a:buNone/>
            </a:pPr>
            <a:r>
              <a:rPr lang="en-US" sz="1300" b="1" dirty="0">
                <a:solidFill>
                  <a:srgbClr val="004671"/>
                </a:solidFill>
                <a:latin typeface="Noto Sans" pitchFamily="34" charset="0"/>
                <a:ea typeface="Noto Sans" pitchFamily="34" charset="-122"/>
                <a:cs typeface="Noto Sans" pitchFamily="34" charset="-120"/>
              </a:rPr>
              <a:t>Mức 1.2 — Đầu tư sâu vào tầng công nghệ AI chẩn đoán và cá nhân hóa</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Kế thừa toàn bộ Option 1.1</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AI Tutor 30 phút cố định sau Big Class</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Adaptive Learning: tự động vá lỗ hổng theo 1.473 đơn vị kiến thức (NLO)</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Parent Mode — Mastery Map: giao diện dành riêng cho phụ huynh để theo dõi tiến bộ của con</a:t>
            </a:r>
            <a:endParaRPr lang="en-US" sz="1300" dirty="0"/>
          </a:p>
        </p:txBody>
      </p:sp>
      <p:sp>
        <p:nvSpPr>
          <p:cNvPr id="11" name="Shape 8"/>
          <p:cNvSpPr/>
          <p:nvPr/>
        </p:nvSpPr>
        <p:spPr>
          <a:xfrm>
            <a:off x="502920" y="4608576"/>
            <a:ext cx="73152" cy="1289304"/>
          </a:xfrm>
          <a:prstGeom prst="rect">
            <a:avLst/>
          </a:prstGeom>
          <a:solidFill>
            <a:srgbClr val="518E0D"/>
          </a:solidFill>
          <a:ln/>
        </p:spPr>
      </p:sp>
      <p:sp>
        <p:nvSpPr>
          <p:cNvPr id="12" name="Text 9"/>
          <p:cNvSpPr/>
          <p:nvPr/>
        </p:nvSpPr>
        <p:spPr>
          <a:xfrm>
            <a:off x="731520" y="4608576"/>
            <a:ext cx="10954512" cy="1289304"/>
          </a:xfrm>
          <a:prstGeom prst="rect">
            <a:avLst/>
          </a:prstGeom>
          <a:noFill/>
          <a:ln/>
        </p:spPr>
        <p:txBody>
          <a:bodyPr wrap="square" rtlCol="0" anchor="t"/>
          <a:lstStyle/>
          <a:p>
            <a:pPr indent="0" marL="0">
              <a:lnSpc>
                <a:spcPct val="102000"/>
              </a:lnSpc>
              <a:spcAft>
                <a:spcPts val="200"/>
              </a:spcAft>
              <a:buNone/>
            </a:pPr>
            <a:r>
              <a:rPr lang="en-US" sz="1300" b="1" dirty="0">
                <a:solidFill>
                  <a:srgbClr val="004671"/>
                </a:solidFill>
                <a:latin typeface="Noto Sans" pitchFamily="34" charset="0"/>
                <a:ea typeface="Noto Sans" pitchFamily="34" charset="-122"/>
                <a:cs typeface="Noto Sans" pitchFamily="34" charset="-120"/>
              </a:rPr>
              <a:t>Mức 1.3 — Nâng cấp mạnh con người</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GVCN mở rộng: chủ động giao bài, theo sát tiến độ, giới hạn đổi GV (≤2 lần/6 tháng), tỷ lệ mục tiêu 1:2.000</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Thông báo tình hình học sau mỗi buổi nếu có vấn đề (Zalo cá nhân)</a:t>
            </a:r>
            <a:endParaRPr lang="en-US" sz="1300" dirty="0"/>
          </a:p>
        </p:txBody>
      </p:sp>
      <p:sp>
        <p:nvSpPr>
          <p:cNvPr id="13" name="Shape 10"/>
          <p:cNvSpPr/>
          <p:nvPr/>
        </p:nvSpPr>
        <p:spPr>
          <a:xfrm>
            <a:off x="502920" y="5623560"/>
            <a:ext cx="11183112" cy="621792"/>
          </a:xfrm>
          <a:prstGeom prst="rect">
            <a:avLst/>
          </a:prstGeom>
          <a:solidFill>
            <a:srgbClr val="004671"/>
          </a:solidFill>
          <a:ln/>
        </p:spPr>
      </p:sp>
      <p:sp>
        <p:nvSpPr>
          <p:cNvPr id="14" name="Text 11"/>
          <p:cNvSpPr/>
          <p:nvPr/>
        </p:nvSpPr>
        <p:spPr>
          <a:xfrm>
            <a:off x="731520" y="5623560"/>
            <a:ext cx="10725912" cy="621792"/>
          </a:xfrm>
          <a:prstGeom prst="rect">
            <a:avLst/>
          </a:prstGeom>
          <a:noFill/>
          <a:ln/>
        </p:spPr>
        <p:txBody>
          <a:bodyPr wrap="square" rtlCol="0" anchor="ctr"/>
          <a:lstStyle/>
          <a:p>
            <a:pPr indent="0" marL="0">
              <a:buNone/>
            </a:pPr>
            <a:r>
              <a:rPr lang="en-US" sz="1150" i="1" dirty="0">
                <a:solidFill>
                  <a:srgbClr val="FFFFFF"/>
                </a:solidFill>
                <a:latin typeface="Noto Sans" pitchFamily="34" charset="0"/>
                <a:ea typeface="Noto Sans" pitchFamily="34" charset="-122"/>
                <a:cs typeface="Noto Sans" pitchFamily="34" charset="-120"/>
              </a:rPr>
              <a:t>USP: “Chương trình tiếng Anh trực tuyến có giáo viên thật và công cụ luyện tập, luyện nói được tối ưu bằng AI.”</a:t>
            </a:r>
            <a:endParaRPr lang="en-US" sz="1150" dirty="0"/>
          </a:p>
        </p:txBody>
      </p:sp>
      <p:pic>
        <p:nvPicPr>
          <p:cNvPr id="15"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16" name="Text 12"/>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17" name="Text 13"/>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8 / 12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3 — ĐỊNH HƯỚNG CONCEPT SẢN PHẨM</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Concept 2: Làm mịn và thêm môn</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Text 3"/>
          <p:cNvSpPr/>
          <p:nvPr/>
        </p:nvSpPr>
        <p:spPr>
          <a:xfrm>
            <a:off x="502920" y="1280160"/>
            <a:ext cx="11183112" cy="384048"/>
          </a:xfrm>
          <a:prstGeom prst="rect">
            <a:avLst/>
          </a:prstGeom>
          <a:noFill/>
          <a:ln/>
        </p:spPr>
        <p:txBody>
          <a:bodyPr wrap="square" rtlCol="0" anchor="ctr"/>
          <a:lstStyle/>
          <a:p>
            <a:pPr indent="0" marL="0">
              <a:buNone/>
            </a:pPr>
            <a:r>
              <a:rPr lang="en-US" sz="1050" i="1" dirty="0">
                <a:solidFill>
                  <a:srgbClr val="5B6472"/>
                </a:solidFill>
                <a:latin typeface="Noto Sans" pitchFamily="34" charset="0"/>
                <a:ea typeface="Noto Sans" pitchFamily="34" charset="-122"/>
                <a:cs typeface="Noto Sans" pitchFamily="34" charset="-120"/>
              </a:rPr>
              <a:t>Giữ nền Concept 1 nâng cấp làm mịn sản phẩm + thêm 1 buổi Live/tuần môn khác (ngoài tiếng Anh).</a:t>
            </a:r>
            <a:endParaRPr lang="en-US" sz="1050" dirty="0"/>
          </a:p>
        </p:txBody>
      </p:sp>
      <p:sp>
        <p:nvSpPr>
          <p:cNvPr id="7" name="Shape 4"/>
          <p:cNvSpPr/>
          <p:nvPr/>
        </p:nvSpPr>
        <p:spPr>
          <a:xfrm>
            <a:off x="502920" y="1664208"/>
            <a:ext cx="73152" cy="1417320"/>
          </a:xfrm>
          <a:prstGeom prst="rect">
            <a:avLst/>
          </a:prstGeom>
          <a:solidFill>
            <a:srgbClr val="004671"/>
          </a:solidFill>
          <a:ln/>
        </p:spPr>
      </p:sp>
      <p:sp>
        <p:nvSpPr>
          <p:cNvPr id="8" name="Text 5"/>
          <p:cNvSpPr/>
          <p:nvPr/>
        </p:nvSpPr>
        <p:spPr>
          <a:xfrm>
            <a:off x="731520" y="1664208"/>
            <a:ext cx="10954512" cy="1463040"/>
          </a:xfrm>
          <a:prstGeom prst="rect">
            <a:avLst/>
          </a:prstGeom>
          <a:noFill/>
          <a:ln/>
        </p:spPr>
        <p:txBody>
          <a:bodyPr wrap="square" rtlCol="0" anchor="t"/>
          <a:lstStyle/>
          <a:p>
            <a:pPr indent="0" marL="0">
              <a:lnSpc>
                <a:spcPct val="102000"/>
              </a:lnSpc>
              <a:spcAft>
                <a:spcPts val="200"/>
              </a:spcAft>
              <a:buNone/>
            </a:pPr>
            <a:r>
              <a:rPr lang="en-US" sz="1300" b="1" dirty="0">
                <a:solidFill>
                  <a:srgbClr val="004671"/>
                </a:solidFill>
                <a:latin typeface="Noto Sans" pitchFamily="34" charset="0"/>
                <a:ea typeface="Noto Sans" pitchFamily="34" charset="-122"/>
                <a:cs typeface="Noto Sans" pitchFamily="34" charset="-120"/>
              </a:rPr>
              <a:t>Option 2.1 – Thêm môn học thuộc chương trình GDPT</a:t>
            </a:r>
            <a:endParaRPr lang="en-US" sz="1300" dirty="0"/>
          </a:p>
          <a:p>
            <a:pPr indent="0" marL="0">
              <a:lnSpc>
                <a:spcPct val="102000"/>
              </a:lnSpc>
              <a:spcAft>
                <a:spcPts val="300"/>
              </a:spcAft>
              <a:buNone/>
            </a:pPr>
            <a:r>
              <a:rPr lang="en-US" sz="1000" i="1" dirty="0">
                <a:solidFill>
                  <a:srgbClr val="5B6472"/>
                </a:solidFill>
                <a:latin typeface="Noto Sans" pitchFamily="34" charset="0"/>
                <a:ea typeface="Noto Sans" pitchFamily="34" charset="-122"/>
                <a:cs typeface="Noto Sans" pitchFamily="34" charset="-120"/>
              </a:rPr>
              <a:t>(Toán, Tiếng Việt...)</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Giữ nguyên Big Class + AI Practice + AI Speak + Edupia Club + GVCN (môn tiếng Anh) hiện có</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Thêm 1 buổi live 1 môn GDPT/tuần</a:t>
            </a:r>
            <a:endParaRPr lang="en-US" sz="1300" dirty="0"/>
          </a:p>
        </p:txBody>
      </p:sp>
      <p:sp>
        <p:nvSpPr>
          <p:cNvPr id="9" name="Shape 6"/>
          <p:cNvSpPr/>
          <p:nvPr/>
        </p:nvSpPr>
        <p:spPr>
          <a:xfrm>
            <a:off x="502920" y="3310128"/>
            <a:ext cx="73152" cy="1417320"/>
          </a:xfrm>
          <a:prstGeom prst="rect">
            <a:avLst/>
          </a:prstGeom>
          <a:solidFill>
            <a:srgbClr val="3B81B1"/>
          </a:solidFill>
          <a:ln/>
        </p:spPr>
      </p:sp>
      <p:sp>
        <p:nvSpPr>
          <p:cNvPr id="10" name="Text 7"/>
          <p:cNvSpPr/>
          <p:nvPr/>
        </p:nvSpPr>
        <p:spPr>
          <a:xfrm>
            <a:off x="731520" y="3310128"/>
            <a:ext cx="10954512" cy="1463040"/>
          </a:xfrm>
          <a:prstGeom prst="rect">
            <a:avLst/>
          </a:prstGeom>
          <a:noFill/>
          <a:ln/>
        </p:spPr>
        <p:txBody>
          <a:bodyPr wrap="square" rtlCol="0" anchor="t"/>
          <a:lstStyle/>
          <a:p>
            <a:pPr indent="0" marL="0">
              <a:lnSpc>
                <a:spcPct val="102000"/>
              </a:lnSpc>
              <a:spcAft>
                <a:spcPts val="200"/>
              </a:spcAft>
              <a:buNone/>
            </a:pPr>
            <a:r>
              <a:rPr lang="en-US" sz="1300" b="1" dirty="0">
                <a:solidFill>
                  <a:srgbClr val="004671"/>
                </a:solidFill>
                <a:latin typeface="Noto Sans" pitchFamily="34" charset="0"/>
                <a:ea typeface="Noto Sans" pitchFamily="34" charset="-122"/>
                <a:cs typeface="Noto Sans" pitchFamily="34" charset="-120"/>
              </a:rPr>
              <a:t>Option 2.2 – Thêm môn khác ngoài chương trình GDPT: STEM/STEAM/AI cơ bản/Kỹ năng sống</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Giữ nguyên Big Class + AI Practice + AI Speak + Edupia Club + GVCN (môn tiếng Anh) hiện có</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Thêm 1 buổi live 1 môn STEM/STEAM/AI cơ bản/Kỹ năng sống/tuần</a:t>
            </a:r>
            <a:endParaRPr lang="en-US" sz="1300" dirty="0"/>
          </a:p>
        </p:txBody>
      </p:sp>
      <p:sp>
        <p:nvSpPr>
          <p:cNvPr id="11" name="Shape 8"/>
          <p:cNvSpPr/>
          <p:nvPr/>
        </p:nvSpPr>
        <p:spPr>
          <a:xfrm>
            <a:off x="502920" y="5623560"/>
            <a:ext cx="11183112" cy="621792"/>
          </a:xfrm>
          <a:prstGeom prst="rect">
            <a:avLst/>
          </a:prstGeom>
          <a:solidFill>
            <a:srgbClr val="004671"/>
          </a:solidFill>
          <a:ln/>
        </p:spPr>
      </p:sp>
      <p:sp>
        <p:nvSpPr>
          <p:cNvPr id="12" name="Text 9"/>
          <p:cNvSpPr/>
          <p:nvPr/>
        </p:nvSpPr>
        <p:spPr>
          <a:xfrm>
            <a:off x="731520" y="5623560"/>
            <a:ext cx="10725912" cy="621792"/>
          </a:xfrm>
          <a:prstGeom prst="rect">
            <a:avLst/>
          </a:prstGeom>
          <a:noFill/>
          <a:ln/>
        </p:spPr>
        <p:txBody>
          <a:bodyPr wrap="square" rtlCol="0" anchor="ctr"/>
          <a:lstStyle/>
          <a:p>
            <a:pPr indent="0" marL="0">
              <a:buNone/>
            </a:pPr>
            <a:r>
              <a:rPr lang="en-US" sz="1150" i="1" dirty="0">
                <a:solidFill>
                  <a:srgbClr val="FFFFFF"/>
                </a:solidFill>
                <a:latin typeface="Noto Sans" pitchFamily="34" charset="0"/>
                <a:ea typeface="Noto Sans" pitchFamily="34" charset="-122"/>
                <a:cs typeface="Noto Sans" pitchFamily="34" charset="-120"/>
              </a:rPr>
              <a:t>USP: “Chương trình tiếng Anh trực tuyến có thêm 1 buổi học với môn học khác mỗi tuần, giúp con phát triển toàn diện và phụ huynh không cần tìm thêm hoạt động bổ trợ ở nơi khác.”</a:t>
            </a:r>
            <a:endParaRPr lang="en-US" sz="1150" dirty="0"/>
          </a:p>
        </p:txBody>
      </p:sp>
      <p:pic>
        <p:nvPicPr>
          <p:cNvPr id="13"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14" name="Text 10"/>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15" name="Text 11"/>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9 / 12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3 — ĐỊNH HƯỚNG CONCEPT SẢN PHẨM</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Concept 3: Gia sư AI 1:1 (MỚI)</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sp>
        <p:nvSpPr>
          <p:cNvPr id="6" name="Text 3"/>
          <p:cNvSpPr/>
          <p:nvPr/>
        </p:nvSpPr>
        <p:spPr>
          <a:xfrm>
            <a:off x="502920" y="1280160"/>
            <a:ext cx="11183112" cy="384048"/>
          </a:xfrm>
          <a:prstGeom prst="rect">
            <a:avLst/>
          </a:prstGeom>
          <a:noFill/>
          <a:ln/>
        </p:spPr>
        <p:txBody>
          <a:bodyPr wrap="square" rtlCol="0" anchor="ctr"/>
          <a:lstStyle/>
          <a:p>
            <a:pPr indent="0" marL="0">
              <a:buNone/>
            </a:pPr>
            <a:r>
              <a:rPr lang="en-US" sz="1050" i="1" dirty="0">
                <a:solidFill>
                  <a:srgbClr val="5B6472"/>
                </a:solidFill>
                <a:latin typeface="Noto Sans" pitchFamily="34" charset="0"/>
                <a:ea typeface="Noto Sans" pitchFamily="34" charset="-122"/>
                <a:cs typeface="Noto Sans" pitchFamily="34" charset="-120"/>
              </a:rPr>
              <a:t>AI là gia sư chính, không chỉ hỗ trợ lớp học như Concept 1/Concept 2.</a:t>
            </a:r>
            <a:endParaRPr lang="en-US" sz="1050" dirty="0"/>
          </a:p>
        </p:txBody>
      </p:sp>
      <p:sp>
        <p:nvSpPr>
          <p:cNvPr id="7" name="Shape 4"/>
          <p:cNvSpPr/>
          <p:nvPr/>
        </p:nvSpPr>
        <p:spPr>
          <a:xfrm>
            <a:off x="502920" y="1664208"/>
            <a:ext cx="73152" cy="1417320"/>
          </a:xfrm>
          <a:prstGeom prst="rect">
            <a:avLst/>
          </a:prstGeom>
          <a:solidFill>
            <a:srgbClr val="004671"/>
          </a:solidFill>
          <a:ln/>
        </p:spPr>
      </p:sp>
      <p:sp>
        <p:nvSpPr>
          <p:cNvPr id="8" name="Text 5"/>
          <p:cNvSpPr/>
          <p:nvPr/>
        </p:nvSpPr>
        <p:spPr>
          <a:xfrm>
            <a:off x="731520" y="1664208"/>
            <a:ext cx="10954512" cy="1463040"/>
          </a:xfrm>
          <a:prstGeom prst="rect">
            <a:avLst/>
          </a:prstGeom>
          <a:noFill/>
          <a:ln/>
        </p:spPr>
        <p:txBody>
          <a:bodyPr wrap="square" rtlCol="0" anchor="t"/>
          <a:lstStyle/>
          <a:p>
            <a:pPr indent="0" marL="0">
              <a:lnSpc>
                <a:spcPct val="102000"/>
              </a:lnSpc>
              <a:spcAft>
                <a:spcPts val="200"/>
              </a:spcAft>
              <a:buNone/>
            </a:pPr>
            <a:r>
              <a:rPr lang="en-US" sz="1300" b="1" dirty="0">
                <a:solidFill>
                  <a:srgbClr val="004671"/>
                </a:solidFill>
                <a:latin typeface="Noto Sans" pitchFamily="34" charset="0"/>
                <a:ea typeface="Noto Sans" pitchFamily="34" charset="-122"/>
                <a:cs typeface="Noto Sans" pitchFamily="34" charset="-120"/>
              </a:rPr>
              <a:t>Option 3.1 — AI nhân hoá “giáo viên ngôi sao”</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Concept: AI Tutor dạy học mang giọng nói/phong cách một GV ngôi sao + AI Practice + AI Speak + Edupia Club + GVCN</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Tiền lệ thị trường: Không tìm được sản phẩm nào đúng cấu hình (K-12 + AI-Tutor + giá đại trà)</a:t>
            </a:r>
            <a:endParaRPr lang="en-US" sz="1300" dirty="0"/>
          </a:p>
        </p:txBody>
      </p:sp>
      <p:sp>
        <p:nvSpPr>
          <p:cNvPr id="9" name="Shape 6"/>
          <p:cNvSpPr/>
          <p:nvPr/>
        </p:nvSpPr>
        <p:spPr>
          <a:xfrm>
            <a:off x="502920" y="3310128"/>
            <a:ext cx="73152" cy="1417320"/>
          </a:xfrm>
          <a:prstGeom prst="rect">
            <a:avLst/>
          </a:prstGeom>
          <a:solidFill>
            <a:srgbClr val="3B81B1"/>
          </a:solidFill>
          <a:ln/>
        </p:spPr>
      </p:sp>
      <p:sp>
        <p:nvSpPr>
          <p:cNvPr id="10" name="Text 7"/>
          <p:cNvSpPr/>
          <p:nvPr/>
        </p:nvSpPr>
        <p:spPr>
          <a:xfrm>
            <a:off x="731520" y="3310128"/>
            <a:ext cx="10954512" cy="1463040"/>
          </a:xfrm>
          <a:prstGeom prst="rect">
            <a:avLst/>
          </a:prstGeom>
          <a:noFill/>
          <a:ln/>
        </p:spPr>
        <p:txBody>
          <a:bodyPr wrap="square" rtlCol="0" anchor="t"/>
          <a:lstStyle/>
          <a:p>
            <a:pPr indent="0" marL="0">
              <a:lnSpc>
                <a:spcPct val="102000"/>
              </a:lnSpc>
              <a:spcAft>
                <a:spcPts val="200"/>
              </a:spcAft>
              <a:buNone/>
            </a:pPr>
            <a:r>
              <a:rPr lang="en-US" sz="1300" b="1" dirty="0">
                <a:solidFill>
                  <a:srgbClr val="004671"/>
                </a:solidFill>
                <a:latin typeface="Noto Sans" pitchFamily="34" charset="0"/>
                <a:ea typeface="Noto Sans" pitchFamily="34" charset="-122"/>
                <a:cs typeface="Noto Sans" pitchFamily="34" charset="-120"/>
              </a:rPr>
              <a:t>Option 3.2 — AI tích hợp mascot + gamification</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Concept: AI nhúng trong nhân vật mascot, gắn cơ chế trò chơi hoá — mascot phản ánh dữ liệu học và tương tác với học sinh</a:t>
            </a:r>
            <a:endParaRPr lang="en-US" sz="1300" dirty="0"/>
          </a:p>
          <a:p>
            <a:pPr marL="342900" indent="-342900">
              <a:lnSpc>
                <a:spcPct val="102000"/>
              </a:lnSpc>
              <a:spcAft>
                <a:spcPts val="300"/>
              </a:spcAft>
              <a:buSzPct val="100000"/>
              <a:buChar char="•"/>
            </a:pPr>
            <a:r>
              <a:rPr lang="en-US" sz="1100" dirty="0">
                <a:solidFill>
                  <a:srgbClr val="22333F"/>
                </a:solidFill>
                <a:latin typeface="Noto Sans" pitchFamily="34" charset="0"/>
                <a:ea typeface="Noto Sans" pitchFamily="34" charset="-122"/>
                <a:cs typeface="Noto Sans" pitchFamily="34" charset="-120"/>
              </a:rPr>
              <a:t>Tiền lệ thị trường: Có — Duolingo, Prodigy</a:t>
            </a:r>
            <a:endParaRPr lang="en-US" sz="1300" dirty="0"/>
          </a:p>
        </p:txBody>
      </p:sp>
      <p:sp>
        <p:nvSpPr>
          <p:cNvPr id="11" name="Shape 8"/>
          <p:cNvSpPr/>
          <p:nvPr/>
        </p:nvSpPr>
        <p:spPr>
          <a:xfrm>
            <a:off x="502920" y="5623560"/>
            <a:ext cx="11183112" cy="621792"/>
          </a:xfrm>
          <a:prstGeom prst="rect">
            <a:avLst/>
          </a:prstGeom>
          <a:solidFill>
            <a:srgbClr val="004671"/>
          </a:solidFill>
          <a:ln/>
        </p:spPr>
      </p:sp>
      <p:sp>
        <p:nvSpPr>
          <p:cNvPr id="12" name="Text 9"/>
          <p:cNvSpPr/>
          <p:nvPr/>
        </p:nvSpPr>
        <p:spPr>
          <a:xfrm>
            <a:off x="731520" y="5623560"/>
            <a:ext cx="10725912" cy="621792"/>
          </a:xfrm>
          <a:prstGeom prst="rect">
            <a:avLst/>
          </a:prstGeom>
          <a:noFill/>
          <a:ln/>
        </p:spPr>
        <p:txBody>
          <a:bodyPr wrap="square" rtlCol="0" anchor="ctr"/>
          <a:lstStyle/>
          <a:p>
            <a:pPr indent="0" marL="0">
              <a:buNone/>
            </a:pPr>
            <a:r>
              <a:rPr lang="en-US" sz="1150" i="1" dirty="0">
                <a:solidFill>
                  <a:srgbClr val="FFFFFF"/>
                </a:solidFill>
                <a:latin typeface="Noto Sans" pitchFamily="34" charset="0"/>
                <a:ea typeface="Noto Sans" pitchFamily="34" charset="-122"/>
                <a:cs typeface="Noto Sans" pitchFamily="34" charset="-120"/>
              </a:rPr>
              <a:t>USP: “Gia sư AI 1:1 luôn sẵn sàng, theo dõi và đồng hành cùng con trong quá trình học — mẫu hình ‘AI song hành’ đã vận hành thật ở quy mô lớn tại thị trường khác, lần đầu áp dụng tại Việt Nam.”</a:t>
            </a:r>
            <a:endParaRPr lang="en-US" sz="1150" dirty="0"/>
          </a:p>
        </p:txBody>
      </p:sp>
      <p:pic>
        <p:nvPicPr>
          <p:cNvPr id="13"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14" name="Text 10"/>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15" name="Text 11"/>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10 / 12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4 — KẾ HOẠCH TRIỂN KHAI</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Lộ trình triển khai (2026 - 2027)</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3112" cy="5029200"/>
        </p:xfrm>
        <a:graphic>
          <a:graphicData uri="http://schemas.openxmlformats.org/drawingml/2006/table">
            <a:tbl>
              <a:tblPr/>
              <a:tblGrid>
                <a:gridCol w="2834640"/>
                <a:gridCol w="8348472"/>
              </a:tblGrid>
              <a:tr h="628650">
                <a:tc>
                  <a:txBody>
                    <a:bodyPr/>
                    <a:lstStyle/>
                    <a:p>
                      <a:pPr indent="0" marL="0">
                        <a:buNone/>
                      </a:pPr>
                      <a:r>
                        <a:rPr lang="en-US" sz="1200" b="1" dirty="0">
                          <a:solidFill>
                            <a:srgbClr val="FFFFFF"/>
                          </a:solidFill>
                          <a:latin typeface="Noto Sans" pitchFamily="34" charset="0"/>
                          <a:ea typeface="Noto Sans" pitchFamily="34" charset="-122"/>
                          <a:cs typeface="Noto Sans" pitchFamily="34" charset="-120"/>
                        </a:rPr>
                        <a:t>Mốc</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1200" b="1" dirty="0">
                          <a:solidFill>
                            <a:srgbClr val="FFFFFF"/>
                          </a:solidFill>
                          <a:latin typeface="Noto Sans" pitchFamily="34" charset="0"/>
                          <a:ea typeface="Noto Sans" pitchFamily="34" charset="-122"/>
                          <a:cs typeface="Noto Sans" pitchFamily="34" charset="-120"/>
                        </a:rPr>
                        <a:t>Nội dung</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Trước 31/08/2026</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Trình bày slide concept trước BOD/team</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01–15/09/2026</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Xây bảng hỏi và phương án khảo sát</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15/09–15/10/2026</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Khảo sát thực tế phụ huynh Tier 3/4 — 500 qua điện thoại + 100 trực tiếp tận nhà</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15/10–30/10/2026</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Xử lý kết quả khảo sát, chọn phương án concept, xây kịch bản bán hàng, chuẩn bị Marketing, đào tạo Sale</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Tháng 11/2026</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Test bán vòng 1 — quảng cáo + Sale gọi điện, thu tiền thật để đo tỷ lệ chốt; sau đó hoàn tiền + tặng 1 tháng học trải nghiệm</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Tháng 12/2026</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Làm mịn kịch bản/sản phẩm theo phản hồi vòng 1 → test bán vòng 2</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Tháng 1/2027</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Đổ nguồn lực chính thức code/hoàn thiện sản phẩm — 1-6 tháng tuỳ concept được chọn</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bl>
          </a:graphicData>
        </a:graphic>
      </p:graphicFrame>
      <p:pic>
        <p:nvPicPr>
          <p:cNvPr id="7"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8" name="Text 3"/>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9" name="Text 4"/>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11 / 12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5 — SƠ ĐỒ PHÂN CHIA TRÁCH NHIỆM</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Phân chia trách nhiệm theo 4 bộ phận</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descr="C:\Users\landa\AppData\Local\Temp\claude\c--Users-landa--Personal--D---n-AI-Class-new\8a85e8a7-bdeb-42d6-9168-79c96b849bd1\scratchpad\pptx-gen\logo-icon-only.png">    </p:cNvPr>
          <p:cNvPicPr>
            <a:picLocks noChangeAspect="1"/>
          </p:cNvPicPr>
          <p:nvPr/>
        </p:nvPicPr>
        <p:blipFill>
          <a:blip r:embed="rId1"/>
          <a:stretch>
            <a:fillRect/>
          </a:stretch>
        </p:blipFill>
        <p:spPr>
          <a:xfrm>
            <a:off x="11292840" y="365760"/>
            <a:ext cx="502920" cy="50292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3112" cy="5029200"/>
        </p:xfrm>
        <a:graphic>
          <a:graphicData uri="http://schemas.openxmlformats.org/drawingml/2006/table">
            <a:tbl>
              <a:tblPr/>
              <a:tblGrid>
                <a:gridCol w="1965960"/>
                <a:gridCol w="2560320"/>
                <a:gridCol w="2560320"/>
                <a:gridCol w="2551176"/>
                <a:gridCol w="1636776"/>
              </a:tblGrid>
              <a:tr h="718457">
                <a:tc>
                  <a:txBody>
                    <a:bodyPr/>
                    <a:lstStyle/>
                    <a:p>
                      <a:pPr indent="0" marL="0">
                        <a:buNone/>
                      </a:pPr>
                      <a:r>
                        <a:rPr lang="en-US" sz="950" b="1" dirty="0">
                          <a:solidFill>
                            <a:srgbClr val="FFFFFF"/>
                          </a:solidFill>
                          <a:latin typeface="Noto Sans" pitchFamily="34" charset="0"/>
                          <a:ea typeface="Noto Sans" pitchFamily="34" charset="-122"/>
                          <a:cs typeface="Noto Sans" pitchFamily="34" charset="-120"/>
                        </a:rPr>
                        <a:t>Giai đoạn</a:t>
                      </a:r>
                      <a:endParaRPr lang="en-US" sz="95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950" b="1" dirty="0">
                          <a:solidFill>
                            <a:srgbClr val="FFFFFF"/>
                          </a:solidFill>
                          <a:latin typeface="Noto Sans" pitchFamily="34" charset="0"/>
                          <a:ea typeface="Noto Sans" pitchFamily="34" charset="-122"/>
                          <a:cs typeface="Noto Sans" pitchFamily="34" charset="-120"/>
                        </a:rPr>
                        <a:t>Chiến lược</a:t>
                      </a:r>
                      <a:endParaRPr lang="en-US" sz="95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950" b="1" dirty="0">
                          <a:solidFill>
                            <a:srgbClr val="FFFFFF"/>
                          </a:solidFill>
                          <a:latin typeface="Noto Sans" pitchFamily="34" charset="0"/>
                          <a:ea typeface="Noto Sans" pitchFamily="34" charset="-122"/>
                          <a:cs typeface="Noto Sans" pitchFamily="34" charset="-120"/>
                        </a:rPr>
                        <a:t>Sản phẩm &amp; Công nghệ</a:t>
                      </a:r>
                      <a:endParaRPr lang="en-US" sz="95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950" b="1" dirty="0">
                          <a:solidFill>
                            <a:srgbClr val="FFFFFF"/>
                          </a:solidFill>
                          <a:latin typeface="Noto Sans" pitchFamily="34" charset="0"/>
                          <a:ea typeface="Noto Sans" pitchFamily="34" charset="-122"/>
                          <a:cs typeface="Noto Sans" pitchFamily="34" charset="-120"/>
                        </a:rPr>
                        <a:t>Marketing</a:t>
                      </a:r>
                      <a:endParaRPr lang="en-US" sz="95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950" b="1" dirty="0">
                          <a:solidFill>
                            <a:srgbClr val="FFFFFF"/>
                          </a:solidFill>
                          <a:latin typeface="Noto Sans" pitchFamily="34" charset="0"/>
                          <a:ea typeface="Noto Sans" pitchFamily="34" charset="-122"/>
                          <a:cs typeface="Noto Sans" pitchFamily="34" charset="-120"/>
                        </a:rPr>
                        <a:t>Sales</a:t>
                      </a:r>
                      <a:endParaRPr lang="en-US" sz="95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r>
              <a:tr h="718457">
                <a:tc>
                  <a:txBody>
                    <a:bodyPr/>
                    <a:lstStyle/>
                    <a:p>
                      <a:pPr indent="0" marL="0">
                        <a:buNone/>
                      </a:pPr>
                      <a:r>
                        <a:rPr lang="en-US" sz="830" b="1" dirty="0">
                          <a:solidFill>
                            <a:srgbClr val="004671"/>
                          </a:solidFill>
                          <a:latin typeface="Noto Sans" pitchFamily="34" charset="0"/>
                          <a:ea typeface="Noto Sans" pitchFamily="34" charset="-122"/>
                          <a:cs typeface="Noto Sans" pitchFamily="34" charset="-120"/>
                        </a:rPr>
                        <a:t>Trước 31/08 — Trình bày concept</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Cung cấp số liệu/định hướng “ao cá” 390-400k làm đầu vào; tham vấn nội dung slide</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Chủ trì xây &amp; trình bày slide 3 concept; điều phối nghiên cứu</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Tham vấn nội dung, chuẩn bị góp ý</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Tham vấn nội dung, chuẩn bị góp ý</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718457">
                <a:tc>
                  <a:txBody>
                    <a:bodyPr/>
                    <a:lstStyle/>
                    <a:p>
                      <a:pPr indent="0" marL="0">
                        <a:buNone/>
                      </a:pPr>
                      <a:r>
                        <a:rPr lang="en-US" sz="830" b="1" dirty="0">
                          <a:solidFill>
                            <a:srgbClr val="004671"/>
                          </a:solidFill>
                          <a:latin typeface="Noto Sans" pitchFamily="34" charset="0"/>
                          <a:ea typeface="Noto Sans" pitchFamily="34" charset="-122"/>
                          <a:cs typeface="Noto Sans" pitchFamily="34" charset="-120"/>
                        </a:rPr>
                        <a:t>01/09–15/10 — Xây &amp; chạy khảo sát</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Theo dõi tiến độ, tham vấn tiêu chí đánh giá</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Chủ trì thiết kế bảng hỏi, điều phối khảo sát thực tế Tier 3/4</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Cử nhân sự tham gia khảo sát thực địa, góp ý bảng hỏi</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Cử nhân sự tham gia khảo sát thực địa, góp ý bảng hỏi</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718457">
                <a:tc>
                  <a:txBody>
                    <a:bodyPr/>
                    <a:lstStyle/>
                    <a:p>
                      <a:pPr indent="0" marL="0">
                        <a:buNone/>
                      </a:pPr>
                      <a:r>
                        <a:rPr lang="en-US" sz="830" b="1" dirty="0">
                          <a:solidFill>
                            <a:srgbClr val="004671"/>
                          </a:solidFill>
                          <a:latin typeface="Noto Sans" pitchFamily="34" charset="0"/>
                          <a:ea typeface="Noto Sans" pitchFamily="34" charset="-122"/>
                          <a:cs typeface="Noto Sans" pitchFamily="34" charset="-120"/>
                        </a:rPr>
                        <a:t>15/10–30/10 — Chọn phương án &amp; chuẩn bị bán</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Tham gia quyết định chọn concept cuối cùng</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Xử lý kết quả khảo sát, chủ trì chọn phương án</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Xây nội dung quảng cáo cho concept đã chọn</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Xây kịch bản tư vấn/cơ chế bán hàng, đào tạo đội Sale</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718457">
                <a:tc>
                  <a:txBody>
                    <a:bodyPr/>
                    <a:lstStyle/>
                    <a:p>
                      <a:pPr indent="0" marL="0">
                        <a:buNone/>
                      </a:pPr>
                      <a:r>
                        <a:rPr lang="en-US" sz="830" b="1" dirty="0">
                          <a:solidFill>
                            <a:srgbClr val="004671"/>
                          </a:solidFill>
                          <a:latin typeface="Noto Sans" pitchFamily="34" charset="0"/>
                          <a:ea typeface="Noto Sans" pitchFamily="34" charset="-122"/>
                          <a:cs typeface="Noto Sans" pitchFamily="34" charset="-120"/>
                        </a:rPr>
                        <a:t>Tháng 11 — Test bán vòng 1</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Theo dõi kết quả, tham vấn quyết định tiếp theo</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Hỗ trợ kỹ thuật, theo dõi vận hành hoàn tiền</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Chạy chiến dịch quảng cáo thật</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Gọi điện tư vấn, thu tiền thật, đo tỷ lệ chốt</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718457">
                <a:tc>
                  <a:txBody>
                    <a:bodyPr/>
                    <a:lstStyle/>
                    <a:p>
                      <a:pPr indent="0" marL="0">
                        <a:buNone/>
                      </a:pPr>
                      <a:r>
                        <a:rPr lang="en-US" sz="830" b="1" dirty="0">
                          <a:solidFill>
                            <a:srgbClr val="004671"/>
                          </a:solidFill>
                          <a:latin typeface="Noto Sans" pitchFamily="34" charset="0"/>
                          <a:ea typeface="Noto Sans" pitchFamily="34" charset="-122"/>
                          <a:cs typeface="Noto Sans" pitchFamily="34" charset="-120"/>
                        </a:rPr>
                        <a:t>Tháng 12 — Làm mịn &amp; Test bán vòng 2</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Theo dõi kết quả 2 vòng, chuẩn bị đối chiếu</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Làm mịn sản phẩm theo phản hồi</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Làm mịn nội dung quảng cáo</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Làm mịn kịch bản bán, chạy vòng 2</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718457">
                <a:tc>
                  <a:txBody>
                    <a:bodyPr/>
                    <a:lstStyle/>
                    <a:p>
                      <a:pPr indent="0" marL="0">
                        <a:buNone/>
                      </a:pPr>
                      <a:r>
                        <a:rPr lang="en-US" sz="830" b="1" dirty="0">
                          <a:solidFill>
                            <a:srgbClr val="004671"/>
                          </a:solidFill>
                          <a:latin typeface="Noto Sans" pitchFamily="34" charset="0"/>
                          <a:ea typeface="Noto Sans" pitchFamily="34" charset="-122"/>
                          <a:cs typeface="Noto Sans" pitchFamily="34" charset="-120"/>
                        </a:rPr>
                        <a:t>Tháng 1/2027 — Bắt đầu xây dựng</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Phê duyệt ngân sách/nguồn lực (qua BOD)</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Đổ nguồn lực code/hoàn thiện sản phẩm</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830" dirty="0">
                          <a:solidFill>
                            <a:srgbClr val="22333F"/>
                          </a:solidFill>
                          <a:latin typeface="Noto Sans" pitchFamily="34" charset="0"/>
                          <a:ea typeface="Noto Sans" pitchFamily="34" charset="-122"/>
                          <a:cs typeface="Noto Sans" pitchFamily="34" charset="-120"/>
                        </a:rPr>
                        <a:t>—</a:t>
                      </a:r>
                      <a:endParaRPr lang="en-US" sz="830" dirty="0">
                        <a:latin typeface="Noto Sans" charset="0"/>
                        <a:ea typeface="Noto Sans" charset="0"/>
                        <a:cs typeface="Noto Sans" charset="0"/>
                      </a:endParaRPr>
                    </a:p>
                  </a:txBody>
                  <a:tcPr marL="76200" marR="76200" marT="50800" marB="508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bl>
          </a:graphicData>
        </a:graphic>
      </p:graphicFrame>
      <p:pic>
        <p:nvPicPr>
          <p:cNvPr id="7" name="Image 1" descr="C:\Users\landa\AppData\Local\Temp\claude\c--Users-landa--Personal--D---n-AI-Class-new\8a85e8a7-bdeb-42d6-9168-79c96b849bd1\scratchpad\pptx-gen\logo-icon-only.png">    </p:cNvPr>
          <p:cNvPicPr>
            <a:picLocks noChangeAspect="1"/>
          </p:cNvPicPr>
          <p:nvPr/>
        </p:nvPicPr>
        <p:blipFill>
          <a:blip r:embed="rId2"/>
          <a:stretch>
            <a:fillRect/>
          </a:stretch>
        </p:blipFill>
        <p:spPr>
          <a:xfrm>
            <a:off x="502920" y="6473952"/>
            <a:ext cx="237744" cy="237744"/>
          </a:xfrm>
          <a:prstGeom prst="rect">
            <a:avLst/>
          </a:prstGeom>
        </p:spPr>
      </p:pic>
      <p:sp>
        <p:nvSpPr>
          <p:cNvPr id="8" name="Text 3"/>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9" name="Text 4"/>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12 / 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2 — CHÂN DUNG KHÁCH HÀNG MỤC TIÊU</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Chân dung khách hàng mục tiêu (Tệp 1 — khách hàng cũ)</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p:cNvPicPr>
            <a:picLocks noChangeAspect="1"/>
          </p:cNvPicPr>
          <p:nvPr/>
        </p:nvPicPr>
        <p:blipFill>
          <a:blip r:embed="rId1"/>
          <a:stretch>
            <a:fillRect/>
          </a:stretch>
        </p:blipFill>
        <p:spPr>
          <a:xfrm>
            <a:off x="11292840" y="365760"/>
            <a:ext cx="502920" cy="502920"/>
          </a:xfrm>
          <a:prstGeom prst="rect">
            <a:avLst/>
          </a:prstGeom>
        </p:spPr>
      </p:pic>
      <p:graphicFrame>
        <p:nvGraphicFramePr>
          <p:cNvPr id="12" name="Table 0"/>
          <p:cNvGraphicFramePr>
            <a:graphicFrameLocks noGrp="1"/>
          </p:cNvGraphicFramePr>
          <p:nvPr/>
        </p:nvGraphicFramePr>
        <p:xfrm>
          <a:off x="502920" y="1371600"/>
          <a:ext cx="11183112" cy="5029200"/>
        </p:xfrm>
        <a:graphic>
          <a:graphicData uri="http://schemas.openxmlformats.org/drawingml/2006/table">
            <a:tbl>
              <a:tblPr/>
              <a:tblGrid>
                <a:gridCol w="2834640"/>
                <a:gridCol w="8348472"/>
              </a:tblGrid>
              <a:tr h="628650">
                <a:tc>
                  <a:txBody>
                    <a:bodyPr/>
                    <a:lstStyle/>
                    <a:p>
                      <a:pPr indent="0" marL="0">
                        <a:buNone/>
                      </a:pPr>
                      <a:r>
                        <a:rPr lang="en-US" sz="1200" b="1" dirty="0">
                          <a:solidFill>
                            <a:srgbClr val="FFFFFF"/>
                          </a:solidFill>
                          <a:latin typeface="Noto Sans" pitchFamily="34" charset="0"/>
                          <a:ea typeface="Noto Sans" pitchFamily="34" charset="-122"/>
                          <a:cs typeface="Noto Sans" pitchFamily="34" charset="-120"/>
                        </a:rPr>
                        <a:t>Chiều</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1200" b="1" dirty="0">
                          <a:solidFill>
                            <a:srgbClr val="FFFFFF"/>
                          </a:solidFill>
                          <a:latin typeface="Noto Sans" pitchFamily="34" charset="0"/>
                          <a:ea typeface="Noto Sans" pitchFamily="34" charset="-122"/>
                          <a:cs typeface="Noto Sans" pitchFamily="34" charset="-120"/>
                        </a:rPr>
                        <a:t>Nội dung</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Ai ra quyết định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Mẹ, 30–45 tuổi, có con lớp 1–6</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Vị trí</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Thành phố tỉnh, thị xã, nông thôn (rộng hơn phạm vi Tier 3/4 mà chiến lược 390k đang nhắm cho khách hàng mới)</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Nghề nghiệp</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Nhân viên văn phòng, kinh doanh nhỏ, lao động phổ thông — làm toàn thời gian (&gt;8h/ngày)</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Thu nhập hộ gia đình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10–20 triệu/tháng (phân khúc “Good”) — hiện chi trả được 200–250k/tháng</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Trình độ tiếng Anh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Đa số không biết tiếng Anh — không tự kèm con được</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628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Bối cảnh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22333F"/>
                          </a:solidFill>
                          <a:latin typeface="Noto Sans" pitchFamily="34" charset="0"/>
                          <a:ea typeface="Noto Sans" pitchFamily="34" charset="-122"/>
                          <a:cs typeface="Noto Sans" pitchFamily="34" charset="-120"/>
                        </a:rPr>
                        <a:t>Con đang học TA ở trường; ~50% từng/đang học thêm nhà giáo viên; đã nghe/thử vài sản phẩm TA online; một số đã học trung tâm</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bl>
          </a:graphicData>
        </a:graphic>
      </p:graphicFrame>
      <p:pic>
        <p:nvPicPr>
          <p:cNvPr id="7" name="Image 1"/>
          <p:cNvPicPr>
            <a:picLocks noChangeAspect="1"/>
          </p:cNvPicPr>
          <p:nvPr/>
        </p:nvPicPr>
        <p:blipFill>
          <a:blip r:embed="rId2"/>
          <a:stretch>
            <a:fillRect/>
          </a:stretch>
        </p:blipFill>
        <p:spPr>
          <a:xfrm>
            <a:off x="502920" y="6473952"/>
            <a:ext cx="237744" cy="237744"/>
          </a:xfrm>
          <a:prstGeom prst="rect">
            <a:avLst/>
          </a:prstGeom>
        </p:spPr>
      </p:pic>
      <p:sp>
        <p:nvSpPr>
          <p:cNvPr id="8" name="Text 3"/>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9" name="Text 4"/>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3 / 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3112" cy="274320"/>
          </a:xfrm>
          <a:prstGeom prst="rect">
            <a:avLst/>
          </a:prstGeom>
          <a:noFill/>
          <a:ln/>
        </p:spPr>
        <p:txBody>
          <a:bodyPr wrap="square" rtlCol="0" anchor="ctr"/>
          <a:lstStyle/>
          <a:p>
            <a:pPr indent="0" marL="0">
              <a:buNone/>
            </a:pPr>
            <a:r>
              <a:rPr lang="en-US" sz="1100" b="1" spc="120" kern="0" dirty="0">
                <a:solidFill>
                  <a:srgbClr val="3B81B1"/>
                </a:solidFill>
                <a:latin typeface="Noto Sans" pitchFamily="34" charset="0"/>
                <a:ea typeface="Noto Sans" pitchFamily="34" charset="-122"/>
                <a:cs typeface="Noto Sans" pitchFamily="34" charset="-120"/>
              </a:rPr>
              <a:t>PHẦN 2 — CHÂN DUNG KHÁCH HÀNG MỤC TIÊU</a:t>
            </a:r>
            <a:endParaRPr lang="en-US" sz="1100" dirty="0"/>
          </a:p>
        </p:txBody>
      </p:sp>
      <p:sp>
        <p:nvSpPr>
          <p:cNvPr id="3" name="Text 1"/>
          <p:cNvSpPr/>
          <p:nvPr/>
        </p:nvSpPr>
        <p:spPr>
          <a:xfrm>
            <a:off x="502920" y="548640"/>
            <a:ext cx="10085832" cy="640080"/>
          </a:xfrm>
          <a:prstGeom prst="rect">
            <a:avLst/>
          </a:prstGeom>
          <a:noFill/>
          <a:ln/>
        </p:spPr>
        <p:txBody>
          <a:bodyPr wrap="square" rtlCol="0" anchor="ctr"/>
          <a:lstStyle/>
          <a:p>
            <a:pPr indent="0" marL="0">
              <a:buNone/>
            </a:pPr>
            <a:r>
              <a:rPr lang="en-US" sz="2600" b="1" dirty="0">
                <a:solidFill>
                  <a:srgbClr val="004671"/>
                </a:solidFill>
                <a:latin typeface="Noto Sans" pitchFamily="34" charset="0"/>
                <a:ea typeface="Noto Sans" pitchFamily="34" charset="-122"/>
                <a:cs typeface="Noto Sans" pitchFamily="34" charset="-120"/>
              </a:rPr>
              <a:t>Pain Point &amp; JTBD</a:t>
            </a:r>
            <a:endParaRPr lang="en-US" sz="2600" dirty="0"/>
          </a:p>
        </p:txBody>
      </p:sp>
      <p:sp>
        <p:nvSpPr>
          <p:cNvPr id="4" name="Shape 2"/>
          <p:cNvSpPr/>
          <p:nvPr/>
        </p:nvSpPr>
        <p:spPr>
          <a:xfrm>
            <a:off x="502920" y="1170432"/>
            <a:ext cx="777240" cy="45720"/>
          </a:xfrm>
          <a:prstGeom prst="rect">
            <a:avLst/>
          </a:prstGeom>
          <a:solidFill>
            <a:srgbClr val="A5BE00"/>
          </a:solidFill>
          <a:ln/>
        </p:spPr>
      </p:sp>
      <p:pic>
        <p:nvPicPr>
          <p:cNvPr id="5" name="Image 0"/>
          <p:cNvPicPr>
            <a:picLocks noChangeAspect="1"/>
          </p:cNvPicPr>
          <p:nvPr/>
        </p:nvPicPr>
        <p:blipFill>
          <a:blip r:embed="rId1"/>
          <a:stretch>
            <a:fillRect/>
          </a:stretch>
        </p:blipFill>
        <p:spPr>
          <a:xfrm>
            <a:off x="11292840" y="365760"/>
            <a:ext cx="502920" cy="502920"/>
          </a:xfrm>
          <a:prstGeom prst="rect">
            <a:avLst/>
          </a:prstGeom>
        </p:spPr>
      </p:pic>
      <p:graphicFrame>
        <p:nvGraphicFramePr>
          <p:cNvPr id="12" name="Table 0"/>
          <p:cNvGraphicFramePr>
            <a:graphicFrameLocks noGrp="1"/>
          </p:cNvGraphicFramePr>
          <p:nvPr/>
        </p:nvGraphicFramePr>
        <p:xfrm>
          <a:off x="502920" y="1371600"/>
          <a:ext cx="11183112" cy="5029200"/>
        </p:xfrm>
        <a:graphic>
          <a:graphicData uri="http://schemas.openxmlformats.org/drawingml/2006/table">
            <a:tbl>
              <a:tblPr firstRow="1" bandRow="0"/>
              <a:tblGrid>
                <a:gridCol w="5200000"/>
                <a:gridCol w="3583112"/>
                <a:gridCol w="2400000"/>
              </a:tblGrid>
              <a:tr h="350000">
                <a:tc>
                  <a:txBody>
                    <a:bodyPr/>
                    <a:lstStyle/>
                    <a:p>
                      <a:pPr indent="0" marL="0">
                        <a:buNone/>
                      </a:pPr>
                      <a:r>
                        <a:rPr lang="en-US" sz="1200" b="1" dirty="0">
                          <a:solidFill>
                            <a:srgbClr val="FFFFFF"/>
                          </a:solidFill>
                          <a:latin typeface="Noto Sans" pitchFamily="34" charset="0"/>
                          <a:ea typeface="Noto Sans" pitchFamily="34" charset="-122"/>
                          <a:cs typeface="Noto Sans" pitchFamily="34" charset="-120"/>
                        </a:rPr>
                        <a:t>Job (góc nhìn phụ huynh)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1200" b="1" dirty="0">
                          <a:solidFill>
                            <a:srgbClr val="FFFFFF"/>
                          </a:solidFill>
                          <a:latin typeface="Noto Sans" pitchFamily="34" charset="0"/>
                          <a:ea typeface="Noto Sans" pitchFamily="34" charset="-122"/>
                          <a:cs typeface="Noto Sans" pitchFamily="34" charset="-120"/>
                        </a:rPr>
                        <a:t>Pain point liên quan</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c>
                  <a:txBody>
                    <a:bodyPr/>
                    <a:lstStyle/>
                    <a:p>
                      <a:pPr indent="0" marL="0">
                        <a:buNone/>
                      </a:pPr>
                      <a:r>
                        <a:rPr lang="en-US" sz="1200" b="1" dirty="0">
                          <a:solidFill>
                            <a:srgbClr val="FFFFFF"/>
                          </a:solidFill>
                          <a:latin typeface="Noto Sans" pitchFamily="34" charset="0"/>
                          <a:ea typeface="Noto Sans" pitchFamily="34" charset="-122"/>
                          <a:cs typeface="Noto Sans" pitchFamily="34" charset="-120"/>
                        </a:rPr>
                        <a:t>Nhu cầu</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004671"/>
                    </a:solidFill>
                  </a:tcPr>
                </a:tc>
              </a:tr>
              <a:tr h="584650">
                <a:tc>
                  <a:txBody>
                    <a:bodyPr/>
                    <a:lstStyle/>
                    <a:p>
                      <a:pPr indent="0" marL="0">
                        <a:buNone/>
                      </a:pPr>
                      <a:r>
                        <a:rPr lang="en-US" sz="1200" b="1" dirty="0">
                          <a:solidFill>
                            <a:srgbClr val="3B81B1"/>
                          </a:solidFill>
                          <a:latin typeface="Noto Sans" pitchFamily="34" charset="0"/>
                          <a:ea typeface="Noto Sans" pitchFamily="34" charset="-122"/>
                          <a:cs typeface="Noto Sans" pitchFamily="34" charset="-120"/>
                        </a:rPr>
                        <a:t>[Functional] </a:t>
                      </a:r>
                      <a:r>
                        <a:rPr lang="en-US" sz="1200" dirty="0">
                          <a:solidFill>
                            <a:srgbClr val="22333F"/>
                          </a:solidFill>
                          <a:latin typeface="Noto Sans" pitchFamily="34" charset="0"/>
                          <a:ea typeface="Noto Sans" pitchFamily="34" charset="-122"/>
                          <a:cs typeface="Noto Sans" pitchFamily="34" charset="-120"/>
                        </a:rPr>
                        <a:t>Muốn con học giỏi môn tiếng Anh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Con học TA chưa tốt/tiến bộ chậm — phát âm sai, không tự tin khi giao tiếp</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rowSpan="2">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Muốn con học giỏi tiếng Anh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584650">
                <a:tc>
                  <a:txBody>
                    <a:bodyPr/>
                    <a:lstStyle/>
                    <a:p>
                      <a:pPr indent="0" marL="0">
                        <a:buNone/>
                      </a:pPr>
                      <a:r>
                        <a:rPr lang="en-US" sz="1200" b="1" dirty="0">
                          <a:solidFill>
                            <a:srgbClr val="A5BE00"/>
                          </a:solidFill>
                          <a:latin typeface="Noto Sans" pitchFamily="34" charset="0"/>
                          <a:ea typeface="Noto Sans" pitchFamily="34" charset="-122"/>
                          <a:cs typeface="Noto Sans" pitchFamily="34" charset="-120"/>
                        </a:rPr>
                        <a:t>[Emotional] </a:t>
                      </a:r>
                      <a:r>
                        <a:rPr lang="en-US" sz="1200" dirty="0">
                          <a:solidFill>
                            <a:srgbClr val="22333F"/>
                          </a:solidFill>
                          <a:latin typeface="Noto Sans" pitchFamily="34" charset="0"/>
                          <a:ea typeface="Noto Sans" pitchFamily="34" charset="-122"/>
                          <a:cs typeface="Noto Sans" pitchFamily="34" charset="-120"/>
                        </a:rPr>
                        <a:t>Yên tâm con tiến bộ thực chất mà không cần tự kèm</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Con học TA chưa tốt; phụ huynh bận, phải nhắc nhở/đốc thúc con</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vMerge="1">
                  <a:txBody>
                    <a:bodyPr/>
                    <a:lstStyle/>
                    <a:p>
                      <a:pPr indent="0" marL="0">
                        <a:buNone/>
                      </a:pP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584650">
                <a:tc>
                  <a:txBody>
                    <a:bodyPr/>
                    <a:lstStyle/>
                    <a:p>
                      <a:pPr indent="0" marL="0">
                        <a:buNone/>
                      </a:pPr>
                      <a:r>
                        <a:rPr lang="en-US" sz="1200" b="1" dirty="0">
                          <a:solidFill>
                            <a:srgbClr val="3B81B1"/>
                          </a:solidFill>
                          <a:latin typeface="Noto Sans" pitchFamily="34" charset="0"/>
                          <a:ea typeface="Noto Sans" pitchFamily="34" charset="-122"/>
                          <a:cs typeface="Noto Sans" pitchFamily="34" charset="-120"/>
                        </a:rPr>
                        <a:t>[Functional] </a:t>
                      </a:r>
                      <a:r>
                        <a:rPr lang="en-US" sz="1200" dirty="0">
                          <a:solidFill>
                            <a:srgbClr val="22333F"/>
                          </a:solidFill>
                          <a:latin typeface="Noto Sans" pitchFamily="34" charset="0"/>
                          <a:ea typeface="Noto Sans" pitchFamily="34" charset="-122"/>
                          <a:cs typeface="Noto Sans" pitchFamily="34" charset="-120"/>
                        </a:rPr>
                        <a:t>Muốn con phát triển toàn diện, không học lệch</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 Con học lệch, thiếu cân bằng giữa các môn (giả định đa môn, chưa xác nhận)</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rowSpan="3">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Muốn con học giỏi toàn diện</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584650">
                <a:tc>
                  <a:txBody>
                    <a:bodyPr/>
                    <a:lstStyle/>
                    <a:p>
                      <a:pPr indent="0" marL="0">
                        <a:buNone/>
                      </a:pPr>
                      <a:r>
                        <a:rPr lang="en-US" sz="1200" b="1" dirty="0">
                          <a:solidFill>
                            <a:srgbClr val="3B81B1"/>
                          </a:solidFill>
                          <a:latin typeface="Noto Sans" pitchFamily="34" charset="0"/>
                          <a:ea typeface="Noto Sans" pitchFamily="34" charset="-122"/>
                          <a:cs typeface="Noto Sans" pitchFamily="34" charset="-120"/>
                        </a:rPr>
                        <a:t>[Functional] </a:t>
                      </a:r>
                      <a:r>
                        <a:rPr lang="en-US" sz="1200" dirty="0">
                          <a:solidFill>
                            <a:srgbClr val="22333F"/>
                          </a:solidFill>
                          <a:latin typeface="Noto Sans" pitchFamily="34" charset="0"/>
                          <a:ea typeface="Noto Sans" pitchFamily="34" charset="-122"/>
                          <a:cs typeface="Noto Sans" pitchFamily="34" charset="-120"/>
                        </a:rPr>
                        <a:t>Quản lý toàn bộ việc học của con ở một nơi, không phải tự tổng hợp</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Khó quản lý khi con học nhiều môn/nhiều trung tâm</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vMerge="1">
                  <a:txBody>
                    <a:bodyPr/>
                    <a:lstStyle/>
                    <a:p>
                      <a:pPr indent="0" marL="0">
                        <a:buNone/>
                      </a:pP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584650">
                <a:tc>
                  <a:txBody>
                    <a:bodyPr/>
                    <a:lstStyle/>
                    <a:p>
                      <a:pPr indent="0" marL="0">
                        <a:buNone/>
                      </a:pPr>
                      <a:r>
                        <a:rPr lang="en-US" sz="1200" b="1" dirty="0">
                          <a:solidFill>
                            <a:srgbClr val="3B81B1"/>
                          </a:solidFill>
                          <a:latin typeface="Noto Sans" pitchFamily="34" charset="0"/>
                          <a:ea typeface="Noto Sans" pitchFamily="34" charset="-122"/>
                          <a:cs typeface="Noto Sans" pitchFamily="34" charset="-120"/>
                        </a:rPr>
                        <a:t>[Functional] </a:t>
                      </a:r>
                      <a:r>
                        <a:rPr lang="en-US" sz="1200" dirty="0">
                          <a:solidFill>
                            <a:srgbClr val="22333F"/>
                          </a:solidFill>
                          <a:latin typeface="Noto Sans" pitchFamily="34" charset="0"/>
                          <a:ea typeface="Noto Sans" pitchFamily="34" charset="-122"/>
                          <a:cs typeface="Noto Sans" pitchFamily="34" charset="-120"/>
                        </a:rPr>
                        <a:t>Duy trì việc học hiệu quả trong khả năng chi trả lâu dài</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Chi phí cộng dồn nhiều lớp/trung tâm; tốn thời gian đưa đón</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vMerge="1">
                  <a:txBody>
                    <a:bodyPr/>
                    <a:lstStyle/>
                    <a:p>
                      <a:pPr indent="0" marL="0">
                        <a:buNone/>
                      </a:pP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r>
              <a:tr h="584650">
                <a:tc>
                  <a:txBody>
                    <a:bodyPr/>
                    <a:lstStyle/>
                    <a:p>
                      <a:pPr indent="0" marL="0">
                        <a:buNone/>
                      </a:pPr>
                      <a:r>
                        <a:rPr lang="en-US" sz="1200" b="1" dirty="0">
                          <a:solidFill>
                            <a:srgbClr val="3B81B1"/>
                          </a:solidFill>
                          <a:latin typeface="Noto Sans" pitchFamily="34" charset="0"/>
                          <a:ea typeface="Noto Sans" pitchFamily="34" charset="-122"/>
                          <a:cs typeface="Noto Sans" pitchFamily="34" charset="-120"/>
                        </a:rPr>
                        <a:t>[Functional] </a:t>
                      </a:r>
                      <a:r>
                        <a:rPr lang="en-US" sz="1200" dirty="0">
                          <a:solidFill>
                            <a:srgbClr val="22333F"/>
                          </a:solidFill>
                          <a:latin typeface="Noto Sans" pitchFamily="34" charset="0"/>
                          <a:ea typeface="Noto Sans" pitchFamily="34" charset="-122"/>
                          <a:cs typeface="Noto Sans" pitchFamily="34" charset="-120"/>
                        </a:rPr>
                        <a:t>Có người giám sát, đốc thúc con học thay bố mẹ, con được học cá nhân hóa</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Phụ huynh phải liên tục nhắc nhở, đốc thúc vì con chưa tự giác</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rowSpan="3">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Muốn con được đồng hành, đốc thúc học tập</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584650">
                <a:tc>
                  <a:txBody>
                    <a:bodyPr/>
                    <a:lstStyle/>
                    <a:p>
                      <a:pPr indent="0" marL="0">
                        <a:buNone/>
                      </a:pPr>
                      <a:r>
                        <a:rPr lang="en-US" sz="1200" b="1" dirty="0">
                          <a:solidFill>
                            <a:srgbClr val="A5BE00"/>
                          </a:solidFill>
                          <a:latin typeface="Noto Sans" pitchFamily="34" charset="0"/>
                          <a:ea typeface="Noto Sans" pitchFamily="34" charset="-122"/>
                          <a:cs typeface="Noto Sans" pitchFamily="34" charset="-120"/>
                        </a:rPr>
                        <a:t>[Emotional] </a:t>
                      </a:r>
                      <a:r>
                        <a:rPr lang="en-US" sz="1200" dirty="0">
                          <a:solidFill>
                            <a:srgbClr val="22333F"/>
                          </a:solidFill>
                          <a:latin typeface="Noto Sans" pitchFamily="34" charset="0"/>
                          <a:ea typeface="Noto Sans" pitchFamily="34" charset="-122"/>
                          <a:cs typeface="Noto Sans" pitchFamily="34" charset="-120"/>
                        </a:rPr>
                        <a:t>Tin mình đã chọn đúng, đầu tư đủ, không thua kém gia đình khác</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Học online "không ai quản" nên không yên tâm; sợ mất tiền mà không hiệu quả</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vMerge="1">
                  <a:txBody>
                    <a:bodyPr/>
                    <a:lstStyle/>
                    <a:p>
                      <a:pPr indent="0" marL="0">
                        <a:buNone/>
                      </a:pP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584650">
                <a:tc>
                  <a:txBody>
                    <a:bodyPr/>
                    <a:lstStyle/>
                    <a:p>
                      <a:pPr indent="0" marL="0">
                        <a:buNone/>
                      </a:pPr>
                      <a:r>
                        <a:rPr lang="en-US" sz="1200" b="1" dirty="0">
                          <a:solidFill>
                            <a:srgbClr val="004671"/>
                          </a:solidFill>
                          <a:latin typeface="Noto Sans" pitchFamily="34" charset="0"/>
                          <a:ea typeface="Noto Sans" pitchFamily="34" charset="-122"/>
                          <a:cs typeface="Noto Sans" pitchFamily="34" charset="-120"/>
                        </a:rPr>
                        <a:t>[Social] </a:t>
                      </a:r>
                      <a:r>
                        <a:rPr lang="en-US" sz="1200" dirty="0">
                          <a:solidFill>
                            <a:srgbClr val="22333F"/>
                          </a:solidFill>
                          <a:latin typeface="Noto Sans" pitchFamily="34" charset="0"/>
                          <a:ea typeface="Noto Sans" pitchFamily="34" charset="-122"/>
                          <a:cs typeface="Noto Sans" pitchFamily="34" charset="-120"/>
                        </a:rPr>
                        <a:t>Hãnh diện, tự hào với người thân, bạn bè khi con đạt thành tích cao, muốn chia sẻ</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a:txBody>
                    <a:bodyPr/>
                    <a:lstStyle/>
                    <a:p>
                      <a:pPr indent="0" marL="0">
                        <a:buNone/>
                      </a:pPr>
                      <a:r>
                        <a:rPr lang="en-US" sz="1200" dirty="0">
                          <a:solidFill>
                            <a:srgbClr val="5B6472"/>
                          </a:solidFill>
                          <a:latin typeface="Noto Sans" pitchFamily="34" charset="0"/>
                          <a:ea typeface="Noto Sans" pitchFamily="34" charset="-122"/>
                          <a:cs typeface="Noto Sans" pitchFamily="34" charset="-120"/>
                        </a:rPr>
                        <a:t>Lo con thua thiệt, thua kém "con nhà người ta"</a:t>
                      </a: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2FAFB"/>
                    </a:solidFill>
                  </a:tcPr>
                </a:tc>
                <a:tc vMerge="1">
                  <a:txBody>
                    <a:bodyPr/>
                    <a:lstStyle/>
                    <a:p>
                      <a:pPr indent="0" marL="0">
                        <a:buNone/>
                      </a:pPr>
                      <a:endParaRPr lang="en-US" sz="1200" dirty="0">
                        <a:latin typeface="Noto Sans" charset="0"/>
                        <a:ea typeface="Noto Sans" charset="0"/>
                        <a:cs typeface="Noto Sans" charset="0"/>
                      </a:endParaRPr>
                    </a:p>
                  </a:txBody>
                  <a:tcPr marL="101600" marR="101600" marT="63500" marB="63500" anchor="t">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bl>
          </a:graphicData>
        </a:graphic>
      </p:graphicFrame>
      <p:pic>
        <p:nvPicPr>
          <p:cNvPr id="7" name="Image 1"/>
          <p:cNvPicPr>
            <a:picLocks noChangeAspect="1"/>
          </p:cNvPicPr>
          <p:nvPr/>
        </p:nvPicPr>
        <p:blipFill>
          <a:blip r:embed="rId2"/>
          <a:stretch>
            <a:fillRect/>
          </a:stretch>
        </p:blipFill>
        <p:spPr>
          <a:xfrm>
            <a:off x="502920" y="6473952"/>
            <a:ext cx="237744" cy="237744"/>
          </a:xfrm>
          <a:prstGeom prst="rect">
            <a:avLst/>
          </a:prstGeom>
        </p:spPr>
      </p:pic>
      <p:sp>
        <p:nvSpPr>
          <p:cNvPr id="8" name="Text 3"/>
          <p:cNvSpPr/>
          <p:nvPr/>
        </p:nvSpPr>
        <p:spPr>
          <a:xfrm>
            <a:off x="795528" y="6473952"/>
            <a:ext cx="3657600" cy="256032"/>
          </a:xfrm>
          <a:prstGeom prst="rect">
            <a:avLst/>
          </a:prstGeom>
          <a:noFill/>
          <a:ln/>
        </p:spPr>
        <p:txBody>
          <a:bodyPr wrap="square" rtlCol="0" anchor="ctr"/>
          <a:lstStyle/>
          <a:p>
            <a:pPr indent="0" marL="0">
              <a:buNone/>
            </a:pPr>
            <a:r>
              <a:rPr lang="en-US" sz="800" spc="100" kern="0" dirty="0">
                <a:solidFill>
                  <a:srgbClr val="5B6472"/>
                </a:solidFill>
                <a:latin typeface="Noto Sans" pitchFamily="34" charset="0"/>
                <a:ea typeface="Noto Sans" pitchFamily="34" charset="-122"/>
                <a:cs typeface="Noto Sans" pitchFamily="34" charset="-120"/>
              </a:rPr>
              <a:t>EDUPIA  AI CLASS NEW</a:t>
            </a:r>
            <a:endParaRPr lang="en-US" sz="800" dirty="0"/>
          </a:p>
        </p:txBody>
      </p:sp>
      <p:sp>
        <p:nvSpPr>
          <p:cNvPr id="9" name="Text 4"/>
          <p:cNvSpPr/>
          <p:nvPr/>
        </p:nvSpPr>
        <p:spPr>
          <a:xfrm>
            <a:off x="10789920" y="6473952"/>
            <a:ext cx="914400" cy="256032"/>
          </a:xfrm>
          <a:prstGeom prst="rect">
            <a:avLst/>
          </a:prstGeom>
          <a:noFill/>
          <a:ln/>
        </p:spPr>
        <p:txBody>
          <a:bodyPr wrap="square" rtlCol="0" anchor="ctr"/>
          <a:lstStyle/>
          <a:p>
            <a:pPr algn="r" indent="0" marL="0">
              <a:buNone/>
            </a:pPr>
            <a:r>
              <a:rPr lang="en-US" sz="850" dirty="0">
                <a:solidFill>
                  <a:srgbClr val="5B6472"/>
                </a:solidFill>
                <a:latin typeface="Noto Sans" pitchFamily="34" charset="0"/>
                <a:ea typeface="Noto Sans" pitchFamily="34" charset="-122"/>
                <a:cs typeface="Noto Sans" pitchFamily="34" charset="-120"/>
              </a:rPr>
              <a:t>4 / 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Edupia AI Class New — Dinh huong san pham</dc:title>
  <dc:subject>PptxGenJS Presentation</dc:subject>
  <dc:creator>Khoi San pham va Cong nghe</dc:creator>
  <cp:lastModifiedBy>Khoi San pham va Cong nghe</cp:lastModifiedBy>
  <cp:revision>1</cp:revision>
  <dcterms:created xsi:type="dcterms:W3CDTF">2026-08-22T02:22:36Z</dcterms:created>
  <dcterms:modified xsi:type="dcterms:W3CDTF">2026-08-22T02:22:36Z</dcterms:modified>
</cp:coreProperties>
</file>