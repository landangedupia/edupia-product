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671"/>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0C5786">
              <a:alpha val="60000"/>
            </a:srgbClr>
          </a:solidFill>
          <a:ln/>
        </p:spPr>
      </p:sp>
      <p:sp>
        <p:nvSpPr>
          <p:cNvPr id="3" name="Shape 1"/>
          <p:cNvSpPr/>
          <p:nvPr/>
        </p:nvSpPr>
        <p:spPr>
          <a:xfrm>
            <a:off x="10058400" y="-548640"/>
            <a:ext cx="4206240" cy="4206240"/>
          </a:xfrm>
          <a:prstGeom prst="ellipse">
            <a:avLst/>
          </a:prstGeom>
          <a:solidFill>
            <a:srgbClr val="A5BE00">
              <a:alpha val="18000"/>
            </a:srgbClr>
          </a:solidFill>
          <a:ln/>
        </p:spPr>
      </p:sp>
      <p:pic>
        <p:nvPicPr>
          <p:cNvPr id="4" name="Image 0" descr="C:\Users\landa\AppData\Local\Temp\claude\c--Users-landa--Personal--D---n-AI-Class-new\8a85e8a7-bdeb-42d6-9168-79c96b849bd1\scratchpad\pptx-gen\logo-edupia-ai-class-white.png">    </p:cNvPr>
          <p:cNvPicPr>
            <a:picLocks noChangeAspect="1"/>
          </p:cNvPicPr>
          <p:nvPr/>
        </p:nvPicPr>
        <p:blipFill>
          <a:blip r:embed="rId1"/>
          <a:stretch>
            <a:fillRect/>
          </a:stretch>
        </p:blipFill>
        <p:spPr>
          <a:xfrm>
            <a:off x="822960" y="502920"/>
            <a:ext cx="1371600" cy="1170432"/>
          </a:xfrm>
          <a:prstGeom prst="rect">
            <a:avLst/>
          </a:prstGeom>
        </p:spPr>
      </p:pic>
      <p:sp>
        <p:nvSpPr>
          <p:cNvPr id="5" name="Text 2"/>
          <p:cNvSpPr/>
          <p:nvPr/>
        </p:nvSpPr>
        <p:spPr>
          <a:xfrm>
            <a:off x="822960" y="2697480"/>
            <a:ext cx="9144000" cy="365760"/>
          </a:xfrm>
          <a:prstGeom prst="rect">
            <a:avLst/>
          </a:prstGeom>
          <a:noFill/>
          <a:ln/>
        </p:spPr>
        <p:txBody>
          <a:bodyPr wrap="square" rtlCol="0" anchor="ctr"/>
          <a:lstStyle/>
          <a:p>
            <a:pPr indent="0" marL="0">
              <a:buNone/>
            </a:pPr>
            <a:r>
              <a:rPr lang="en-US" sz="1300" b="1" spc="200" kern="0" dirty="0">
                <a:solidFill>
                  <a:srgbClr val="A5BE00"/>
                </a:solidFill>
                <a:latin typeface="Noto Sans" pitchFamily="34" charset="0"/>
                <a:ea typeface="Noto Sans" pitchFamily="34" charset="-122"/>
                <a:cs typeface="Noto Sans" pitchFamily="34" charset="-120"/>
              </a:rPr>
              <a:t>HỌP TRÌNH BÀY CONCEPT</a:t>
            </a:r>
            <a:endParaRPr lang="en-US" sz="1300" dirty="0"/>
          </a:p>
        </p:txBody>
      </p:sp>
      <p:sp>
        <p:nvSpPr>
          <p:cNvPr id="6" name="Text 3"/>
          <p:cNvSpPr/>
          <p:nvPr/>
        </p:nvSpPr>
        <p:spPr>
          <a:xfrm>
            <a:off x="804672" y="3063240"/>
            <a:ext cx="10058400" cy="1051560"/>
          </a:xfrm>
          <a:prstGeom prst="rect">
            <a:avLst/>
          </a:prstGeom>
          <a:noFill/>
          <a:ln/>
        </p:spPr>
        <p:txBody>
          <a:bodyPr wrap="square" rtlCol="0" anchor="ctr"/>
          <a:lstStyle/>
          <a:p>
            <a:pPr indent="0" marL="0">
              <a:buNone/>
            </a:pPr>
            <a:r>
              <a:rPr lang="en-US" sz="4600" b="1" dirty="0">
                <a:solidFill>
                  <a:srgbClr val="FFFFFF"/>
                </a:solidFill>
                <a:latin typeface="Poppins" pitchFamily="34" charset="0"/>
                <a:ea typeface="Poppins" pitchFamily="34" charset="-122"/>
                <a:cs typeface="Poppins" pitchFamily="34" charset="-120"/>
              </a:rPr>
              <a:t>Edupia AI Class New</a:t>
            </a:r>
            <a:endParaRPr lang="en-US" sz="4600" dirty="0"/>
          </a:p>
        </p:txBody>
      </p:sp>
      <p:sp>
        <p:nvSpPr>
          <p:cNvPr id="7" name="Text 4"/>
          <p:cNvSpPr/>
          <p:nvPr/>
        </p:nvSpPr>
        <p:spPr>
          <a:xfrm>
            <a:off x="822960" y="4069080"/>
            <a:ext cx="9144000" cy="502920"/>
          </a:xfrm>
          <a:prstGeom prst="rect">
            <a:avLst/>
          </a:prstGeom>
          <a:noFill/>
          <a:ln/>
        </p:spPr>
        <p:txBody>
          <a:bodyPr wrap="square" rtlCol="0" anchor="ctr"/>
          <a:lstStyle/>
          <a:p>
            <a:pPr indent="0" marL="0">
              <a:buNone/>
            </a:pPr>
            <a:r>
              <a:rPr lang="en-US" sz="2000" dirty="0">
                <a:solidFill>
                  <a:srgbClr val="CFE3EE"/>
                </a:solidFill>
                <a:latin typeface="Noto Sans" pitchFamily="34" charset="0"/>
                <a:ea typeface="Noto Sans" pitchFamily="34" charset="-122"/>
                <a:cs typeface="Noto Sans" pitchFamily="34" charset="-120"/>
              </a:rPr>
              <a:t>Định hướng sản phẩm mới</a:t>
            </a:r>
            <a:endParaRPr lang="en-US" sz="2000" dirty="0"/>
          </a:p>
        </p:txBody>
      </p:sp>
      <p:sp>
        <p:nvSpPr>
          <p:cNvPr id="8" name="Shape 5"/>
          <p:cNvSpPr/>
          <p:nvPr/>
        </p:nvSpPr>
        <p:spPr>
          <a:xfrm>
            <a:off x="841248" y="4800600"/>
            <a:ext cx="640080" cy="41148"/>
          </a:xfrm>
          <a:prstGeom prst="rect">
            <a:avLst/>
          </a:prstGeom>
          <a:solidFill>
            <a:srgbClr val="3B81B1"/>
          </a:solidFill>
          <a:ln/>
        </p:spPr>
      </p:sp>
      <p:sp>
        <p:nvSpPr>
          <p:cNvPr id="9" name="Text 6"/>
          <p:cNvSpPr/>
          <p:nvPr/>
        </p:nvSpPr>
        <p:spPr>
          <a:xfrm>
            <a:off x="822960" y="5989320"/>
            <a:ext cx="9144000" cy="365760"/>
          </a:xfrm>
          <a:prstGeom prst="rect">
            <a:avLst/>
          </a:prstGeom>
          <a:noFill/>
          <a:ln/>
        </p:spPr>
        <p:txBody>
          <a:bodyPr wrap="square" rtlCol="0" anchor="ctr"/>
          <a:lstStyle/>
          <a:p>
            <a:pPr indent="0" marL="0">
              <a:buNone/>
            </a:pPr>
            <a:r>
              <a:rPr lang="en-US" sz="1300" dirty="0">
                <a:solidFill>
                  <a:srgbClr val="9FC4D8"/>
                </a:solidFill>
                <a:latin typeface="Noto Sans" pitchFamily="34" charset="0"/>
                <a:ea typeface="Noto Sans" pitchFamily="34" charset="-122"/>
                <a:cs typeface="Noto Sans" pitchFamily="34" charset="-120"/>
              </a:rPr>
              <a:t>Khối Sản phẩm và Công nghệ  ·  27/08/2026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NỘI DUNG TRÌNH BÀY</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3000" b="1" dirty="0">
                <a:solidFill>
                  <a:srgbClr val="004671"/>
                </a:solidFill>
                <a:latin typeface="Noto Sans" pitchFamily="34" charset="0"/>
                <a:ea typeface="Noto Sans" pitchFamily="34" charset="-122"/>
                <a:cs typeface="Noto Sans" pitchFamily="34" charset="-120"/>
              </a:rPr>
              <a:t>Agenda</a:t>
            </a:r>
            <a:endParaRPr lang="en-US" sz="30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2194560"/>
            <a:ext cx="566928" cy="566928"/>
          </a:xfrm>
          <a:prstGeom prst="ellipse">
            <a:avLst/>
          </a:prstGeom>
          <a:solidFill>
            <a:srgbClr val="004671"/>
          </a:solidFill>
          <a:ln/>
        </p:spPr>
      </p:sp>
      <p:sp>
        <p:nvSpPr>
          <p:cNvPr id="7" name="Text 4"/>
          <p:cNvSpPr/>
          <p:nvPr/>
        </p:nvSpPr>
        <p:spPr>
          <a:xfrm>
            <a:off x="502920" y="219456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1</a:t>
            </a:r>
            <a:endParaRPr lang="en-US" sz="2000" dirty="0"/>
          </a:p>
        </p:txBody>
      </p:sp>
      <p:sp>
        <p:nvSpPr>
          <p:cNvPr id="8" name="Text 5"/>
          <p:cNvSpPr/>
          <p:nvPr/>
        </p:nvSpPr>
        <p:spPr>
          <a:xfrm>
            <a:off x="1371600" y="222199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Mục tiêu chiến lược</a:t>
            </a:r>
            <a:endParaRPr lang="en-US" sz="1800" dirty="0"/>
          </a:p>
        </p:txBody>
      </p:sp>
      <p:sp>
        <p:nvSpPr>
          <p:cNvPr id="9" name="Shape 6"/>
          <p:cNvSpPr/>
          <p:nvPr/>
        </p:nvSpPr>
        <p:spPr>
          <a:xfrm>
            <a:off x="786384" y="2761488"/>
            <a:ext cx="0" cy="393192"/>
          </a:xfrm>
          <a:prstGeom prst="line">
            <a:avLst/>
          </a:prstGeom>
          <a:noFill/>
          <a:ln w="15875">
            <a:solidFill>
              <a:srgbClr val="DCE7EA"/>
            </a:solidFill>
            <a:prstDash val="dash"/>
          </a:ln>
        </p:spPr>
      </p:sp>
      <p:sp>
        <p:nvSpPr>
          <p:cNvPr id="10" name="Shape 7"/>
          <p:cNvSpPr/>
          <p:nvPr/>
        </p:nvSpPr>
        <p:spPr>
          <a:xfrm>
            <a:off x="502920" y="3154680"/>
            <a:ext cx="566928" cy="566928"/>
          </a:xfrm>
          <a:prstGeom prst="ellipse">
            <a:avLst/>
          </a:prstGeom>
          <a:solidFill>
            <a:srgbClr val="3B81B1"/>
          </a:solidFill>
          <a:ln/>
        </p:spPr>
      </p:sp>
      <p:sp>
        <p:nvSpPr>
          <p:cNvPr id="11" name="Text 8"/>
          <p:cNvSpPr/>
          <p:nvPr/>
        </p:nvSpPr>
        <p:spPr>
          <a:xfrm>
            <a:off x="502920" y="315468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2</a:t>
            </a:r>
            <a:endParaRPr lang="en-US" sz="2000" dirty="0"/>
          </a:p>
        </p:txBody>
      </p:sp>
      <p:sp>
        <p:nvSpPr>
          <p:cNvPr id="12" name="Text 9"/>
          <p:cNvSpPr/>
          <p:nvPr/>
        </p:nvSpPr>
        <p:spPr>
          <a:xfrm>
            <a:off x="1371600" y="318211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Định hướng concept sản phẩm</a:t>
            </a:r>
            <a:endParaRPr lang="en-US" sz="1800" dirty="0"/>
          </a:p>
        </p:txBody>
      </p:sp>
      <p:sp>
        <p:nvSpPr>
          <p:cNvPr id="13" name="Shape 10"/>
          <p:cNvSpPr/>
          <p:nvPr/>
        </p:nvSpPr>
        <p:spPr>
          <a:xfrm>
            <a:off x="786384" y="3721608"/>
            <a:ext cx="0" cy="393192"/>
          </a:xfrm>
          <a:prstGeom prst="line">
            <a:avLst/>
          </a:prstGeom>
          <a:noFill/>
          <a:ln w="15875">
            <a:solidFill>
              <a:srgbClr val="DCE7EA"/>
            </a:solidFill>
            <a:prstDash val="dash"/>
          </a:ln>
        </p:spPr>
      </p:sp>
      <p:sp>
        <p:nvSpPr>
          <p:cNvPr id="14" name="Shape 11"/>
          <p:cNvSpPr/>
          <p:nvPr/>
        </p:nvSpPr>
        <p:spPr>
          <a:xfrm>
            <a:off x="502920" y="4114800"/>
            <a:ext cx="566928" cy="566928"/>
          </a:xfrm>
          <a:prstGeom prst="ellipse">
            <a:avLst/>
          </a:prstGeom>
          <a:solidFill>
            <a:srgbClr val="004671"/>
          </a:solidFill>
          <a:ln/>
        </p:spPr>
      </p:sp>
      <p:sp>
        <p:nvSpPr>
          <p:cNvPr id="15" name="Text 12"/>
          <p:cNvSpPr/>
          <p:nvPr/>
        </p:nvSpPr>
        <p:spPr>
          <a:xfrm>
            <a:off x="502920" y="411480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3</a:t>
            </a:r>
            <a:endParaRPr lang="en-US" sz="2000" dirty="0"/>
          </a:p>
        </p:txBody>
      </p:sp>
      <p:sp>
        <p:nvSpPr>
          <p:cNvPr id="16" name="Text 13"/>
          <p:cNvSpPr/>
          <p:nvPr/>
        </p:nvSpPr>
        <p:spPr>
          <a:xfrm>
            <a:off x="1371600" y="414223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Kế hoạch triển khai</a:t>
            </a:r>
            <a:endParaRPr lang="en-US" sz="1800" dirty="0"/>
          </a:p>
        </p:txBody>
      </p:sp>
      <p:sp>
        <p:nvSpPr>
          <p:cNvPr id="17" name="Shape 14"/>
          <p:cNvSpPr/>
          <p:nvPr/>
        </p:nvSpPr>
        <p:spPr>
          <a:xfrm>
            <a:off x="786384" y="4681728"/>
            <a:ext cx="0" cy="393192"/>
          </a:xfrm>
          <a:prstGeom prst="line">
            <a:avLst/>
          </a:prstGeom>
          <a:noFill/>
          <a:ln w="15875">
            <a:solidFill>
              <a:srgbClr val="DCE7EA"/>
            </a:solidFill>
            <a:prstDash val="dash"/>
          </a:ln>
        </p:spPr>
      </p:sp>
      <p:sp>
        <p:nvSpPr>
          <p:cNvPr id="18" name="Shape 15"/>
          <p:cNvSpPr/>
          <p:nvPr/>
        </p:nvSpPr>
        <p:spPr>
          <a:xfrm>
            <a:off x="502920" y="5074920"/>
            <a:ext cx="566928" cy="566928"/>
          </a:xfrm>
          <a:prstGeom prst="ellipse">
            <a:avLst/>
          </a:prstGeom>
          <a:solidFill>
            <a:srgbClr val="3B81B1"/>
          </a:solidFill>
          <a:ln/>
        </p:spPr>
      </p:sp>
      <p:sp>
        <p:nvSpPr>
          <p:cNvPr id="19" name="Text 16"/>
          <p:cNvSpPr/>
          <p:nvPr/>
        </p:nvSpPr>
        <p:spPr>
          <a:xfrm>
            <a:off x="502920" y="507492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4</a:t>
            </a:r>
            <a:endParaRPr lang="en-US" sz="2000" dirty="0"/>
          </a:p>
        </p:txBody>
      </p:sp>
      <p:sp>
        <p:nvSpPr>
          <p:cNvPr id="20" name="Text 17"/>
          <p:cNvSpPr/>
          <p:nvPr/>
        </p:nvSpPr>
        <p:spPr>
          <a:xfrm>
            <a:off x="1371600" y="510235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Phân chia trách nhiệm</a:t>
            </a:r>
            <a:endParaRPr lang="en-US" sz="180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 / 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Vì sao là 390k – 400k?</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371600"/>
            <a:ext cx="11183112" cy="233172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chiến lược</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(Chiến lược Educa 2026-2028)</a:t>
            </a:r>
            <a:endParaRPr lang="en-US" sz="1400" dirty="0"/>
          </a:p>
          <a:p>
            <a:pPr marL="342900" indent="-342900">
              <a:spcAft>
                <a:spcPts val="800"/>
              </a:spcAft>
              <a:buSzPct val="100000"/>
              <a:buChar char="•"/>
            </a:pPr>
            <a:r>
              <a:rPr lang="en-US" sz="1200" dirty="0">
                <a:solidFill>
                  <a:srgbClr val="22333F"/>
                </a:solidFill>
                <a:latin typeface="Noto Sans" pitchFamily="34" charset="0"/>
                <a:ea typeface="Noto Sans" pitchFamily="34" charset="-122"/>
                <a:cs typeface="Noto Sans" pitchFamily="34" charset="-120"/>
              </a:rPr>
              <a:t>Educa tập trung nguồn lực vào phân khúc đại trà (mass) — tái định vị Edupia AI Class theo hướng nâng chất lượng học tập bằng AI, dịch chuyển lên mức giá cao hơn nhưng vẫn trong khả năng chi trả của đa số gia đình Việt Nam.</a:t>
            </a:r>
            <a:endParaRPr lang="en-US" sz="1400" dirty="0"/>
          </a:p>
          <a:p>
            <a:pPr marL="342900" indent="-342900">
              <a:buSzPct val="100000"/>
              <a:buChar char="•"/>
            </a:pPr>
            <a:r>
              <a:rPr lang="en-US" sz="1200" i="1" dirty="0">
                <a:solidFill>
                  <a:srgbClr val="22333F"/>
                </a:solidFill>
                <a:latin typeface="Noto Sans" pitchFamily="34" charset="0"/>
                <a:ea typeface="Noto Sans" pitchFamily="34" charset="-122"/>
                <a:cs typeface="Noto Sans" pitchFamily="34" charset="-120"/>
              </a:rPr>
              <a:t>Cách thắng: “Lợi thế của các sản phẩm này không nằm ở việc thu hút giáo viên nổi tiếng nhất hay mức độ trưởng thành về công nghệ cá nhân hóa nhất, mà ở khả năng tạo ra hiệu quả học tập vượt trội nhất thông qua việc ứng dụng AI/Dữ liệu vào tất cả các công đoạn.”</a:t>
            </a:r>
            <a:endParaRPr lang="en-US" sz="1400" dirty="0"/>
          </a:p>
        </p:txBody>
      </p:sp>
      <p:sp>
        <p:nvSpPr>
          <p:cNvPr id="7" name="Shape 4"/>
          <p:cNvSpPr/>
          <p:nvPr/>
        </p:nvSpPr>
        <p:spPr>
          <a:xfrm>
            <a:off x="502920" y="3886200"/>
            <a:ext cx="11183112" cy="2331720"/>
          </a:xfrm>
          <a:prstGeom prst="rect">
            <a:avLst/>
          </a:prstGeom>
          <a:solidFill>
            <a:srgbClr val="F2FAFB"/>
          </a:solidFill>
          <a:ln w="12700">
            <a:solidFill>
              <a:srgbClr val="DCE7EA"/>
            </a:solidFill>
            <a:prstDash val="solid"/>
          </a:ln>
        </p:spPr>
      </p:sp>
      <p:sp>
        <p:nvSpPr>
          <p:cNvPr id="8" name="Text 5"/>
          <p:cNvSpPr/>
          <p:nvPr/>
        </p:nvSpPr>
        <p:spPr>
          <a:xfrm>
            <a:off x="731520" y="4069080"/>
            <a:ext cx="10725912" cy="196596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cụ thể</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(cấp sản phẩm — Edupia AI Class New)</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Thị trường hiện có một phân khúc công ty đang bỏ lỡ: giữa sản phẩm tự học giá rẻ (Edupia AI Class hiện tại - Big Class - 250k) và sản phẩm có gia sư/GV thật cao cấp hơn (Edupia Tutor) → Cần một sản phẩm phù hợp để đánh đúng vào tệp khách hàng này.</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Edupia AI Class New sẽ là sản phẩm mass ở dải giá này — vai trò Product Growth Engine: dẫn dắt tăng trưởng người dùng, doanh thu, lợi nhuận.</a:t>
            </a:r>
            <a:endParaRPr lang="en-US" sz="1400" dirty="0"/>
          </a:p>
          <a:p>
            <a:pPr marL="342900" indent="-342900">
              <a:buSzPct val="100000"/>
              <a:buChar char="•"/>
            </a:pPr>
            <a:r>
              <a:rPr lang="en-US" sz="1200" b="1" dirty="0">
                <a:solidFill>
                  <a:srgbClr val="004671"/>
                </a:solidFill>
                <a:latin typeface="Noto Sans" pitchFamily="34" charset="0"/>
                <a:ea typeface="Noto Sans" pitchFamily="34" charset="-122"/>
                <a:cs typeface="Noto Sans" pitchFamily="34" charset="-120"/>
              </a:rPr>
              <a:t>Giá bán: 390k là giá mục tiêu sau khi đầu tư 1 trong 3 concept dưới đây.</a:t>
            </a:r>
            <a:endParaRPr lang="en-US" sz="1400" dirty="0"/>
          </a:p>
        </p:txBody>
      </p:sp>
      <p:pic>
        <p:nvPicPr>
          <p:cNvPr id="9"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0" name="Text 6"/>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1" name="Text 7"/>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2 / 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Quy mô thị trường Tier 3/4</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Số liệu tham khảo, có sai số — suy luận từ dữ liệu thu nhập GSO (KSMS 2024), chưa có khảo sát trực tiếp tier 3/4. Sẽ được xác nhận lại qua khảo sát WTP tháng 9.</a:t>
            </a:r>
            <a:endParaRPr lang="en-US" sz="1050" dirty="0"/>
          </a:p>
        </p:txBody>
      </p:sp>
      <p:sp>
        <p:nvSpPr>
          <p:cNvPr id="7" name="Shape 4"/>
          <p:cNvSpPr/>
          <p:nvPr/>
        </p:nvSpPr>
        <p:spPr>
          <a:xfrm>
            <a:off x="502920" y="1664208"/>
            <a:ext cx="3605784" cy="1234440"/>
          </a:xfrm>
          <a:prstGeom prst="rect">
            <a:avLst/>
          </a:prstGeom>
          <a:solidFill>
            <a:srgbClr val="D6F1F2"/>
          </a:solidFill>
          <a:ln/>
        </p:spPr>
      </p:sp>
      <p:sp>
        <p:nvSpPr>
          <p:cNvPr id="8" name="Text 5"/>
          <p:cNvSpPr/>
          <p:nvPr/>
        </p:nvSpPr>
        <p:spPr>
          <a:xfrm>
            <a:off x="640080" y="1773936"/>
            <a:ext cx="3331464" cy="548640"/>
          </a:xfrm>
          <a:prstGeom prst="rect">
            <a:avLst/>
          </a:prstGeom>
          <a:noFill/>
          <a:ln/>
        </p:spPr>
        <p:txBody>
          <a:bodyPr wrap="square" rtlCol="0" anchor="ctr"/>
          <a:lstStyle/>
          <a:p>
            <a:pPr indent="0" marL="0">
              <a:buNone/>
            </a:pPr>
            <a:r>
              <a:rPr lang="en-US" sz="2200" b="1" dirty="0">
                <a:solidFill>
                  <a:srgbClr val="004671"/>
                </a:solidFill>
                <a:latin typeface="Noto Sans" pitchFamily="34" charset="0"/>
                <a:ea typeface="Noto Sans" pitchFamily="34" charset="-122"/>
                <a:cs typeface="Noto Sans" pitchFamily="34" charset="-120"/>
              </a:rPr>
              <a:t>~75-78 triệu</a:t>
            </a:r>
            <a:endParaRPr lang="en-US" sz="2200" dirty="0"/>
          </a:p>
        </p:txBody>
      </p:sp>
      <p:sp>
        <p:nvSpPr>
          <p:cNvPr id="9" name="Text 6"/>
          <p:cNvSpPr/>
          <p:nvPr/>
        </p:nvSpPr>
        <p:spPr>
          <a:xfrm>
            <a:off x="640080" y="2350008"/>
            <a:ext cx="3331464" cy="502920"/>
          </a:xfrm>
          <a:prstGeom prst="rect">
            <a:avLst/>
          </a:prstGeom>
          <a:noFill/>
          <a:ln/>
        </p:spPr>
        <p:txBody>
          <a:bodyPr wrap="square" rtlCol="0" anchor="t"/>
          <a:lstStyle/>
          <a:p>
            <a:pPr indent="0" marL="0">
              <a:buNone/>
            </a:pPr>
            <a:r>
              <a:rPr lang="en-US" sz="1000" dirty="0">
                <a:solidFill>
                  <a:srgbClr val="5B6472"/>
                </a:solidFill>
                <a:latin typeface="Noto Sans" pitchFamily="34" charset="0"/>
                <a:ea typeface="Noto Sans" pitchFamily="34" charset="-122"/>
                <a:cs typeface="Noto Sans" pitchFamily="34" charset="-120"/>
              </a:rPr>
              <a:t>người dân ngoài 5 TP trực thuộc TW</a:t>
            </a:r>
            <a:endParaRPr lang="en-US" sz="1000" dirty="0"/>
          </a:p>
        </p:txBody>
      </p:sp>
      <p:sp>
        <p:nvSpPr>
          <p:cNvPr id="10" name="Shape 7"/>
          <p:cNvSpPr/>
          <p:nvPr/>
        </p:nvSpPr>
        <p:spPr>
          <a:xfrm>
            <a:off x="4291584" y="1664208"/>
            <a:ext cx="3605784" cy="1234440"/>
          </a:xfrm>
          <a:prstGeom prst="rect">
            <a:avLst/>
          </a:prstGeom>
          <a:solidFill>
            <a:srgbClr val="004671"/>
          </a:solidFill>
          <a:ln/>
        </p:spPr>
      </p:sp>
      <p:sp>
        <p:nvSpPr>
          <p:cNvPr id="11" name="Text 8"/>
          <p:cNvSpPr/>
          <p:nvPr/>
        </p:nvSpPr>
        <p:spPr>
          <a:xfrm>
            <a:off x="4428744" y="1773936"/>
            <a:ext cx="3331464" cy="548640"/>
          </a:xfrm>
          <a:prstGeom prst="rect">
            <a:avLst/>
          </a:prstGeom>
          <a:noFill/>
          <a:ln/>
        </p:spPr>
        <p:txBody>
          <a:bodyPr wrap="square" rtlCol="0" anchor="ctr"/>
          <a:lstStyle/>
          <a:p>
            <a:pPr indent="0" marL="0">
              <a:buNone/>
            </a:pPr>
            <a:r>
              <a:rPr lang="en-US" sz="2200" b="1" dirty="0">
                <a:solidFill>
                  <a:srgbClr val="FFFFFF"/>
                </a:solidFill>
                <a:latin typeface="Noto Sans" pitchFamily="34" charset="0"/>
                <a:ea typeface="Noto Sans" pitchFamily="34" charset="-122"/>
                <a:cs typeface="Noto Sans" pitchFamily="34" charset="-120"/>
              </a:rPr>
              <a:t>~4,5 triệu</a:t>
            </a:r>
            <a:endParaRPr lang="en-US" sz="2200" dirty="0"/>
          </a:p>
        </p:txBody>
      </p:sp>
      <p:sp>
        <p:nvSpPr>
          <p:cNvPr id="12" name="Text 9"/>
          <p:cNvSpPr/>
          <p:nvPr/>
        </p:nvSpPr>
        <p:spPr>
          <a:xfrm>
            <a:off x="4428744" y="2350008"/>
            <a:ext cx="3331464" cy="502920"/>
          </a:xfrm>
          <a:prstGeom prst="rect">
            <a:avLst/>
          </a:prstGeom>
          <a:noFill/>
          <a:ln/>
        </p:spPr>
        <p:txBody>
          <a:bodyPr wrap="square" rtlCol="0" anchor="t"/>
          <a:lstStyle/>
          <a:p>
            <a:pPr indent="0" marL="0">
              <a:buNone/>
            </a:pPr>
            <a:r>
              <a:rPr lang="en-US" sz="1000" dirty="0">
                <a:solidFill>
                  <a:srgbClr val="CFE3EE"/>
                </a:solidFill>
                <a:latin typeface="Noto Sans" pitchFamily="34" charset="0"/>
                <a:ea typeface="Noto Sans" pitchFamily="34" charset="-122"/>
                <a:cs typeface="Noto Sans" pitchFamily="34" charset="-120"/>
              </a:rPr>
              <a:t>thu nhập b.quân đầu người/tháng (nông thôn, toàn quốc)</a:t>
            </a:r>
            <a:endParaRPr lang="en-US" sz="1000" dirty="0"/>
          </a:p>
        </p:txBody>
      </p:sp>
      <p:sp>
        <p:nvSpPr>
          <p:cNvPr id="13" name="Shape 10"/>
          <p:cNvSpPr/>
          <p:nvPr/>
        </p:nvSpPr>
        <p:spPr>
          <a:xfrm>
            <a:off x="8080248" y="1664208"/>
            <a:ext cx="3605784" cy="1234440"/>
          </a:xfrm>
          <a:prstGeom prst="rect">
            <a:avLst/>
          </a:prstGeom>
          <a:solidFill>
            <a:srgbClr val="D6F1F2"/>
          </a:solidFill>
          <a:ln/>
        </p:spPr>
      </p:sp>
      <p:sp>
        <p:nvSpPr>
          <p:cNvPr id="14" name="Text 11"/>
          <p:cNvSpPr/>
          <p:nvPr/>
        </p:nvSpPr>
        <p:spPr>
          <a:xfrm>
            <a:off x="8217408" y="1773936"/>
            <a:ext cx="3331464" cy="548640"/>
          </a:xfrm>
          <a:prstGeom prst="rect">
            <a:avLst/>
          </a:prstGeom>
          <a:noFill/>
          <a:ln/>
        </p:spPr>
        <p:txBody>
          <a:bodyPr wrap="square" rtlCol="0" anchor="ctr"/>
          <a:lstStyle/>
          <a:p>
            <a:pPr indent="0" marL="0">
              <a:buNone/>
            </a:pPr>
            <a:r>
              <a:rPr lang="en-US" sz="2200" b="1" dirty="0">
                <a:solidFill>
                  <a:srgbClr val="004671"/>
                </a:solidFill>
                <a:latin typeface="Noto Sans" pitchFamily="34" charset="0"/>
                <a:ea typeface="Noto Sans" pitchFamily="34" charset="-122"/>
                <a:cs typeface="Noto Sans" pitchFamily="34" charset="-120"/>
              </a:rPr>
              <a:t>2,4% – 10,5%</a:t>
            </a:r>
            <a:endParaRPr lang="en-US" sz="2200" dirty="0"/>
          </a:p>
        </p:txBody>
      </p:sp>
      <p:sp>
        <p:nvSpPr>
          <p:cNvPr id="15" name="Text 12"/>
          <p:cNvSpPr/>
          <p:nvPr/>
        </p:nvSpPr>
        <p:spPr>
          <a:xfrm>
            <a:off x="8217408" y="2350008"/>
            <a:ext cx="3331464" cy="502920"/>
          </a:xfrm>
          <a:prstGeom prst="rect">
            <a:avLst/>
          </a:prstGeom>
          <a:noFill/>
          <a:ln/>
        </p:spPr>
        <p:txBody>
          <a:bodyPr wrap="square" rtlCol="0" anchor="t"/>
          <a:lstStyle/>
          <a:p>
            <a:pPr indent="0" marL="0">
              <a:buNone/>
            </a:pPr>
            <a:r>
              <a:rPr lang="en-US" sz="1000" dirty="0">
                <a:solidFill>
                  <a:srgbClr val="5B6472"/>
                </a:solidFill>
                <a:latin typeface="Noto Sans" pitchFamily="34" charset="0"/>
                <a:ea typeface="Noto Sans" pitchFamily="34" charset="-122"/>
                <a:cs typeface="Noto Sans" pitchFamily="34" charset="-120"/>
              </a:rPr>
              <a:t>tỷ trọng 390-400k/tháng trong thu nhập, tuỳ vùng</a:t>
            </a:r>
            <a:endParaRPr lang="en-US" sz="1000" dirty="0"/>
          </a:p>
        </p:txBody>
      </p:sp>
      <p:sp>
        <p:nvSpPr>
          <p:cNvPr id="16" name="Text 13"/>
          <p:cNvSpPr/>
          <p:nvPr/>
        </p:nvSpPr>
        <p:spPr>
          <a:xfrm>
            <a:off x="502920" y="3172968"/>
            <a:ext cx="11183112" cy="3227832"/>
          </a:xfrm>
          <a:prstGeom prst="rect">
            <a:avLst/>
          </a:prstGeom>
          <a:noFill/>
          <a:ln/>
        </p:spPr>
        <p:txBody>
          <a:bodyPr wrap="square" rtlCol="0" anchor="t"/>
          <a:lstStyle/>
          <a:p>
            <a:pPr marL="342900" indent="-342900">
              <a:lnSpc>
                <a:spcPct val="110000"/>
              </a:lnSpc>
              <a:spcAft>
                <a:spcPts val="600"/>
              </a:spcAft>
              <a:buSzPct val="100000"/>
              <a:buChar char="•"/>
            </a:pPr>
            <a:r>
              <a:rPr lang="en-US" sz="1250" dirty="0">
                <a:solidFill>
                  <a:srgbClr val="22333F"/>
                </a:solidFill>
                <a:latin typeface="Noto Sans" pitchFamily="34" charset="0"/>
                <a:ea typeface="Noto Sans" pitchFamily="34" charset="-122"/>
                <a:cs typeface="Noto Sans" pitchFamily="34" charset="-120"/>
              </a:rPr>
              <a:t>Thu nhập chênh lệch vùng miền lớn, từ ~7,1 triệu (Đông Nam Bộ) đến ~3,8 triệu (Trung du miền núi phía Bắc).</a:t>
            </a:r>
            <a:endParaRPr lang="en-US" sz="1250" dirty="0"/>
          </a:p>
          <a:p>
            <a:pPr marL="342900" indent="-342900">
              <a:lnSpc>
                <a:spcPct val="110000"/>
              </a:lnSpc>
              <a:spcAft>
                <a:spcPts val="600"/>
              </a:spcAft>
              <a:buSzPct val="100000"/>
              <a:buChar char="•"/>
            </a:pPr>
            <a:r>
              <a:rPr lang="en-US" sz="1250" dirty="0">
                <a:solidFill>
                  <a:srgbClr val="22333F"/>
                </a:solidFill>
                <a:latin typeface="Noto Sans" pitchFamily="34" charset="0"/>
                <a:ea typeface="Noto Sans" pitchFamily="34" charset="-122"/>
                <a:cs typeface="Noto Sans" pitchFamily="34" charset="-120"/>
              </a:rPr>
              <a:t>Ở mức thu nhập nông thôn trung bình, 390-400k/tháng là khoản chi tương đối nhỏ (≈2,4-2,5% thu nhập hộ gia đình). Ở vùng thu nhập thấp nhất cả nước, cùng mức giá chiếm ~10-10,5% thu nhập đầu người — sát ngưỡng chi tiêu định kỳ chấp nhận được.</a:t>
            </a:r>
            <a:endParaRPr lang="en-US" sz="1250" dirty="0"/>
          </a:p>
          <a:p>
            <a:pPr marL="342900" indent="-342900">
              <a:lnSpc>
                <a:spcPct val="110000"/>
              </a:lnSpc>
              <a:buSzPct val="100000"/>
              <a:buChar char="•"/>
            </a:pPr>
            <a:r>
              <a:rPr lang="en-US" sz="1250" dirty="0">
                <a:solidFill>
                  <a:srgbClr val="22333F"/>
                </a:solidFill>
                <a:latin typeface="Noto Sans" pitchFamily="34" charset="0"/>
                <a:ea typeface="Noto Sans" pitchFamily="34" charset="-122"/>
                <a:cs typeface="Noto Sans" pitchFamily="34" charset="-120"/>
              </a:rPr>
              <a:t>“Tier 3/4” không phải một phân khúc thu nhập đồng nhất — nên đọc là 2 nhóm: (A) tỉnh/huyện khá giả (rào cản chính là niềm tin, không phải giá) và (B) vùng khó khăn (rào cản kép: nhận thức + khả năng chi trả).</a:t>
            </a:r>
            <a:endParaRPr lang="en-US" sz="1250" dirty="0"/>
          </a:p>
        </p:txBody>
      </p:sp>
      <p:pic>
        <p:nvPicPr>
          <p:cNvPr id="1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8" name="Text 14"/>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9" name="Text 15"/>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3 / 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Tổng quan nhanh 3 định hướng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1371600"/>
            <a:ext cx="3605784" cy="777240"/>
          </a:xfrm>
          <a:prstGeom prst="rect">
            <a:avLst/>
          </a:prstGeom>
          <a:solidFill>
            <a:srgbClr val="004671"/>
          </a:solidFill>
          <a:ln/>
        </p:spPr>
      </p:sp>
      <p:sp>
        <p:nvSpPr>
          <p:cNvPr id="7" name="Text 4"/>
          <p:cNvSpPr/>
          <p:nvPr/>
        </p:nvSpPr>
        <p:spPr>
          <a:xfrm>
            <a:off x="667512"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1</a:t>
            </a:r>
            <a:endParaRPr lang="en-US" sz="1600" dirty="0"/>
          </a:p>
        </p:txBody>
      </p:sp>
      <p:sp>
        <p:nvSpPr>
          <p:cNvPr id="8" name="Text 5"/>
          <p:cNvSpPr/>
          <p:nvPr/>
        </p:nvSpPr>
        <p:spPr>
          <a:xfrm>
            <a:off x="667512"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&amp; nâng cấp</a:t>
            </a:r>
            <a:endParaRPr lang="en-US" sz="1100" dirty="0"/>
          </a:p>
        </p:txBody>
      </p:sp>
      <p:sp>
        <p:nvSpPr>
          <p:cNvPr id="9" name="Shape 6"/>
          <p:cNvSpPr/>
          <p:nvPr/>
        </p:nvSpPr>
        <p:spPr>
          <a:xfrm>
            <a:off x="502920" y="2148840"/>
            <a:ext cx="3605784" cy="3657600"/>
          </a:xfrm>
          <a:prstGeom prst="rect">
            <a:avLst/>
          </a:prstGeom>
          <a:solidFill>
            <a:srgbClr val="F2FAFB"/>
          </a:solidFill>
          <a:ln w="12700">
            <a:solidFill>
              <a:srgbClr val="DCE7EA"/>
            </a:solidFill>
            <a:prstDash val="solid"/>
          </a:ln>
        </p:spPr>
      </p:sp>
      <p:sp>
        <p:nvSpPr>
          <p:cNvPr id="10" name="Text 7"/>
          <p:cNvSpPr/>
          <p:nvPr/>
        </p:nvSpPr>
        <p:spPr>
          <a:xfrm>
            <a:off x="667512"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00467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Big Class làm trung tâm + AI Practice + AI Speak + AI Club, nâng cấp AI hỗ trợ sâu dần</a:t>
            </a:r>
            <a:endParaRPr lang="en-US" sz="1050" dirty="0"/>
          </a:p>
          <a:p>
            <a:pPr indent="0" marL="0">
              <a:lnSpc>
                <a:spcPct val="105000"/>
              </a:lnSpc>
              <a:spcAft>
                <a:spcPts val="300"/>
              </a:spcAft>
              <a:buNone/>
            </a:pPr>
            <a:r>
              <a:rPr lang="en-US" sz="1050" b="1" dirty="0">
                <a:solidFill>
                  <a:srgbClr val="00467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1.1: Nâng cấp chất lượng nội dung có sẵn, không đổi cấu trúc sản phẩm.</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1.2: Đầu tư sâu vào tầng công nghệ AI chẩn đoán và cá nhân hóa + kế thừa toàn bộ Option 1.1</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1.3: Nâng cấp mạnh tầng con người (GVCN chăm sóc thêm)</a:t>
            </a:r>
            <a:endParaRPr lang="en-US" sz="1050" dirty="0"/>
          </a:p>
        </p:txBody>
      </p:sp>
      <p:sp>
        <p:nvSpPr>
          <p:cNvPr id="11" name="Shape 8"/>
          <p:cNvSpPr/>
          <p:nvPr/>
        </p:nvSpPr>
        <p:spPr>
          <a:xfrm>
            <a:off x="4291584" y="1371600"/>
            <a:ext cx="3605784" cy="777240"/>
          </a:xfrm>
          <a:prstGeom prst="rect">
            <a:avLst/>
          </a:prstGeom>
          <a:solidFill>
            <a:srgbClr val="3B81B1"/>
          </a:solidFill>
          <a:ln/>
        </p:spPr>
      </p:sp>
      <p:sp>
        <p:nvSpPr>
          <p:cNvPr id="12" name="Text 9"/>
          <p:cNvSpPr/>
          <p:nvPr/>
        </p:nvSpPr>
        <p:spPr>
          <a:xfrm>
            <a:off x="4456176"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2</a:t>
            </a:r>
            <a:endParaRPr lang="en-US" sz="1600" dirty="0"/>
          </a:p>
        </p:txBody>
      </p:sp>
      <p:sp>
        <p:nvSpPr>
          <p:cNvPr id="13" name="Text 10"/>
          <p:cNvSpPr/>
          <p:nvPr/>
        </p:nvSpPr>
        <p:spPr>
          <a:xfrm>
            <a:off x="4456176"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 Thêm môn</a:t>
            </a:r>
            <a:endParaRPr lang="en-US" sz="1100" dirty="0"/>
          </a:p>
        </p:txBody>
      </p:sp>
      <p:sp>
        <p:nvSpPr>
          <p:cNvPr id="14" name="Shape 11"/>
          <p:cNvSpPr/>
          <p:nvPr/>
        </p:nvSpPr>
        <p:spPr>
          <a:xfrm>
            <a:off x="4291584" y="2148840"/>
            <a:ext cx="3605784" cy="3657600"/>
          </a:xfrm>
          <a:prstGeom prst="rect">
            <a:avLst/>
          </a:prstGeom>
          <a:solidFill>
            <a:srgbClr val="F2FAFB"/>
          </a:solidFill>
          <a:ln w="12700">
            <a:solidFill>
              <a:srgbClr val="DCE7EA"/>
            </a:solidFill>
            <a:prstDash val="solid"/>
          </a:ln>
        </p:spPr>
      </p:sp>
      <p:sp>
        <p:nvSpPr>
          <p:cNvPr id="15" name="Text 12"/>
          <p:cNvSpPr/>
          <p:nvPr/>
        </p:nvSpPr>
        <p:spPr>
          <a:xfrm>
            <a:off x="4456176"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3B81B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nền Concept Big Class hiện tại, thêm 1 buổi Live/tuần môn khác</a:t>
            </a:r>
            <a:endParaRPr lang="en-US" sz="1050" dirty="0"/>
          </a:p>
          <a:p>
            <a:pPr indent="0" marL="0">
              <a:lnSpc>
                <a:spcPct val="105000"/>
              </a:lnSpc>
              <a:spcAft>
                <a:spcPts val="300"/>
              </a:spcAft>
              <a:buNone/>
            </a:pPr>
            <a:r>
              <a:rPr lang="en-US" sz="1050" b="1" dirty="0">
                <a:solidFill>
                  <a:srgbClr val="3B81B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2.1: Big Class + thêm môn học GDPT</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2.2: Big Class + thêm môn khác (ngoài chương trình GDPT): STEM, STEAM, AI, Kỹ năng sống, …</a:t>
            </a:r>
            <a:endParaRPr lang="en-US" sz="1050" dirty="0"/>
          </a:p>
        </p:txBody>
      </p:sp>
      <p:sp>
        <p:nvSpPr>
          <p:cNvPr id="16" name="Shape 13"/>
          <p:cNvSpPr/>
          <p:nvPr/>
        </p:nvSpPr>
        <p:spPr>
          <a:xfrm>
            <a:off x="8080248" y="1371600"/>
            <a:ext cx="3605784" cy="777240"/>
          </a:xfrm>
          <a:prstGeom prst="rect">
            <a:avLst/>
          </a:prstGeom>
          <a:solidFill>
            <a:srgbClr val="518E0D"/>
          </a:solidFill>
          <a:ln/>
        </p:spPr>
      </p:sp>
      <p:sp>
        <p:nvSpPr>
          <p:cNvPr id="17" name="Text 14"/>
          <p:cNvSpPr/>
          <p:nvPr/>
        </p:nvSpPr>
        <p:spPr>
          <a:xfrm>
            <a:off x="8244840"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3</a:t>
            </a:r>
            <a:endParaRPr lang="en-US" sz="1600" dirty="0"/>
          </a:p>
        </p:txBody>
      </p:sp>
      <p:sp>
        <p:nvSpPr>
          <p:cNvPr id="18" name="Text 15"/>
          <p:cNvSpPr/>
          <p:nvPr/>
        </p:nvSpPr>
        <p:spPr>
          <a:xfrm>
            <a:off x="8244840"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Gia sư AI 1:1</a:t>
            </a:r>
            <a:endParaRPr lang="en-US" sz="1100" dirty="0"/>
          </a:p>
        </p:txBody>
      </p:sp>
      <p:sp>
        <p:nvSpPr>
          <p:cNvPr id="19" name="Shape 16"/>
          <p:cNvSpPr/>
          <p:nvPr/>
        </p:nvSpPr>
        <p:spPr>
          <a:xfrm>
            <a:off x="8080248" y="2148840"/>
            <a:ext cx="3605784" cy="3657600"/>
          </a:xfrm>
          <a:prstGeom prst="rect">
            <a:avLst/>
          </a:prstGeom>
          <a:solidFill>
            <a:srgbClr val="F2FAFB"/>
          </a:solidFill>
          <a:ln w="12700">
            <a:solidFill>
              <a:srgbClr val="DCE7EA"/>
            </a:solidFill>
            <a:prstDash val="solid"/>
          </a:ln>
        </p:spPr>
      </p:sp>
      <p:sp>
        <p:nvSpPr>
          <p:cNvPr id="20" name="Text 17"/>
          <p:cNvSpPr/>
          <p:nvPr/>
        </p:nvSpPr>
        <p:spPr>
          <a:xfrm>
            <a:off x="8244840"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518E0D"/>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AI Tutor 1-1 đóng vai trò gia sư chính trong các lớp học, không chỉ hỗ trợ lớp học</a:t>
            </a:r>
            <a:endParaRPr lang="en-US" sz="1050" dirty="0"/>
          </a:p>
          <a:p>
            <a:pPr indent="0" marL="0">
              <a:lnSpc>
                <a:spcPct val="105000"/>
              </a:lnSpc>
              <a:spcAft>
                <a:spcPts val="300"/>
              </a:spcAft>
              <a:buNone/>
            </a:pPr>
            <a:r>
              <a:rPr lang="en-US" sz="1050" b="1" dirty="0">
                <a:solidFill>
                  <a:srgbClr val="518E0D"/>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3.1: AI nhân hoá “giáo viên ngôi sao”</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3.2: AI tích hợp mascot + gamification</a:t>
            </a:r>
            <a:endParaRPr lang="en-US" sz="105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4 / 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1: Làm mịn và nâng cấp</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nguyên Big Class + AI Practice + AI Speak + Edupia Club + GVCN hiện có — không đổi mô hình sản phẩm.</a:t>
            </a:r>
            <a:endParaRPr lang="en-US" sz="1050" dirty="0"/>
          </a:p>
        </p:txBody>
      </p:sp>
      <p:sp>
        <p:nvSpPr>
          <p:cNvPr id="7" name="Shape 4"/>
          <p:cNvSpPr/>
          <p:nvPr/>
        </p:nvSpPr>
        <p:spPr>
          <a:xfrm>
            <a:off x="502920" y="1664208"/>
            <a:ext cx="73152" cy="1289304"/>
          </a:xfrm>
          <a:prstGeom prst="rect">
            <a:avLst/>
          </a:prstGeom>
          <a:solidFill>
            <a:srgbClr val="004671"/>
          </a:solidFill>
          <a:ln/>
        </p:spPr>
      </p:sp>
      <p:sp>
        <p:nvSpPr>
          <p:cNvPr id="8" name="Text 5"/>
          <p:cNvSpPr/>
          <p:nvPr/>
        </p:nvSpPr>
        <p:spPr>
          <a:xfrm>
            <a:off x="731520" y="1664208"/>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1.1 — Nâng cấp chất lượng nội dung có sẵn, không đổi cấu trúc sản phẩm</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kho đề Practice + AI Mocktest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độ chính xác chấm-chữa phát âm Speak</a:t>
            </a:r>
            <a:endParaRPr lang="en-US" sz="1300" dirty="0"/>
          </a:p>
        </p:txBody>
      </p:sp>
      <p:sp>
        <p:nvSpPr>
          <p:cNvPr id="9" name="Shape 6"/>
          <p:cNvSpPr/>
          <p:nvPr/>
        </p:nvSpPr>
        <p:spPr>
          <a:xfrm>
            <a:off x="502920" y="3136392"/>
            <a:ext cx="73152" cy="1289304"/>
          </a:xfrm>
          <a:prstGeom prst="rect">
            <a:avLst/>
          </a:prstGeom>
          <a:solidFill>
            <a:srgbClr val="3B81B1"/>
          </a:solidFill>
          <a:ln/>
        </p:spPr>
      </p:sp>
      <p:sp>
        <p:nvSpPr>
          <p:cNvPr id="10" name="Text 7"/>
          <p:cNvSpPr/>
          <p:nvPr/>
        </p:nvSpPr>
        <p:spPr>
          <a:xfrm>
            <a:off x="731520" y="3136392"/>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1.2 — Đầu tư sâu vào tầng công nghệ AI chẩn đoán và cá nhân hóa</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Kế thừa toàn bộ Option 1.1</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AI Tutor 30 phút cố định sau Big Class</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Adaptive Learning: tự động vá lỗ hổng theo 1.473 đơn vị kiến thức (NLO)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Parent Mode — Mastery Map: giao diện dành riêng cho phụ huynh để theo dõi tiến bộ của con</a:t>
            </a:r>
            <a:endParaRPr lang="en-US" sz="1300" dirty="0"/>
          </a:p>
        </p:txBody>
      </p:sp>
      <p:sp>
        <p:nvSpPr>
          <p:cNvPr id="11" name="Shape 8"/>
          <p:cNvSpPr/>
          <p:nvPr/>
        </p:nvSpPr>
        <p:spPr>
          <a:xfrm>
            <a:off x="502920" y="4608576"/>
            <a:ext cx="73152" cy="1289304"/>
          </a:xfrm>
          <a:prstGeom prst="rect">
            <a:avLst/>
          </a:prstGeom>
          <a:solidFill>
            <a:srgbClr val="518E0D"/>
          </a:solidFill>
          <a:ln/>
        </p:spPr>
      </p:sp>
      <p:sp>
        <p:nvSpPr>
          <p:cNvPr id="12" name="Text 9"/>
          <p:cNvSpPr/>
          <p:nvPr/>
        </p:nvSpPr>
        <p:spPr>
          <a:xfrm>
            <a:off x="731520" y="4608576"/>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1.3 — Nâng cấp mạnh con người</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GVCN mở rộng: chủ động giao bài, theo sát tiến độ, giới hạn đổi GV (≤2 lần/6 tháng), tỷ lệ mục tiêu 1:2.000</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Thông báo tình hình học sau mỗi buổi nếu có vấn đề (Zalo cá nhân)</a:t>
            </a:r>
            <a:endParaRPr lang="en-US" sz="1300" dirty="0"/>
          </a:p>
        </p:txBody>
      </p:sp>
      <p:sp>
        <p:nvSpPr>
          <p:cNvPr id="13" name="Shape 10"/>
          <p:cNvSpPr/>
          <p:nvPr/>
        </p:nvSpPr>
        <p:spPr>
          <a:xfrm>
            <a:off x="502920" y="5623560"/>
            <a:ext cx="11183112" cy="621792"/>
          </a:xfrm>
          <a:prstGeom prst="rect">
            <a:avLst/>
          </a:prstGeom>
          <a:solidFill>
            <a:srgbClr val="004671"/>
          </a:solidFill>
          <a:ln/>
        </p:spPr>
      </p:sp>
      <p:sp>
        <p:nvSpPr>
          <p:cNvPr id="14" name="Text 11"/>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giáo viên thật và công cụ luyện tập, luyện nói được tối ưu bằng AI.”</a:t>
            </a:r>
            <a:endParaRPr lang="en-US" sz="1150" dirty="0"/>
          </a:p>
        </p:txBody>
      </p:sp>
      <p:pic>
        <p:nvPicPr>
          <p:cNvPr id="15"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6" name="Text 12"/>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5 / 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2: Làm mịn và thêm môn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nền Concept 1 nâng cấp làm mịn sản phẩm + thêm 1 buổi Live/tuần môn khác (ngoài tiếng Anh).</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2.1 – Thêm môn học thuộc chương trình GDPT</a:t>
            </a:r>
            <a:endParaRPr lang="en-US" sz="1300" dirty="0"/>
          </a:p>
          <a:p>
            <a:pPr indent="0" marL="0">
              <a:lnSpc>
                <a:spcPct val="102000"/>
              </a:lnSpc>
              <a:spcAft>
                <a:spcPts val="300"/>
              </a:spcAft>
              <a:buNone/>
            </a:pPr>
            <a:r>
              <a:rPr lang="en-US" sz="1000" i="1" dirty="0">
                <a:solidFill>
                  <a:srgbClr val="5B6472"/>
                </a:solidFill>
                <a:latin typeface="Noto Sans" pitchFamily="34" charset="0"/>
                <a:ea typeface="Noto Sans" pitchFamily="34" charset="-122"/>
                <a:cs typeface="Noto Sans" pitchFamily="34" charset="-120"/>
              </a:rPr>
              <a:t>(Toán, Tiếng Việt...)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GDPT/tuần</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2.2 – Thêm môn khác ngoài chương trình GDPT: STEM/STEAM/AI cơ bản/Kỹ năng sống</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STEM/STEAM/AI cơ bản/Kỹ năng sống/tuần</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thêm 1 buổi học với môn học khác mỗi tuần, giúp con phát triển toàn diện và phụ huynh không cần tìm thêm hoạt động bổ trợ ở nơi khác.”</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6 / 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3: Gia sư AI 1:1 (MỚI)</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AI là gia sư chính, không chỉ hỗ trợ lớp học như Concept 1/Concept 2.</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3.1 — AI nhân hoá “giáo viên ngôi sao”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Tutor dạy học mang giọng nói/phong cách một GV ngôi sao + AI Practice + AI Speak + Edupia Club + GVCN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Không tìm được sản phẩm nào đúng cấu hình (K-12 + AI-Tutor + giá đại trà)</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3.2 — AI tích hợp mascot + gamification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nhúng trong nhân vật mascot, gắn cơ chế trò chơi hoá — mascot phản ánh dữ liệu học và tương tác với học sinh</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Có — Duolingo, Prodigy</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“Gia sư AI 1:1 luôn sẵn sàng, theo dõi và đồng hành cùng con trong quá trình học — mẫu hình ‘AI song hành’ đã vận hành thật ở quy mô lớn tại thị trường khác, lần đầu áp dụng tại Việt Nam.”</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7 / 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KẾ HOẠCH TRIỂN KHAI</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Lộ trình triển khai (2026 - 2027)</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Mốc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Trước 31/08/2026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Trình bày slide concept trước BOD/team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01–15/09/2026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Xây bảng hỏi và phương án khảo sát</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15/09–15/10/2026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Khảo sát thực tế phụ huynh Tier 3/4 — 500 qua điện thoại + 100 trực tiếp tận nhà</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15/10–30/10/2026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Xử lý kết quả khảo sát, chọn phương án concept, xây kịch bản bán hàng, chuẩn bị Marketing, đào tạo Sale</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11/2026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Test bán vòng 1 — quảng cáo + Sale gọi điện, thu tiền thật để đo tỷ lệ chốt; sau đó hoàn tiền + tặng 1 tháng học trải nghiệm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Làm mịn kịch bản/sản phẩm theo phản hồi vòng 1 → test bán vòng 2</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1/2027</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Đổ nguồn lực chính thức code/hoàn thiện sản phẩm — 1-6 tháng tuỳ concept được chọn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8 / 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4 — SƠ ĐỒ PHÂN CHIA TRÁCH NHIỆM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Phân chia trách nhiệm theo 4 bộ phận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1965960"/>
                <a:gridCol w="2560320"/>
                <a:gridCol w="2560320"/>
                <a:gridCol w="2551176"/>
                <a:gridCol w="1636776"/>
              </a:tblGrid>
              <a:tr h="718457">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Giai đoạn</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Chiến lược</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Sản phẩm &amp; Công nghệ</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Marketing</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Sales</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Trước 31/08 — Trình bày concept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Cung cấp số liệu/định hướng “ao cá” 390-400k làm đầu vào; tham vấn nội dung slide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xây &amp; trình bày slide 3 concept; điều phối nghiên cứu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01/09–15/10 — Xây &amp; chạy khảo sát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tiến độ, tham vấn tiêu chí đánh giá</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thiết kế bảng hỏi, điều phối khảo sát thực tế Tier 3/4</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15/10–30/10 — Chọn phương án &amp; chuẩn bị bán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gia quyết định chọn concept cuối cùng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Xử lý kết quả khảo sát, chủ trì chọn phương 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nội dung quảng cáo cho concept đã chọn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kịch bản tư vấn/cơ chế bán hàng, đào tạo đội Sale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11 — Test bán vòng 1</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tham vấn quyết định tiếp theo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Hỗ trợ kỹ thuật, theo dõi vận hành hoàn tiền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Chạy chiến dịch quảng cáo thật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Gọi điện tư vấn, thu tiền thật, đo tỷ lệ chốt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 — Làm mịn &amp; Test bán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2 vòng, chuẩn bị đối chiếu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sản phẩm theo phản hồi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nội dung quảng cáo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kịch bản bán, chạy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1/2027 — Bắt đầu xây dựng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Phê duyệt ngân sách/nguồn lực (qua BOD)</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Đổ nguồn lực code/hoàn thiện sản phẩm</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9 / 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Edupia AI Class New — Dinh huong san pham</dc:title>
  <dc:subject>PptxGenJS Presentation</dc:subject>
  <dc:creator>Khoi San pham va Cong nghe</dc:creator>
  <cp:lastModifiedBy>Khoi San pham va Cong nghe</cp:lastModifiedBy>
  <cp:revision>1</cp:revision>
  <dcterms:created xsi:type="dcterms:W3CDTF">2026-08-21T07:06:22Z</dcterms:created>
  <dcterms:modified xsi:type="dcterms:W3CDTF">2026-08-21T07:06:22Z</dcterms:modified>
</cp:coreProperties>
</file>