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chi tiết: 02_discovery/research/market-tier3-4-persona-income-2026-08-18/research.md. Đây là phần dễ bị hỏi sâu nhất — trình bày đúng mức độ chắc chắn, không làm tròn thành một con số quy mô thị trường chắc chắn.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đưa sàn margin/giá vốn cụ thể lên slide — con số này thuộc Finance, chưa lượng hoá. PIC theo dõi việc chốt ngưỡng này là bộ phận Tài chính (xem câu hỏi mở ở mục 2.2/2.3 của product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Cần nêu rõ rủi ro cannibalization với Tutor 1-1 (sản phẩm gia sư người thật hiện có) — chưa được đo lường, BOD cần xác nhận Concept 3 là 'thay thế giá rẻ' hay 'mở rộng thị trường mới' trước khi đi tiếp. Tên 'Gia sư AI 1:1' dễ nhầm với 'Tutor 1-1' — cần đặt tên chính thức khác trước khi đưa vào content bán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Deadline BOD trước đó (hoàn thiện phương án định vị trước 1/11/2026) đã được thay thế bởi lộ trình 7 mốc này. Cơ chế 'thu tiền thật rồi hoàn tiền' ở vòng 1 có rủi ro uy tín nếu quy trình hoàn tiền chậm/không rõ ràng, đặc biệt với nhóm Tier 3/4 nhạy cảm tài chính — kịch bản Sale cần minh bạch ngay từ đầu cuộc gọi.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RACI đầy đủ hơn (chia theo Product/Engineering/Vận hành/Finance/Pháp lý/HR/CSKH riêng biệt) đã có ở product-brief-2026-08-13.md mục 5.1 — bảng trên là bản rút gọn về đúng 4 bộ phận theo yêu cầu của meeting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160520"/>
            <a:ext cx="12191695" cy="45720"/>
          </a:xfrm>
          <a:prstGeom prst="rect">
            <a:avLst/>
          </a:prstGeom>
          <a:solidFill>
            <a:srgbClr val="2E5FA3"/>
          </a:solidFill>
          <a:ln/>
        </p:spPr>
      </p:sp>
      <p:sp>
        <p:nvSpPr>
          <p:cNvPr id="3" name="Text 1"/>
          <p:cNvSpPr/>
          <p:nvPr/>
        </p:nvSpPr>
        <p:spPr>
          <a:xfrm>
            <a:off x="548640" y="2331720"/>
            <a:ext cx="11094415" cy="365760"/>
          </a:xfrm>
          <a:prstGeom prst="rect">
            <a:avLst/>
          </a:prstGeom>
          <a:noFill/>
          <a:ln/>
        </p:spPr>
        <p:txBody>
          <a:bodyPr wrap="square" rtlCol="0" anchor="ctr"/>
          <a:lstStyle/>
          <a:p>
            <a:pPr indent="0" marL="0">
              <a:buNone/>
            </a:pPr>
            <a:r>
              <a:rPr lang="en-US" sz="1400" b="1" spc="150" kern="0" dirty="0">
                <a:solidFill>
                  <a:srgbClr val="8FB0E0"/>
                </a:solidFill>
                <a:latin typeface="Calibri" pitchFamily="34" charset="0"/>
                <a:ea typeface="Calibri" pitchFamily="34" charset="-122"/>
                <a:cs typeface="Calibri" pitchFamily="34" charset="-120"/>
              </a:rPr>
              <a:t>EDUPIA CLASS  ·  HỌP TRÌNH BÀY CONCEPT</a:t>
            </a:r>
            <a:endParaRPr lang="en-US" sz="1400" dirty="0"/>
          </a:p>
        </p:txBody>
      </p:sp>
      <p:sp>
        <p:nvSpPr>
          <p:cNvPr id="4" name="Text 2"/>
          <p:cNvSpPr/>
          <p:nvPr/>
        </p:nvSpPr>
        <p:spPr>
          <a:xfrm>
            <a:off x="548640" y="2697480"/>
            <a:ext cx="11094415" cy="109728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AI Class Plus</a:t>
            </a:r>
            <a:endParaRPr lang="en-US" sz="4800" dirty="0"/>
          </a:p>
        </p:txBody>
      </p:sp>
      <p:sp>
        <p:nvSpPr>
          <p:cNvPr id="5" name="Text 3"/>
          <p:cNvSpPr/>
          <p:nvPr/>
        </p:nvSpPr>
        <p:spPr>
          <a:xfrm>
            <a:off x="548640" y="4297680"/>
            <a:ext cx="11094415" cy="457200"/>
          </a:xfrm>
          <a:prstGeom prst="rect">
            <a:avLst/>
          </a:prstGeom>
          <a:noFill/>
          <a:ln/>
        </p:spPr>
        <p:txBody>
          <a:bodyPr wrap="square" rtlCol="0" anchor="ctr"/>
          <a:lstStyle/>
          <a:p>
            <a:pPr indent="0" marL="0">
              <a:buNone/>
            </a:pPr>
            <a:r>
              <a:rPr lang="en-US" sz="1800" dirty="0">
                <a:solidFill>
                  <a:srgbClr val="D7E2F2"/>
                </a:solidFill>
                <a:latin typeface="Calibri" pitchFamily="34" charset="0"/>
                <a:ea typeface="Calibri" pitchFamily="34" charset="-122"/>
                <a:cs typeface="Calibri" pitchFamily="34" charset="-120"/>
              </a:rPr>
              <a:t>Định hướng sản phẩm mới cho phân khúc 390.000đ – 400.000đ/tháng</a:t>
            </a:r>
            <a:endParaRPr lang="en-US" sz="1800" dirty="0"/>
          </a:p>
        </p:txBody>
      </p:sp>
      <p:sp>
        <p:nvSpPr>
          <p:cNvPr id="6" name="Text 4"/>
          <p:cNvSpPr/>
          <p:nvPr/>
        </p:nvSpPr>
        <p:spPr>
          <a:xfrm>
            <a:off x="548640" y="6126480"/>
            <a:ext cx="11094415" cy="365760"/>
          </a:xfrm>
          <a:prstGeom prst="rect">
            <a:avLst/>
          </a:prstGeom>
          <a:noFill/>
          <a:ln/>
        </p:spPr>
        <p:txBody>
          <a:bodyPr wrap="square" rtlCol="0" anchor="ctr"/>
          <a:lstStyle/>
          <a:p>
            <a:pPr indent="0" marL="0">
              <a:buNone/>
            </a:pPr>
            <a:r>
              <a:rPr lang="en-US" sz="1300" dirty="0">
                <a:solidFill>
                  <a:srgbClr val="8FB0E0"/>
                </a:solidFill>
                <a:latin typeface="Calibri" pitchFamily="34" charset="0"/>
                <a:ea typeface="Calibri" pitchFamily="34" charset="-122"/>
                <a:cs typeface="Calibri" pitchFamily="34" charset="-120"/>
              </a:rPr>
              <a:t>Họp trình bày concept  ·  Product  ·  20/08/2026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NỘI DUNG TRÌNH BÀY</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Agenda</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Shape 5"/>
          <p:cNvSpPr/>
          <p:nvPr/>
        </p:nvSpPr>
        <p:spPr>
          <a:xfrm>
            <a:off x="548640" y="1636776"/>
            <a:ext cx="384048" cy="384048"/>
          </a:xfrm>
          <a:prstGeom prst="ellipse">
            <a:avLst/>
          </a:prstGeom>
          <a:solidFill>
            <a:srgbClr val="2E5FA3"/>
          </a:solidFill>
          <a:ln/>
        </p:spPr>
      </p:sp>
      <p:sp>
        <p:nvSpPr>
          <p:cNvPr id="8" name="Text 6"/>
          <p:cNvSpPr/>
          <p:nvPr/>
        </p:nvSpPr>
        <p:spPr>
          <a:xfrm>
            <a:off x="548640" y="1636776"/>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15568" y="1600200"/>
            <a:ext cx="6675120" cy="457200"/>
          </a:xfrm>
          <a:prstGeom prst="rect">
            <a:avLst/>
          </a:prstGeom>
          <a:noFill/>
          <a:ln/>
        </p:spPr>
        <p:txBody>
          <a:bodyPr wrap="square" rtlCol="0" anchor="ctr"/>
          <a:lstStyle/>
          <a:p>
            <a:pPr indent="0" marL="0">
              <a:buNone/>
            </a:pPr>
            <a:r>
              <a:rPr lang="en-US" sz="1700" dirty="0">
                <a:solidFill>
                  <a:srgbClr val="2B2B2B"/>
                </a:solidFill>
                <a:latin typeface="Calibri" pitchFamily="34" charset="0"/>
                <a:ea typeface="Calibri" pitchFamily="34" charset="-122"/>
                <a:cs typeface="Calibri" pitchFamily="34" charset="-120"/>
              </a:rPr>
              <a:t>Mục tiêu chiến lược</a:t>
            </a:r>
            <a:endParaRPr lang="en-US" sz="1700" dirty="0"/>
          </a:p>
        </p:txBody>
      </p:sp>
      <p:sp>
        <p:nvSpPr>
          <p:cNvPr id="10" name="Shape 8"/>
          <p:cNvSpPr/>
          <p:nvPr/>
        </p:nvSpPr>
        <p:spPr>
          <a:xfrm>
            <a:off x="548640" y="2203704"/>
            <a:ext cx="384048" cy="384048"/>
          </a:xfrm>
          <a:prstGeom prst="ellipse">
            <a:avLst/>
          </a:prstGeom>
          <a:solidFill>
            <a:srgbClr val="2E5FA3"/>
          </a:solidFill>
          <a:ln/>
        </p:spPr>
      </p:sp>
      <p:sp>
        <p:nvSpPr>
          <p:cNvPr id="11" name="Text 9"/>
          <p:cNvSpPr/>
          <p:nvPr/>
        </p:nvSpPr>
        <p:spPr>
          <a:xfrm>
            <a:off x="548640" y="2203704"/>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115568" y="2167128"/>
            <a:ext cx="6675120" cy="457200"/>
          </a:xfrm>
          <a:prstGeom prst="rect">
            <a:avLst/>
          </a:prstGeom>
          <a:noFill/>
          <a:ln/>
        </p:spPr>
        <p:txBody>
          <a:bodyPr wrap="square" rtlCol="0" anchor="ctr"/>
          <a:lstStyle/>
          <a:p>
            <a:pPr indent="0" marL="0">
              <a:buNone/>
            </a:pPr>
            <a:r>
              <a:rPr lang="en-US" sz="1700" dirty="0">
                <a:solidFill>
                  <a:srgbClr val="2B2B2B"/>
                </a:solidFill>
                <a:latin typeface="Calibri" pitchFamily="34" charset="0"/>
                <a:ea typeface="Calibri" pitchFamily="34" charset="-122"/>
                <a:cs typeface="Calibri" pitchFamily="34" charset="-120"/>
              </a:rPr>
              <a:t>3 định hướng concept sản phẩm</a:t>
            </a:r>
            <a:endParaRPr lang="en-US" sz="1700" dirty="0"/>
          </a:p>
        </p:txBody>
      </p:sp>
      <p:sp>
        <p:nvSpPr>
          <p:cNvPr id="13" name="Shape 11"/>
          <p:cNvSpPr/>
          <p:nvPr/>
        </p:nvSpPr>
        <p:spPr>
          <a:xfrm>
            <a:off x="548640" y="2770632"/>
            <a:ext cx="384048" cy="384048"/>
          </a:xfrm>
          <a:prstGeom prst="ellipse">
            <a:avLst/>
          </a:prstGeom>
          <a:solidFill>
            <a:srgbClr val="2E5FA3"/>
          </a:solidFill>
          <a:ln/>
        </p:spPr>
      </p:sp>
      <p:sp>
        <p:nvSpPr>
          <p:cNvPr id="14" name="Text 12"/>
          <p:cNvSpPr/>
          <p:nvPr/>
        </p:nvSpPr>
        <p:spPr>
          <a:xfrm>
            <a:off x="548640" y="277063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115568" y="2734056"/>
            <a:ext cx="6675120" cy="457200"/>
          </a:xfrm>
          <a:prstGeom prst="rect">
            <a:avLst/>
          </a:prstGeom>
          <a:noFill/>
          <a:ln/>
        </p:spPr>
        <p:txBody>
          <a:bodyPr wrap="square" rtlCol="0" anchor="ctr"/>
          <a:lstStyle/>
          <a:p>
            <a:pPr indent="0" marL="0">
              <a:buNone/>
            </a:pPr>
            <a:r>
              <a:rPr lang="en-US" sz="1700" dirty="0">
                <a:solidFill>
                  <a:srgbClr val="2B2B2B"/>
                </a:solidFill>
                <a:latin typeface="Calibri" pitchFamily="34" charset="0"/>
                <a:ea typeface="Calibri" pitchFamily="34" charset="-122"/>
                <a:cs typeface="Calibri" pitchFamily="34" charset="-120"/>
              </a:rPr>
              <a:t>Case study: mô hình đã thành công trên thế giới</a:t>
            </a:r>
            <a:endParaRPr lang="en-US" sz="1700" dirty="0"/>
          </a:p>
        </p:txBody>
      </p:sp>
      <p:sp>
        <p:nvSpPr>
          <p:cNvPr id="16" name="Shape 14"/>
          <p:cNvSpPr/>
          <p:nvPr/>
        </p:nvSpPr>
        <p:spPr>
          <a:xfrm>
            <a:off x="548640" y="3337560"/>
            <a:ext cx="384048" cy="384048"/>
          </a:xfrm>
          <a:prstGeom prst="ellipse">
            <a:avLst/>
          </a:prstGeom>
          <a:solidFill>
            <a:srgbClr val="2E5FA3"/>
          </a:solidFill>
          <a:ln/>
        </p:spPr>
      </p:sp>
      <p:sp>
        <p:nvSpPr>
          <p:cNvPr id="17" name="Text 15"/>
          <p:cNvSpPr/>
          <p:nvPr/>
        </p:nvSpPr>
        <p:spPr>
          <a:xfrm>
            <a:off x="548640" y="333756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15568" y="3300984"/>
            <a:ext cx="6675120" cy="457200"/>
          </a:xfrm>
          <a:prstGeom prst="rect">
            <a:avLst/>
          </a:prstGeom>
          <a:noFill/>
          <a:ln/>
        </p:spPr>
        <p:txBody>
          <a:bodyPr wrap="square" rtlCol="0" anchor="ctr"/>
          <a:lstStyle/>
          <a:p>
            <a:pPr indent="0" marL="0">
              <a:buNone/>
            </a:pPr>
            <a:r>
              <a:rPr lang="en-US" sz="1700" dirty="0">
                <a:solidFill>
                  <a:srgbClr val="2B2B2B"/>
                </a:solidFill>
                <a:latin typeface="Calibri" pitchFamily="34" charset="0"/>
                <a:ea typeface="Calibri" pitchFamily="34" charset="-122"/>
                <a:cs typeface="Calibri" pitchFamily="34" charset="-120"/>
              </a:rPr>
              <a:t>Kế hoạch triển khai</a:t>
            </a:r>
            <a:endParaRPr lang="en-US" sz="1700" dirty="0"/>
          </a:p>
        </p:txBody>
      </p:sp>
      <p:sp>
        <p:nvSpPr>
          <p:cNvPr id="19" name="Shape 17"/>
          <p:cNvSpPr/>
          <p:nvPr/>
        </p:nvSpPr>
        <p:spPr>
          <a:xfrm>
            <a:off x="548640" y="3904488"/>
            <a:ext cx="384048" cy="384048"/>
          </a:xfrm>
          <a:prstGeom prst="ellipse">
            <a:avLst/>
          </a:prstGeom>
          <a:solidFill>
            <a:srgbClr val="2E5FA3"/>
          </a:solidFill>
          <a:ln/>
        </p:spPr>
      </p:sp>
      <p:sp>
        <p:nvSpPr>
          <p:cNvPr id="20" name="Text 18"/>
          <p:cNvSpPr/>
          <p:nvPr/>
        </p:nvSpPr>
        <p:spPr>
          <a:xfrm>
            <a:off x="548640" y="3904488"/>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115568" y="3867912"/>
            <a:ext cx="6675120" cy="457200"/>
          </a:xfrm>
          <a:prstGeom prst="rect">
            <a:avLst/>
          </a:prstGeom>
          <a:noFill/>
          <a:ln/>
        </p:spPr>
        <p:txBody>
          <a:bodyPr wrap="square" rtlCol="0" anchor="ctr"/>
          <a:lstStyle/>
          <a:p>
            <a:pPr indent="0" marL="0">
              <a:buNone/>
            </a:pPr>
            <a:r>
              <a:rPr lang="en-US" sz="1700" dirty="0">
                <a:solidFill>
                  <a:srgbClr val="2B2B2B"/>
                </a:solidFill>
                <a:latin typeface="Calibri" pitchFamily="34" charset="0"/>
                <a:ea typeface="Calibri" pitchFamily="34" charset="-122"/>
                <a:cs typeface="Calibri" pitchFamily="34" charset="-120"/>
              </a:rPr>
              <a:t>Phân chia trách nhiệm</a:t>
            </a:r>
            <a:endParaRPr lang="en-US" sz="1700" dirty="0"/>
          </a:p>
        </p:txBody>
      </p:sp>
      <p:sp>
        <p:nvSpPr>
          <p:cNvPr id="22" name="Shape 20"/>
          <p:cNvSpPr/>
          <p:nvPr/>
        </p:nvSpPr>
        <p:spPr>
          <a:xfrm>
            <a:off x="548640" y="4471416"/>
            <a:ext cx="384048" cy="384048"/>
          </a:xfrm>
          <a:prstGeom prst="ellipse">
            <a:avLst/>
          </a:prstGeom>
          <a:solidFill>
            <a:srgbClr val="2E5FA3"/>
          </a:solidFill>
          <a:ln/>
        </p:spPr>
      </p:sp>
      <p:sp>
        <p:nvSpPr>
          <p:cNvPr id="23" name="Text 21"/>
          <p:cNvSpPr/>
          <p:nvPr/>
        </p:nvSpPr>
        <p:spPr>
          <a:xfrm>
            <a:off x="548640" y="4471416"/>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4" name="Text 22"/>
          <p:cNvSpPr/>
          <p:nvPr/>
        </p:nvSpPr>
        <p:spPr>
          <a:xfrm>
            <a:off x="1115568" y="4434840"/>
            <a:ext cx="6675120" cy="457200"/>
          </a:xfrm>
          <a:prstGeom prst="rect">
            <a:avLst/>
          </a:prstGeom>
          <a:noFill/>
          <a:ln/>
        </p:spPr>
        <p:txBody>
          <a:bodyPr wrap="square" rtlCol="0" anchor="ctr"/>
          <a:lstStyle/>
          <a:p>
            <a:pPr indent="0" marL="0">
              <a:buNone/>
            </a:pPr>
            <a:r>
              <a:rPr lang="en-US" sz="1700" dirty="0">
                <a:solidFill>
                  <a:srgbClr val="2B2B2B"/>
                </a:solidFill>
                <a:latin typeface="Calibri" pitchFamily="34" charset="0"/>
                <a:ea typeface="Calibri" pitchFamily="34" charset="-122"/>
                <a:cs typeface="Calibri" pitchFamily="34" charset="-120"/>
              </a:rPr>
              <a:t>Bước tiếp theo</a:t>
            </a:r>
            <a:endParaRPr lang="en-US" sz="1700" dirty="0"/>
          </a:p>
        </p:txBody>
      </p:sp>
      <p:sp>
        <p:nvSpPr>
          <p:cNvPr id="25" name="Shape 23"/>
          <p:cNvSpPr/>
          <p:nvPr/>
        </p:nvSpPr>
        <p:spPr>
          <a:xfrm>
            <a:off x="7863840" y="1600200"/>
            <a:ext cx="3749040" cy="3566160"/>
          </a:xfrm>
          <a:prstGeom prst="roundRect">
            <a:avLst>
              <a:gd name="adj" fmla="val 1538"/>
            </a:avLst>
          </a:prstGeom>
          <a:solidFill>
            <a:srgbClr val="F3F6FB"/>
          </a:solidFill>
          <a:ln w="9525">
            <a:solidFill>
              <a:srgbClr val="D7DEE9"/>
            </a:solidFill>
            <a:prstDash val="solid"/>
          </a:ln>
        </p:spPr>
      </p:sp>
      <p:sp>
        <p:nvSpPr>
          <p:cNvPr id="26" name="Text 24"/>
          <p:cNvSpPr/>
          <p:nvPr/>
        </p:nvSpPr>
        <p:spPr>
          <a:xfrm>
            <a:off x="8046720" y="1746504"/>
            <a:ext cx="3383280" cy="32004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Quy ước đọc slide</a:t>
            </a:r>
            <a:endParaRPr lang="en-US" sz="1350" dirty="0"/>
          </a:p>
        </p:txBody>
      </p:sp>
      <p:sp>
        <p:nvSpPr>
          <p:cNvPr id="27" name="Text 25"/>
          <p:cNvSpPr/>
          <p:nvPr/>
        </p:nvSpPr>
        <p:spPr>
          <a:xfrm>
            <a:off x="8046720" y="2194560"/>
            <a:ext cx="365760" cy="365760"/>
          </a:xfrm>
          <a:prstGeom prst="rect">
            <a:avLst/>
          </a:prstGeom>
          <a:noFill/>
          <a:ln/>
        </p:spPr>
        <p:txBody>
          <a:bodyPr wrap="square" rtlCol="0" anchor="ctr"/>
          <a:lstStyle/>
          <a:p>
            <a:pPr indent="0" marL="0">
              <a:buNone/>
            </a:pPr>
            <a:r>
              <a:rPr lang="en-US" sz="1600" b="1" dirty="0">
                <a:solidFill>
                  <a:srgbClr val="2E7D32"/>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8458200" y="2194560"/>
            <a:ext cx="2926080" cy="731520"/>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Đã xác nhận — dữ liệu có nguồn</a:t>
            </a:r>
            <a:endParaRPr lang="en-US" sz="1150" dirty="0"/>
          </a:p>
        </p:txBody>
      </p:sp>
      <p:sp>
        <p:nvSpPr>
          <p:cNvPr id="29" name="Text 27"/>
          <p:cNvSpPr/>
          <p:nvPr/>
        </p:nvSpPr>
        <p:spPr>
          <a:xfrm>
            <a:off x="8046720" y="3063240"/>
            <a:ext cx="365760" cy="365760"/>
          </a:xfrm>
          <a:prstGeom prst="rect">
            <a:avLst/>
          </a:prstGeom>
          <a:noFill/>
          <a:ln/>
        </p:spPr>
        <p:txBody>
          <a:bodyPr wrap="square"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a:t>
            </a:r>
            <a:endParaRPr lang="en-US" sz="1600" dirty="0"/>
          </a:p>
        </p:txBody>
      </p:sp>
      <p:sp>
        <p:nvSpPr>
          <p:cNvPr id="30" name="Text 28"/>
          <p:cNvSpPr/>
          <p:nvPr/>
        </p:nvSpPr>
        <p:spPr>
          <a:xfrm>
            <a:off x="8458200" y="3063240"/>
            <a:ext cx="2926080" cy="731520"/>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Giả định / ước tính — cần khảo sát hoặc BOD chốt thêm</a:t>
            </a:r>
            <a:endParaRPr lang="en-US" sz="1150" dirty="0"/>
          </a:p>
        </p:txBody>
      </p:sp>
      <p:sp>
        <p:nvSpPr>
          <p:cNvPr id="31" name="Text 29"/>
          <p:cNvSpPr/>
          <p:nvPr/>
        </p:nvSpPr>
        <p:spPr>
          <a:xfrm>
            <a:off x="8046720" y="3931920"/>
            <a:ext cx="365760" cy="365760"/>
          </a:xfrm>
          <a:prstGeom prst="rect">
            <a:avLst/>
          </a:prstGeom>
          <a:noFill/>
          <a:ln/>
        </p:spPr>
        <p:txBody>
          <a:bodyPr wrap="square"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8458200" y="3931920"/>
            <a:ext cx="2926080" cy="731520"/>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Rủi ro hoặc quyết định cần lưu ý</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1 — MỤC TIÊU CHIẾN LƯỢC</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Vì sao là 390k – 400k?</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508760"/>
            <a:ext cx="11094415" cy="3200400"/>
          </a:xfrm>
          <a:prstGeom prst="rect">
            <a:avLst/>
          </a:prstGeom>
          <a:noFill/>
          <a:ln/>
        </p:spPr>
        <p:txBody>
          <a:bodyPr wrap="square" rtlCol="0" anchor="t"/>
          <a:lstStyle/>
          <a:p>
            <a:pPr indent="0" marL="0">
              <a:lnSpc>
                <a:spcPct val="118000"/>
              </a:lnSpc>
              <a:spcAft>
                <a:spcPts val="1400"/>
              </a:spcAft>
              <a:buNone/>
            </a:pPr>
            <a:r>
              <a:rPr lang="en-US" sz="1600" b="1" dirty="0">
                <a:solidFill>
                  <a:srgbClr val="2E5FA3"/>
                </a:solidFill>
                <a:latin typeface="Calibri" pitchFamily="34" charset="0"/>
                <a:ea typeface="Calibri" pitchFamily="34" charset="-122"/>
                <a:cs typeface="Calibri" pitchFamily="34" charset="-120"/>
              </a:rPr>
              <a:t>•  </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Chiến lược 2026-2028: Educa tập trung nguồn lực vào phân khúc </a:t>
            </a:r>
            <a:pPr indent="0" marL="0">
              <a:lnSpc>
                <a:spcPct val="118000"/>
              </a:lnSpc>
              <a:spcAft>
                <a:spcPts val="1400"/>
              </a:spcAft>
              <a:buNone/>
            </a:pPr>
            <a:r>
              <a:rPr lang="en-US" sz="1600" b="1" dirty="0">
                <a:solidFill>
                  <a:srgbClr val="2B2B2B"/>
                </a:solidFill>
                <a:latin typeface="Calibri" pitchFamily="34" charset="0"/>
                <a:ea typeface="Calibri" pitchFamily="34" charset="-122"/>
                <a:cs typeface="Calibri" pitchFamily="34" charset="-120"/>
              </a:rPr>
              <a:t>đại trà (mass)</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 — tái định vị AI Class theo hướng nâng chất lượng học tập bằng AI, dịch chuyển lên mức giá cao hơn nhưng vẫn trong khả năng chi trả của đa số gia đình Việt Nam.</a:t>
            </a:r>
            <a:endParaRPr lang="en-US" sz="1600" dirty="0"/>
          </a:p>
          <a:p>
            <a:pPr indent="0" marL="0">
              <a:lnSpc>
                <a:spcPct val="118000"/>
              </a:lnSpc>
              <a:spcAft>
                <a:spcPts val="1400"/>
              </a:spcAft>
              <a:buNone/>
            </a:pPr>
            <a:r>
              <a:rPr lang="en-US" sz="1600" b="1" dirty="0">
                <a:solidFill>
                  <a:srgbClr val="2E5FA3"/>
                </a:solidFill>
                <a:latin typeface="Calibri" pitchFamily="34" charset="0"/>
                <a:ea typeface="Calibri" pitchFamily="34" charset="-122"/>
                <a:cs typeface="Calibri" pitchFamily="34" charset="-120"/>
              </a:rPr>
              <a:t>•  </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Edupia Class (AI Class Plus) là sản phẩm mass </a:t>
            </a:r>
            <a:pPr indent="0" marL="0">
              <a:lnSpc>
                <a:spcPct val="118000"/>
              </a:lnSpc>
              <a:spcAft>
                <a:spcPts val="1400"/>
              </a:spcAft>
              <a:buNone/>
            </a:pPr>
            <a:r>
              <a:rPr lang="en-US" sz="1600" b="1" dirty="0">
                <a:solidFill>
                  <a:srgbClr val="2B2B2B"/>
                </a:solidFill>
                <a:latin typeface="Calibri" pitchFamily="34" charset="0"/>
                <a:ea typeface="Calibri" pitchFamily="34" charset="-122"/>
                <a:cs typeface="Calibri" pitchFamily="34" charset="-120"/>
              </a:rPr>
              <a:t>duy nhất</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 của công ty ở dải giá này — vai trò </a:t>
            </a:r>
            <a:pPr indent="0" marL="0">
              <a:lnSpc>
                <a:spcPct val="118000"/>
              </a:lnSpc>
              <a:spcAft>
                <a:spcPts val="1400"/>
              </a:spcAft>
              <a:buNone/>
            </a:pPr>
            <a:r>
              <a:rPr lang="en-US" sz="1600" b="1" dirty="0">
                <a:solidFill>
                  <a:srgbClr val="2B2B2B"/>
                </a:solidFill>
                <a:latin typeface="Calibri" pitchFamily="34" charset="0"/>
                <a:ea typeface="Calibri" pitchFamily="34" charset="-122"/>
                <a:cs typeface="Calibri" pitchFamily="34" charset="-120"/>
              </a:rPr>
              <a:t>Product Growth Engine</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 dẫn dắt tăng trưởng người dùng, doanh thu, lợi nhuận.</a:t>
            </a:r>
            <a:endParaRPr lang="en-US" sz="1600" dirty="0"/>
          </a:p>
          <a:p>
            <a:pPr indent="0" marL="0">
              <a:lnSpc>
                <a:spcPct val="118000"/>
              </a:lnSpc>
              <a:spcAft>
                <a:spcPts val="1400"/>
              </a:spcAft>
              <a:buNone/>
            </a:pPr>
            <a:r>
              <a:rPr lang="en-US" sz="1600" b="1" dirty="0">
                <a:solidFill>
                  <a:srgbClr val="2E7D32"/>
                </a:solidFill>
                <a:latin typeface="Calibri" pitchFamily="34" charset="0"/>
                <a:ea typeface="Calibri" pitchFamily="34" charset="-122"/>
                <a:cs typeface="Calibri" pitchFamily="34" charset="-120"/>
              </a:rPr>
              <a:t>●  </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Giá hiện hành của Edupia Class hôm nay: </a:t>
            </a:r>
            <a:pPr indent="0" marL="0">
              <a:lnSpc>
                <a:spcPct val="118000"/>
              </a:lnSpc>
              <a:spcAft>
                <a:spcPts val="1400"/>
              </a:spcAft>
              <a:buNone/>
            </a:pPr>
            <a:r>
              <a:rPr lang="en-US" sz="1600" b="1" dirty="0">
                <a:solidFill>
                  <a:srgbClr val="2B2B2B"/>
                </a:solidFill>
                <a:latin typeface="Calibri" pitchFamily="34" charset="0"/>
                <a:ea typeface="Calibri" pitchFamily="34" charset="-122"/>
                <a:cs typeface="Calibri" pitchFamily="34" charset="-120"/>
              </a:rPr>
              <a:t>250.000đ/tháng</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 (self-learning). </a:t>
            </a:r>
            <a:pPr indent="0" marL="0">
              <a:lnSpc>
                <a:spcPct val="118000"/>
              </a:lnSpc>
              <a:spcAft>
                <a:spcPts val="1400"/>
              </a:spcAft>
              <a:buNone/>
            </a:pPr>
            <a:r>
              <a:rPr lang="en-US" sz="1600" b="1" dirty="0">
                <a:solidFill>
                  <a:srgbClr val="2B2B2B"/>
                </a:solidFill>
                <a:latin typeface="Calibri" pitchFamily="34" charset="0"/>
                <a:ea typeface="Calibri" pitchFamily="34" charset="-122"/>
                <a:cs typeface="Calibri" pitchFamily="34" charset="-120"/>
              </a:rPr>
              <a:t>390k là giá mục tiêu</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 sau khi đầu tư 1 trong 3 concept dưới đây — chưa phải giá bán hiện tại.</a:t>
            </a:r>
            <a:endParaRPr lang="en-US" sz="1600" dirty="0"/>
          </a:p>
          <a:p>
            <a:pPr indent="0" marL="0">
              <a:lnSpc>
                <a:spcPct val="118000"/>
              </a:lnSpc>
              <a:spcAft>
                <a:spcPts val="1400"/>
              </a:spcAft>
              <a:buNone/>
            </a:pPr>
            <a:r>
              <a:rPr lang="en-US" sz="1600" b="1" dirty="0">
                <a:solidFill>
                  <a:srgbClr val="B45309"/>
                </a:solidFill>
                <a:latin typeface="Calibri" pitchFamily="34" charset="0"/>
                <a:ea typeface="Calibri" pitchFamily="34" charset="-122"/>
                <a:cs typeface="Calibri" pitchFamily="34" charset="-120"/>
              </a:rPr>
              <a:t>◆  </a:t>
            </a:r>
            <a:pPr indent="0" marL="0">
              <a:lnSpc>
                <a:spcPct val="118000"/>
              </a:lnSpc>
              <a:spcAft>
                <a:spcPts val="1400"/>
              </a:spcAft>
              <a:buNone/>
            </a:pPr>
            <a:r>
              <a:rPr lang="en-US" sz="1600" b="1" dirty="0">
                <a:solidFill>
                  <a:srgbClr val="2B2B2B"/>
                </a:solidFill>
                <a:latin typeface="Calibri" pitchFamily="34" charset="0"/>
                <a:ea typeface="Calibri" pitchFamily="34" charset="-122"/>
                <a:cs typeface="Calibri" pitchFamily="34" charset="-120"/>
              </a:rPr>
              <a:t>Cấu trúc sản phẩm sau khi chọn concept — BOD sẽ chốt sau:</a:t>
            </a:r>
            <a:pPr indent="0" marL="0">
              <a:lnSpc>
                <a:spcPct val="118000"/>
              </a:lnSpc>
              <a:spcAft>
                <a:spcPts val="1400"/>
              </a:spcAft>
              <a:buNone/>
            </a:pPr>
            <a:r>
              <a:rPr lang="en-US" sz="1600" dirty="0">
                <a:solidFill>
                  <a:srgbClr val="2B2B2B"/>
                </a:solidFill>
                <a:latin typeface="Calibri" pitchFamily="34" charset="0"/>
                <a:ea typeface="Calibri" pitchFamily="34" charset="-122"/>
                <a:cs typeface="Calibri" pitchFamily="34" charset="-120"/>
              </a:rPr>
              <a:t> (a) sản phẩm mới riêng ở 390k, hay (b) nâng cấp trực tiếp sản phẩm 250k hiện có lên 390k.</a:t>
            </a:r>
            <a:endParaRPr lang="en-US" sz="1600" dirty="0"/>
          </a:p>
        </p:txBody>
      </p:sp>
      <p:sp>
        <p:nvSpPr>
          <p:cNvPr id="8" name="Shape 6"/>
          <p:cNvSpPr/>
          <p:nvPr/>
        </p:nvSpPr>
        <p:spPr>
          <a:xfrm>
            <a:off x="548640" y="4892040"/>
            <a:ext cx="11094415" cy="1051560"/>
          </a:xfrm>
          <a:prstGeom prst="roundRect">
            <a:avLst>
              <a:gd name="adj" fmla="val 5217"/>
            </a:avLst>
          </a:prstGeom>
          <a:solidFill>
            <a:srgbClr val="F3F6FB"/>
          </a:solidFill>
          <a:ln w="9525">
            <a:solidFill>
              <a:srgbClr val="D7DEE9"/>
            </a:solidFill>
            <a:prstDash val="solid"/>
          </a:ln>
        </p:spPr>
      </p:sp>
      <p:sp>
        <p:nvSpPr>
          <p:cNvPr id="9" name="Text 7"/>
          <p:cNvSpPr/>
          <p:nvPr/>
        </p:nvSpPr>
        <p:spPr>
          <a:xfrm>
            <a:off x="777240" y="5029200"/>
            <a:ext cx="10637215" cy="822960"/>
          </a:xfrm>
          <a:prstGeom prst="rect">
            <a:avLst/>
          </a:prstGeom>
          <a:noFill/>
          <a:ln/>
        </p:spPr>
        <p:txBody>
          <a:bodyPr wrap="square" rtlCol="0" anchor="ctr"/>
          <a:lstStyle/>
          <a:p>
            <a:pPr indent="0" marL="0">
              <a:lnSpc>
                <a:spcPct val="115000"/>
              </a:lnSpc>
              <a:buNone/>
            </a:pPr>
            <a:r>
              <a:rPr lang="en-US" sz="2200" b="1" i="1" dirty="0">
                <a:solidFill>
                  <a:srgbClr val="2E5FA3"/>
                </a:solidFill>
                <a:latin typeface="Calibri" pitchFamily="34" charset="0"/>
                <a:ea typeface="Calibri" pitchFamily="34" charset="-122"/>
                <a:cs typeface="Calibri" pitchFamily="34" charset="-120"/>
              </a:rPr>
              <a:t>“</a:t>
            </a:r>
            <a:pPr indent="0" marL="0">
              <a:lnSpc>
                <a:spcPct val="115000"/>
              </a:lnSpc>
              <a:buNone/>
            </a:pPr>
            <a:r>
              <a:rPr lang="en-US" sz="1350" i="1" dirty="0">
                <a:solidFill>
                  <a:srgbClr val="1B2A4A"/>
                </a:solidFill>
                <a:latin typeface="Calibri" pitchFamily="34" charset="0"/>
                <a:ea typeface="Calibri" pitchFamily="34" charset="-122"/>
                <a:cs typeface="Calibri" pitchFamily="34" charset="-120"/>
              </a:rPr>
              <a:t>Cách thắng không nằm ở việc thu hút GV nổi tiếng nhất hay công nghệ cá nhân hoá trưởng thành nhất, mà ở khả năng tạo hiệu quả học tập vượt trội thông qua ứng dụng AI/dữ liệu vào tất cả các công đoạn.</a:t>
            </a:r>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  — Chiến lược Educa 2026-2028</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1 — MỤC TIÊU CHIẾN LƯỢC</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Quy mô thị trường Tier 3/4</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417320"/>
            <a:ext cx="11094415" cy="45720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Số liệu tham khảo, có sai số — suy luận từ dữ liệu thu nhập GSO (KSMS 2024), chưa có khảo sát trực tiếp tier 3/4. Sẽ được xác nhận lại qua khảo sát WTP tháng 9.</a:t>
            </a:r>
            <a:endParaRPr lang="en-US" sz="1300" dirty="0"/>
          </a:p>
        </p:txBody>
      </p:sp>
      <p:sp>
        <p:nvSpPr>
          <p:cNvPr id="8" name="Text 6"/>
          <p:cNvSpPr/>
          <p:nvPr/>
        </p:nvSpPr>
        <p:spPr>
          <a:xfrm>
            <a:off x="548640" y="2011680"/>
            <a:ext cx="11094415" cy="3931920"/>
          </a:xfrm>
          <a:prstGeom prst="rect">
            <a:avLst/>
          </a:prstGeom>
          <a:noFill/>
          <a:ln/>
        </p:spPr>
        <p:txBody>
          <a:bodyPr wrap="square" rtlCol="0" anchor="t"/>
          <a:lstStyle/>
          <a:p>
            <a:pPr indent="0" marL="0">
              <a:lnSpc>
                <a:spcPct val="118000"/>
              </a:lnSpc>
              <a:spcAft>
                <a:spcPts val="1400"/>
              </a:spcAft>
              <a:buNone/>
            </a:pPr>
            <a:r>
              <a:rPr lang="en-US" sz="1550" b="1" dirty="0">
                <a:solidFill>
                  <a:srgbClr val="2E5FA3"/>
                </a:solidFill>
                <a:latin typeface="Calibri" pitchFamily="34" charset="0"/>
                <a:ea typeface="Calibri" pitchFamily="34" charset="-122"/>
                <a:cs typeface="Calibri" pitchFamily="34" charset="-120"/>
              </a:rPr>
              <a:t>•  </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Dân số ngoài 5 thành phố trực thuộc TW: </a:t>
            </a:r>
            <a:pPr indent="0" marL="0">
              <a:lnSpc>
                <a:spcPct val="118000"/>
              </a:lnSpc>
              <a:spcAft>
                <a:spcPts val="1400"/>
              </a:spcAft>
              <a:buNone/>
            </a:pPr>
            <a:r>
              <a:rPr lang="en-US" sz="1550" b="1" dirty="0">
                <a:solidFill>
                  <a:srgbClr val="2B2B2B"/>
                </a:solidFill>
                <a:latin typeface="Calibri" pitchFamily="34" charset="0"/>
                <a:ea typeface="Calibri" pitchFamily="34" charset="-122"/>
                <a:cs typeface="Calibri" pitchFamily="34" charset="-120"/>
              </a:rPr>
              <a:t>~75-78 triệu người</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 (số tham khảo).</a:t>
            </a:r>
            <a:endParaRPr lang="en-US" sz="1550" dirty="0"/>
          </a:p>
          <a:p>
            <a:pPr indent="0" marL="0">
              <a:lnSpc>
                <a:spcPct val="118000"/>
              </a:lnSpc>
              <a:spcAft>
                <a:spcPts val="1400"/>
              </a:spcAft>
              <a:buNone/>
            </a:pPr>
            <a:r>
              <a:rPr lang="en-US" sz="1550" b="1" dirty="0">
                <a:solidFill>
                  <a:srgbClr val="2E5FA3"/>
                </a:solidFill>
                <a:latin typeface="Calibri" pitchFamily="34" charset="0"/>
                <a:ea typeface="Calibri" pitchFamily="34" charset="-122"/>
                <a:cs typeface="Calibri" pitchFamily="34" charset="-120"/>
              </a:rPr>
              <a:t>•  </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Thu nhập bình quân đầu người/tháng (nông thôn, toàn quốc): </a:t>
            </a:r>
            <a:pPr indent="0" marL="0">
              <a:lnSpc>
                <a:spcPct val="118000"/>
              </a:lnSpc>
              <a:spcAft>
                <a:spcPts val="1400"/>
              </a:spcAft>
              <a:buNone/>
            </a:pPr>
            <a:r>
              <a:rPr lang="en-US" sz="1550" b="1" dirty="0">
                <a:solidFill>
                  <a:srgbClr val="2B2B2B"/>
                </a:solidFill>
                <a:latin typeface="Calibri" pitchFamily="34" charset="0"/>
                <a:ea typeface="Calibri" pitchFamily="34" charset="-122"/>
                <a:cs typeface="Calibri" pitchFamily="34" charset="-120"/>
              </a:rPr>
              <a:t>~4,5 triệu</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 — chênh lệch vùng miền lớn, từ ~7,1 triệu (Đông Nam Bộ) đến ~3,8 triệu (Trung du miền núi phía Bắc).</a:t>
            </a:r>
            <a:endParaRPr lang="en-US" sz="1550" dirty="0"/>
          </a:p>
          <a:p>
            <a:pPr indent="0" marL="0">
              <a:lnSpc>
                <a:spcPct val="118000"/>
              </a:lnSpc>
              <a:spcAft>
                <a:spcPts val="1400"/>
              </a:spcAft>
              <a:buNone/>
            </a:pPr>
            <a:r>
              <a:rPr lang="en-US" sz="1550" b="1" dirty="0">
                <a:solidFill>
                  <a:srgbClr val="2E5FA3"/>
                </a:solidFill>
                <a:latin typeface="Calibri" pitchFamily="34" charset="0"/>
                <a:ea typeface="Calibri" pitchFamily="34" charset="-122"/>
                <a:cs typeface="Calibri" pitchFamily="34" charset="-120"/>
              </a:rPr>
              <a:t>•  </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Ở mức thu nhập nông thôn trung bình, 390-400k/tháng ≈ </a:t>
            </a:r>
            <a:pPr indent="0" marL="0">
              <a:lnSpc>
                <a:spcPct val="118000"/>
              </a:lnSpc>
              <a:spcAft>
                <a:spcPts val="1400"/>
              </a:spcAft>
              <a:buNone/>
            </a:pPr>
            <a:r>
              <a:rPr lang="en-US" sz="1550" b="1" dirty="0">
                <a:solidFill>
                  <a:srgbClr val="2B2B2B"/>
                </a:solidFill>
                <a:latin typeface="Calibri" pitchFamily="34" charset="0"/>
                <a:ea typeface="Calibri" pitchFamily="34" charset="-122"/>
                <a:cs typeface="Calibri" pitchFamily="34" charset="-120"/>
              </a:rPr>
              <a:t>2,4-2,5% thu nhập hộ gia đình</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 — khoản chi tương đối nhỏ. Ở vùng thu nhập thấp nhất cả nước, cùng mức giá chiếm </a:t>
            </a:r>
            <a:pPr indent="0" marL="0">
              <a:lnSpc>
                <a:spcPct val="118000"/>
              </a:lnSpc>
              <a:spcAft>
                <a:spcPts val="1400"/>
              </a:spcAft>
              <a:buNone/>
            </a:pPr>
            <a:r>
              <a:rPr lang="en-US" sz="1550" b="1" dirty="0">
                <a:solidFill>
                  <a:srgbClr val="2B2B2B"/>
                </a:solidFill>
                <a:latin typeface="Calibri" pitchFamily="34" charset="0"/>
                <a:ea typeface="Calibri" pitchFamily="34" charset="-122"/>
                <a:cs typeface="Calibri" pitchFamily="34" charset="-120"/>
              </a:rPr>
              <a:t>~10-10,5% thu nhập đầu người</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 — sát ngưỡng chi tiêu định kỳ chấp nhận được.</a:t>
            </a:r>
            <a:endParaRPr lang="en-US" sz="1550" dirty="0"/>
          </a:p>
          <a:p>
            <a:pPr indent="0" marL="0">
              <a:lnSpc>
                <a:spcPct val="118000"/>
              </a:lnSpc>
              <a:spcAft>
                <a:spcPts val="1400"/>
              </a:spcAft>
              <a:buNone/>
            </a:pPr>
            <a:r>
              <a:rPr lang="en-US" sz="1550" b="1" dirty="0">
                <a:solidFill>
                  <a:srgbClr val="2E5FA3"/>
                </a:solidFill>
                <a:latin typeface="Calibri" pitchFamily="34" charset="0"/>
                <a:ea typeface="Calibri" pitchFamily="34" charset="-122"/>
                <a:cs typeface="Calibri" pitchFamily="34" charset="-120"/>
              </a:rPr>
              <a:t>•  </a:t>
            </a:r>
            <a:pPr indent="0" marL="0">
              <a:lnSpc>
                <a:spcPct val="118000"/>
              </a:lnSpc>
              <a:spcAft>
                <a:spcPts val="1400"/>
              </a:spcAft>
              <a:buNone/>
            </a:pPr>
            <a:r>
              <a:rPr lang="en-US" sz="1550" dirty="0">
                <a:solidFill>
                  <a:srgbClr val="2B2B2B"/>
                </a:solidFill>
                <a:latin typeface="Calibri" pitchFamily="34" charset="0"/>
                <a:ea typeface="Calibri" pitchFamily="34" charset="-122"/>
                <a:cs typeface="Calibri" pitchFamily="34" charset="-120"/>
              </a:rPr>
              <a:t>"Tier 3/4" không phải một phân khúc thu nhập đồng nhất — nên đọc là 2 nhóm: (A) tỉnh/huyện khá giả (rào cản chính là niềm tin, không phải giá) và (B) vùng khó khăn (rào cản kép: nhận thức + khả năng chi trả).</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1 — MỤC TIÊU CHIẾN LƯỢC</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Mục tiêu tài chính</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508760"/>
            <a:ext cx="11094415" cy="548640"/>
          </a:xfrm>
          <a:prstGeom prst="rect">
            <a:avLst/>
          </a:prstGeom>
          <a:noFill/>
          <a:ln/>
        </p:spPr>
        <p:txBody>
          <a:bodyPr wrap="square" rtlCol="0" anchor="t"/>
          <a:lstStyle/>
          <a:p>
            <a:pPr indent="0" marL="0">
              <a:lnSpc>
                <a:spcPct val="115000"/>
              </a:lnSpc>
              <a:buNone/>
            </a:pPr>
            <a:r>
              <a:rPr lang="en-US" sz="1600" b="1" dirty="0">
                <a:solidFill>
                  <a:srgbClr val="2E7D32"/>
                </a:solidFill>
                <a:latin typeface="Calibri" pitchFamily="34" charset="0"/>
                <a:ea typeface="Calibri" pitchFamily="34" charset="-122"/>
                <a:cs typeface="Calibri" pitchFamily="34" charset="-120"/>
              </a:rPr>
              <a:t>●  </a:t>
            </a:r>
            <a:pPr indent="0" marL="0">
              <a:lnSpc>
                <a:spcPct val="115000"/>
              </a:lnSpc>
              <a:buNone/>
            </a:pPr>
            <a:r>
              <a:rPr lang="en-US" sz="1600" dirty="0">
                <a:solidFill>
                  <a:srgbClr val="2B2B2B"/>
                </a:solidFill>
                <a:latin typeface="Calibri" pitchFamily="34" charset="0"/>
                <a:ea typeface="Calibri" pitchFamily="34" charset="-122"/>
                <a:cs typeface="Calibri" pitchFamily="34" charset="-120"/>
              </a:rPr>
              <a:t>Lợi nhuận là </a:t>
            </a:r>
            <a:pPr indent="0" marL="0">
              <a:lnSpc>
                <a:spcPct val="115000"/>
              </a:lnSpc>
              <a:buNone/>
            </a:pPr>
            <a:r>
              <a:rPr lang="en-US" sz="1600" b="1" dirty="0">
                <a:solidFill>
                  <a:srgbClr val="2B2B2B"/>
                </a:solidFill>
                <a:latin typeface="Calibri" pitchFamily="34" charset="0"/>
                <a:ea typeface="Calibri" pitchFamily="34" charset="-122"/>
                <a:cs typeface="Calibri" pitchFamily="34" charset="-120"/>
              </a:rPr>
              <a:t>KPI cao nhất</a:t>
            </a:r>
            <a:pPr indent="0" marL="0">
              <a:lnSpc>
                <a:spcPct val="115000"/>
              </a:lnSpc>
              <a:buNone/>
            </a:pPr>
            <a:r>
              <a:rPr lang="en-US" sz="1600" dirty="0">
                <a:solidFill>
                  <a:srgbClr val="2B2B2B"/>
                </a:solidFill>
                <a:latin typeface="Calibri" pitchFamily="34" charset="0"/>
                <a:ea typeface="Calibri" pitchFamily="34" charset="-122"/>
                <a:cs typeface="Calibri" pitchFamily="34" charset="-120"/>
              </a:rPr>
              <a:t> của công ty. Mục tiêu lợi nhuận toàn công ty:</a:t>
            </a:r>
            <a:endParaRPr lang="en-US" sz="1600" dirty="0"/>
          </a:p>
        </p:txBody>
      </p:sp>
      <p:sp>
        <p:nvSpPr>
          <p:cNvPr id="8" name="Shape 6"/>
          <p:cNvSpPr/>
          <p:nvPr/>
        </p:nvSpPr>
        <p:spPr>
          <a:xfrm>
            <a:off x="548640" y="2194560"/>
            <a:ext cx="3291840" cy="1554480"/>
          </a:xfrm>
          <a:prstGeom prst="roundRect">
            <a:avLst>
              <a:gd name="adj" fmla="val 3529"/>
            </a:avLst>
          </a:prstGeom>
          <a:solidFill>
            <a:srgbClr val="1B2A4A"/>
          </a:solidFill>
          <a:ln/>
        </p:spPr>
      </p:sp>
      <p:sp>
        <p:nvSpPr>
          <p:cNvPr id="9" name="Text 7"/>
          <p:cNvSpPr/>
          <p:nvPr/>
        </p:nvSpPr>
        <p:spPr>
          <a:xfrm>
            <a:off x="548640" y="2304288"/>
            <a:ext cx="3291840" cy="1051560"/>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20 tỷ</a:t>
            </a:r>
            <a:endParaRPr lang="en-US" sz="3000" dirty="0"/>
          </a:p>
        </p:txBody>
      </p:sp>
      <p:sp>
        <p:nvSpPr>
          <p:cNvPr id="10" name="Text 8"/>
          <p:cNvSpPr/>
          <p:nvPr/>
        </p:nvSpPr>
        <p:spPr>
          <a:xfrm>
            <a:off x="548640" y="3291840"/>
            <a:ext cx="3291840" cy="384048"/>
          </a:xfrm>
          <a:prstGeom prst="rect">
            <a:avLst/>
          </a:prstGeom>
          <a:noFill/>
          <a:ln/>
        </p:spPr>
        <p:txBody>
          <a:bodyPr wrap="square" rtlCol="0" anchor="t"/>
          <a:lstStyle/>
          <a:p>
            <a:pPr algn="ctr" indent="0" marL="0">
              <a:buNone/>
            </a:pPr>
            <a:r>
              <a:rPr lang="en-US" sz="1200" dirty="0">
                <a:solidFill>
                  <a:srgbClr val="C9D6EA"/>
                </a:solidFill>
                <a:latin typeface="Calibri" pitchFamily="34" charset="0"/>
                <a:ea typeface="Calibri" pitchFamily="34" charset="-122"/>
                <a:cs typeface="Calibri" pitchFamily="34" charset="-120"/>
              </a:rPr>
              <a:t>Mục tiêu lợi nhuận 2026</a:t>
            </a:r>
            <a:endParaRPr lang="en-US" sz="1200" dirty="0"/>
          </a:p>
        </p:txBody>
      </p:sp>
      <p:sp>
        <p:nvSpPr>
          <p:cNvPr id="11" name="Shape 9"/>
          <p:cNvSpPr/>
          <p:nvPr/>
        </p:nvSpPr>
        <p:spPr>
          <a:xfrm>
            <a:off x="4160520" y="2194560"/>
            <a:ext cx="3291840" cy="1554480"/>
          </a:xfrm>
          <a:prstGeom prst="roundRect">
            <a:avLst>
              <a:gd name="adj" fmla="val 3529"/>
            </a:avLst>
          </a:prstGeom>
          <a:solidFill>
            <a:srgbClr val="1B2A4A"/>
          </a:solidFill>
          <a:ln/>
        </p:spPr>
      </p:sp>
      <p:sp>
        <p:nvSpPr>
          <p:cNvPr id="12" name="Text 10"/>
          <p:cNvSpPr/>
          <p:nvPr/>
        </p:nvSpPr>
        <p:spPr>
          <a:xfrm>
            <a:off x="4160520" y="2304288"/>
            <a:ext cx="3291840" cy="1051560"/>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70 tỷ</a:t>
            </a:r>
            <a:endParaRPr lang="en-US" sz="3000" dirty="0"/>
          </a:p>
        </p:txBody>
      </p:sp>
      <p:sp>
        <p:nvSpPr>
          <p:cNvPr id="13" name="Text 11"/>
          <p:cNvSpPr/>
          <p:nvPr/>
        </p:nvSpPr>
        <p:spPr>
          <a:xfrm>
            <a:off x="4160520" y="3291840"/>
            <a:ext cx="3291840" cy="384048"/>
          </a:xfrm>
          <a:prstGeom prst="rect">
            <a:avLst/>
          </a:prstGeom>
          <a:noFill/>
          <a:ln/>
        </p:spPr>
        <p:txBody>
          <a:bodyPr wrap="square" rtlCol="0" anchor="t"/>
          <a:lstStyle/>
          <a:p>
            <a:pPr algn="ctr" indent="0" marL="0">
              <a:buNone/>
            </a:pPr>
            <a:r>
              <a:rPr lang="en-US" sz="1200" dirty="0">
                <a:solidFill>
                  <a:srgbClr val="C9D6EA"/>
                </a:solidFill>
                <a:latin typeface="Calibri" pitchFamily="34" charset="0"/>
                <a:ea typeface="Calibri" pitchFamily="34" charset="-122"/>
                <a:cs typeface="Calibri" pitchFamily="34" charset="-120"/>
              </a:rPr>
              <a:t>Mục tiêu lợi nhuận 2027</a:t>
            </a:r>
            <a:endParaRPr lang="en-US" sz="1200" dirty="0"/>
          </a:p>
        </p:txBody>
      </p:sp>
      <p:sp>
        <p:nvSpPr>
          <p:cNvPr id="14" name="Shape 12"/>
          <p:cNvSpPr/>
          <p:nvPr/>
        </p:nvSpPr>
        <p:spPr>
          <a:xfrm>
            <a:off x="7772400" y="2194560"/>
            <a:ext cx="3291840" cy="1554480"/>
          </a:xfrm>
          <a:prstGeom prst="roundRect">
            <a:avLst>
              <a:gd name="adj" fmla="val 3529"/>
            </a:avLst>
          </a:prstGeom>
          <a:solidFill>
            <a:srgbClr val="1B2A4A"/>
          </a:solidFill>
          <a:ln/>
        </p:spPr>
      </p:sp>
      <p:sp>
        <p:nvSpPr>
          <p:cNvPr id="15" name="Text 13"/>
          <p:cNvSpPr/>
          <p:nvPr/>
        </p:nvSpPr>
        <p:spPr>
          <a:xfrm>
            <a:off x="7772400" y="2304288"/>
            <a:ext cx="3291840" cy="1051560"/>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130 tỷ</a:t>
            </a:r>
            <a:endParaRPr lang="en-US" sz="3000" dirty="0"/>
          </a:p>
        </p:txBody>
      </p:sp>
      <p:sp>
        <p:nvSpPr>
          <p:cNvPr id="16" name="Text 14"/>
          <p:cNvSpPr/>
          <p:nvPr/>
        </p:nvSpPr>
        <p:spPr>
          <a:xfrm>
            <a:off x="7772400" y="3291840"/>
            <a:ext cx="3291840" cy="384048"/>
          </a:xfrm>
          <a:prstGeom prst="rect">
            <a:avLst/>
          </a:prstGeom>
          <a:noFill/>
          <a:ln/>
        </p:spPr>
        <p:txBody>
          <a:bodyPr wrap="square" rtlCol="0" anchor="t"/>
          <a:lstStyle/>
          <a:p>
            <a:pPr algn="ctr" indent="0" marL="0">
              <a:buNone/>
            </a:pPr>
            <a:r>
              <a:rPr lang="en-US" sz="1200" dirty="0">
                <a:solidFill>
                  <a:srgbClr val="C9D6EA"/>
                </a:solidFill>
                <a:latin typeface="Calibri" pitchFamily="34" charset="0"/>
                <a:ea typeface="Calibri" pitchFamily="34" charset="-122"/>
                <a:cs typeface="Calibri" pitchFamily="34" charset="-120"/>
              </a:rPr>
              <a:t>Mục tiêu lợi nhuận 2028</a:t>
            </a:r>
            <a:endParaRPr lang="en-US" sz="1200" dirty="0"/>
          </a:p>
        </p:txBody>
      </p:sp>
      <p:sp>
        <p:nvSpPr>
          <p:cNvPr id="17" name="Text 15"/>
          <p:cNvSpPr/>
          <p:nvPr/>
        </p:nvSpPr>
        <p:spPr>
          <a:xfrm>
            <a:off x="548640" y="4069080"/>
            <a:ext cx="11094415" cy="1097280"/>
          </a:xfrm>
          <a:prstGeom prst="rect">
            <a:avLst/>
          </a:prstGeom>
          <a:noFill/>
          <a:ln/>
        </p:spPr>
        <p:txBody>
          <a:bodyPr wrap="square" rtlCol="0" anchor="t"/>
          <a:lstStyle/>
          <a:p>
            <a:pPr indent="0" marL="0">
              <a:lnSpc>
                <a:spcPct val="118000"/>
              </a:lnSpc>
              <a:spcAft>
                <a:spcPts val="1200"/>
              </a:spcAft>
              <a:buNone/>
            </a:pPr>
            <a:r>
              <a:rPr lang="en-US" sz="1550" b="1" dirty="0">
                <a:solidFill>
                  <a:srgbClr val="2E5FA3"/>
                </a:solidFill>
                <a:latin typeface="Calibri" pitchFamily="34" charset="0"/>
                <a:ea typeface="Calibri" pitchFamily="34" charset="-122"/>
                <a:cs typeface="Calibri" pitchFamily="34" charset="-120"/>
              </a:rPr>
              <a:t>•  </a:t>
            </a:r>
            <a:pPr indent="0" marL="0">
              <a:lnSpc>
                <a:spcPct val="118000"/>
              </a:lnSpc>
              <a:spcAft>
                <a:spcPts val="1200"/>
              </a:spcAft>
              <a:buNone/>
            </a:pPr>
            <a:r>
              <a:rPr lang="en-US" sz="1550" dirty="0">
                <a:solidFill>
                  <a:srgbClr val="2B2B2B"/>
                </a:solidFill>
                <a:latin typeface="Calibri" pitchFamily="34" charset="0"/>
                <a:ea typeface="Calibri" pitchFamily="34" charset="-122"/>
                <a:cs typeface="Calibri" pitchFamily="34" charset="-120"/>
              </a:rPr>
              <a:t>Yêu cầu đặt ra cho cả 3 concept: mọi phương án phải chứng minh khả năng sinh lời bằng số liệu cụ thể — </a:t>
            </a:r>
            <a:pPr indent="0" marL="0">
              <a:lnSpc>
                <a:spcPct val="118000"/>
              </a:lnSpc>
              <a:spcAft>
                <a:spcPts val="1200"/>
              </a:spcAft>
              <a:buNone/>
            </a:pPr>
            <a:r>
              <a:rPr lang="en-US" sz="1550" b="1" dirty="0">
                <a:solidFill>
                  <a:srgbClr val="2B2B2B"/>
                </a:solidFill>
                <a:latin typeface="Calibri" pitchFamily="34" charset="0"/>
                <a:ea typeface="Calibri" pitchFamily="34" charset="-122"/>
                <a:cs typeface="Calibri" pitchFamily="34" charset="-120"/>
              </a:rPr>
              <a:t>giá vốn/buổi, biên lợi nhuận</a:t>
            </a:r>
            <a:pPr indent="0" marL="0">
              <a:lnSpc>
                <a:spcPct val="118000"/>
              </a:lnSpc>
              <a:spcAft>
                <a:spcPts val="1200"/>
              </a:spcAft>
              <a:buNone/>
            </a:pPr>
            <a:r>
              <a:rPr lang="en-US" sz="1550" dirty="0">
                <a:solidFill>
                  <a:srgbClr val="2B2B2B"/>
                </a:solidFill>
                <a:latin typeface="Calibri" pitchFamily="34" charset="0"/>
                <a:ea typeface="Calibri" pitchFamily="34" charset="-122"/>
                <a:cs typeface="Calibri" pitchFamily="34" charset="-120"/>
              </a:rPr>
              <a:t> — trước khi đi tiếp.</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2 — 3 ĐỊNH HƯỚNG CONCEPT</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Tổng quan nhanh 3 định hướng</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480560"/>
        </p:xfrm>
        <a:graphic>
          <a:graphicData uri="http://schemas.openxmlformats.org/drawingml/2006/table">
            <a:tbl>
              <a:tblPr/>
              <a:tblGrid>
                <a:gridCol w="1737360"/>
                <a:gridCol w="3119018"/>
                <a:gridCol w="3119018"/>
                <a:gridCol w="3119018"/>
              </a:tblGrid>
              <a:tr h="896112">
                <a:tc>
                  <a:txBody>
                    <a:bodyPr/>
                    <a:lstStyle/>
                    <a:p>
                      <a:pPr algn="l" indent="0" marL="0">
                        <a:buNone/>
                      </a:pPr>
                      <a:endParaRPr lang="en-US" sz="13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Concept 1 — Làm mịn &amp; nâng cấp</a:t>
                      </a:r>
                      <a:endParaRPr lang="en-US" sz="13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Concept 2 — Làm mịn + Thêm môn</a:t>
                      </a:r>
                      <a:endParaRPr lang="en-US" sz="13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Concept 3 — Gia sư AI 1:1</a:t>
                      </a:r>
                      <a:endParaRPr lang="en-US" sz="13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r>
              <a:tr h="896112">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Bản chất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Giữ Big Class + GV thật làm trung tâm, AI hỗ trợ sâu dần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Giữ nền Concept 1, thêm 1 buổi Live/tuần môn khác</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AI đóng vai </a:t>
                      </a:r>
                      <a:pPr indent="0" marL="0">
                        <a:buNone/>
                      </a:pPr>
                      <a:r>
                        <a:rPr lang="en-US" sz="1250" b="1" dirty="0">
                          <a:solidFill>
                            <a:srgbClr val="2B2B2B"/>
                          </a:solidFill>
                          <a:latin typeface="Calibri" pitchFamily="34" charset="0"/>
                          <a:ea typeface="Calibri" pitchFamily="34" charset="-122"/>
                          <a:cs typeface="Calibri" pitchFamily="34" charset="-120"/>
                        </a:rPr>
                        <a:t>gia sư chính</a:t>
                      </a:r>
                      <a:pPr indent="0" marL="0">
                        <a:buNone/>
                      </a:pPr>
                      <a:r>
                        <a:rPr lang="en-US" sz="1250" dirty="0">
                          <a:solidFill>
                            <a:srgbClr val="2B2B2B"/>
                          </a:solidFill>
                          <a:latin typeface="Calibri" pitchFamily="34" charset="0"/>
                          <a:ea typeface="Calibri" pitchFamily="34" charset="-122"/>
                          <a:cs typeface="Calibri" pitchFamily="34" charset="-120"/>
                        </a:rPr>
                        <a:t>, không chỉ hỗ trợ lớp học</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896112">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Số phương án nội bộ</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3 mức tăng dần: 1.1 → 1.2 → 1.3 (mỗi mức chứa trọn mức trước)</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3 biến thể theo môn, không loại trừ nhau</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2 định hướng persona (3.1/3.2) × 2 phương án kỹ thuật (A/B)</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r h="896112">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Bằng chứng nội bộ</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Có (sản phẩm hiện tại + Pilot GVCN đang chạy)</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Có (sản phẩm hiện tại làm nền)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250" b="1" dirty="0">
                          <a:solidFill>
                            <a:srgbClr val="2B2B2B"/>
                          </a:solidFill>
                          <a:latin typeface="Calibri" pitchFamily="34" charset="0"/>
                          <a:ea typeface="Calibri" pitchFamily="34" charset="-122"/>
                          <a:cs typeface="Calibri" pitchFamily="34" charset="-120"/>
                        </a:rPr>
                        <a:t>Chưa có Pilot nội bộ nào</a:t>
                      </a:r>
                      <a:pPr indent="0" marL="0">
                        <a:buNone/>
                      </a:pPr>
                      <a:r>
                        <a:rPr lang="en-US" sz="1250" dirty="0">
                          <a:solidFill>
                            <a:srgbClr val="2B2B2B"/>
                          </a:solidFill>
                          <a:latin typeface="Calibri" pitchFamily="34" charset="0"/>
                          <a:ea typeface="Calibri" pitchFamily="34" charset="-122"/>
                          <a:cs typeface="Calibri" pitchFamily="34" charset="-120"/>
                        </a:rPr>
                        <a:t> — dựa hoàn toàn vào nghiên cứu thị trường ngoài</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896112">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Rủi ro chính</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1.1: giá trị chưa đủ khác biệt · 1.3: vận hành GVCN 1:2.000 chưa kiểm chứng</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2.1 (thêm Toán) tự cạnh tranh nội bộ với UniClass</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Cannibalization với Tutor 1-1; 3.1 có rủi ro pháp lý bản quyền hình ảnh/giọng nói</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2 — 3 ĐỊNH HƯỚNG CONCEPT</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Concept 1: Làm mịn và nâng cấp</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417320"/>
            <a:ext cx="11094415" cy="45720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Giữ nguyên Big Class + Practice + Speak + Edupia Club + GVCN hiện có — không mở rộng môn học, không đổi mô hình sản phẩm.</a:t>
            </a:r>
            <a:endParaRPr lang="en-US" sz="1350" dirty="0"/>
          </a:p>
        </p:txBody>
      </p:sp>
      <p:sp>
        <p:nvSpPr>
          <p:cNvPr id="8" name="Shape 6"/>
          <p:cNvSpPr/>
          <p:nvPr/>
        </p:nvSpPr>
        <p:spPr>
          <a:xfrm>
            <a:off x="548640" y="2011680"/>
            <a:ext cx="3545738" cy="4023360"/>
          </a:xfrm>
          <a:prstGeom prst="roundRect">
            <a:avLst>
              <a:gd name="adj" fmla="val 1547"/>
            </a:avLst>
          </a:prstGeom>
          <a:solidFill>
            <a:srgbClr val="F3F6FB"/>
          </a:solidFill>
          <a:ln w="9525">
            <a:solidFill>
              <a:srgbClr val="D7DEE9"/>
            </a:solidFill>
            <a:prstDash val="solid"/>
          </a:ln>
        </p:spPr>
      </p:sp>
      <p:sp>
        <p:nvSpPr>
          <p:cNvPr id="9" name="Text 7"/>
          <p:cNvSpPr/>
          <p:nvPr/>
        </p:nvSpPr>
        <p:spPr>
          <a:xfrm>
            <a:off x="713232" y="2139696"/>
            <a:ext cx="3216554" cy="502920"/>
          </a:xfrm>
          <a:prstGeom prst="rect">
            <a:avLst/>
          </a:prstGeom>
          <a:noFill/>
          <a:ln/>
        </p:spPr>
        <p:txBody>
          <a:bodyPr wrap="square"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Mức 1.1 — Làm mịn</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(mức nền)</a:t>
            </a:r>
            <a:endParaRPr lang="en-US" sz="1350" dirty="0"/>
          </a:p>
        </p:txBody>
      </p:sp>
      <p:sp>
        <p:nvSpPr>
          <p:cNvPr id="10" name="Text 8"/>
          <p:cNvSpPr/>
          <p:nvPr/>
        </p:nvSpPr>
        <p:spPr>
          <a:xfrm>
            <a:off x="713232" y="2697480"/>
            <a:ext cx="3216554" cy="3200400"/>
          </a:xfrm>
          <a:prstGeom prst="rect">
            <a:avLst/>
          </a:prstGeom>
          <a:noFill/>
          <a:ln/>
        </p:spPr>
        <p:txBody>
          <a:bodyPr wrap="square" rtlCol="0" anchor="t"/>
          <a:lstStyle/>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Nâng cấp kho đề Practice + AI Mocktest</a:t>
            </a:r>
            <a:endParaRPr lang="en-US" sz="1250" dirty="0"/>
          </a:p>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Nâng cấp độ chính xác chấm-chữa phát âm Speak</a:t>
            </a:r>
            <a:endParaRPr lang="en-US" sz="1250" dirty="0"/>
          </a:p>
        </p:txBody>
      </p:sp>
      <p:sp>
        <p:nvSpPr>
          <p:cNvPr id="11" name="Shape 9"/>
          <p:cNvSpPr/>
          <p:nvPr/>
        </p:nvSpPr>
        <p:spPr>
          <a:xfrm>
            <a:off x="4322978" y="2011680"/>
            <a:ext cx="3545738" cy="4023360"/>
          </a:xfrm>
          <a:prstGeom prst="roundRect">
            <a:avLst>
              <a:gd name="adj" fmla="val 1547"/>
            </a:avLst>
          </a:prstGeom>
          <a:solidFill>
            <a:srgbClr val="F3F6FB"/>
          </a:solidFill>
          <a:ln w="9525">
            <a:solidFill>
              <a:srgbClr val="D7DEE9"/>
            </a:solidFill>
            <a:prstDash val="solid"/>
          </a:ln>
        </p:spPr>
      </p:sp>
      <p:sp>
        <p:nvSpPr>
          <p:cNvPr id="12" name="Text 10"/>
          <p:cNvSpPr/>
          <p:nvPr/>
        </p:nvSpPr>
        <p:spPr>
          <a:xfrm>
            <a:off x="4487570" y="2139696"/>
            <a:ext cx="3216554" cy="502920"/>
          </a:xfrm>
          <a:prstGeom prst="rect">
            <a:avLst/>
          </a:prstGeom>
          <a:noFill/>
          <a:ln/>
        </p:spPr>
        <p:txBody>
          <a:bodyPr wrap="square"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Mức 1.2 — Nâng cấp mạnh AI</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(kế thừa 1.1)</a:t>
            </a:r>
            <a:endParaRPr lang="en-US" sz="1350" dirty="0"/>
          </a:p>
        </p:txBody>
      </p:sp>
      <p:sp>
        <p:nvSpPr>
          <p:cNvPr id="13" name="Text 11"/>
          <p:cNvSpPr/>
          <p:nvPr/>
        </p:nvSpPr>
        <p:spPr>
          <a:xfrm>
            <a:off x="4487570" y="2697480"/>
            <a:ext cx="3216554" cy="3200400"/>
          </a:xfrm>
          <a:prstGeom prst="rect">
            <a:avLst/>
          </a:prstGeom>
          <a:noFill/>
          <a:ln/>
        </p:spPr>
        <p:txBody>
          <a:bodyPr wrap="square" rtlCol="0" anchor="t"/>
          <a:lstStyle/>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AI Tutor 30 phút cố định sau Big Class</a:t>
            </a:r>
            <a:endParaRPr lang="en-US" sz="1250" dirty="0"/>
          </a:p>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Adaptive Learning: chẩn đoán theo </a:t>
            </a:r>
            <a:pPr indent="0" marL="0">
              <a:lnSpc>
                <a:spcPct val="118000"/>
              </a:lnSpc>
              <a:spcAft>
                <a:spcPts val="800"/>
              </a:spcAft>
              <a:buNone/>
            </a:pPr>
            <a:r>
              <a:rPr lang="en-US" sz="1250" b="1" dirty="0">
                <a:solidFill>
                  <a:srgbClr val="2B2B2B"/>
                </a:solidFill>
                <a:latin typeface="Calibri" pitchFamily="34" charset="0"/>
                <a:ea typeface="Calibri" pitchFamily="34" charset="-122"/>
                <a:cs typeface="Calibri" pitchFamily="34" charset="-120"/>
              </a:rPr>
              <a:t>1.473 đơn vị kiến thức (NLO)</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 tự động vá lỗ hổng — cùng bậc quy mô với ALEKS (~1.000), Carnegie MATHia (~700)</a:t>
            </a:r>
            <a:endParaRPr lang="en-US" sz="1250" dirty="0"/>
          </a:p>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Parent Mode — Mastery Map</a:t>
            </a:r>
            <a:endParaRPr lang="en-US" sz="1250" dirty="0"/>
          </a:p>
        </p:txBody>
      </p:sp>
      <p:sp>
        <p:nvSpPr>
          <p:cNvPr id="14" name="Shape 12"/>
          <p:cNvSpPr/>
          <p:nvPr/>
        </p:nvSpPr>
        <p:spPr>
          <a:xfrm>
            <a:off x="8097317" y="2011680"/>
            <a:ext cx="3545738" cy="4023360"/>
          </a:xfrm>
          <a:prstGeom prst="roundRect">
            <a:avLst>
              <a:gd name="adj" fmla="val 1547"/>
            </a:avLst>
          </a:prstGeom>
          <a:solidFill>
            <a:srgbClr val="F3F6FB"/>
          </a:solidFill>
          <a:ln w="9525">
            <a:solidFill>
              <a:srgbClr val="D7DEE9"/>
            </a:solidFill>
            <a:prstDash val="solid"/>
          </a:ln>
        </p:spPr>
      </p:sp>
      <p:sp>
        <p:nvSpPr>
          <p:cNvPr id="15" name="Text 13"/>
          <p:cNvSpPr/>
          <p:nvPr/>
        </p:nvSpPr>
        <p:spPr>
          <a:xfrm>
            <a:off x="8261909" y="2139696"/>
            <a:ext cx="3216554" cy="502920"/>
          </a:xfrm>
          <a:prstGeom prst="rect">
            <a:avLst/>
          </a:prstGeom>
          <a:noFill/>
          <a:ln/>
        </p:spPr>
        <p:txBody>
          <a:bodyPr wrap="square"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Mức 1.3 — Nâng cấp mạnh con người</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(kế thừa 1.2)</a:t>
            </a:r>
            <a:endParaRPr lang="en-US" sz="1350" dirty="0"/>
          </a:p>
        </p:txBody>
      </p:sp>
      <p:sp>
        <p:nvSpPr>
          <p:cNvPr id="16" name="Text 14"/>
          <p:cNvSpPr/>
          <p:nvPr/>
        </p:nvSpPr>
        <p:spPr>
          <a:xfrm>
            <a:off x="8261909" y="2697480"/>
            <a:ext cx="3216554" cy="3200400"/>
          </a:xfrm>
          <a:prstGeom prst="rect">
            <a:avLst/>
          </a:prstGeom>
          <a:noFill/>
          <a:ln/>
        </p:spPr>
        <p:txBody>
          <a:bodyPr wrap="square" rtlCol="0" anchor="t"/>
          <a:lstStyle/>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Thêm buổi Big Class thứ 3/tuần</a:t>
            </a:r>
            <a:endParaRPr lang="en-US" sz="1250" dirty="0"/>
          </a:p>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GVCN mở rộng: chủ động giao bài, theo sát tiến độ, giới hạn đổi GV (≤2 lần/6 tháng), tỷ lệ mục tiêu 1:2.000</a:t>
            </a:r>
            <a:endParaRPr lang="en-US" sz="1250" dirty="0"/>
          </a:p>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Thông báo tình hình học sau mỗi buổi nếu có vấn đề</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2 — 3 ĐỊNH HƯỚNG CONCEPT</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Concept 2: Làm mịn và thêm môn</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417320"/>
            <a:ext cx="11094415" cy="45720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Giữ nền Concept 1 (khuyến nghị mức 1.2) + thêm 1 buổi Live/tuần môn khác — 3 biến thể không nhất thiết loại trừ nhau.</a:t>
            </a:r>
            <a:endParaRPr lang="en-US" sz="1350" dirty="0"/>
          </a:p>
        </p:txBody>
      </p:sp>
      <p:sp>
        <p:nvSpPr>
          <p:cNvPr id="8" name="Shape 6"/>
          <p:cNvSpPr/>
          <p:nvPr/>
        </p:nvSpPr>
        <p:spPr>
          <a:xfrm>
            <a:off x="548640" y="2011680"/>
            <a:ext cx="3545738" cy="4023360"/>
          </a:xfrm>
          <a:prstGeom prst="roundRect">
            <a:avLst>
              <a:gd name="adj" fmla="val 1547"/>
            </a:avLst>
          </a:prstGeom>
          <a:solidFill>
            <a:srgbClr val="F3F6FB"/>
          </a:solidFill>
          <a:ln w="9525">
            <a:solidFill>
              <a:srgbClr val="D7DEE9"/>
            </a:solidFill>
            <a:prstDash val="solid"/>
          </a:ln>
        </p:spPr>
      </p:sp>
      <p:sp>
        <p:nvSpPr>
          <p:cNvPr id="9" name="Text 7"/>
          <p:cNvSpPr/>
          <p:nvPr/>
        </p:nvSpPr>
        <p:spPr>
          <a:xfrm>
            <a:off x="713232" y="2139696"/>
            <a:ext cx="3216554" cy="502920"/>
          </a:xfrm>
          <a:prstGeom prst="rect">
            <a:avLst/>
          </a:prstGeom>
          <a:noFill/>
          <a:ln/>
        </p:spPr>
        <p:txBody>
          <a:bodyPr wrap="square"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Biến thể 2.1</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Thêm môn phổ thông</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(Toán, Tiếng Việt...)</a:t>
            </a:r>
            <a:endParaRPr lang="en-US" sz="1350" dirty="0"/>
          </a:p>
        </p:txBody>
      </p:sp>
      <p:sp>
        <p:nvSpPr>
          <p:cNvPr id="10" name="Text 8"/>
          <p:cNvSpPr/>
          <p:nvPr/>
        </p:nvSpPr>
        <p:spPr>
          <a:xfrm>
            <a:off x="713232" y="2697480"/>
            <a:ext cx="3216554" cy="3200400"/>
          </a:xfrm>
          <a:prstGeom prst="rect">
            <a:avLst/>
          </a:prstGeom>
          <a:noFill/>
          <a:ln/>
        </p:spPr>
        <p:txBody>
          <a:bodyPr wrap="square" rtlCol="0" anchor="t"/>
          <a:lstStyle/>
          <a:p>
            <a:pPr indent="0" marL="0">
              <a:lnSpc>
                <a:spcPct val="118000"/>
              </a:lnSpc>
              <a:spcAft>
                <a:spcPts val="800"/>
              </a:spcAft>
              <a:buNone/>
            </a:pPr>
            <a:r>
              <a:rPr lang="en-US" sz="1250" b="1" dirty="0">
                <a:solidFill>
                  <a:srgbClr val="B91C1C"/>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Đưa Edupia Class vào đúng phạm vi môn học mà </a:t>
            </a:r>
            <a:pPr indent="0" marL="0">
              <a:lnSpc>
                <a:spcPct val="118000"/>
              </a:lnSpc>
              <a:spcAft>
                <a:spcPts val="800"/>
              </a:spcAft>
              <a:buNone/>
            </a:pPr>
            <a:r>
              <a:rPr lang="en-US" sz="1250" b="1" dirty="0">
                <a:solidFill>
                  <a:srgbClr val="2B2B2B"/>
                </a:solidFill>
                <a:latin typeface="Calibri" pitchFamily="34" charset="0"/>
                <a:ea typeface="Calibri" pitchFamily="34" charset="-122"/>
                <a:cs typeface="Calibri" pitchFamily="34" charset="-120"/>
              </a:rPr>
              <a:t>UniClass</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 (sản phẩm khác của Educa) đang phục vụ — rủi ro tự cạnh tranh nội bộ, cần BOD xác nhận lý do kinh doanh cụ thể.</a:t>
            </a:r>
            <a:endParaRPr lang="en-US" sz="1250" dirty="0"/>
          </a:p>
        </p:txBody>
      </p:sp>
      <p:sp>
        <p:nvSpPr>
          <p:cNvPr id="11" name="Shape 9"/>
          <p:cNvSpPr/>
          <p:nvPr/>
        </p:nvSpPr>
        <p:spPr>
          <a:xfrm>
            <a:off x="4322978" y="2011680"/>
            <a:ext cx="3545738" cy="4023360"/>
          </a:xfrm>
          <a:prstGeom prst="roundRect">
            <a:avLst>
              <a:gd name="adj" fmla="val 1547"/>
            </a:avLst>
          </a:prstGeom>
          <a:solidFill>
            <a:srgbClr val="F3F6FB"/>
          </a:solidFill>
          <a:ln w="9525">
            <a:solidFill>
              <a:srgbClr val="D7DEE9"/>
            </a:solidFill>
            <a:prstDash val="solid"/>
          </a:ln>
        </p:spPr>
      </p:sp>
      <p:sp>
        <p:nvSpPr>
          <p:cNvPr id="12" name="Text 10"/>
          <p:cNvSpPr/>
          <p:nvPr/>
        </p:nvSpPr>
        <p:spPr>
          <a:xfrm>
            <a:off x="4487570" y="2139696"/>
            <a:ext cx="3216554" cy="502920"/>
          </a:xfrm>
          <a:prstGeom prst="rect">
            <a:avLst/>
          </a:prstGeom>
          <a:noFill/>
          <a:ln/>
        </p:spPr>
        <p:txBody>
          <a:bodyPr wrap="square"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Biến thể 2.2</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Thêm STEM/STEAM/</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AI cơ bản</a:t>
            </a:r>
            <a:endParaRPr lang="en-US" sz="1350" dirty="0"/>
          </a:p>
        </p:txBody>
      </p:sp>
      <p:sp>
        <p:nvSpPr>
          <p:cNvPr id="13" name="Text 11"/>
          <p:cNvSpPr/>
          <p:nvPr/>
        </p:nvSpPr>
        <p:spPr>
          <a:xfrm>
            <a:off x="4487570" y="2697480"/>
            <a:ext cx="3216554" cy="3200400"/>
          </a:xfrm>
          <a:prstGeom prst="rect">
            <a:avLst/>
          </a:prstGeom>
          <a:noFill/>
          <a:ln/>
        </p:spPr>
        <p:txBody>
          <a:bodyPr wrap="square" rtlCol="0" anchor="t"/>
          <a:lstStyle/>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Nhắm phụ huynh thành thị quan tâm tư duy công nghệ sớm cho con</a:t>
            </a:r>
            <a:endParaRPr lang="en-US" sz="1250" dirty="0"/>
          </a:p>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Rủi ro: nội dung "AI" cần có chiều sâu thật, tránh gắn nhãn marketing</a:t>
            </a:r>
            <a:endParaRPr lang="en-US" sz="1250" dirty="0"/>
          </a:p>
        </p:txBody>
      </p:sp>
      <p:sp>
        <p:nvSpPr>
          <p:cNvPr id="14" name="Shape 12"/>
          <p:cNvSpPr/>
          <p:nvPr/>
        </p:nvSpPr>
        <p:spPr>
          <a:xfrm>
            <a:off x="8097317" y="2011680"/>
            <a:ext cx="3545738" cy="4023360"/>
          </a:xfrm>
          <a:prstGeom prst="roundRect">
            <a:avLst>
              <a:gd name="adj" fmla="val 1547"/>
            </a:avLst>
          </a:prstGeom>
          <a:solidFill>
            <a:srgbClr val="F3F6FB"/>
          </a:solidFill>
          <a:ln w="9525">
            <a:solidFill>
              <a:srgbClr val="D7DEE9"/>
            </a:solidFill>
            <a:prstDash val="solid"/>
          </a:ln>
        </p:spPr>
      </p:sp>
      <p:sp>
        <p:nvSpPr>
          <p:cNvPr id="15" name="Text 13"/>
          <p:cNvSpPr/>
          <p:nvPr/>
        </p:nvSpPr>
        <p:spPr>
          <a:xfrm>
            <a:off x="8261909" y="2139696"/>
            <a:ext cx="3216554" cy="502920"/>
          </a:xfrm>
          <a:prstGeom prst="rect">
            <a:avLst/>
          </a:prstGeom>
          <a:noFill/>
          <a:ln/>
        </p:spPr>
        <p:txBody>
          <a:bodyPr wrap="square"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Biến thể 2.3</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Thêm Kỹ năng sống</a:t>
            </a:r>
            <a:endParaRPr lang="en-US" sz="1350" dirty="0"/>
          </a:p>
          <a:p>
            <a:pPr indent="0" marL="0">
              <a:buNone/>
            </a:pPr>
            <a:r>
              <a:rPr lang="en-US" sz="1350" b="1" dirty="0">
                <a:solidFill>
                  <a:srgbClr val="1B2A4A"/>
                </a:solidFill>
                <a:latin typeface="Calibri" pitchFamily="34" charset="0"/>
                <a:ea typeface="Calibri" pitchFamily="34" charset="-122"/>
                <a:cs typeface="Calibri" pitchFamily="34" charset="-120"/>
              </a:rPr>
              <a:t>&amp; STEAM</a:t>
            </a:r>
            <a:endParaRPr lang="en-US" sz="1350" dirty="0"/>
          </a:p>
        </p:txBody>
      </p:sp>
      <p:sp>
        <p:nvSpPr>
          <p:cNvPr id="16" name="Text 14"/>
          <p:cNvSpPr/>
          <p:nvPr/>
        </p:nvSpPr>
        <p:spPr>
          <a:xfrm>
            <a:off x="8261909" y="2697480"/>
            <a:ext cx="3216554" cy="3200400"/>
          </a:xfrm>
          <a:prstGeom prst="rect">
            <a:avLst/>
          </a:prstGeom>
          <a:noFill/>
          <a:ln/>
        </p:spPr>
        <p:txBody>
          <a:bodyPr wrap="square" rtlCol="0" anchor="t"/>
          <a:lstStyle/>
          <a:p>
            <a:pPr indent="0" marL="0">
              <a:lnSpc>
                <a:spcPct val="118000"/>
              </a:lnSpc>
              <a:spcAft>
                <a:spcPts val="800"/>
              </a:spcAft>
              <a:buNone/>
            </a:pPr>
            <a:r>
              <a:rPr lang="en-US" sz="12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Phát triển toàn diện, không chỉ kiến thức</a:t>
            </a:r>
            <a:endParaRPr lang="en-US" sz="1250" dirty="0"/>
          </a:p>
          <a:p>
            <a:pPr indent="0" marL="0">
              <a:lnSpc>
                <a:spcPct val="118000"/>
              </a:lnSpc>
              <a:spcAft>
                <a:spcPts val="800"/>
              </a:spcAft>
              <a:buNone/>
            </a:pPr>
            <a:r>
              <a:rPr lang="en-US" sz="1250" b="1" dirty="0">
                <a:solidFill>
                  <a:srgbClr val="B91C1C"/>
                </a:solidFill>
                <a:latin typeface="Calibri" pitchFamily="34" charset="0"/>
                <a:ea typeface="Calibri" pitchFamily="34" charset="-122"/>
                <a:cs typeface="Calibri" pitchFamily="34" charset="-120"/>
              </a:rPr>
              <a:t>⚠  </a:t>
            </a:r>
            <a:pPr indent="0" marL="0">
              <a:lnSpc>
                <a:spcPct val="118000"/>
              </a:lnSpc>
              <a:spcAft>
                <a:spcPts val="800"/>
              </a:spcAft>
              <a:buNone/>
            </a:pPr>
            <a:r>
              <a:rPr lang="en-US" sz="1250" dirty="0">
                <a:solidFill>
                  <a:srgbClr val="2B2B2B"/>
                </a:solidFill>
                <a:latin typeface="Calibri" pitchFamily="34" charset="0"/>
                <a:ea typeface="Calibri" pitchFamily="34" charset="-122"/>
                <a:cs typeface="Calibri" pitchFamily="34" charset="-120"/>
              </a:rPr>
              <a:t>Case Đắk Lắk (2025): phản ứng dữ dội khi môn "kỹ năng" bị đưa vào giờ chính khoá bắt buộc — cần kênh bán tự nguyện.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2 — 3 ĐỊNH HƯỚNG CONCEPT</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Concept 3: Gia sư AI 1:1 (MỚI)</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371600"/>
            <a:ext cx="11094415"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AI là gia sư chính, không chỉ hỗ trợ lớp học như Concept 1/2. ⚠ Định hướng duy nhất chưa có Pilot nội bộ.</a:t>
            </a:r>
            <a:endParaRPr lang="en-US" sz="1300" dirty="0"/>
          </a:p>
        </p:txBody>
      </p:sp>
      <p:sp>
        <p:nvSpPr>
          <p:cNvPr id="8" name="Text 6"/>
          <p:cNvSpPr/>
          <p:nvPr/>
        </p:nvSpPr>
        <p:spPr>
          <a:xfrm>
            <a:off x="548640" y="1755648"/>
            <a:ext cx="11094415" cy="292608"/>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2 định hướng persona — "AI xuất hiện dưới hình hài nào"</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84832"/>
          <a:ext cx="11094415" cy="1965960"/>
        </p:xfrm>
        <a:graphic>
          <a:graphicData uri="http://schemas.openxmlformats.org/drawingml/2006/table">
            <a:tbl>
              <a:tblPr/>
              <a:tblGrid>
                <a:gridCol w="1463040"/>
                <a:gridCol w="5120640"/>
                <a:gridCol w="4510735"/>
              </a:tblGrid>
              <a:tr h="491490">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3.1 — AI nhân hoá "giáo viên ngôi sao"</a:t>
                      </a:r>
                      <a:endParaRPr lang="en-US" sz="11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3.2 — AI tích hợp mascot + gamification</a:t>
                      </a:r>
                      <a:endParaRPr lang="en-US" sz="11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r>
              <a:tr h="491490">
                <a:tc>
                  <a:txBody>
                    <a:bodyPr/>
                    <a:lstStyle/>
                    <a:p>
                      <a:pPr indent="0" marL="0">
                        <a:buNone/>
                      </a:pPr>
                      <a:r>
                        <a:rPr lang="en-US" sz="1050" b="1" dirty="0">
                          <a:solidFill>
                            <a:srgbClr val="1B2A4A"/>
                          </a:solidFill>
                          <a:latin typeface="Calibri" pitchFamily="34" charset="0"/>
                          <a:ea typeface="Calibri" pitchFamily="34" charset="-122"/>
                          <a:cs typeface="Calibri" pitchFamily="34" charset="-120"/>
                        </a:rPr>
                        <a:t>Ý tưởng</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AI mang giọng nói/phong cách một GV ngôi sao, nhân bản chất lượng dạy ra quy mô lớn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AI nhúng trong nhân vật mascot, gắn cơ chế trò chơi hoá — mascot phản ánh dữ liệu học thật, không chỉ trang trí</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91490">
                <a:tc>
                  <a:txBody>
                    <a:bodyPr/>
                    <a:lstStyle/>
                    <a:p>
                      <a:pPr indent="0" marL="0">
                        <a:buNone/>
                      </a:pPr>
                      <a:r>
                        <a:rPr lang="en-US" sz="1050" b="1" dirty="0">
                          <a:solidFill>
                            <a:srgbClr val="1B2A4A"/>
                          </a:solidFill>
                          <a:latin typeface="Calibri" pitchFamily="34" charset="0"/>
                          <a:ea typeface="Calibri" pitchFamily="34" charset="-122"/>
                          <a:cs typeface="Calibri" pitchFamily="34" charset="-120"/>
                        </a:rPr>
                        <a:t>Tiền lệ thị trường</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Không tìm được sản phẩm nào đúng cấu hình (K-12 + AI-clone + giá đại trà)</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Có — Duolingo, Prodigy</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r h="491490">
                <a:tc>
                  <a:txBody>
                    <a:bodyPr/>
                    <a:lstStyle/>
                    <a:p>
                      <a:pPr indent="0" marL="0">
                        <a:buNone/>
                      </a:pPr>
                      <a:r>
                        <a:rPr lang="en-US" sz="1050" b="1" dirty="0">
                          <a:solidFill>
                            <a:srgbClr val="1B2A4A"/>
                          </a:solidFill>
                          <a:latin typeface="Calibri" pitchFamily="34" charset="0"/>
                          <a:ea typeface="Calibri" pitchFamily="34" charset="-122"/>
                          <a:cs typeface="Calibri" pitchFamily="34" charset="-120"/>
                        </a:rPr>
                        <a:t>Rủi ro chính</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Pháp lý — quyền hình ảnh/giọng nói người thật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Thao túng hành vi trẻ em vì áp lực doanh thu</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bl>
          </a:graphicData>
        </a:graphic>
      </p:graphicFrame>
      <p:sp>
        <p:nvSpPr>
          <p:cNvPr id="10" name="Text 7"/>
          <p:cNvSpPr/>
          <p:nvPr/>
        </p:nvSpPr>
        <p:spPr>
          <a:xfrm>
            <a:off x="548640" y="4251960"/>
            <a:ext cx="11094415" cy="292608"/>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2 phương án kỹ thuật — "AI làm gì" (độc lập với 3.1/3.2, có thể kết hợp)</a:t>
            </a:r>
            <a:endParaRPr lang="en-US" sz="1300" dirty="0"/>
          </a:p>
        </p:txBody>
      </p:sp>
      <p:sp>
        <p:nvSpPr>
          <p:cNvPr id="11" name="Text 8"/>
          <p:cNvSpPr/>
          <p:nvPr/>
        </p:nvSpPr>
        <p:spPr>
          <a:xfrm>
            <a:off x="548640" y="4572000"/>
            <a:ext cx="11094415" cy="1371600"/>
          </a:xfrm>
          <a:prstGeom prst="rect">
            <a:avLst/>
          </a:prstGeom>
          <a:noFill/>
          <a:ln/>
        </p:spPr>
        <p:txBody>
          <a:bodyPr wrap="square" rtlCol="0" anchor="t"/>
          <a:lstStyle/>
          <a:p>
            <a:pPr indent="0" marL="0">
              <a:lnSpc>
                <a:spcPct val="118000"/>
              </a:lnSpc>
              <a:spcAft>
                <a:spcPts val="800"/>
              </a:spcAft>
              <a:buNone/>
            </a:pPr>
            <a:r>
              <a:rPr lang="en-US" sz="13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350" b="1" dirty="0">
                <a:solidFill>
                  <a:srgbClr val="2B2B2B"/>
                </a:solidFill>
                <a:latin typeface="Calibri" pitchFamily="34" charset="0"/>
                <a:ea typeface="Calibri" pitchFamily="34" charset="-122"/>
                <a:cs typeface="Calibri" pitchFamily="34" charset="-120"/>
              </a:rPr>
              <a:t>Phương án A — "AI Song Hành":</a:t>
            </a:r>
            <a:pPr indent="0" marL="0">
              <a:lnSpc>
                <a:spcPct val="118000"/>
              </a:lnSpc>
              <a:spcAft>
                <a:spcPts val="800"/>
              </a:spcAft>
              <a:buNone/>
            </a:pPr>
            <a:r>
              <a:rPr lang="en-US" sz="1350" dirty="0">
                <a:solidFill>
                  <a:srgbClr val="2B2B2B"/>
                </a:solidFill>
                <a:latin typeface="Calibri" pitchFamily="34" charset="0"/>
                <a:ea typeface="Calibri" pitchFamily="34" charset="-122"/>
                <a:cs typeface="Calibri" pitchFamily="34" charset="-120"/>
              </a:rPr>
              <a:t> AI giám sát/nhắc bài/phát hiện lỗ hổng liên tục cả tuần, GVCN chỉ can thiệp khi có ngoại lệ.</a:t>
            </a:r>
            <a:endParaRPr lang="en-US" sz="1350" dirty="0"/>
          </a:p>
          <a:p>
            <a:pPr indent="0" marL="0">
              <a:lnSpc>
                <a:spcPct val="118000"/>
              </a:lnSpc>
              <a:spcAft>
                <a:spcPts val="800"/>
              </a:spcAft>
              <a:buNone/>
            </a:pPr>
            <a:r>
              <a:rPr lang="en-US" sz="1350" b="1" dirty="0">
                <a:solidFill>
                  <a:srgbClr val="2E5FA3"/>
                </a:solidFill>
                <a:latin typeface="Calibri" pitchFamily="34" charset="0"/>
                <a:ea typeface="Calibri" pitchFamily="34" charset="-122"/>
                <a:cs typeface="Calibri" pitchFamily="34" charset="-120"/>
              </a:rPr>
              <a:t>•  </a:t>
            </a:r>
            <a:pPr indent="0" marL="0">
              <a:lnSpc>
                <a:spcPct val="118000"/>
              </a:lnSpc>
              <a:spcAft>
                <a:spcPts val="800"/>
              </a:spcAft>
              <a:buNone/>
            </a:pPr>
            <a:r>
              <a:rPr lang="en-US" sz="1350" b="1" dirty="0">
                <a:solidFill>
                  <a:srgbClr val="2B2B2B"/>
                </a:solidFill>
                <a:latin typeface="Calibri" pitchFamily="34" charset="0"/>
                <a:ea typeface="Calibri" pitchFamily="34" charset="-122"/>
                <a:cs typeface="Calibri" pitchFamily="34" charset="-120"/>
              </a:rPr>
              <a:t>Phương án B — "AI luyện hội thoại":</a:t>
            </a:r>
            <a:pPr indent="0" marL="0">
              <a:lnSpc>
                <a:spcPct val="118000"/>
              </a:lnSpc>
              <a:spcAft>
                <a:spcPts val="800"/>
              </a:spcAft>
              <a:buNone/>
            </a:pPr>
            <a:r>
              <a:rPr lang="en-US" sz="1350" dirty="0">
                <a:solidFill>
                  <a:srgbClr val="2B2B2B"/>
                </a:solidFill>
                <a:latin typeface="Calibri" pitchFamily="34" charset="0"/>
                <a:ea typeface="Calibri" pitchFamily="34" charset="-122"/>
                <a:cs typeface="Calibri" pitchFamily="34" charset="-120"/>
              </a:rPr>
              <a:t> AI hội thoại giọng nói thời gian thực — gần với hướng nâng cấp Speak đã có.</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3 — CASE STUDY: MÔ HÌNH THÀNH CÔNG TRÊN THẾ GIỚI</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Duolingo: mở rộng sang môn học mới</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691640"/>
            <a:ext cx="11094415" cy="4114800"/>
          </a:xfrm>
          <a:prstGeom prst="rect">
            <a:avLst/>
          </a:prstGeom>
          <a:noFill/>
          <a:ln/>
        </p:spPr>
        <p:txBody>
          <a:bodyPr wrap="square" rtlCol="0" anchor="t"/>
          <a:lstStyle/>
          <a:p>
            <a:pPr indent="0" marL="0">
              <a:lnSpc>
                <a:spcPct val="118000"/>
              </a:lnSpc>
              <a:spcAft>
                <a:spcPts val="1800"/>
              </a:spcAft>
              <a:buNone/>
            </a:pPr>
            <a:r>
              <a:rPr lang="en-US" sz="1650" b="1" dirty="0">
                <a:solidFill>
                  <a:srgbClr val="2E7D32"/>
                </a:solidFill>
                <a:latin typeface="Calibri" pitchFamily="34" charset="0"/>
                <a:ea typeface="Calibri" pitchFamily="34" charset="-122"/>
                <a:cs typeface="Calibri" pitchFamily="34" charset="-120"/>
              </a:rPr>
              <a:t>●  </a:t>
            </a:r>
            <a:pPr indent="0" marL="0">
              <a:lnSpc>
                <a:spcPct val="118000"/>
              </a:lnSpc>
              <a:spcAft>
                <a:spcPts val="1800"/>
              </a:spcAft>
              <a:buNone/>
            </a:pPr>
            <a:r>
              <a:rPr lang="en-US" sz="1650" dirty="0">
                <a:solidFill>
                  <a:srgbClr val="2B2B2B"/>
                </a:solidFill>
                <a:latin typeface="Calibri" pitchFamily="34" charset="0"/>
                <a:ea typeface="Calibri" pitchFamily="34" charset="-122"/>
                <a:cs typeface="Calibri" pitchFamily="34" charset="-120"/>
              </a:rPr>
              <a:t>Duolingo ra mắt </a:t>
            </a:r>
            <a:pPr indent="0" marL="0">
              <a:lnSpc>
                <a:spcPct val="118000"/>
              </a:lnSpc>
              <a:spcAft>
                <a:spcPts val="1800"/>
              </a:spcAft>
              <a:buNone/>
            </a:pPr>
            <a:r>
              <a:rPr lang="en-US" sz="1650" b="1" dirty="0">
                <a:solidFill>
                  <a:srgbClr val="2B2B2B"/>
                </a:solidFill>
                <a:latin typeface="Calibri" pitchFamily="34" charset="0"/>
                <a:ea typeface="Calibri" pitchFamily="34" charset="-122"/>
                <a:cs typeface="Calibri" pitchFamily="34" charset="-120"/>
              </a:rPr>
              <a:t>Music</a:t>
            </a:r>
            <a:pPr indent="0" marL="0">
              <a:lnSpc>
                <a:spcPct val="118000"/>
              </a:lnSpc>
              <a:spcAft>
                <a:spcPts val="1800"/>
              </a:spcAft>
              <a:buNone/>
            </a:pPr>
            <a:r>
              <a:rPr lang="en-US" sz="1650" dirty="0">
                <a:solidFill>
                  <a:srgbClr val="2B2B2B"/>
                </a:solidFill>
                <a:latin typeface="Calibri" pitchFamily="34" charset="0"/>
                <a:ea typeface="Calibri" pitchFamily="34" charset="-122"/>
                <a:cs typeface="Calibri" pitchFamily="34" charset="-120"/>
              </a:rPr>
              <a:t> (11/2023, cùng đợt nâng cấp Math) và </a:t>
            </a:r>
            <a:pPr indent="0" marL="0">
              <a:lnSpc>
                <a:spcPct val="118000"/>
              </a:lnSpc>
              <a:spcAft>
                <a:spcPts val="1800"/>
              </a:spcAft>
              <a:buNone/>
            </a:pPr>
            <a:r>
              <a:rPr lang="en-US" sz="1650" b="1" dirty="0">
                <a:solidFill>
                  <a:srgbClr val="2B2B2B"/>
                </a:solidFill>
                <a:latin typeface="Calibri" pitchFamily="34" charset="0"/>
                <a:ea typeface="Calibri" pitchFamily="34" charset="-122"/>
                <a:cs typeface="Calibri" pitchFamily="34" charset="-120"/>
              </a:rPr>
              <a:t>Chess</a:t>
            </a:r>
            <a:pPr indent="0" marL="0">
              <a:lnSpc>
                <a:spcPct val="118000"/>
              </a:lnSpc>
              <a:spcAft>
                <a:spcPts val="1800"/>
              </a:spcAft>
              <a:buNone/>
            </a:pPr>
            <a:r>
              <a:rPr lang="en-US" sz="1650" dirty="0">
                <a:solidFill>
                  <a:srgbClr val="2B2B2B"/>
                </a:solidFill>
                <a:latin typeface="Calibri" pitchFamily="34" charset="0"/>
                <a:ea typeface="Calibri" pitchFamily="34" charset="-122"/>
                <a:cs typeface="Calibri" pitchFamily="34" charset="-120"/>
              </a:rPr>
              <a:t> (2025) như các môn học mới bên cạnh ngôn ngữ, dùng chung engine gamification/mascot đã có.</a:t>
            </a:r>
            <a:endParaRPr lang="en-US" sz="1650" dirty="0"/>
          </a:p>
          <a:p>
            <a:pPr indent="0" marL="0">
              <a:lnSpc>
                <a:spcPct val="118000"/>
              </a:lnSpc>
              <a:spcAft>
                <a:spcPts val="1800"/>
              </a:spcAft>
              <a:buNone/>
            </a:pPr>
            <a:r>
              <a:rPr lang="en-US" sz="1650" b="1" dirty="0">
                <a:solidFill>
                  <a:srgbClr val="2E7D32"/>
                </a:solidFill>
                <a:latin typeface="Calibri" pitchFamily="34" charset="0"/>
                <a:ea typeface="Calibri" pitchFamily="34" charset="-122"/>
                <a:cs typeface="Calibri" pitchFamily="34" charset="-120"/>
              </a:rPr>
              <a:t>●  </a:t>
            </a:r>
            <a:pPr indent="0" marL="0">
              <a:lnSpc>
                <a:spcPct val="118000"/>
              </a:lnSpc>
              <a:spcAft>
                <a:spcPts val="1800"/>
              </a:spcAft>
              <a:buNone/>
            </a:pPr>
            <a:r>
              <a:rPr lang="en-US" sz="1650" dirty="0">
                <a:solidFill>
                  <a:srgbClr val="2B2B2B"/>
                </a:solidFill>
                <a:latin typeface="Calibri" pitchFamily="34" charset="0"/>
                <a:ea typeface="Calibri" pitchFamily="34" charset="-122"/>
                <a:cs typeface="Calibri" pitchFamily="34" charset="-120"/>
              </a:rPr>
              <a:t>Chess trở thành môn tăng trưởng nhanh nhất trong lịch sử Duolingo — vượt 1 triệu người dùng hoạt động hàng ngày (DAU) chỉ trong quý ra mắt.</a:t>
            </a:r>
            <a:endParaRPr lang="en-US" sz="1650" dirty="0"/>
          </a:p>
          <a:p>
            <a:pPr indent="0" marL="0">
              <a:lnSpc>
                <a:spcPct val="118000"/>
              </a:lnSpc>
              <a:spcAft>
                <a:spcPts val="1800"/>
              </a:spcAft>
              <a:buNone/>
            </a:pPr>
            <a:r>
              <a:rPr lang="en-US" sz="1650" b="1" dirty="0">
                <a:solidFill>
                  <a:srgbClr val="2E5FA3"/>
                </a:solidFill>
                <a:latin typeface="Calibri" pitchFamily="34" charset="0"/>
                <a:ea typeface="Calibri" pitchFamily="34" charset="-122"/>
                <a:cs typeface="Calibri" pitchFamily="34" charset="-120"/>
              </a:rPr>
              <a:t>•  </a:t>
            </a:r>
            <a:pPr indent="0" marL="0">
              <a:lnSpc>
                <a:spcPct val="118000"/>
              </a:lnSpc>
              <a:spcAft>
                <a:spcPts val="1800"/>
              </a:spcAft>
              <a:buNone/>
            </a:pPr>
            <a:r>
              <a:rPr lang="en-US" sz="1650" b="1" dirty="0">
                <a:solidFill>
                  <a:srgbClr val="2B2B2B"/>
                </a:solidFill>
                <a:latin typeface="Calibri" pitchFamily="34" charset="0"/>
                <a:ea typeface="Calibri" pitchFamily="34" charset="-122"/>
                <a:cs typeface="Calibri" pitchFamily="34" charset="-120"/>
              </a:rPr>
              <a:t>Liên hệ Concept 2:</a:t>
            </a:r>
            <a:pPr indent="0" marL="0">
              <a:lnSpc>
                <a:spcPct val="118000"/>
              </a:lnSpc>
              <a:spcAft>
                <a:spcPts val="1800"/>
              </a:spcAft>
              <a:buNone/>
            </a:pPr>
            <a:r>
              <a:rPr lang="en-US" sz="1650" dirty="0">
                <a:solidFill>
                  <a:srgbClr val="2B2B2B"/>
                </a:solidFill>
                <a:latin typeface="Calibri" pitchFamily="34" charset="0"/>
                <a:ea typeface="Calibri" pitchFamily="34" charset="-122"/>
                <a:cs typeface="Calibri" pitchFamily="34" charset="-120"/>
              </a:rPr>
              <a:t> minh chứng một nền tảng học ngôn ngữ có thể mở rộng sang môn học khác (không liên quan ngôn ngữ) và vẫn giữ được engagement, nếu tận dụng đúng hạ tầng gamification sẵn có — ủng hộ hướng biến thể 2.2/2.3 (môn bổ trợ) hơn là 2.1 (môn cạnh tranh nội bộ UniClass).</a:t>
            </a:r>
            <a:endParaRPr lang="en-US" sz="1650" dirty="0"/>
          </a:p>
        </p:txBody>
      </p:sp>
      <p:sp>
        <p:nvSpPr>
          <p:cNvPr id="8" name="Text 6"/>
          <p:cNvSpPr/>
          <p:nvPr/>
        </p:nvSpPr>
        <p:spPr>
          <a:xfrm>
            <a:off x="548640" y="6053328"/>
            <a:ext cx="11094415" cy="36576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Nguồn: Entrepreneur, VentureBeat, blog Duolingo (04/2025); Seeking Alpha (11/2023).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3 — CASE STUDY: MÔ HÌNH THÀNH CÔNG TRÊN THẾ GIỚI</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Trung Quốc: mô hình AI "song hành"</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691640"/>
            <a:ext cx="11094415" cy="4114800"/>
          </a:xfrm>
          <a:prstGeom prst="rect">
            <a:avLst/>
          </a:prstGeom>
          <a:noFill/>
          <a:ln/>
        </p:spPr>
        <p:txBody>
          <a:bodyPr wrap="square" rtlCol="0" anchor="t"/>
          <a:lstStyle/>
          <a:p>
            <a:pPr indent="0" marL="0">
              <a:lnSpc>
                <a:spcPct val="118000"/>
              </a:lnSpc>
              <a:spcAft>
                <a:spcPts val="1600"/>
              </a:spcAft>
              <a:buNone/>
            </a:pPr>
            <a:r>
              <a:rPr lang="en-US" sz="1500" b="1" dirty="0">
                <a:solidFill>
                  <a:srgbClr val="2E7D32"/>
                </a:solidFill>
                <a:latin typeface="Calibri" pitchFamily="34" charset="0"/>
                <a:ea typeface="Calibri" pitchFamily="34" charset="-122"/>
                <a:cs typeface="Calibri" pitchFamily="34" charset="-120"/>
              </a:rPr>
              <a:t>●  </a:t>
            </a:r>
            <a:pPr indent="0" marL="0">
              <a:lnSpc>
                <a:spcPct val="118000"/>
              </a:lnSpc>
              <a:spcAft>
                <a:spcPts val="1600"/>
              </a:spcAft>
              <a:buNone/>
            </a:pPr>
            <a:r>
              <a:rPr lang="en-US" sz="1500" b="1" dirty="0">
                <a:solidFill>
                  <a:srgbClr val="2B2B2B"/>
                </a:solidFill>
                <a:latin typeface="Calibri" pitchFamily="34" charset="0"/>
                <a:ea typeface="Calibri" pitchFamily="34" charset="-122"/>
                <a:cs typeface="Calibri" pitchFamily="34" charset="-120"/>
              </a:rPr>
              <a:t>Squirrel AI</a:t>
            </a:r>
            <a:pPr indent="0" marL="0">
              <a:lnSpc>
                <a:spcPct val="118000"/>
              </a:lnSpc>
              <a:spcAft>
                <a:spcPts val="1600"/>
              </a:spcAft>
              <a:buNone/>
            </a:pPr>
            <a:r>
              <a:rPr lang="en-US" sz="1500" dirty="0">
                <a:solidFill>
                  <a:srgbClr val="2B2B2B"/>
                </a:solidFill>
                <a:latin typeface="Calibri" pitchFamily="34" charset="0"/>
                <a:ea typeface="Calibri" pitchFamily="34" charset="-122"/>
                <a:cs typeface="Calibri" pitchFamily="34" charset="-120"/>
              </a:rPr>
              <a:t> — công ty AI-tutor Trung Quốc (meeting note gốc gọi là "Squadle" — đã xác nhận là Squirrel AI), tuyên bố đã phục vụ </a:t>
            </a:r>
            <a:pPr indent="0" marL="0">
              <a:lnSpc>
                <a:spcPct val="118000"/>
              </a:lnSpc>
              <a:spcAft>
                <a:spcPts val="1600"/>
              </a:spcAft>
              <a:buNone/>
            </a:pPr>
            <a:r>
              <a:rPr lang="en-US" sz="1500" b="1" dirty="0">
                <a:solidFill>
                  <a:srgbClr val="2B2B2B"/>
                </a:solidFill>
                <a:latin typeface="Calibri" pitchFamily="34" charset="0"/>
                <a:ea typeface="Calibri" pitchFamily="34" charset="-122"/>
                <a:cs typeface="Calibri" pitchFamily="34" charset="-120"/>
              </a:rPr>
              <a:t>hơn 24 triệu học sinh</a:t>
            </a:r>
            <a:pPr indent="0" marL="0">
              <a:lnSpc>
                <a:spcPct val="118000"/>
              </a:lnSpc>
              <a:spcAft>
                <a:spcPts val="1600"/>
              </a:spcAft>
              <a:buNone/>
            </a:pPr>
            <a:r>
              <a:rPr lang="en-US" sz="1500" dirty="0">
                <a:solidFill>
                  <a:srgbClr val="2B2B2B"/>
                </a:solidFill>
                <a:latin typeface="Calibri" pitchFamily="34" charset="0"/>
                <a:ea typeface="Calibri" pitchFamily="34" charset="-122"/>
                <a:cs typeface="Calibri" pitchFamily="34" charset="-120"/>
              </a:rPr>
              <a:t> qua hơn 1.700 trung tâm học tập.</a:t>
            </a:r>
            <a:endParaRPr lang="en-US" sz="1500" dirty="0"/>
          </a:p>
          <a:p>
            <a:pPr indent="0" marL="0">
              <a:lnSpc>
                <a:spcPct val="118000"/>
              </a:lnSpc>
              <a:spcAft>
                <a:spcPts val="1600"/>
              </a:spcAft>
              <a:buNone/>
            </a:pPr>
            <a:r>
              <a:rPr lang="en-US" sz="1500" b="1" dirty="0">
                <a:solidFill>
                  <a:srgbClr val="2E7D32"/>
                </a:solidFill>
                <a:latin typeface="Calibri" pitchFamily="34" charset="0"/>
                <a:ea typeface="Calibri" pitchFamily="34" charset="-122"/>
                <a:cs typeface="Calibri" pitchFamily="34" charset="-120"/>
              </a:rPr>
              <a:t>●  </a:t>
            </a:r>
            <a:pPr indent="0" marL="0">
              <a:lnSpc>
                <a:spcPct val="118000"/>
              </a:lnSpc>
              <a:spcAft>
                <a:spcPts val="1600"/>
              </a:spcAft>
              <a:buNone/>
            </a:pPr>
            <a:r>
              <a:rPr lang="en-US" sz="1500" b="1" dirty="0">
                <a:solidFill>
                  <a:srgbClr val="2B2B2B"/>
                </a:solidFill>
                <a:latin typeface="Calibri" pitchFamily="34" charset="0"/>
                <a:ea typeface="Calibri" pitchFamily="34" charset="-122"/>
                <a:cs typeface="Calibri" pitchFamily="34" charset="-120"/>
              </a:rPr>
              <a:t>TAL/Xueersi</a:t>
            </a:r>
            <a:pPr indent="0" marL="0">
              <a:lnSpc>
                <a:spcPct val="118000"/>
              </a:lnSpc>
              <a:spcAft>
                <a:spcPts val="1600"/>
              </a:spcAft>
              <a:buNone/>
            </a:pPr>
            <a:r>
              <a:rPr lang="en-US" sz="1500" dirty="0">
                <a:solidFill>
                  <a:srgbClr val="2B2B2B"/>
                </a:solidFill>
                <a:latin typeface="Calibri" pitchFamily="34" charset="0"/>
                <a:ea typeface="Calibri" pitchFamily="34" charset="-122"/>
                <a:cs typeface="Calibri" pitchFamily="34" charset="-120"/>
              </a:rPr>
              <a:t> — một trong những công ty edtech lớn nhất Trung Quốc — ra mắt lớp tương tác AI song hành 2 GV (6/2026): GV thật dạy nội dung cốt lõi, AI đảm nhiệm giám sát/trả lời/bù lỗ hổng liên tục. </a:t>
            </a:r>
            <a:pPr indent="0" marL="0">
              <a:lnSpc>
                <a:spcPct val="118000"/>
              </a:lnSpc>
              <a:spcAft>
                <a:spcPts val="1600"/>
              </a:spcAft>
              <a:buNone/>
            </a:pPr>
            <a:r>
              <a:rPr lang="en-US" sz="1500" b="1" dirty="0">
                <a:solidFill>
                  <a:srgbClr val="2B2B2B"/>
                </a:solidFill>
                <a:latin typeface="Calibri" pitchFamily="34" charset="0"/>
                <a:ea typeface="Calibri" pitchFamily="34" charset="-122"/>
                <a:cs typeface="Calibri" pitchFamily="34" charset="-120"/>
              </a:rPr>
              <a:t>Doushen</a:t>
            </a:r>
            <a:pPr indent="0" marL="0">
              <a:lnSpc>
                <a:spcPct val="118000"/>
              </a:lnSpc>
              <a:spcAft>
                <a:spcPts val="1600"/>
              </a:spcAft>
              <a:buNone/>
            </a:pPr>
            <a:r>
              <a:rPr lang="en-US" sz="1500" dirty="0">
                <a:solidFill>
                  <a:srgbClr val="2B2B2B"/>
                </a:solidFill>
                <a:latin typeface="Calibri" pitchFamily="34" charset="0"/>
                <a:ea typeface="Calibri" pitchFamily="34" charset="-122"/>
                <a:cs typeface="Calibri" pitchFamily="34" charset="-120"/>
              </a:rPr>
              <a:t> vận hành mô hình tương tự.</a:t>
            </a:r>
            <a:endParaRPr lang="en-US" sz="1500" dirty="0"/>
          </a:p>
          <a:p>
            <a:pPr indent="0" marL="0">
              <a:lnSpc>
                <a:spcPct val="118000"/>
              </a:lnSpc>
              <a:spcAft>
                <a:spcPts val="1600"/>
              </a:spcAft>
              <a:buNone/>
            </a:pPr>
            <a:r>
              <a:rPr lang="en-US" sz="1500" b="1" dirty="0">
                <a:solidFill>
                  <a:srgbClr val="2E5FA3"/>
                </a:solidFill>
                <a:latin typeface="Calibri" pitchFamily="34" charset="0"/>
                <a:ea typeface="Calibri" pitchFamily="34" charset="-122"/>
                <a:cs typeface="Calibri" pitchFamily="34" charset="-120"/>
              </a:rPr>
              <a:t>•  </a:t>
            </a:r>
            <a:pPr indent="0" marL="0">
              <a:lnSpc>
                <a:spcPct val="118000"/>
              </a:lnSpc>
              <a:spcAft>
                <a:spcPts val="1600"/>
              </a:spcAft>
              <a:buNone/>
            </a:pPr>
            <a:r>
              <a:rPr lang="en-US" sz="1500" b="1" dirty="0">
                <a:solidFill>
                  <a:srgbClr val="2B2B2B"/>
                </a:solidFill>
                <a:latin typeface="Calibri" pitchFamily="34" charset="0"/>
                <a:ea typeface="Calibri" pitchFamily="34" charset="-122"/>
                <a:cs typeface="Calibri" pitchFamily="34" charset="-120"/>
              </a:rPr>
              <a:t>Liên hệ Concept 3:</a:t>
            </a:r>
            <a:pPr indent="0" marL="0">
              <a:lnSpc>
                <a:spcPct val="118000"/>
              </a:lnSpc>
              <a:spcAft>
                <a:spcPts val="1600"/>
              </a:spcAft>
              <a:buNone/>
            </a:pPr>
            <a:r>
              <a:rPr lang="en-US" sz="1500" dirty="0">
                <a:solidFill>
                  <a:srgbClr val="2B2B2B"/>
                </a:solidFill>
                <a:latin typeface="Calibri" pitchFamily="34" charset="0"/>
                <a:ea typeface="Calibri" pitchFamily="34" charset="-122"/>
                <a:cs typeface="Calibri" pitchFamily="34" charset="-120"/>
              </a:rPr>
              <a:t> bằng chứng vận hành thật cho mẫu hình "AI Song Hành" (Phương án A) — nhưng ⚠ chưa có tiền lệ nào ở đúng dải giá 390k VND (~$15-16/tháng): thị trường AI-tutor toàn cầu tách thành 2 cực (cao $20-60+/tháng, thấp $2-4/tháng) — Edupia Class sẽ đi tiên phong ở dải giá giữa.</a:t>
            </a:r>
            <a:endParaRPr lang="en-US" sz="1500" dirty="0"/>
          </a:p>
        </p:txBody>
      </p:sp>
      <p:sp>
        <p:nvSpPr>
          <p:cNvPr id="8" name="Text 6"/>
          <p:cNvSpPr/>
          <p:nvPr/>
        </p:nvSpPr>
        <p:spPr>
          <a:xfrm>
            <a:off x="548640" y="6053328"/>
            <a:ext cx="11094415" cy="36576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Nguồn: market-ai-tutor-landscape-concept5-2026-08-17/research.md; HundrED, Wikipedia (Squirrel AI).</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4 — KẾ HOẠCH TRIỂN KHAI</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Lộ trình triển khai (T8/2026 → T1/2027)</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663440"/>
        </p:xfrm>
        <a:graphic>
          <a:graphicData uri="http://schemas.openxmlformats.org/drawingml/2006/table">
            <a:tbl>
              <a:tblPr/>
              <a:tblGrid>
                <a:gridCol w="2377440"/>
                <a:gridCol w="8716975"/>
              </a:tblGrid>
              <a:tr h="58293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Mốc</a:t>
                      </a:r>
                      <a:endParaRPr lang="en-US" sz="14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Nội dung</a:t>
                      </a:r>
                      <a:endParaRPr lang="en-US" sz="14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r>
              <a:tr h="582930">
                <a:tc>
                  <a:txBody>
                    <a:bodyPr/>
                    <a:lstStyle/>
                    <a:p>
                      <a:pPr indent="0" marL="0">
                        <a:buNone/>
                      </a:pPr>
                      <a:r>
                        <a:rPr lang="en-US" sz="1350" b="1" dirty="0">
                          <a:solidFill>
                            <a:srgbClr val="1B2A4A"/>
                          </a:solidFill>
                          <a:latin typeface="Calibri" pitchFamily="34" charset="0"/>
                          <a:ea typeface="Calibri" pitchFamily="34" charset="-122"/>
                          <a:cs typeface="Calibri" pitchFamily="34" charset="-120"/>
                        </a:rPr>
                        <a:t>Trước 31/08/2026</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Trình bày slide concept trước BOD/team</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582930">
                <a:tc>
                  <a:txBody>
                    <a:bodyPr/>
                    <a:lstStyle/>
                    <a:p>
                      <a:pPr indent="0" marL="0">
                        <a:buNone/>
                      </a:pPr>
                      <a:r>
                        <a:rPr lang="en-US" sz="1350" b="1" dirty="0">
                          <a:solidFill>
                            <a:srgbClr val="1B2A4A"/>
                          </a:solidFill>
                          <a:latin typeface="Calibri" pitchFamily="34" charset="0"/>
                          <a:ea typeface="Calibri" pitchFamily="34" charset="-122"/>
                          <a:cs typeface="Calibri" pitchFamily="34" charset="-120"/>
                        </a:rPr>
                        <a:t>01–15/09/2026</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Xây bảng hỏi và phương án khảo sát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r h="582930">
                <a:tc>
                  <a:txBody>
                    <a:bodyPr/>
                    <a:lstStyle/>
                    <a:p>
                      <a:pPr indent="0" marL="0">
                        <a:buNone/>
                      </a:pPr>
                      <a:r>
                        <a:rPr lang="en-US" sz="1350" b="1" dirty="0">
                          <a:solidFill>
                            <a:srgbClr val="1B2A4A"/>
                          </a:solidFill>
                          <a:latin typeface="Calibri" pitchFamily="34" charset="0"/>
                          <a:ea typeface="Calibri" pitchFamily="34" charset="-122"/>
                          <a:cs typeface="Calibri" pitchFamily="34" charset="-120"/>
                        </a:rPr>
                        <a:t>15/09–15/10/2026</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Khảo sát thực tế </a:t>
                      </a:r>
                      <a:pPr indent="0" marL="0">
                        <a:buNone/>
                      </a:pPr>
                      <a:r>
                        <a:rPr lang="en-US" sz="1350" b="1" dirty="0">
                          <a:solidFill>
                            <a:srgbClr val="2B2B2B"/>
                          </a:solidFill>
                          <a:latin typeface="Calibri" pitchFamily="34" charset="0"/>
                          <a:ea typeface="Calibri" pitchFamily="34" charset="-122"/>
                          <a:cs typeface="Calibri" pitchFamily="34" charset="-120"/>
                        </a:rPr>
                        <a:t>~100 phụ huynh Tier 3/4</a:t>
                      </a:r>
                      <a:pPr indent="0" marL="0">
                        <a:buNone/>
                      </a:pPr>
                      <a:r>
                        <a:rPr lang="en-US" sz="1350" dirty="0">
                          <a:solidFill>
                            <a:srgbClr val="2B2B2B"/>
                          </a:solidFill>
                          <a:latin typeface="Calibri" pitchFamily="34" charset="0"/>
                          <a:ea typeface="Calibri" pitchFamily="34" charset="-122"/>
                          <a:cs typeface="Calibri" pitchFamily="34" charset="-120"/>
                        </a:rPr>
                        <a:t> — qua điện thoại + trực tiếp tận nhà</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582930">
                <a:tc>
                  <a:txBody>
                    <a:bodyPr/>
                    <a:lstStyle/>
                    <a:p>
                      <a:pPr indent="0" marL="0">
                        <a:buNone/>
                      </a:pPr>
                      <a:r>
                        <a:rPr lang="en-US" sz="1350" b="1" dirty="0">
                          <a:solidFill>
                            <a:srgbClr val="1B2A4A"/>
                          </a:solidFill>
                          <a:latin typeface="Calibri" pitchFamily="34" charset="0"/>
                          <a:ea typeface="Calibri" pitchFamily="34" charset="-122"/>
                          <a:cs typeface="Calibri" pitchFamily="34" charset="-120"/>
                        </a:rPr>
                        <a:t>15/10–30/10/2026</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Xử lý kết quả khảo sát, </a:t>
                      </a:r>
                      <a:pPr indent="0" marL="0">
                        <a:buNone/>
                      </a:pPr>
                      <a:r>
                        <a:rPr lang="en-US" sz="1350" b="1" dirty="0">
                          <a:solidFill>
                            <a:srgbClr val="2B2B2B"/>
                          </a:solidFill>
                          <a:latin typeface="Calibri" pitchFamily="34" charset="0"/>
                          <a:ea typeface="Calibri" pitchFamily="34" charset="-122"/>
                          <a:cs typeface="Calibri" pitchFamily="34" charset="-120"/>
                        </a:rPr>
                        <a:t>chọn phương án concept</a:t>
                      </a:r>
                      <a:pPr indent="0" marL="0">
                        <a:buNone/>
                      </a:pPr>
                      <a:r>
                        <a:rPr lang="en-US" sz="1350" dirty="0">
                          <a:solidFill>
                            <a:srgbClr val="2B2B2B"/>
                          </a:solidFill>
                          <a:latin typeface="Calibri" pitchFamily="34" charset="0"/>
                          <a:ea typeface="Calibri" pitchFamily="34" charset="-122"/>
                          <a:cs typeface="Calibri" pitchFamily="34" charset="-120"/>
                        </a:rPr>
                        <a:t>, xây kịch bản bán hàng, chuẩn bị Marketing, đào tạo Sale</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r h="582930">
                <a:tc>
                  <a:txBody>
                    <a:bodyPr/>
                    <a:lstStyle/>
                    <a:p>
                      <a:pPr indent="0" marL="0">
                        <a:buNone/>
                      </a:pPr>
                      <a:r>
                        <a:rPr lang="en-US" sz="1350" b="1" dirty="0">
                          <a:solidFill>
                            <a:srgbClr val="1B2A4A"/>
                          </a:solidFill>
                          <a:latin typeface="Calibri" pitchFamily="34" charset="0"/>
                          <a:ea typeface="Calibri" pitchFamily="34" charset="-122"/>
                          <a:cs typeface="Calibri" pitchFamily="34" charset="-120"/>
                        </a:rPr>
                        <a:t>Tháng 11/2026</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350" b="1" dirty="0">
                          <a:solidFill>
                            <a:srgbClr val="2B2B2B"/>
                          </a:solidFill>
                          <a:latin typeface="Calibri" pitchFamily="34" charset="0"/>
                          <a:ea typeface="Calibri" pitchFamily="34" charset="-122"/>
                          <a:cs typeface="Calibri" pitchFamily="34" charset="-120"/>
                        </a:rPr>
                        <a:t>Test bán vòng 1</a:t>
                      </a:r>
                      <a:pPr indent="0" marL="0">
                        <a:buNone/>
                      </a:pPr>
                      <a:r>
                        <a:rPr lang="en-US" sz="1350" dirty="0">
                          <a:solidFill>
                            <a:srgbClr val="2B2B2B"/>
                          </a:solidFill>
                          <a:latin typeface="Calibri" pitchFamily="34" charset="0"/>
                          <a:ea typeface="Calibri" pitchFamily="34" charset="-122"/>
                          <a:cs typeface="Calibri" pitchFamily="34" charset="-120"/>
                        </a:rPr>
                        <a:t> — quảng cáo + Sale gọi điện, </a:t>
                      </a:r>
                      <a:pPr indent="0" marL="0">
                        <a:buNone/>
                      </a:pPr>
                      <a:r>
                        <a:rPr lang="en-US" sz="1350" b="1" dirty="0">
                          <a:solidFill>
                            <a:srgbClr val="2B2B2B"/>
                          </a:solidFill>
                          <a:latin typeface="Calibri" pitchFamily="34" charset="0"/>
                          <a:ea typeface="Calibri" pitchFamily="34" charset="-122"/>
                          <a:cs typeface="Calibri" pitchFamily="34" charset="-120"/>
                        </a:rPr>
                        <a:t>thu tiền thật</a:t>
                      </a:r>
                      <a:pPr indent="0" marL="0">
                        <a:buNone/>
                      </a:pPr>
                      <a:r>
                        <a:rPr lang="en-US" sz="1350" dirty="0">
                          <a:solidFill>
                            <a:srgbClr val="2B2B2B"/>
                          </a:solidFill>
                          <a:latin typeface="Calibri" pitchFamily="34" charset="0"/>
                          <a:ea typeface="Calibri" pitchFamily="34" charset="-122"/>
                          <a:cs typeface="Calibri" pitchFamily="34" charset="-120"/>
                        </a:rPr>
                        <a:t> để đo tỷ lệ chốt; sau đó hoàn tiền + tặng 1 tháng học trải nghiệm</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582930">
                <a:tc>
                  <a:txBody>
                    <a:bodyPr/>
                    <a:lstStyle/>
                    <a:p>
                      <a:pPr indent="0" marL="0">
                        <a:buNone/>
                      </a:pPr>
                      <a:r>
                        <a:rPr lang="en-US" sz="1350" b="1" dirty="0">
                          <a:solidFill>
                            <a:srgbClr val="1B2A4A"/>
                          </a:solidFill>
                          <a:latin typeface="Calibri" pitchFamily="34" charset="0"/>
                          <a:ea typeface="Calibri" pitchFamily="34" charset="-122"/>
                          <a:cs typeface="Calibri" pitchFamily="34" charset="-120"/>
                        </a:rPr>
                        <a:t>Tháng 12/2026</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Làm mịn kịch bản/sản phẩm theo phản hồi vòng 1 → </a:t>
                      </a:r>
                      <a:pPr indent="0" marL="0">
                        <a:buNone/>
                      </a:pPr>
                      <a:r>
                        <a:rPr lang="en-US" sz="1350" b="1" dirty="0">
                          <a:solidFill>
                            <a:srgbClr val="2B2B2B"/>
                          </a:solidFill>
                          <a:latin typeface="Calibri" pitchFamily="34" charset="0"/>
                          <a:ea typeface="Calibri" pitchFamily="34" charset="-122"/>
                          <a:cs typeface="Calibri" pitchFamily="34" charset="-120"/>
                        </a:rPr>
                        <a:t>test bán vòng 2</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r h="582930">
                <a:tc>
                  <a:txBody>
                    <a:bodyPr/>
                    <a:lstStyle/>
                    <a:p>
                      <a:pPr indent="0" marL="0">
                        <a:buNone/>
                      </a:pPr>
                      <a:r>
                        <a:rPr lang="en-US" sz="1350" b="1" dirty="0">
                          <a:solidFill>
                            <a:srgbClr val="1B2A4A"/>
                          </a:solidFill>
                          <a:latin typeface="Calibri" pitchFamily="34" charset="0"/>
                          <a:ea typeface="Calibri" pitchFamily="34" charset="-122"/>
                          <a:cs typeface="Calibri" pitchFamily="34" charset="-120"/>
                        </a:rPr>
                        <a:t>Tháng 1/2027</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Đổ nguồn lực chính thức code/hoàn thiện sản phẩm — 1-6 tháng tuỳ concept được chọn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5 — SƠ ĐỒ PHÂN CHIA TRÁCH NHIỆM</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Phân chia trách nhiệm theo 4 bộ phận</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4800600"/>
        </p:xfrm>
        <a:graphic>
          <a:graphicData uri="http://schemas.openxmlformats.org/drawingml/2006/table">
            <a:tbl>
              <a:tblPr/>
              <a:tblGrid>
                <a:gridCol w="2103120"/>
                <a:gridCol w="2450592"/>
                <a:gridCol w="2450592"/>
                <a:gridCol w="2212848"/>
                <a:gridCol w="1874520"/>
              </a:tblGrid>
              <a:tr h="68580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Giai đoạn</a:t>
                      </a:r>
                      <a:endParaRPr lang="en-US" sz="10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Chiến lược</a:t>
                      </a:r>
                      <a:endParaRPr lang="en-US" sz="10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Sản phẩm &amp; Công nghệ</a:t>
                      </a:r>
                      <a:endParaRPr lang="en-US" sz="10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Marketing</a:t>
                      </a:r>
                      <a:endParaRPr lang="en-US" sz="10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Sales</a:t>
                      </a:r>
                      <a:endParaRPr lang="en-US" sz="1050" dirty="0">
                        <a:latin typeface="Calibri" charset="0"/>
                        <a:ea typeface="Calibri" charset="0"/>
                        <a:cs typeface="Calibri" charset="0"/>
                      </a:endParaRPr>
                    </a:p>
                  </a:txBody>
                  <a:tcPr marL="91440" marR="91440" marT="45720" marB="45720"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B2A4A"/>
                    </a:solidFill>
                  </a:tcPr>
                </a:tc>
              </a:tr>
              <a:tr h="685800">
                <a:tc>
                  <a:txBody>
                    <a:bodyPr/>
                    <a:lstStyle/>
                    <a:p>
                      <a:pPr indent="0" marL="0">
                        <a:buNone/>
                      </a:pPr>
                      <a:r>
                        <a:rPr lang="en-US" sz="1000" b="1" dirty="0">
                          <a:solidFill>
                            <a:srgbClr val="1B2A4A"/>
                          </a:solidFill>
                          <a:latin typeface="Calibri" pitchFamily="34" charset="0"/>
                          <a:ea typeface="Calibri" pitchFamily="34" charset="-122"/>
                          <a:cs typeface="Calibri" pitchFamily="34" charset="-120"/>
                        </a:rPr>
                        <a:t>Trước 31/08</a:t>
                      </a:r>
                      <a:endParaRPr lang="en-US" sz="1200" dirty="0"/>
                    </a:p>
                    <a:p>
                      <a:pPr indent="0" marL="0">
                        <a:buNone/>
                      </a:pPr>
                      <a:r>
                        <a:rPr lang="en-US" sz="1000" b="1" dirty="0">
                          <a:solidFill>
                            <a:srgbClr val="1B2A4A"/>
                          </a:solidFill>
                          <a:latin typeface="Calibri" pitchFamily="34" charset="0"/>
                          <a:ea typeface="Calibri" pitchFamily="34" charset="-122"/>
                          <a:cs typeface="Calibri" pitchFamily="34" charset="-120"/>
                        </a:rPr>
                        <a:t>Trình bày concept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Cung cấp số liệu/định hướng "ao cá" 390-400k làm đầu vào; tham vấn nội dung slide</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Chủ trì xây &amp; trình bày slide 3 concept; điều phối nghiên cứu</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Tham vấn nội dung, chuẩn bị góp ý</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Tham vấn nội dung, chuẩn bị góp ý</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685800">
                <a:tc>
                  <a:txBody>
                    <a:bodyPr/>
                    <a:lstStyle/>
                    <a:p>
                      <a:pPr indent="0" marL="0">
                        <a:buNone/>
                      </a:pPr>
                      <a:r>
                        <a:rPr lang="en-US" sz="1000" b="1" dirty="0">
                          <a:solidFill>
                            <a:srgbClr val="1B2A4A"/>
                          </a:solidFill>
                          <a:latin typeface="Calibri" pitchFamily="34" charset="0"/>
                          <a:ea typeface="Calibri" pitchFamily="34" charset="-122"/>
                          <a:cs typeface="Calibri" pitchFamily="34" charset="-120"/>
                        </a:rPr>
                        <a:t>01/09–15/10</a:t>
                      </a:r>
                      <a:endParaRPr lang="en-US" sz="1200" dirty="0"/>
                    </a:p>
                    <a:p>
                      <a:pPr indent="0" marL="0">
                        <a:buNone/>
                      </a:pPr>
                      <a:r>
                        <a:rPr lang="en-US" sz="1000" b="1" dirty="0">
                          <a:solidFill>
                            <a:srgbClr val="1B2A4A"/>
                          </a:solidFill>
                          <a:latin typeface="Calibri" pitchFamily="34" charset="0"/>
                          <a:ea typeface="Calibri" pitchFamily="34" charset="-122"/>
                          <a:cs typeface="Calibri" pitchFamily="34" charset="-120"/>
                        </a:rPr>
                        <a:t>Xây &amp; chạy khảo sát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Theo dõi tiến độ, tham vấn tiêu chí đánh giá</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Chủ trì thiết kế bảng hỏi, điều phối khảo sát thực tế Tier 3/4</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Cử nhân sự tham gia khảo sát thực địa, góp ý bảng hỏi</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Cử nhân sự tham gia khảo sát thực địa, góp ý bảng hỏi</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r h="685800">
                <a:tc>
                  <a:txBody>
                    <a:bodyPr/>
                    <a:lstStyle/>
                    <a:p>
                      <a:pPr indent="0" marL="0">
                        <a:buNone/>
                      </a:pPr>
                      <a:r>
                        <a:rPr lang="en-US" sz="1000" b="1" dirty="0">
                          <a:solidFill>
                            <a:srgbClr val="1B2A4A"/>
                          </a:solidFill>
                          <a:latin typeface="Calibri" pitchFamily="34" charset="0"/>
                          <a:ea typeface="Calibri" pitchFamily="34" charset="-122"/>
                          <a:cs typeface="Calibri" pitchFamily="34" charset="-120"/>
                        </a:rPr>
                        <a:t>15/10–30/10</a:t>
                      </a:r>
                      <a:endParaRPr lang="en-US" sz="1200" dirty="0"/>
                    </a:p>
                    <a:p>
                      <a:pPr indent="0" marL="0">
                        <a:buNone/>
                      </a:pPr>
                      <a:r>
                        <a:rPr lang="en-US" sz="1000" b="1" dirty="0">
                          <a:solidFill>
                            <a:srgbClr val="1B2A4A"/>
                          </a:solidFill>
                          <a:latin typeface="Calibri" pitchFamily="34" charset="0"/>
                          <a:ea typeface="Calibri" pitchFamily="34" charset="-122"/>
                          <a:cs typeface="Calibri" pitchFamily="34" charset="-120"/>
                        </a:rPr>
                        <a:t>Chọn phương án &amp; chuẩn bị bán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Tham gia quyết định chọn concept cuối cùng</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Xử lý kết quả khảo sát, chủ trì chọn phương án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Xây nội dung quảng cáo cho concept đã chọn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Xây kịch bản tư vấn/cơ chế bán hàng, đào tạo đội Sale</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685800">
                <a:tc>
                  <a:txBody>
                    <a:bodyPr/>
                    <a:lstStyle/>
                    <a:p>
                      <a:pPr indent="0" marL="0">
                        <a:buNone/>
                      </a:pPr>
                      <a:r>
                        <a:rPr lang="en-US" sz="1000" b="1" dirty="0">
                          <a:solidFill>
                            <a:srgbClr val="1B2A4A"/>
                          </a:solidFill>
                          <a:latin typeface="Calibri" pitchFamily="34" charset="0"/>
                          <a:ea typeface="Calibri" pitchFamily="34" charset="-122"/>
                          <a:cs typeface="Calibri" pitchFamily="34" charset="-120"/>
                        </a:rPr>
                        <a:t>Tháng 11</a:t>
                      </a:r>
                      <a:endParaRPr lang="en-US" sz="1200" dirty="0"/>
                    </a:p>
                    <a:p>
                      <a:pPr indent="0" marL="0">
                        <a:buNone/>
                      </a:pPr>
                      <a:r>
                        <a:rPr lang="en-US" sz="1000" b="1" dirty="0">
                          <a:solidFill>
                            <a:srgbClr val="1B2A4A"/>
                          </a:solidFill>
                          <a:latin typeface="Calibri" pitchFamily="34" charset="0"/>
                          <a:ea typeface="Calibri" pitchFamily="34" charset="-122"/>
                          <a:cs typeface="Calibri" pitchFamily="34" charset="-120"/>
                        </a:rPr>
                        <a:t>Test bán vòng 1</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Theo dõi kết quả, tham vấn quyết định tiếp theo</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Hỗ trợ kỹ thuật, theo dõi vận hành hoàn tiền</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Chạy chiến dịch quảng cáo thật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Gọi điện tư vấn, thu tiền thật, đo tỷ lệ chốt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r h="685800">
                <a:tc>
                  <a:txBody>
                    <a:bodyPr/>
                    <a:lstStyle/>
                    <a:p>
                      <a:pPr indent="0" marL="0">
                        <a:buNone/>
                      </a:pPr>
                      <a:r>
                        <a:rPr lang="en-US" sz="1000" b="1" dirty="0">
                          <a:solidFill>
                            <a:srgbClr val="1B2A4A"/>
                          </a:solidFill>
                          <a:latin typeface="Calibri" pitchFamily="34" charset="0"/>
                          <a:ea typeface="Calibri" pitchFamily="34" charset="-122"/>
                          <a:cs typeface="Calibri" pitchFamily="34" charset="-120"/>
                        </a:rPr>
                        <a:t>Tháng 12</a:t>
                      </a:r>
                      <a:endParaRPr lang="en-US" sz="1200" dirty="0"/>
                    </a:p>
                    <a:p>
                      <a:pPr indent="0" marL="0">
                        <a:buNone/>
                      </a:pPr>
                      <a:r>
                        <a:rPr lang="en-US" sz="1000" b="1" dirty="0">
                          <a:solidFill>
                            <a:srgbClr val="1B2A4A"/>
                          </a:solidFill>
                          <a:latin typeface="Calibri" pitchFamily="34" charset="0"/>
                          <a:ea typeface="Calibri" pitchFamily="34" charset="-122"/>
                          <a:cs typeface="Calibri" pitchFamily="34" charset="-120"/>
                        </a:rPr>
                        <a:t>Làm mịn &amp; Test bán vòng 2</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Theo dõi kết quả 2 vòng, chuẩn bị đối chiếu</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Làm mịn sản phẩm theo phản hồi</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Làm mịn nội dung quảng cáo</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Làm mịn kịch bản bán, chạy vòng 2</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685800">
                <a:tc>
                  <a:txBody>
                    <a:bodyPr/>
                    <a:lstStyle/>
                    <a:p>
                      <a:pPr indent="0" marL="0">
                        <a:buNone/>
                      </a:pPr>
                      <a:r>
                        <a:rPr lang="en-US" sz="1000" b="1" dirty="0">
                          <a:solidFill>
                            <a:srgbClr val="1B2A4A"/>
                          </a:solidFill>
                          <a:latin typeface="Calibri" pitchFamily="34" charset="0"/>
                          <a:ea typeface="Calibri" pitchFamily="34" charset="-122"/>
                          <a:cs typeface="Calibri" pitchFamily="34" charset="-120"/>
                        </a:rPr>
                        <a:t>Tháng 1/2027</a:t>
                      </a:r>
                      <a:endParaRPr lang="en-US" sz="1200" dirty="0"/>
                    </a:p>
                    <a:p>
                      <a:pPr indent="0" marL="0">
                        <a:buNone/>
                      </a:pPr>
                      <a:r>
                        <a:rPr lang="en-US" sz="1000" b="1" dirty="0">
                          <a:solidFill>
                            <a:srgbClr val="1B2A4A"/>
                          </a:solidFill>
                          <a:latin typeface="Calibri" pitchFamily="34" charset="0"/>
                          <a:ea typeface="Calibri" pitchFamily="34" charset="-122"/>
                          <a:cs typeface="Calibri" pitchFamily="34" charset="-120"/>
                        </a:rPr>
                        <a:t>Bắt đầu xây dựng</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Phê duyệt ngân sách/nguồn lực (qua BOD)</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Đổ nguồn lực code/hoàn thiện sản phẩm</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a:t>
                      </a:r>
                      <a:endParaRPr lang="en-US" sz="1200" dirty="0"/>
                    </a:p>
                  </a:txBody>
                  <a:tcPr marL="76200" marR="76200" marT="50800" marB="50800" anchor="t">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3F6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200" b="1" spc="100" kern="0" dirty="0">
                <a:solidFill>
                  <a:srgbClr val="2E5FA3"/>
                </a:solidFill>
                <a:latin typeface="Calibri" pitchFamily="34" charset="0"/>
                <a:ea typeface="Calibri" pitchFamily="34" charset="-122"/>
                <a:cs typeface="Calibri" pitchFamily="34" charset="-120"/>
              </a:rPr>
              <a:t>PHẦN 6 — NEXT STEP</a:t>
            </a:r>
            <a:endParaRPr lang="en-US" sz="1200" dirty="0"/>
          </a:p>
        </p:txBody>
      </p:sp>
      <p:sp>
        <p:nvSpPr>
          <p:cNvPr id="3" name="Text 1"/>
          <p:cNvSpPr/>
          <p:nvPr/>
        </p:nvSpPr>
        <p:spPr>
          <a:xfrm>
            <a:off x="548640" y="621792"/>
            <a:ext cx="11094415" cy="566928"/>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Bước tiếp theo</a:t>
            </a:r>
            <a:endParaRPr lang="en-US" sz="2600" dirty="0"/>
          </a:p>
        </p:txBody>
      </p:sp>
      <p:sp>
        <p:nvSpPr>
          <p:cNvPr id="4" name="Shape 2"/>
          <p:cNvSpPr/>
          <p:nvPr/>
        </p:nvSpPr>
        <p:spPr>
          <a:xfrm>
            <a:off x="548640" y="1207008"/>
            <a:ext cx="822960" cy="0"/>
          </a:xfrm>
          <a:prstGeom prst="line">
            <a:avLst/>
          </a:prstGeom>
          <a:noFill/>
          <a:ln w="38100">
            <a:solidFill>
              <a:srgbClr val="2E5FA3"/>
            </a:solidFill>
            <a:prstDash val="solid"/>
          </a:ln>
        </p:spPr>
      </p:sp>
      <p:sp>
        <p:nvSpPr>
          <p:cNvPr id="5" name="Text 3"/>
          <p:cNvSpPr/>
          <p:nvPr/>
        </p:nvSpPr>
        <p:spPr>
          <a:xfrm>
            <a:off x="11002975" y="6510528"/>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 / 13</a:t>
            </a:r>
            <a:endParaRPr lang="en-US" sz="1000" dirty="0"/>
          </a:p>
        </p:txBody>
      </p:sp>
      <p:sp>
        <p:nvSpPr>
          <p:cNvPr id="6" name="Text 4"/>
          <p:cNvSpPr/>
          <p:nvPr/>
        </p:nvSpPr>
        <p:spPr>
          <a:xfrm>
            <a:off x="548640" y="6510528"/>
            <a:ext cx="3657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AI Class Plus · Product</a:t>
            </a:r>
            <a:endParaRPr lang="en-US" sz="1000" dirty="0"/>
          </a:p>
        </p:txBody>
      </p:sp>
      <p:sp>
        <p:nvSpPr>
          <p:cNvPr id="7" name="Text 5"/>
          <p:cNvSpPr/>
          <p:nvPr/>
        </p:nvSpPr>
        <p:spPr>
          <a:xfrm>
            <a:off x="548640" y="1828800"/>
            <a:ext cx="11094415" cy="3657600"/>
          </a:xfrm>
          <a:prstGeom prst="rect">
            <a:avLst/>
          </a:prstGeom>
          <a:noFill/>
          <a:ln/>
        </p:spPr>
        <p:txBody>
          <a:bodyPr wrap="square" rtlCol="0" anchor="t"/>
          <a:lstStyle/>
          <a:p>
            <a:pPr indent="0" marL="0">
              <a:lnSpc>
                <a:spcPct val="118000"/>
              </a:lnSpc>
              <a:spcAft>
                <a:spcPts val="2000"/>
              </a:spcAft>
              <a:buNone/>
            </a:pPr>
            <a:r>
              <a:rPr lang="en-US" sz="1800" b="1" dirty="0">
                <a:solidFill>
                  <a:srgbClr val="2E5FA3"/>
                </a:solidFill>
                <a:latin typeface="Calibri" pitchFamily="34" charset="0"/>
                <a:ea typeface="Calibri" pitchFamily="34" charset="-122"/>
                <a:cs typeface="Calibri" pitchFamily="34" charset="-120"/>
              </a:rPr>
              <a:t>•  </a:t>
            </a:r>
            <a:pPr indent="0" marL="0">
              <a:lnSpc>
                <a:spcPct val="118000"/>
              </a:lnSpc>
              <a:spcAft>
                <a:spcPts val="2000"/>
              </a:spcAft>
              <a:buNone/>
            </a:pPr>
            <a:r>
              <a:rPr lang="en-US" sz="1800" dirty="0">
                <a:solidFill>
                  <a:srgbClr val="2B2B2B"/>
                </a:solidFill>
                <a:latin typeface="Calibri" pitchFamily="34" charset="0"/>
                <a:ea typeface="Calibri" pitchFamily="34" charset="-122"/>
                <a:cs typeface="Calibri" pitchFamily="34" charset="-120"/>
              </a:rPr>
              <a:t>Hoàn thiện slide này, trình bày nội bộ </a:t>
            </a:r>
            <a:pPr indent="0" marL="0">
              <a:lnSpc>
                <a:spcPct val="118000"/>
              </a:lnSpc>
              <a:spcAft>
                <a:spcPts val="2000"/>
              </a:spcAft>
              <a:buNone/>
            </a:pPr>
            <a:r>
              <a:rPr lang="en-US" sz="1800" b="1" dirty="0">
                <a:solidFill>
                  <a:srgbClr val="2B2B2B"/>
                </a:solidFill>
                <a:latin typeface="Calibri" pitchFamily="34" charset="0"/>
                <a:ea typeface="Calibri" pitchFamily="34" charset="-122"/>
                <a:cs typeface="Calibri" pitchFamily="34" charset="-120"/>
              </a:rPr>
              <a:t>T6-T7 (21-22/08/2026)</a:t>
            </a:r>
            <a:pPr indent="0" marL="0">
              <a:lnSpc>
                <a:spcPct val="118000"/>
              </a:lnSpc>
              <a:spcAft>
                <a:spcPts val="2000"/>
              </a:spcAft>
              <a:buNone/>
            </a:pPr>
            <a:r>
              <a:rPr lang="en-US" sz="1800" dirty="0">
                <a:solidFill>
                  <a:srgbClr val="2B2B2B"/>
                </a:solidFill>
                <a:latin typeface="Calibri" pitchFamily="34" charset="0"/>
                <a:ea typeface="Calibri" pitchFamily="34" charset="-122"/>
                <a:cs typeface="Calibri" pitchFamily="34" charset="-120"/>
              </a:rPr>
              <a:t> để thu thập góp ý và finalize.</a:t>
            </a:r>
            <a:endParaRPr lang="en-US" sz="1800" dirty="0"/>
          </a:p>
          <a:p>
            <a:pPr indent="0" marL="0">
              <a:lnSpc>
                <a:spcPct val="118000"/>
              </a:lnSpc>
              <a:spcAft>
                <a:spcPts val="2000"/>
              </a:spcAft>
              <a:buNone/>
            </a:pPr>
            <a:r>
              <a:rPr lang="en-US" sz="1800" b="1" dirty="0">
                <a:solidFill>
                  <a:srgbClr val="2E5FA3"/>
                </a:solidFill>
                <a:latin typeface="Calibri" pitchFamily="34" charset="0"/>
                <a:ea typeface="Calibri" pitchFamily="34" charset="-122"/>
                <a:cs typeface="Calibri" pitchFamily="34" charset="-120"/>
              </a:rPr>
              <a:t>•  </a:t>
            </a:r>
            <a:pPr indent="0" marL="0">
              <a:lnSpc>
                <a:spcPct val="118000"/>
              </a:lnSpc>
              <a:spcAft>
                <a:spcPts val="2000"/>
              </a:spcAft>
              <a:buNone/>
            </a:pPr>
            <a:r>
              <a:rPr lang="en-US" sz="1800" dirty="0">
                <a:solidFill>
                  <a:srgbClr val="2B2B2B"/>
                </a:solidFill>
                <a:latin typeface="Calibri" pitchFamily="34" charset="0"/>
                <a:ea typeface="Calibri" pitchFamily="34" charset="-122"/>
                <a:cs typeface="Calibri" pitchFamily="34" charset="-120"/>
              </a:rPr>
              <a:t>Từ tuần sau: chính thức thành lập </a:t>
            </a:r>
            <a:pPr indent="0" marL="0">
              <a:lnSpc>
                <a:spcPct val="118000"/>
              </a:lnSpc>
              <a:spcAft>
                <a:spcPts val="2000"/>
              </a:spcAft>
              <a:buNone/>
            </a:pPr>
            <a:r>
              <a:rPr lang="en-US" sz="1800" b="1" dirty="0">
                <a:solidFill>
                  <a:srgbClr val="2B2B2B"/>
                </a:solidFill>
                <a:latin typeface="Calibri" pitchFamily="34" charset="0"/>
                <a:ea typeface="Calibri" pitchFamily="34" charset="-122"/>
                <a:cs typeface="Calibri" pitchFamily="34" charset="-120"/>
              </a:rPr>
              <a:t>Squad liên phòng ban</a:t>
            </a:r>
            <a:pPr indent="0" marL="0">
              <a:lnSpc>
                <a:spcPct val="118000"/>
              </a:lnSpc>
              <a:spcAft>
                <a:spcPts val="2000"/>
              </a:spcAft>
              <a:buNone/>
            </a:pPr>
            <a:r>
              <a:rPr lang="en-US" sz="1800" dirty="0">
                <a:solidFill>
                  <a:srgbClr val="2B2B2B"/>
                </a:solidFill>
                <a:latin typeface="Calibri" pitchFamily="34" charset="0"/>
                <a:ea typeface="Calibri" pitchFamily="34" charset="-122"/>
                <a:cs typeface="Calibri" pitchFamily="34" charset="-120"/>
              </a:rPr>
              <a:t> (Sản phẩm, Công nghệ, Sales, Marketing, Chiến lược) để phối hợp vận hành dự án.</a:t>
            </a:r>
            <a:endParaRPr lang="en-US" sz="1800" dirty="0"/>
          </a:p>
          <a:p>
            <a:pPr indent="0" marL="0">
              <a:lnSpc>
                <a:spcPct val="118000"/>
              </a:lnSpc>
              <a:spcAft>
                <a:spcPts val="2000"/>
              </a:spcAft>
              <a:buNone/>
            </a:pPr>
            <a:r>
              <a:rPr lang="en-US" sz="1800" b="1" dirty="0">
                <a:solidFill>
                  <a:srgbClr val="2E5FA3"/>
                </a:solidFill>
                <a:latin typeface="Calibri" pitchFamily="34" charset="0"/>
                <a:ea typeface="Calibri" pitchFamily="34" charset="-122"/>
                <a:cs typeface="Calibri" pitchFamily="34" charset="-120"/>
              </a:rPr>
              <a:t>•  </a:t>
            </a:r>
            <a:pPr indent="0" marL="0">
              <a:lnSpc>
                <a:spcPct val="118000"/>
              </a:lnSpc>
              <a:spcAft>
                <a:spcPts val="2000"/>
              </a:spcAft>
              <a:buNone/>
            </a:pPr>
            <a:r>
              <a:rPr lang="en-US" sz="1800" dirty="0">
                <a:solidFill>
                  <a:srgbClr val="2B2B2B"/>
                </a:solidFill>
                <a:latin typeface="Calibri" pitchFamily="34" charset="0"/>
                <a:ea typeface="Calibri" pitchFamily="34" charset="-122"/>
                <a:cs typeface="Calibri" pitchFamily="34" charset="-120"/>
              </a:rPr>
              <a:t>Bắt đầu trình bày với các bên liên quan (BOD và các bộ phận) từ tuần sau.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Class Plus — Định hướng sản phẩm mới</dc:title>
  <dc:subject>PptxGenJS Presentation</dc:subject>
  <dc:creator>Product</dc:creator>
  <cp:lastModifiedBy>Product</cp:lastModifiedBy>
  <cp:revision>1</cp:revision>
  <dcterms:created xsi:type="dcterms:W3CDTF">2026-08-19T09:50:57Z</dcterms:created>
  <dcterms:modified xsi:type="dcterms:W3CDTF">2026-08-19T09:50:57Z</dcterms:modified>
</cp:coreProperties>
</file>