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1675"/>
  <p:notesSz cx="6858000" cy="12191675"/>
  <p:embeddedFontLst>
    <p:embeddedFont>
      <p:font typeface="Noto Sans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j3+TAMi9l1wzCey3CPQekX9O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regular.fntdata"/><Relationship Id="rId21" Type="http://schemas.openxmlformats.org/officeDocument/2006/relationships/slide" Target="slides/slide17.xml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regular.fntdata"/><Relationship Id="rId25" Type="http://schemas.openxmlformats.org/officeDocument/2006/relationships/font" Target="fonts/NotoSans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69680" y="0"/>
            <a:ext cx="4754880" cy="4754880"/>
          </a:xfrm>
          <a:prstGeom prst="ellipse">
            <a:avLst/>
          </a:prstGeom>
          <a:solidFill>
            <a:srgbClr val="0C578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149840" y="320040"/>
            <a:ext cx="3291840" cy="3291840"/>
          </a:xfrm>
          <a:prstGeom prst="ellipse">
            <a:avLst/>
          </a:prstGeom>
          <a:solidFill>
            <a:srgbClr val="A5BE0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02920"/>
            <a:ext cx="1371600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822960" y="2697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GIỚI THIỆU SẢN PHẨM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04672" y="306324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oppin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Edupia AI Tutor 1-1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069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Gia sư AI 1 kèm 1 — vá đúng lỗ hổng kiến thức tiếng Anh theo Mastery Profile của từng học sinh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41248" y="489204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Khối Sản phẩm và Công nghệ  ·  08/2026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MỤC LỤC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Nội dung trình bày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02920" y="1828800"/>
            <a:ext cx="118872" cy="6583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58952" y="178308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645920" y="1783080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761488"/>
            <a:ext cx="118872" cy="6583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58952" y="2715768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645920" y="2715768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3694176"/>
            <a:ext cx="118872" cy="65836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58952" y="3648456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45920" y="3648456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4626864"/>
            <a:ext cx="118872" cy="65836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58952" y="4581144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45920" y="4581144"/>
            <a:ext cx="10042855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01 — BỐI CẢNH &amp; CƠ HỘI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Vì sao AI Tutor 1-1 ra đời đúng thời điểm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02920" y="1633560"/>
            <a:ext cx="73200" cy="14325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31520" y="1633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Quy mô cầu đang mở rộng nhanh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Tổng nhu cầu học thêm Tiếng Anh dự báo ~3 tỷ USD vào năm 2030.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online tăng mạnh nhất, ~20%/năm; ảnh hưởng của TT29 (từ 2025) tiếp tục đẩy thị trường online ~33%/năm.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" y="3157560"/>
            <a:ext cx="73200" cy="14325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31520" y="3157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Khoảng trống sản phẩm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1-1 con người chi phí cao, khó mở rộng — AI Tutor 1-1 giữ trải nghiệm cá nhân hoá với chi phí thấp hơn nhiều lần.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lớn sản phẩm online dạy đại trà, không biết chính xác học sinh yếu ở đâu — AI Tutor 1-1 vá đúng lỗ hổng theo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4681560"/>
            <a:ext cx="73200" cy="14325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31520" y="4681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Xu hướng toàn cầu đã kiểm chứng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Squirrel AI, ALEKS, Khanmigo đã chứng minh mô hình chẩn đoán – định tuyến cá nhân hoá hiệu quả hơn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Sứ mệnh: dùng công nghệ xoá nhoà khoảng cách điều kiện học tập — hiệu quả tương đương đào tạo chất lượng cao, giá thấp hơn, dễ tiếp cận hơn.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02 — KHÁCH HÀNG MỤC TIÊU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Chân dung khách hàng mục tiêu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02920" y="1554480"/>
            <a:ext cx="73200" cy="2176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31520" y="1554480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Nhân khẩu học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Phụ huynh: 30–45 tuổi, đã dùng AI Class / Big Class, thu nhập khá – tốt trở lên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Vị trí: Thành phố tỉnh, thị xã, nông thôn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Nghề nghiệp: Văn phòng, kinh doanh nhỏ, lao động phổ thông — làm toàn thời gian (&gt;8h/ngày)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Thu nhập hộ: 15–30 triệu/tháng (phân khúc "Good")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Trình độ tiếng Anh: Đa số không biết tiếng Anh — không tự kèm con được</a:t>
            </a:r>
            <a:endParaRPr sz="105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Bối cảnh: Con học TA ở trường; ~50% từng/đang học thêm nhà GV; đã thử vài sản phẩm TA online</a:t>
            </a:r>
            <a:endParaRPr sz="980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2920" y="3858768"/>
            <a:ext cx="73200" cy="2176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1520" y="3858768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Nỗi đau (Pain point)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biết chính xác con yếu chỗ nào để kèm riêng.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Đã thử app / gia sư nhưng không chắc học có đúng chỗ hổng không.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Sợ con thua thiệt nếu không có ai theo sát 1-1.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chăm sóc cao cấp nhưng gia sư con người quá đắt để duy trì đều.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12280" y="1536192"/>
            <a:ext cx="487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Các JTBD của khách hàng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12280" y="1847088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1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Số trong ngoặc = % khách hàng </a:t>
            </a:r>
            <a:r>
              <a:rPr i="1" lang="en-US" sz="80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có mong muốn này (theo kết quả khảo sát)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812280" y="2148840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giỏi tiếng Anh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12280" y="2459736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12280" y="2459736"/>
            <a:ext cx="37716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1076127" y="2423160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812280" y="2990088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với Giáo viên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812280" y="3300984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12280" y="3300984"/>
            <a:ext cx="33525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1076127" y="3264408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812280" y="3831336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thích học, tự giác học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812280" y="4142232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12280" y="4142232"/>
            <a:ext cx="29334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1076127" y="4105656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70%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12280" y="4672584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yên tâm giao phó con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12280" y="4983480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12280" y="4983480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1076127" y="4946904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812280" y="5513832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tự tin giao tiếp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12280" y="5824728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812280" y="5824728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1076127" y="5788152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4297680"/>
            <a:ext cx="954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 — gia sư AI riêng, vá đúng lỗ hổng</a:t>
            </a:r>
            <a:r>
              <a:rPr lang="en-US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 kiến thức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 · Value story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1325880"/>
            <a:ext cx="118872" cy="603504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77240" y="128016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hiệu:  </a:t>
            </a:r>
            <a:r>
              <a:rPr b="1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Tagline:  </a:t>
            </a:r>
            <a:r>
              <a:rPr b="0" i="1" lang="en-US" sz="11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“Gia sư AI riêng — vá đúng lỗ hổng</a:t>
            </a:r>
            <a:r>
              <a:rPr i="1" lang="en-US" sz="110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kiến thức</a:t>
            </a:r>
            <a:r>
              <a:rPr b="0" i="1" lang="en-US" sz="11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02920" y="2148840"/>
            <a:ext cx="73152" cy="20116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31520" y="2148840"/>
            <a:ext cx="1095725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Value 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1-kèm-1 với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một trong các profile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giáo viên ảo (gi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áo viên star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AI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: giáo viên AI phân loại theo trình độ đầu vào — Level B/C/D học giáo viên AI người Việt; Level A học thêm 1 buổi giáo viên AI bản xứ Anh/Mỹ.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Mỗi buổi 45 phút; Routing Engine chọn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ra các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NLO học sinh đang yếu nhất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để đưa ra nội dung luyện tập/ câu hỏi tiếp theo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Practice, AI Speak và Edupia Club không tách biệt — cùng bám 1 NLO và ghi cùng 1 Mastery Profile, dưới sự đồng hành của Giáo viên chủ nhiệm.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02920" y="4251960"/>
            <a:ext cx="73152" cy="20116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31520" y="4251960"/>
            <a:ext cx="1095725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390.000–450.000đ/tháng — bằng một phần nhỏ chi phí gia sư 1-1 truyền thống (hàng triệu đồng/tháng), nhờ vận hành AI ở quy mô lớn.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USP </a:t>
            </a:r>
            <a:r>
              <a:rPr b="1" lang="en-US" sz="260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nổi bật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02920" y="1325880"/>
            <a:ext cx="11185855" cy="914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Noto Sans"/>
              <a:buNone/>
            </a:pPr>
            <a:r>
              <a:rPr b="1" i="1" lang="en-US" sz="1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“Gia sư AI 1-kèm-1 đầu tiên tại Việt Nam vá đúng lỗ hổng kiến thức theo dữ liệu thực (Mastery Profile) — không phải học đại trà, chỉ với chi phí bằng một phần nhỏ gia sư con người.”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02920" y="2514600"/>
            <a:ext cx="3576218" cy="82296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04088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theo dữ liệu thực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Engine: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xác định các NLO còn yếu để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đưa ra nội dung luyện tập, nội dung câu hỏi 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— không chọn ngẫu nhiên, không dạy lại từ đầu.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307738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307738" y="2514600"/>
            <a:ext cx="3576218" cy="82296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508906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Đầu tiên tại Việt Nam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Kết hợp </a:t>
            </a:r>
            <a:r>
              <a:rPr lang="en-US" sz="100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AI +</a:t>
            </a: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cá nhân hoá trong một buổi học 1-1.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112557" y="2514600"/>
            <a:ext cx="3576218" cy="352044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8112557" y="2514600"/>
            <a:ext cx="3576218" cy="82296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313725" y="2770632"/>
            <a:ext cx="3173882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 bằng một phần nhỏ gia sư con người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390.000–450.000đ/tháng so với gia sư 1-1 truyền thống hàng triệu đồng/tháng, nhờ vận hành AI ở quy mô lớn.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Selling point (SA → SB → SE)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SA — ƯU ĐIỂM SẢN PHẨM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286402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SB — LỢI ÍCH CẢM NHẬN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069885" y="1271016"/>
            <a:ext cx="36188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SE — CẢM XÚC KHƠI GỢI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16002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649224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1-1, 45 phút/buổi với giáo viên AI phân loại theo trình độ (Level A/B/C/D)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286402" y="16002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432706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được học riêng như có gia sư thật, được gọi tên, nhận xét đúng vào bài của con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069885" y="16002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8216189" y="16002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An tâm — con mình được quan tâm riêng, không bị bỏ lại giữa lớp đông.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2920" y="25146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49224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 chọn đúng NLO đang yếu nhất mỗi buổi — không dạy đại trà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286402" y="25146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432706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học đến đâu chắc đến đấy, không mất thời gian học lại cái đã biết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069885" y="25146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8216189" y="25146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Tin rằng tiền đầu tư đi đúng chỗ — không lãng phí thời gian của con.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02920" y="34290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49224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iSpeak chấm phát âm theo âm vị, phản hồi ngay trong buổi học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286402" y="34290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432706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luyện nói đều — phát âm tốt, không còn sợ nói sai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8069885" y="34290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216189" y="34290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Tự hào khi con dám nói tiếng Anh trước người khác.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2920" y="43434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49224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+ Edupia Club cùng ghi 1 Mastery Profile với AI Tutor 1-1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286402" y="43434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432706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cần lo 4 hệ thống rời rạc — mọi tiến bộ dồn về 1 báo cáo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69885" y="43434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8216189" y="43434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Nhẹ đầu — không phải tự ghép nối nhiều thứ rời rạc để hiểu con đang ở đâu.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02920" y="5257800"/>
            <a:ext cx="3618890" cy="79552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49224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đồng hành, nhắc lịch, gọi điện báo kết quả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286402" y="5257800"/>
            <a:ext cx="3618890" cy="795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432706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 mẹ yên tâm giao con cho Edupia, không phải tự đôn đốc từng buổi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069885" y="5257800"/>
            <a:ext cx="3618890" cy="795528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216189" y="5257800"/>
            <a:ext cx="332628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Yên tâm giao con — có người lo thay, không phải ngày nào cũng đôn đốc.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So sánh các giải pháp trên thị trường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02920" y="2212848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với GV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02920" y="3054096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cá nhân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02920" y="3895344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Chấm phát âm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02920" y="4736592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Chi phí / tháng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02920" y="5577840"/>
            <a:ext cx="2221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Ai theo sát tiến độ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907792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962656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Gia sư con người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907792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990088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(chất lượng không đồng đều)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907792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990088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Tuỳ gia sư, không có dữ liệu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907792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2990088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Chủ quan theo tai người dạy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907792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2990088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Vài triệu đồng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907792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990088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 ngoài gia sư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121326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176190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App tự học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121326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203622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 giáo viên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121326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203622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1326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203622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Hiếm khi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121326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203622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60–200k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121326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203622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334860" y="1554480"/>
            <a:ext cx="2140382" cy="54864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389724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Class (nhóm)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334860" y="2212848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417156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GV trường quốc tế +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334860" y="3054096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7417156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Theo lớp, chưa tới từng NLO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334860" y="3895344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417156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trong lớp đông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334860" y="4736592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7417156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~200k–800k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334860" y="5577840"/>
            <a:ext cx="2140382" cy="749808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417156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Ban giáo vụ chung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548393" y="1554480"/>
            <a:ext cx="2140382" cy="54864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9603257" y="1554480"/>
            <a:ext cx="2030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Tutor 1-1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9548393" y="2212848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9630689" y="2212848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AI phân loại theo trình độ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548393" y="3054096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9630689" y="3054096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 theo NLO cá nhân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548393" y="3895344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9630689" y="3895344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chấm riêng từng con trong bu</a:t>
            </a:r>
            <a:r>
              <a:rPr b="1" lang="en-US" sz="92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ổi học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548393" y="4736592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9630689" y="4736592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390.000–450.000đ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548393" y="5577840"/>
            <a:ext cx="2140382" cy="749808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9630689" y="5577840"/>
            <a:ext cx="197579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+ </a:t>
            </a: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GVCN + Mastery Profile riêng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Before &amp; After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02920" y="1271016"/>
            <a:ext cx="551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BEFORE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178144" y="1271016"/>
            <a:ext cx="551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02920" y="16002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178144" y="16002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67512" y="16002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rõ đang yếu chỗ nào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342736" y="16002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Routing Engine xác định đúng NLO yếu nhất mỗi tuần, vá gọn từng lỗ hổng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02920" y="25146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178144" y="25146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67512" y="25146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phí gia sư 1-1 quá cao để duy trì đều đặn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342736" y="25146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390.000–450.000đ/tháng — bằng một phần nhỏ chi phí gia sư con người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02920" y="34290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6178144" y="34290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67512" y="34290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ngại nói, sợ phát âm sai không ai chỉnh ngay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342736" y="34290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iSpeak chấm - ch</a:t>
            </a:r>
            <a:r>
              <a:rPr b="1" lang="en-US" sz="96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ữa </a:t>
            </a: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phát âm theo âm vị, phản hồi ngay trong buổi học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502920" y="43434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178144" y="43434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67512" y="43434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biết con học gì, tiến bộ ra sao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342736" y="43434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Báo cáo Mastery Profile theo tuần qua Giáo viên chủ nhiệm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02920" y="5257800"/>
            <a:ext cx="5510632" cy="795528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178144" y="5257800"/>
            <a:ext cx="5510632" cy="79552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667512" y="52578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4 hoạt động học rời rạc, không ai kết nối lại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342736" y="5257800"/>
            <a:ext cx="5181448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Practice / Speak / Club cùng bám 1 NLO, cùng 1 Mastery Profile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Cứ 4 buổi chính khoá có 1 buổi chuyên sâu · Khung lịch linh hoạt · AI Practice · AI Speak mỗi ngày · Edupia Club · GVCN xuyên suốt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tổng thể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Nội dung cá nhân hoá theo NLO Taxonomy (1.473 đơn vị) — bám sát SGK Global Success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· cứ 4 buổi chính khoá có 1 buổi chuyên sâu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adaptive theo Mastery Profile, </a:t>
            </a:r>
            <a:r>
              <a:rPr b="1" i="0" lang="en-US" sz="10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trong khung NLO đã chia và bám sát chương trình SGK Global Success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— không lệch tiến độ chương trình. Giáo viên AI phân loại theo trình độ (Level A/B/C/D); khung lịch học linh hoạt, nhiều khung giờ để lựa chọn.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· nâng cấp giống Concept 1.2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Practice: Staircase Difficulty + trộn NLO 40% yếu / 40% mới học / 20% ôn chống quên + Mastery cập nhật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Speak: bám NLO, ghi cùng Mastery Profile — </a:t>
            </a:r>
            <a:r>
              <a:rPr b="1" i="0" lang="en-US" sz="105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bổ sung tính năng nói nhập vai theo tình huống (phát triển mới).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· tích hợp Mastery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Giữ mô hình CLB đang chạy nhưng không còn tách biệt: thử thách bám NLO đang học, điểm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· xuyên suốt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Chăm sóc, hỗ trợ, theo dõi, báo cáo toàn bộ quá trình học tập và rèn luyện.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— buổi học 45 phút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Cứ 4 buổi chính khoá có 1 buổi chuyên sâu · khung lịch linh hoạt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buổi học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1 (20'): Dạy theo slide — video hoạt hình học từ vựng + video hội thoại học ngữ pháp.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2 (20'): Hỏi đáp &amp; sửa lỗi qua iSpeak — Routing Engine chọn câu theo đúng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3 (5'): Tương tác – phản hồi – nhắc bài tập về nhà (giao ngay sau buổi).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AI phân loại theo trình độ (Level A/B/C/D)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Level B/C/D (yếu/trung bình): giáo viên AI người Việt, hướng dẫn chi tiết, gần gũi. Level A (khá/giỏi): 1 buổi giáo viên AI người Việt (ngữ pháp chuyên sâu) + 1 buổi giáo viên AI bản xứ Anh/Mỹ (luyện giao tiếp).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Giao diện 2 camera kiểu học 1-1 thật — giáo viên AI + học sinh; huy hiệu &amp; thử thách ghi nhận tiến bộ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Chấm phát âm theo âm vị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điểm 0–100 từng âm, phản hồi ngay trong buổi học.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Nội dung bám sát SGK Global Success, cá nhân hoá 100% theo Mastery Profile — không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· AI Speak · Edupia Club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Cả 3 bám cùng NLO đang học và ghi cùng 1 Mastery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— bài tập ôn luyện tăng cường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Đề chuẩn hoá theo SGK Global Success; trộn NLO 40% đang yếu / 40% vừa học tuần này / 20% ôn chống quên.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Staircase Difficulty: 2 câu đúng liên tiếp tăng cấp độ, 1 câu sai giảm ngay 1 cấp; mỗi câu sai có giải thích + cho làm lại.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Speak — luyện giao tiếp tình huống thật  (phát triển mới)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chấm ngữ pháp chặt — khuyến khích nói nhiều hơn nói đúng; Routing Engine chọn tình huống theo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sinh nhập vai tình huống thực tế (làm quen bạn mới, đi mua sắm, đi du lịch…), tối đa 1 giờ/ngày; nút "Gợi ý câu trả lời".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— câu lạc bộ ngoại khoá (tích hợp Mastery Profile)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4 chủ đề xoay vòng: Khám phá thế giới, Kỹ năng sống, STEM, Công nghệ AI; nhiệm vụ tuần dẫn tới sự kiện tháng.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Thử thách từ vựng bám đúng NLO đang học tuần đó; điểm cộng chung 1 bảng xếp hạng,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Phương pháp cá nhân hoá đằng sau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Nguồn: dự án Adaptive Learning Ecosystem — BOD Deck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NLO Taxonomy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1.473 đơn vị kiến thức nhỏ nhất (Ngữ pháp, Từ vựng, Ngữ âm, Nghe, Nói, Đọc, Viết) — cùng bậc chi tiết với ALEKS (~1.000) / Carnegie MATHia (~700).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Mastery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mastery_mới = mastery_cũ × decay + tín hiệu mới — cập nhật real-time sau mỗi tương tác, không chỉ sau bài kiểm tra.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Gap Detection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Nhận tín hiệu từ Big Class + Quick Check để phát hiện đúng NLO đang yếu của từng học sinh.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priority = ppct_weight × (1−mastery) × prereq_boost — chọn đúng 1–2 NLO ưu tiên cao nhất cho mỗi buổi.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/ </a:t>
            </a:r>
            <a:r>
              <a:rPr lang="en-US" sz="8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2026-08-27T09:18:13Z</dcterms:created>
  <dc:creator>Khối Sản phẩm và Công nghệ Edupia</dc:creator>
</cp:coreProperties>
</file>