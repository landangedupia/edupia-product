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p:spPr>
      </p:sp>
      <p:sp>
        <p:nvSpPr>
          <p:cNvPr id="3" name="Shape 1"/>
          <p:cNvSpPr/>
          <p:nvPr/>
        </p:nvSpPr>
        <p:spPr>
          <a:xfrm>
            <a:off x="0" y="0"/>
            <a:ext cx="12191695" cy="118872"/>
          </a:xfrm>
          <a:prstGeom prst="rect">
            <a:avLst/>
          </a:prstGeom>
          <a:solidFill>
            <a:srgbClr val="A5BE00"/>
          </a:solidFill>
          <a:ln/>
        </p:spPr>
      </p:sp>
      <p:sp>
        <p:nvSpPr>
          <p:cNvPr id="4" name="Text 2"/>
          <p:cNvSpPr/>
          <p:nvPr/>
        </p:nvSpPr>
        <p:spPr>
          <a:xfrm>
            <a:off x="640080" y="1828800"/>
            <a:ext cx="10607040" cy="365760"/>
          </a:xfrm>
          <a:prstGeom prst="rect">
            <a:avLst/>
          </a:prstGeom>
          <a:noFill/>
          <a:ln/>
        </p:spPr>
        <p:txBody>
          <a:bodyPr wrap="square" rtlCol="0" anchor="ctr"/>
          <a:lstStyle/>
          <a:p>
            <a:pPr indent="0" marL="0">
              <a:buNone/>
            </a:pPr>
            <a:r>
              <a:rPr lang="en-US" sz="1200" b="1" spc="50" kern="0" dirty="0">
                <a:solidFill>
                  <a:srgbClr val="D9E8A0"/>
                </a:solidFill>
                <a:latin typeface="Arial" pitchFamily="34" charset="0"/>
                <a:ea typeface="Arial" pitchFamily="34" charset="-122"/>
                <a:cs typeface="Arial" pitchFamily="34" charset="-120"/>
              </a:rPr>
              <a:t>KHỐI SẢN PHẨM – CÔNG NGHỆ · CONCEPT 1.2 · PHIÊN BẢN NGÔN NGỮ BÁN HÀNG</a:t>
            </a:r>
            <a:endParaRPr lang="en-US" sz="1200" dirty="0"/>
          </a:p>
        </p:txBody>
      </p:sp>
      <p:sp>
        <p:nvSpPr>
          <p:cNvPr id="5" name="Text 3"/>
          <p:cNvSpPr/>
          <p:nvPr/>
        </p:nvSpPr>
        <p:spPr>
          <a:xfrm>
            <a:off x="640080" y="2286000"/>
            <a:ext cx="10607040" cy="96012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EDUPIA AI CLASS PLUS</a:t>
            </a:r>
            <a:endParaRPr lang="en-US" sz="4000" dirty="0"/>
          </a:p>
        </p:txBody>
      </p:sp>
      <p:sp>
        <p:nvSpPr>
          <p:cNvPr id="6" name="Text 4"/>
          <p:cNvSpPr/>
          <p:nvPr/>
        </p:nvSpPr>
        <p:spPr>
          <a:xfrm>
            <a:off x="640080" y="3337560"/>
            <a:ext cx="9692640" cy="960120"/>
          </a:xfrm>
          <a:prstGeom prst="rect">
            <a:avLst/>
          </a:prstGeom>
          <a:noFill/>
          <a:ln/>
        </p:spPr>
        <p:txBody>
          <a:bodyPr wrap="square" rtlCol="0" anchor="ctr"/>
          <a:lstStyle/>
          <a:p>
            <a:pPr indent="0" marL="0">
              <a:lnSpc>
                <a:spcPct val="115000"/>
              </a:lnSpc>
              <a:buNone/>
            </a:pPr>
            <a:r>
              <a:rPr lang="en-US" sz="1700" dirty="0">
                <a:solidFill>
                  <a:srgbClr val="CFE0EC"/>
                </a:solidFill>
                <a:latin typeface="Arial" pitchFamily="34" charset="0"/>
                <a:ea typeface="Arial" pitchFamily="34" charset="-122"/>
                <a:cs typeface="Arial" pitchFamily="34" charset="-120"/>
              </a:rPr>
              <a:t>Con vẫn học với cô giáo như hiện tại — nhưng có thêm một "giáo viên riêng" luôn biết con đang yếu chỗ nào để kèm đúng chỗ đó.</a:t>
            </a:r>
            <a:endParaRPr lang="en-US" sz="1700" dirty="0"/>
          </a:p>
        </p:txBody>
      </p:sp>
      <p:sp>
        <p:nvSpPr>
          <p:cNvPr id="7" name="Text 5"/>
          <p:cNvSpPr/>
          <p:nvPr/>
        </p:nvSpPr>
        <p:spPr>
          <a:xfrm>
            <a:off x="640080" y="4434840"/>
            <a:ext cx="9692640" cy="365760"/>
          </a:xfrm>
          <a:prstGeom prst="rect">
            <a:avLst/>
          </a:prstGeom>
          <a:noFill/>
          <a:ln/>
        </p:spPr>
        <p:txBody>
          <a:bodyPr wrap="square" rtlCol="0" anchor="ctr"/>
          <a:lstStyle/>
          <a:p>
            <a:pPr indent="0" marL="0">
              <a:buNone/>
            </a:pPr>
            <a:r>
              <a:rPr lang="en-US" sz="1100" i="1" dirty="0">
                <a:solidFill>
                  <a:srgbClr val="9FC4D8"/>
                </a:solidFill>
                <a:latin typeface="Arial" pitchFamily="34" charset="0"/>
                <a:ea typeface="Arial" pitchFamily="34" charset="-122"/>
                <a:cs typeface="Arial" pitchFamily="34" charset="-120"/>
              </a:rPr>
              <a:t>Phiên bản 2 — Ngôn ngữ bán hàng · Bản nháp 2026-09-03</a:t>
            </a:r>
            <a:endParaRPr lang="en-US" sz="1100" dirty="0"/>
          </a:p>
        </p:txBody>
      </p:sp>
      <p:sp>
        <p:nvSpPr>
          <p:cNvPr id="8" name="Text 6"/>
          <p:cNvSpPr/>
          <p:nvPr/>
        </p:nvSpPr>
        <p:spPr>
          <a:xfrm>
            <a:off x="640080" y="5806440"/>
            <a:ext cx="2743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EDUPIA</a:t>
            </a:r>
            <a:endParaRPr lang="en-US" sz="1200" dirty="0"/>
          </a:p>
        </p:txBody>
      </p:sp>
      <p:sp>
        <p:nvSpPr>
          <p:cNvPr id="9" name="Text 7"/>
          <p:cNvSpPr/>
          <p:nvPr/>
        </p:nvSpPr>
        <p:spPr>
          <a:xfrm>
            <a:off x="640080" y="6089904"/>
            <a:ext cx="2743200" cy="201168"/>
          </a:xfrm>
          <a:prstGeom prst="rect">
            <a:avLst/>
          </a:prstGeom>
          <a:noFill/>
          <a:ln/>
        </p:spPr>
        <p:txBody>
          <a:bodyPr wrap="square" rtlCol="0" anchor="ctr"/>
          <a:lstStyle/>
          <a:p>
            <a:pPr indent="0" marL="0">
              <a:buNone/>
            </a:pPr>
            <a:r>
              <a:rPr lang="en-US" sz="750" b="1" spc="5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7315200" cy="685800"/>
          </a:xfrm>
          <a:prstGeom prst="rect">
            <a:avLst/>
          </a:prstGeom>
          <a:noFill/>
          <a:ln/>
        </p:spPr>
        <p:txBody>
          <a:bodyPr wrap="square" rtlCol="0" anchor="ctr"/>
          <a:lstStyle/>
          <a:p>
            <a:pPr indent="0" marL="0">
              <a:buNone/>
            </a:pPr>
            <a:r>
              <a:rPr lang="en-US" sz="2300" b="1" dirty="0">
                <a:solidFill>
                  <a:srgbClr val="004671"/>
                </a:solidFill>
                <a:latin typeface="Arial" pitchFamily="34" charset="0"/>
                <a:ea typeface="Arial" pitchFamily="34" charset="-122"/>
                <a:cs typeface="Arial" pitchFamily="34" charset="-120"/>
              </a:rPr>
              <a:t>Mục lục</a:t>
            </a:r>
            <a:endParaRPr lang="en-US" sz="2300" dirty="0"/>
          </a:p>
        </p:txBody>
      </p:sp>
      <p:sp>
        <p:nvSpPr>
          <p:cNvPr id="5" name="Shape 3"/>
          <p:cNvSpPr/>
          <p:nvPr/>
        </p:nvSpPr>
        <p:spPr>
          <a:xfrm>
            <a:off x="502920" y="1399032"/>
            <a:ext cx="11140135" cy="841248"/>
          </a:xfrm>
          <a:prstGeom prst="rect">
            <a:avLst/>
          </a:prstGeom>
          <a:solidFill>
            <a:srgbClr val="F4F9FC"/>
          </a:solidFill>
          <a:ln w="12700">
            <a:solidFill>
              <a:srgbClr val="DCE8F0"/>
            </a:solidFill>
            <a:prstDash val="solid"/>
          </a:ln>
        </p:spPr>
      </p:sp>
      <p:sp>
        <p:nvSpPr>
          <p:cNvPr id="6" name="Shape 4"/>
          <p:cNvSpPr/>
          <p:nvPr/>
        </p:nvSpPr>
        <p:spPr>
          <a:xfrm>
            <a:off x="502920" y="1399032"/>
            <a:ext cx="82296" cy="841248"/>
          </a:xfrm>
          <a:prstGeom prst="rect">
            <a:avLst/>
          </a:prstGeom>
          <a:solidFill>
            <a:srgbClr val="A5BE00"/>
          </a:solidFill>
          <a:ln/>
        </p:spPr>
      </p:sp>
      <p:sp>
        <p:nvSpPr>
          <p:cNvPr id="7" name="Text 5"/>
          <p:cNvSpPr/>
          <p:nvPr/>
        </p:nvSpPr>
        <p:spPr>
          <a:xfrm>
            <a:off x="822960" y="1399032"/>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01</a:t>
            </a:r>
            <a:endParaRPr lang="en-US" sz="2400" dirty="0"/>
          </a:p>
        </p:txBody>
      </p:sp>
      <p:sp>
        <p:nvSpPr>
          <p:cNvPr id="8" name="Text 6"/>
          <p:cNvSpPr/>
          <p:nvPr/>
        </p:nvSpPr>
        <p:spPr>
          <a:xfrm>
            <a:off x="1920240" y="1399032"/>
            <a:ext cx="9494215" cy="841248"/>
          </a:xfrm>
          <a:prstGeom prst="rect">
            <a:avLst/>
          </a:prstGeom>
          <a:noFill/>
          <a:ln/>
        </p:spPr>
        <p:txBody>
          <a:bodyPr wrap="square" rtlCol="0" anchor="ctr"/>
          <a:lstStyle/>
          <a:p>
            <a:pPr indent="0" marL="0">
              <a:buNone/>
            </a:pPr>
            <a:r>
              <a:rPr lang="en-US" sz="1500" b="1" dirty="0">
                <a:solidFill>
                  <a:srgbClr val="004671"/>
                </a:solidFill>
                <a:latin typeface="Arial" pitchFamily="34" charset="0"/>
                <a:ea typeface="Arial" pitchFamily="34" charset="-122"/>
                <a:cs typeface="Arial" pitchFamily="34" charset="-120"/>
              </a:rPr>
              <a:t>Vì sao Edupia nâng cấp thêm cho con</a:t>
            </a:r>
            <a:endParaRPr lang="en-US" sz="1500" dirty="0"/>
          </a:p>
        </p:txBody>
      </p:sp>
      <p:sp>
        <p:nvSpPr>
          <p:cNvPr id="9" name="Shape 7"/>
          <p:cNvSpPr/>
          <p:nvPr/>
        </p:nvSpPr>
        <p:spPr>
          <a:xfrm>
            <a:off x="502920" y="2423160"/>
            <a:ext cx="11140135" cy="841248"/>
          </a:xfrm>
          <a:prstGeom prst="rect">
            <a:avLst/>
          </a:prstGeom>
          <a:solidFill>
            <a:srgbClr val="FFFFFF"/>
          </a:solidFill>
          <a:ln w="12700">
            <a:solidFill>
              <a:srgbClr val="DCE8F0"/>
            </a:solidFill>
            <a:prstDash val="solid"/>
          </a:ln>
        </p:spPr>
      </p:sp>
      <p:sp>
        <p:nvSpPr>
          <p:cNvPr id="10" name="Shape 8"/>
          <p:cNvSpPr/>
          <p:nvPr/>
        </p:nvSpPr>
        <p:spPr>
          <a:xfrm>
            <a:off x="502920" y="2423160"/>
            <a:ext cx="82296" cy="841248"/>
          </a:xfrm>
          <a:prstGeom prst="rect">
            <a:avLst/>
          </a:prstGeom>
          <a:solidFill>
            <a:srgbClr val="A5BE00"/>
          </a:solidFill>
          <a:ln/>
        </p:spPr>
      </p:sp>
      <p:sp>
        <p:nvSpPr>
          <p:cNvPr id="11" name="Text 9"/>
          <p:cNvSpPr/>
          <p:nvPr/>
        </p:nvSpPr>
        <p:spPr>
          <a:xfrm>
            <a:off x="822960" y="2423160"/>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02</a:t>
            </a:r>
            <a:endParaRPr lang="en-US" sz="2400" dirty="0"/>
          </a:p>
        </p:txBody>
      </p:sp>
      <p:sp>
        <p:nvSpPr>
          <p:cNvPr id="12" name="Text 10"/>
          <p:cNvSpPr/>
          <p:nvPr/>
        </p:nvSpPr>
        <p:spPr>
          <a:xfrm>
            <a:off x="1920240" y="2423160"/>
            <a:ext cx="9494215" cy="841248"/>
          </a:xfrm>
          <a:prstGeom prst="rect">
            <a:avLst/>
          </a:prstGeom>
          <a:noFill/>
          <a:ln/>
        </p:spPr>
        <p:txBody>
          <a:bodyPr wrap="square" rtlCol="0" anchor="ctr"/>
          <a:lstStyle/>
          <a:p>
            <a:pPr indent="0" marL="0">
              <a:buNone/>
            </a:pPr>
            <a:r>
              <a:rPr lang="en-US" sz="1500" b="1" dirty="0">
                <a:solidFill>
                  <a:srgbClr val="004671"/>
                </a:solidFill>
                <a:latin typeface="Arial" pitchFamily="34" charset="0"/>
                <a:ea typeface="Arial" pitchFamily="34" charset="-122"/>
                <a:cs typeface="Arial" pitchFamily="34" charset="-120"/>
              </a:rPr>
              <a:t>Phụ huynh nào sẽ thấy giá trị rõ nhất</a:t>
            </a:r>
            <a:endParaRPr lang="en-US" sz="1500" dirty="0"/>
          </a:p>
        </p:txBody>
      </p:sp>
      <p:sp>
        <p:nvSpPr>
          <p:cNvPr id="13" name="Shape 11"/>
          <p:cNvSpPr/>
          <p:nvPr/>
        </p:nvSpPr>
        <p:spPr>
          <a:xfrm>
            <a:off x="502920" y="3447288"/>
            <a:ext cx="11140135" cy="841248"/>
          </a:xfrm>
          <a:prstGeom prst="rect">
            <a:avLst/>
          </a:prstGeom>
          <a:solidFill>
            <a:srgbClr val="F4F9FC"/>
          </a:solidFill>
          <a:ln w="12700">
            <a:solidFill>
              <a:srgbClr val="DCE8F0"/>
            </a:solidFill>
            <a:prstDash val="solid"/>
          </a:ln>
        </p:spPr>
      </p:sp>
      <p:sp>
        <p:nvSpPr>
          <p:cNvPr id="14" name="Shape 12"/>
          <p:cNvSpPr/>
          <p:nvPr/>
        </p:nvSpPr>
        <p:spPr>
          <a:xfrm>
            <a:off x="502920" y="3447288"/>
            <a:ext cx="82296" cy="841248"/>
          </a:xfrm>
          <a:prstGeom prst="rect">
            <a:avLst/>
          </a:prstGeom>
          <a:solidFill>
            <a:srgbClr val="A5BE00"/>
          </a:solidFill>
          <a:ln/>
        </p:spPr>
      </p:sp>
      <p:sp>
        <p:nvSpPr>
          <p:cNvPr id="15" name="Text 13"/>
          <p:cNvSpPr/>
          <p:nvPr/>
        </p:nvSpPr>
        <p:spPr>
          <a:xfrm>
            <a:off x="822960" y="3447288"/>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03</a:t>
            </a:r>
            <a:endParaRPr lang="en-US" sz="2400" dirty="0"/>
          </a:p>
        </p:txBody>
      </p:sp>
      <p:sp>
        <p:nvSpPr>
          <p:cNvPr id="16" name="Text 14"/>
          <p:cNvSpPr/>
          <p:nvPr/>
        </p:nvSpPr>
        <p:spPr>
          <a:xfrm>
            <a:off x="1920240" y="3447288"/>
            <a:ext cx="9494215" cy="841248"/>
          </a:xfrm>
          <a:prstGeom prst="rect">
            <a:avLst/>
          </a:prstGeom>
          <a:noFill/>
          <a:ln/>
        </p:spPr>
        <p:txBody>
          <a:bodyPr wrap="square" rtlCol="0" anchor="ctr"/>
          <a:lstStyle/>
          <a:p>
            <a:pPr indent="0" marL="0">
              <a:buNone/>
            </a:pPr>
            <a:r>
              <a:rPr lang="en-US" sz="1500" b="1" dirty="0">
                <a:solidFill>
                  <a:srgbClr val="004671"/>
                </a:solidFill>
                <a:latin typeface="Arial" pitchFamily="34" charset="0"/>
                <a:ea typeface="Arial" pitchFamily="34" charset="-122"/>
                <a:cs typeface="Arial" pitchFamily="34" charset="-120"/>
              </a:rPr>
              <a:t>Bố mẹ mong muốn gì cho con</a:t>
            </a:r>
            <a:endParaRPr lang="en-US" sz="1500" dirty="0"/>
          </a:p>
        </p:txBody>
      </p:sp>
      <p:sp>
        <p:nvSpPr>
          <p:cNvPr id="17" name="Shape 15"/>
          <p:cNvSpPr/>
          <p:nvPr/>
        </p:nvSpPr>
        <p:spPr>
          <a:xfrm>
            <a:off x="502920" y="4471416"/>
            <a:ext cx="11140135" cy="841248"/>
          </a:xfrm>
          <a:prstGeom prst="rect">
            <a:avLst/>
          </a:prstGeom>
          <a:solidFill>
            <a:srgbClr val="FFFFFF"/>
          </a:solidFill>
          <a:ln w="12700">
            <a:solidFill>
              <a:srgbClr val="DCE8F0"/>
            </a:solidFill>
            <a:prstDash val="solid"/>
          </a:ln>
        </p:spPr>
      </p:sp>
      <p:sp>
        <p:nvSpPr>
          <p:cNvPr id="18" name="Shape 16"/>
          <p:cNvSpPr/>
          <p:nvPr/>
        </p:nvSpPr>
        <p:spPr>
          <a:xfrm>
            <a:off x="502920" y="4471416"/>
            <a:ext cx="82296" cy="841248"/>
          </a:xfrm>
          <a:prstGeom prst="rect">
            <a:avLst/>
          </a:prstGeom>
          <a:solidFill>
            <a:srgbClr val="A5BE00"/>
          </a:solidFill>
          <a:ln/>
        </p:spPr>
      </p:sp>
      <p:sp>
        <p:nvSpPr>
          <p:cNvPr id="19" name="Text 17"/>
          <p:cNvSpPr/>
          <p:nvPr/>
        </p:nvSpPr>
        <p:spPr>
          <a:xfrm>
            <a:off x="822960" y="4471416"/>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04</a:t>
            </a:r>
            <a:endParaRPr lang="en-US" sz="2400" dirty="0"/>
          </a:p>
        </p:txBody>
      </p:sp>
      <p:sp>
        <p:nvSpPr>
          <p:cNvPr id="20" name="Text 18"/>
          <p:cNvSpPr/>
          <p:nvPr/>
        </p:nvSpPr>
        <p:spPr>
          <a:xfrm>
            <a:off x="1920240" y="4471416"/>
            <a:ext cx="9494215" cy="841248"/>
          </a:xfrm>
          <a:prstGeom prst="rect">
            <a:avLst/>
          </a:prstGeom>
          <a:noFill/>
          <a:ln/>
        </p:spPr>
        <p:txBody>
          <a:bodyPr wrap="square" rtlCol="0" anchor="ctr"/>
          <a:lstStyle/>
          <a:p>
            <a:pPr indent="0" marL="0">
              <a:buNone/>
            </a:pPr>
            <a:r>
              <a:rPr lang="en-US" sz="1500" b="1" dirty="0">
                <a:solidFill>
                  <a:srgbClr val="004671"/>
                </a:solidFill>
                <a:latin typeface="Arial" pitchFamily="34" charset="0"/>
                <a:ea typeface="Arial" pitchFamily="34" charset="-122"/>
                <a:cs typeface="Arial" pitchFamily="34" charset="-120"/>
              </a:rPr>
              <a:t>Con và bố mẹ nhận được gì</a:t>
            </a:r>
            <a:endParaRPr lang="en-US" sz="1500" dirty="0"/>
          </a:p>
        </p:txBody>
      </p:sp>
      <p:sp>
        <p:nvSpPr>
          <p:cNvPr id="21" name="Shape 19"/>
          <p:cNvSpPr/>
          <p:nvPr/>
        </p:nvSpPr>
        <p:spPr>
          <a:xfrm>
            <a:off x="502920" y="5495544"/>
            <a:ext cx="11140135" cy="841248"/>
          </a:xfrm>
          <a:prstGeom prst="rect">
            <a:avLst/>
          </a:prstGeom>
          <a:solidFill>
            <a:srgbClr val="F4F9FC"/>
          </a:solidFill>
          <a:ln w="12700">
            <a:solidFill>
              <a:srgbClr val="DCE8F0"/>
            </a:solidFill>
            <a:prstDash val="solid"/>
          </a:ln>
        </p:spPr>
      </p:sp>
      <p:sp>
        <p:nvSpPr>
          <p:cNvPr id="22" name="Shape 20"/>
          <p:cNvSpPr/>
          <p:nvPr/>
        </p:nvSpPr>
        <p:spPr>
          <a:xfrm>
            <a:off x="502920" y="5495544"/>
            <a:ext cx="82296" cy="841248"/>
          </a:xfrm>
          <a:prstGeom prst="rect">
            <a:avLst/>
          </a:prstGeom>
          <a:solidFill>
            <a:srgbClr val="A5BE00"/>
          </a:solidFill>
          <a:ln/>
        </p:spPr>
      </p:sp>
      <p:sp>
        <p:nvSpPr>
          <p:cNvPr id="23" name="Text 21"/>
          <p:cNvSpPr/>
          <p:nvPr/>
        </p:nvSpPr>
        <p:spPr>
          <a:xfrm>
            <a:off x="822960" y="5495544"/>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05</a:t>
            </a:r>
            <a:endParaRPr lang="en-US" sz="2400" dirty="0"/>
          </a:p>
        </p:txBody>
      </p:sp>
      <p:sp>
        <p:nvSpPr>
          <p:cNvPr id="24" name="Text 22"/>
          <p:cNvSpPr/>
          <p:nvPr/>
        </p:nvSpPr>
        <p:spPr>
          <a:xfrm>
            <a:off x="1920240" y="5495544"/>
            <a:ext cx="9494215" cy="841248"/>
          </a:xfrm>
          <a:prstGeom prst="rect">
            <a:avLst/>
          </a:prstGeom>
          <a:noFill/>
          <a:ln/>
        </p:spPr>
        <p:txBody>
          <a:bodyPr wrap="square" rtlCol="0" anchor="ctr"/>
          <a:lstStyle/>
          <a:p>
            <a:pPr indent="0" marL="0">
              <a:buNone/>
            </a:pPr>
            <a:r>
              <a:rPr lang="en-US" sz="1500" b="1" dirty="0">
                <a:solidFill>
                  <a:srgbClr val="004671"/>
                </a:solidFill>
                <a:latin typeface="Arial" pitchFamily="34" charset="0"/>
                <a:ea typeface="Arial" pitchFamily="34" charset="-122"/>
                <a:cs typeface="Arial" pitchFamily="34" charset="-120"/>
              </a:rPr>
              <a:t>Một tuần con sẽ học như thế nào</a:t>
            </a:r>
            <a:endParaRPr lang="en-US" sz="1500" dirty="0"/>
          </a:p>
        </p:txBody>
      </p:sp>
      <p:sp>
        <p:nvSpPr>
          <p:cNvPr id="25" name="Shape 23"/>
          <p:cNvSpPr/>
          <p:nvPr/>
        </p:nvSpPr>
        <p:spPr>
          <a:xfrm>
            <a:off x="502920" y="6437376"/>
            <a:ext cx="11140135" cy="0"/>
          </a:xfrm>
          <a:prstGeom prst="line">
            <a:avLst/>
          </a:prstGeom>
          <a:noFill/>
          <a:ln w="19050">
            <a:solidFill>
              <a:srgbClr val="A5BE00"/>
            </a:solidFill>
            <a:prstDash val="solid"/>
          </a:ln>
        </p:spPr>
      </p:sp>
      <p:sp>
        <p:nvSpPr>
          <p:cNvPr id="26" name="Text 2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27" name="Text 25"/>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 / 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p:spPr>
      </p:sp>
      <p:sp>
        <p:nvSpPr>
          <p:cNvPr id="3" name="Shape 1"/>
          <p:cNvSpPr/>
          <p:nvPr/>
        </p:nvSpPr>
        <p:spPr>
          <a:xfrm>
            <a:off x="0" y="0"/>
            <a:ext cx="12191695" cy="118872"/>
          </a:xfrm>
          <a:prstGeom prst="rect">
            <a:avLst/>
          </a:prstGeom>
          <a:solidFill>
            <a:srgbClr val="A5BE00"/>
          </a:solidFill>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01</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VÌ SAO EDUPIA NÂNG CẤP THÊM CHO CON</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5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3</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Bố mẹ đang gặp vấn đề gì?</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40135" cy="914400"/>
        </p:xfrm>
        <a:graphic>
          <a:graphicData uri="http://schemas.openxmlformats.org/drawingml/2006/table">
            <a:tbl>
              <a:tblPr/>
              <a:tblGrid>
                <a:gridCol w="5486400"/>
                <a:gridCol w="61539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Bố mẹ đang lo</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Điều thường xảy ra với con</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Con học cùng lớp nhưng mỗi bạn yếu một chỗ</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Con vẫn học theo tốc độ chung, trong khi chỗ con chưa hiểu có thể bị bỏ qua</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Không biết chính xác con đang yếu phần nào</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Biết con "điểm chưa tốt" nhưng khó biết phải kèm lại từ đâu</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Cho con học nhưng không biết có tiến bộ thật không</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Bố mẹ thiếu một cách đơn giản để nhìn thấy con đang tiến bộ ở đâu</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Bố mẹ bận, không có thời gian kèm con mỗi ngày</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Con gặp bài khó ở nhà dễ chán, bỏ cuộc hoặc phải chờ bố mẹ về mới hỏi được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
        <p:nvSpPr>
          <p:cNvPr id="10" name="Shape 7"/>
          <p:cNvSpPr/>
          <p:nvPr/>
        </p:nvSpPr>
        <p:spPr>
          <a:xfrm>
            <a:off x="502920" y="4773168"/>
            <a:ext cx="11140135" cy="1426464"/>
          </a:xfrm>
          <a:prstGeom prst="rect">
            <a:avLst/>
          </a:prstGeom>
          <a:solidFill>
            <a:srgbClr val="F1F5DE"/>
          </a:solidFill>
          <a:ln/>
        </p:spPr>
      </p:sp>
      <p:sp>
        <p:nvSpPr>
          <p:cNvPr id="11" name="Shape 8"/>
          <p:cNvSpPr/>
          <p:nvPr/>
        </p:nvSpPr>
        <p:spPr>
          <a:xfrm>
            <a:off x="502920" y="4773168"/>
            <a:ext cx="82296" cy="1426464"/>
          </a:xfrm>
          <a:prstGeom prst="rect">
            <a:avLst/>
          </a:prstGeom>
          <a:solidFill>
            <a:srgbClr val="A5BE00"/>
          </a:solidFill>
          <a:ln/>
        </p:spPr>
      </p:sp>
      <p:sp>
        <p:nvSpPr>
          <p:cNvPr id="12" name="Text 9"/>
          <p:cNvSpPr/>
          <p:nvPr/>
        </p:nvSpPr>
        <p:spPr>
          <a:xfrm>
            <a:off x="777240" y="4882896"/>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3" name="Text 10"/>
          <p:cNvSpPr/>
          <p:nvPr/>
        </p:nvSpPr>
        <p:spPr>
          <a:xfrm>
            <a:off x="777240" y="5157216"/>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"Nhiều khi con không học kém, mà chỉ đang hổng một vài chỗ. Nhưng học lớp đông thì cô không thể lúc nào cũng biết chính xác từng bạn đang hổng ở đâu. Điều bố mẹ cần là biết đúng chỗ con yếu và có người kèm con sửa ngay chỗ đó."</a:t>
            </a:r>
            <a:endParaRPr lang="en-US" sz="1600" dirty="0"/>
          </a:p>
        </p:txBody>
      </p:sp>
      <p:sp>
        <p:nvSpPr>
          <p:cNvPr id="14" name="Text 11"/>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 / 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4</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Cơ hội của Edupia</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Từ "học chung" sang "được theo sát như có người kèm riêng": </a:t>
            </a:r>
            <a:pPr indent="0" marL="0">
              <a:buNone/>
            </a:pPr>
            <a:r>
              <a:rPr lang="en-US" sz="1600" dirty="0">
                <a:solidFill>
                  <a:srgbClr val="1F2A33"/>
                </a:solidFill>
                <a:latin typeface="Arial" pitchFamily="34" charset="0"/>
                <a:ea typeface="Arial" pitchFamily="34" charset="-122"/>
                <a:cs typeface="Arial" pitchFamily="34" charset="-120"/>
              </a:rPr>
              <a:t>Trước đây, trải nghiệm được theo sát từng chỗ yếu của con thường gắn với trường quốc tế hoặc gia sư có chi phí cao.</a:t>
            </a:r>
            <a:endParaRPr lang="en-US" sz="1600" dirty="0"/>
          </a:p>
        </p:txBody>
      </p:sp>
      <p:sp>
        <p:nvSpPr>
          <p:cNvPr id="10" name="Text 8"/>
          <p:cNvSpPr/>
          <p:nvPr/>
        </p:nvSpPr>
        <p:spPr>
          <a:xfrm>
            <a:off x="502920" y="2386584"/>
            <a:ext cx="11140135" cy="694944"/>
          </a:xfrm>
          <a:prstGeom prst="rect">
            <a:avLst/>
          </a:prstGeom>
          <a:noFill/>
          <a:ln/>
        </p:spPr>
        <p:txBody>
          <a:bodyPr wrap="square" rtlCol="0" anchor="t"/>
          <a:lstStyle/>
          <a:p>
            <a:pPr indent="0" marL="0">
              <a:buNone/>
            </a:pPr>
            <a:r>
              <a:rPr lang="en-US" sz="1600" dirty="0">
                <a:solidFill>
                  <a:srgbClr val="1F2A33"/>
                </a:solidFill>
                <a:latin typeface="Arial" pitchFamily="34" charset="0"/>
                <a:ea typeface="Arial" pitchFamily="34" charset="-122"/>
                <a:cs typeface="Arial" pitchFamily="34" charset="-120"/>
              </a:rPr>
              <a:t>Edupia đưa trải nghiệm "được kèm đúng chỗ con cần" vào một sản phẩm đại trà ở mức khoảng 390–400k/tháng.</a:t>
            </a:r>
            <a:endParaRPr lang="en-US" sz="1600" dirty="0"/>
          </a:p>
        </p:txBody>
      </p:sp>
      <p:sp>
        <p:nvSpPr>
          <p:cNvPr id="11" name="Shape 9"/>
          <p:cNvSpPr/>
          <p:nvPr/>
        </p:nvSpPr>
        <p:spPr>
          <a:xfrm>
            <a:off x="502920" y="3264408"/>
            <a:ext cx="11140135" cy="1426464"/>
          </a:xfrm>
          <a:prstGeom prst="rect">
            <a:avLst/>
          </a:prstGeom>
          <a:solidFill>
            <a:srgbClr val="F1F5DE"/>
          </a:solidFill>
          <a:ln/>
        </p:spPr>
      </p:sp>
      <p:sp>
        <p:nvSpPr>
          <p:cNvPr id="12" name="Shape 10"/>
          <p:cNvSpPr/>
          <p:nvPr/>
        </p:nvSpPr>
        <p:spPr>
          <a:xfrm>
            <a:off x="502920" y="3264408"/>
            <a:ext cx="82296" cy="1426464"/>
          </a:xfrm>
          <a:prstGeom prst="rect">
            <a:avLst/>
          </a:prstGeom>
          <a:solidFill>
            <a:srgbClr val="A5BE00"/>
          </a:solidFill>
          <a:ln/>
        </p:spPr>
      </p:sp>
      <p:sp>
        <p:nvSpPr>
          <p:cNvPr id="13" name="Text 11"/>
          <p:cNvSpPr/>
          <p:nvPr/>
        </p:nvSpPr>
        <p:spPr>
          <a:xfrm>
            <a:off x="777240" y="3374136"/>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4" name="Text 12"/>
          <p:cNvSpPr/>
          <p:nvPr/>
        </p:nvSpPr>
        <p:spPr>
          <a:xfrm>
            <a:off x="777240" y="3648456"/>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"Bố mẹ không cần thuê riêng một gia sư vài triệu mỗi tháng. Con vẫn học với cô giáo như bình thường, nhưng phía sau có thêm một hệ thống theo sát để biết con yếu đâu và giao đúng bài để con sửa chỗ đó."</a:t>
            </a:r>
            <a:endParaRPr lang="en-US" sz="1600" dirty="0"/>
          </a:p>
        </p:txBody>
      </p:sp>
      <p:sp>
        <p:nvSpPr>
          <p:cNvPr id="15" name="Text 13"/>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3 /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p:spPr>
      </p:sp>
      <p:sp>
        <p:nvSpPr>
          <p:cNvPr id="3" name="Shape 1"/>
          <p:cNvSpPr/>
          <p:nvPr/>
        </p:nvSpPr>
        <p:spPr>
          <a:xfrm>
            <a:off x="0" y="0"/>
            <a:ext cx="12191695" cy="118872"/>
          </a:xfrm>
          <a:prstGeom prst="rect">
            <a:avLst/>
          </a:prstGeom>
          <a:solidFill>
            <a:srgbClr val="A5BE00"/>
          </a:solidFill>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02</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KHÁCH HÀNG MỤC TIÊU</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5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5</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Phụ huynh nào sẽ thấy giá trị rõ nhất?</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40135" cy="914400"/>
        </p:xfrm>
        <a:graphic>
          <a:graphicData uri="http://schemas.openxmlformats.org/drawingml/2006/table">
            <a:tbl>
              <a:tblPr/>
              <a:tblGrid>
                <a:gridCol w="3200400"/>
                <a:gridCol w="84399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Đặc điểm</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Chân dung</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Người quyết định</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Mẹ, 30–45 tuổi, có con lớp 1–8</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Khu vực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Thành phố tỉnh, thị xã, nông thôn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Công việc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Văn phòng, buôn bán nhỏ, lao động phổ thông — bận rộn cả ngày</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Thu nhập</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15–30 triệu/tháng (phân khúc "Good") — hiện đang chi khoảng 200–250k/tháng cho việc học tiếng Anh của con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Khả năng tiếng Anh của bố mẹ</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Đa số không tự tin tiếng Anh nên khó tự kèm con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745736"/>
            <a:ext cx="54864" cy="1371600"/>
          </a:xfrm>
          <a:prstGeom prst="rect">
            <a:avLst/>
          </a:prstGeom>
          <a:solidFill>
            <a:srgbClr val="A5BE00"/>
          </a:solidFill>
          <a:ln/>
        </p:spPr>
      </p:sp>
      <p:sp>
        <p:nvSpPr>
          <p:cNvPr id="11" name="Text 8"/>
          <p:cNvSpPr/>
          <p:nvPr/>
        </p:nvSpPr>
        <p:spPr>
          <a:xfrm>
            <a:off x="731520" y="4745736"/>
            <a:ext cx="10911535" cy="1371600"/>
          </a:xfrm>
          <a:prstGeom prst="rect">
            <a:avLst/>
          </a:prstGeom>
          <a:noFill/>
          <a:ln/>
        </p:spPr>
        <p:txBody>
          <a:bodyPr wrap="square" rtlCol="0" anchor="ctr"/>
          <a:lstStyle/>
          <a:p>
            <a:pPr indent="0" marL="0">
              <a:buNone/>
            </a:pPr>
            <a:r>
              <a:rPr lang="en-US" sz="1500" i="1" dirty="0">
                <a:solidFill>
                  <a:srgbClr val="004671"/>
                </a:solidFill>
                <a:latin typeface="Arial" pitchFamily="34" charset="0"/>
                <a:ea typeface="Arial" pitchFamily="34" charset="-122"/>
                <a:cs typeface="Arial" pitchFamily="34" charset="-120"/>
              </a:rPr>
              <a:t>"Tôi muốn đầu tư cho con học, nhưng tôi không có thời gian và cũng không giỏi tiếng Anh để kèm con."   ·   "Tôi chỉ cần biết con đang yếu ở đâu và có người giúp con sửa chỗ đó."   ·   "Tôi muốn con có cơ hội học tốt hơn, không bị thua thiệt vì điều kiện gia đình."</a:t>
            </a:r>
            <a:endParaRPr lang="en-US" sz="1500" dirty="0"/>
          </a:p>
        </p:txBody>
      </p:sp>
      <p:sp>
        <p:nvSpPr>
          <p:cNvPr id="12" name="Text 9"/>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4 / 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p:spPr>
      </p:sp>
      <p:sp>
        <p:nvSpPr>
          <p:cNvPr id="3" name="Shape 1"/>
          <p:cNvSpPr/>
          <p:nvPr/>
        </p:nvSpPr>
        <p:spPr>
          <a:xfrm>
            <a:off x="0" y="0"/>
            <a:ext cx="12191695" cy="118872"/>
          </a:xfrm>
          <a:prstGeom prst="rect">
            <a:avLst/>
          </a:prstGeom>
          <a:solidFill>
            <a:srgbClr val="A5BE00"/>
          </a:solidFill>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03</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BỐ MẸ MONG MUỐN GÌ CHO CON</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5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6</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5 điều bố mẹ thực sự mong muốn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33284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học giỏi — nắm chắc kiến thức, học tiến bộ và đạt kết quả tốt, chứ không chỉ tham gia đầy đủ các buổi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được học với giáo viên giỏi — có chuyên môn, phương pháp tốt và biết cách giúp con tiến bộ.</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thích học — việc học không trở thành áp lực, con chủ động hơn, có động lực học và không phải ngày nào cũng cần bố mẹ nhắc.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Yên tâm giao phó con — có thể giao việc học cho Edupia, biết rằng con được theo sát, có người hỗ trợ và bố mẹ luôn nắm được tình hình học tập.</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tự tin nói tiếng Anh — không chỉ làm bài đúng mà thực sự dám mở miệng nói, giao tiếp và sử dụng tiếng Anh trong tình huống thực tế.</a:t>
            </a:r>
            <a:endParaRPr lang="en-US" sz="1600" dirty="0"/>
          </a:p>
        </p:txBody>
      </p:sp>
      <p:sp>
        <p:nvSpPr>
          <p:cNvPr id="10" name="Text 8"/>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5 / 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p:spPr>
      </p:sp>
      <p:sp>
        <p:nvSpPr>
          <p:cNvPr id="3" name="Shape 1"/>
          <p:cNvSpPr/>
          <p:nvPr/>
        </p:nvSpPr>
        <p:spPr>
          <a:xfrm>
            <a:off x="0" y="0"/>
            <a:ext cx="12191695" cy="118872"/>
          </a:xfrm>
          <a:prstGeom prst="rect">
            <a:avLst/>
          </a:prstGeom>
          <a:solidFill>
            <a:srgbClr val="A5BE00"/>
          </a:solidFill>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04</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CON VÀ BỐ MẸ NHẬN ĐƯỢC GÌ</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5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7</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học giỏi hơn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Con yếu đâu — được kèm đúng đó. </a:t>
            </a:r>
            <a:pPr indent="0" marL="0">
              <a:buNone/>
            </a:pPr>
            <a:r>
              <a:rPr lang="en-US" sz="1600" dirty="0">
                <a:solidFill>
                  <a:srgbClr val="1F2A33"/>
                </a:solidFill>
                <a:latin typeface="Arial" pitchFamily="34" charset="0"/>
                <a:ea typeface="Arial" pitchFamily="34" charset="-122"/>
                <a:cs typeface="Arial" pitchFamily="34" charset="-120"/>
              </a:rPr>
              <a:t>Edupia theo dõi quá trình học của con để biết con đang chắc phần nào, còn yếu phần nào và ưu tiên cho con luyện đúng phần cần cải thiện.</a:t>
            </a:r>
            <a:endParaRPr lang="en-US" sz="1600" dirty="0"/>
          </a:p>
        </p:txBody>
      </p:sp>
      <p:sp>
        <p:nvSpPr>
          <p:cNvPr id="10" name="Text 8"/>
          <p:cNvSpPr/>
          <p:nvPr/>
        </p:nvSpPr>
        <p:spPr>
          <a:xfrm>
            <a:off x="502920" y="238658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nhận được:</a:t>
            </a:r>
            <a:endParaRPr lang="en-US" sz="1600" dirty="0"/>
          </a:p>
        </p:txBody>
      </p:sp>
      <p:sp>
        <p:nvSpPr>
          <p:cNvPr id="11" name="Text 9"/>
          <p:cNvSpPr/>
          <p:nvPr/>
        </p:nvSpPr>
        <p:spPr>
          <a:xfrm>
            <a:off x="502920" y="2807208"/>
            <a:ext cx="1114013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Học đúng phần mình đang thiếu.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Không phải học lại lan man những phần đã biết.</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tập được điều chỉnh theo khả năng.</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cơ hội củng cố kiến thức ngay khi vừa phát hiện lỗ hổng.</a:t>
            </a:r>
            <a:endParaRPr lang="en-US" sz="1600" dirty="0"/>
          </a:p>
        </p:txBody>
      </p:sp>
      <p:sp>
        <p:nvSpPr>
          <p:cNvPr id="12" name="Shape 10"/>
          <p:cNvSpPr/>
          <p:nvPr/>
        </p:nvSpPr>
        <p:spPr>
          <a:xfrm>
            <a:off x="502920" y="4581144"/>
            <a:ext cx="54864" cy="493776"/>
          </a:xfrm>
          <a:prstGeom prst="rect">
            <a:avLst/>
          </a:prstGeom>
          <a:solidFill>
            <a:srgbClr val="A5BE00"/>
          </a:solidFill>
          <a:ln/>
        </p:spPr>
      </p:sp>
      <p:sp>
        <p:nvSpPr>
          <p:cNvPr id="13" name="Text 11"/>
          <p:cNvSpPr/>
          <p:nvPr/>
        </p:nvSpPr>
        <p:spPr>
          <a:xfrm>
            <a:off x="731520" y="4581144"/>
            <a:ext cx="10911535" cy="493776"/>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biết con đang yếu ở đâu và thấy được quá trình con tiến bộ.</a:t>
            </a:r>
            <a:endParaRPr lang="en-US" sz="1600" dirty="0"/>
          </a:p>
        </p:txBody>
      </p:sp>
      <p:sp>
        <p:nvSpPr>
          <p:cNvPr id="14" name="Text 12"/>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6 / 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8</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được học với giáo viên giỏi</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96926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Cô giáo giỏi vẫn là người dẫn dắt con — AI giúp cô theo sát con hơn. </a:t>
            </a:r>
            <a:pPr indent="0" marL="0">
              <a:buNone/>
            </a:pPr>
            <a:r>
              <a:rPr lang="en-US" sz="1600" dirty="0">
                <a:solidFill>
                  <a:srgbClr val="1F2A33"/>
                </a:solidFill>
                <a:latin typeface="Arial" pitchFamily="34" charset="0"/>
                <a:ea typeface="Arial" pitchFamily="34" charset="-122"/>
                <a:cs typeface="Arial" pitchFamily="34" charset="-120"/>
              </a:rPr>
              <a:t>Con vẫn được học với giáo viên thật trong buổi học chính, theo chương trình bài bản. Phía sau đó, hệ thống hỗ trợ theo dõi kết quả của từng con để việc học được cá nhân hóa hơn.</a:t>
            </a:r>
            <a:endParaRPr lang="en-US" sz="1600" dirty="0"/>
          </a:p>
        </p:txBody>
      </p:sp>
      <p:sp>
        <p:nvSpPr>
          <p:cNvPr id="10" name="Text 8"/>
          <p:cNvSpPr/>
          <p:nvPr/>
        </p:nvSpPr>
        <p:spPr>
          <a:xfrm>
            <a:off x="502920" y="266090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nhận được:</a:t>
            </a:r>
            <a:endParaRPr lang="en-US" sz="1600" dirty="0"/>
          </a:p>
        </p:txBody>
      </p:sp>
      <p:sp>
        <p:nvSpPr>
          <p:cNvPr id="11" name="Text 9"/>
          <p:cNvSpPr/>
          <p:nvPr/>
        </p:nvSpPr>
        <p:spPr>
          <a:xfrm>
            <a:off x="502920" y="3081528"/>
            <a:ext cx="1114013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học theo chương trình có giáo viên hướng dẫn.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giải thích và sửa những phần chưa hiểu.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thêm người kèm riêng khi cần.</a:t>
            </a:r>
            <a:endParaRPr lang="en-US" sz="1600" dirty="0"/>
          </a:p>
        </p:txBody>
      </p:sp>
      <p:sp>
        <p:nvSpPr>
          <p:cNvPr id="12" name="Shape 10"/>
          <p:cNvSpPr/>
          <p:nvPr/>
        </p:nvSpPr>
        <p:spPr>
          <a:xfrm>
            <a:off x="502920" y="4489704"/>
            <a:ext cx="54864" cy="786384"/>
          </a:xfrm>
          <a:prstGeom prst="rect">
            <a:avLst/>
          </a:prstGeom>
          <a:solidFill>
            <a:srgbClr val="A5BE00"/>
          </a:solidFill>
          <a:ln/>
        </p:spPr>
      </p:sp>
      <p:sp>
        <p:nvSpPr>
          <p:cNvPr id="13" name="Text 11"/>
          <p:cNvSpPr/>
          <p:nvPr/>
        </p:nvSpPr>
        <p:spPr>
          <a:xfrm>
            <a:off x="731520" y="4489704"/>
            <a:ext cx="1091153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không phải lựa chọn giữa "lớp học có giáo viên giỏi" và "được kèm riêng" — Edupia kết hợp cả hai.</a:t>
            </a:r>
            <a:endParaRPr lang="en-US" sz="1600" dirty="0"/>
          </a:p>
        </p:txBody>
      </p:sp>
      <p:sp>
        <p:nvSpPr>
          <p:cNvPr id="14" name="Text 12"/>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7 / 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9</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thích học hơn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Học vừa sức — biết mình đang tiến bộ — nên con có động lực học tiếp. </a:t>
            </a:r>
            <a:pPr indent="0" marL="0">
              <a:buNone/>
            </a:pPr>
            <a:r>
              <a:rPr lang="en-US" sz="1600" dirty="0">
                <a:solidFill>
                  <a:srgbClr val="1F2A33"/>
                </a:solidFill>
                <a:latin typeface="Arial" pitchFamily="34" charset="0"/>
                <a:ea typeface="Arial" pitchFamily="34" charset="-122"/>
                <a:cs typeface="Arial" pitchFamily="34" charset="-120"/>
              </a:rPr>
              <a:t>Thay vì giao cùng một lượng bài cho tất cả học sinh, hệ thống điều chỉnh nội dung theo khả năng và kết quả của từng con.</a:t>
            </a:r>
            <a:endParaRPr lang="en-US" sz="1600" dirty="0"/>
          </a:p>
        </p:txBody>
      </p:sp>
      <p:sp>
        <p:nvSpPr>
          <p:cNvPr id="10" name="Text 8"/>
          <p:cNvSpPr/>
          <p:nvPr/>
        </p:nvSpPr>
        <p:spPr>
          <a:xfrm>
            <a:off x="502920" y="238658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nhận được:</a:t>
            </a:r>
            <a:endParaRPr lang="en-US" sz="1600" dirty="0"/>
          </a:p>
        </p:txBody>
      </p:sp>
      <p:sp>
        <p:nvSpPr>
          <p:cNvPr id="11" name="Text 9"/>
          <p:cNvSpPr/>
          <p:nvPr/>
        </p:nvSpPr>
        <p:spPr>
          <a:xfrm>
            <a:off x="502920" y="2807208"/>
            <a:ext cx="11140135" cy="19568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tập vừa sức.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Làm tốt được nâng độ khó.</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Chưa tốt được luyện lại.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nhiều hoạt động khác nhau: học, luyện nói, câu lạc bộ, thử thách.</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Nhìn thấy thành quả của chính mình trong quá trình học.</a:t>
            </a:r>
            <a:endParaRPr lang="en-US" sz="1600" dirty="0"/>
          </a:p>
        </p:txBody>
      </p:sp>
      <p:sp>
        <p:nvSpPr>
          <p:cNvPr id="12" name="Shape 10"/>
          <p:cNvSpPr/>
          <p:nvPr/>
        </p:nvSpPr>
        <p:spPr>
          <a:xfrm>
            <a:off x="502920" y="4946904"/>
            <a:ext cx="54864" cy="493776"/>
          </a:xfrm>
          <a:prstGeom prst="rect">
            <a:avLst/>
          </a:prstGeom>
          <a:solidFill>
            <a:srgbClr val="A5BE00"/>
          </a:solidFill>
          <a:ln/>
        </p:spPr>
      </p:sp>
      <p:sp>
        <p:nvSpPr>
          <p:cNvPr id="13" name="Text 11"/>
          <p:cNvSpPr/>
          <p:nvPr/>
        </p:nvSpPr>
        <p:spPr>
          <a:xfrm>
            <a:off x="731520" y="4946904"/>
            <a:ext cx="10911535" cy="493776"/>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bớt phải ép, bớt phải nhắc con học mỗi ngày.</a:t>
            </a:r>
            <a:endParaRPr lang="en-US" sz="1600" dirty="0"/>
          </a:p>
        </p:txBody>
      </p:sp>
      <p:sp>
        <p:nvSpPr>
          <p:cNvPr id="14" name="Text 12"/>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8 / 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10</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Bố mẹ yên tâm giao phó con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Có người theo sát con — bố mẹ không phải tự mình quản lý việc học. </a:t>
            </a:r>
            <a:pPr indent="0" marL="0">
              <a:buNone/>
            </a:pPr>
            <a:r>
              <a:rPr lang="en-US" sz="1600" dirty="0">
                <a:solidFill>
                  <a:srgbClr val="1F2A33"/>
                </a:solidFill>
                <a:latin typeface="Arial" pitchFamily="34" charset="0"/>
                <a:ea typeface="Arial" pitchFamily="34" charset="-122"/>
                <a:cs typeface="Arial" pitchFamily="34" charset="-120"/>
              </a:rPr>
              <a:t>Giáo viên chủ nhiệm theo dõi quá trình học, hệ thống ghi nhận hoạt động và kết quả của con, đồng thời bố mẹ có thể xem tình hình học tập qua sổ liên lạc điện tử.</a:t>
            </a:r>
            <a:endParaRPr lang="en-US" sz="1600" dirty="0"/>
          </a:p>
        </p:txBody>
      </p:sp>
      <p:sp>
        <p:nvSpPr>
          <p:cNvPr id="10" name="Text 8"/>
          <p:cNvSpPr/>
          <p:nvPr/>
        </p:nvSpPr>
        <p:spPr>
          <a:xfrm>
            <a:off x="502920" y="238658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nhận được:</a:t>
            </a:r>
            <a:endParaRPr lang="en-US" sz="1600" dirty="0"/>
          </a:p>
        </p:txBody>
      </p:sp>
      <p:sp>
        <p:nvSpPr>
          <p:cNvPr id="11" name="Text 9"/>
          <p:cNvSpPr/>
          <p:nvPr/>
        </p:nvSpPr>
        <p:spPr>
          <a:xfrm>
            <a:off x="502920" y="2807208"/>
            <a:ext cx="1114013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người nhắc nhở và hỗ trợ khi cần.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theo dõi xuyên suốt quá trình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Không dễ bị bỏ lại phía sau khi gặp khó khăn.</a:t>
            </a:r>
            <a:endParaRPr lang="en-US" sz="1600" dirty="0"/>
          </a:p>
        </p:txBody>
      </p:sp>
      <p:sp>
        <p:nvSpPr>
          <p:cNvPr id="12" name="Text 10"/>
          <p:cNvSpPr/>
          <p:nvPr/>
        </p:nvSpPr>
        <p:spPr>
          <a:xfrm>
            <a:off x="502920" y="421538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Bố mẹ nhận được:</a:t>
            </a:r>
            <a:endParaRPr lang="en-US" sz="1600" dirty="0"/>
          </a:p>
        </p:txBody>
      </p:sp>
      <p:sp>
        <p:nvSpPr>
          <p:cNvPr id="13" name="Text 11"/>
          <p:cNvSpPr/>
          <p:nvPr/>
        </p:nvSpPr>
        <p:spPr>
          <a:xfrm>
            <a:off x="502920" y="4636008"/>
            <a:ext cx="1114013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Biết con có đi học, học gì và tiến bộ thế nào.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người đồng hành cùng gia đình.</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Không cần ngồi cạnh con mỗi ngày để kiểm tra từng bài.</a:t>
            </a:r>
            <a:endParaRPr lang="en-US" sz="1600" dirty="0"/>
          </a:p>
        </p:txBody>
      </p:sp>
      <p:sp>
        <p:nvSpPr>
          <p:cNvPr id="14" name="Text 12"/>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9 / 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10</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Bố mẹ yên tâm giao phó con (tiếp)</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Shape 7"/>
          <p:cNvSpPr/>
          <p:nvPr/>
        </p:nvSpPr>
        <p:spPr>
          <a:xfrm>
            <a:off x="502920" y="1508760"/>
            <a:ext cx="54864" cy="493776"/>
          </a:xfrm>
          <a:prstGeom prst="rect">
            <a:avLst/>
          </a:prstGeom>
          <a:solidFill>
            <a:srgbClr val="A5BE00"/>
          </a:solidFill>
          <a:ln/>
        </p:spPr>
      </p:sp>
      <p:sp>
        <p:nvSpPr>
          <p:cNvPr id="10" name="Text 8"/>
          <p:cNvSpPr/>
          <p:nvPr/>
        </p:nvSpPr>
        <p:spPr>
          <a:xfrm>
            <a:off x="731520" y="1508760"/>
            <a:ext cx="10911535" cy="493776"/>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giao việc học cho Edupia, nhưng vẫn luôn biết con đang học thế nào."</a:t>
            </a:r>
            <a:endParaRPr lang="en-US" sz="1600" dirty="0"/>
          </a:p>
        </p:txBody>
      </p:sp>
      <p:sp>
        <p:nvSpPr>
          <p:cNvPr id="11" name="Text 9"/>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10 / 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11</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tự tin nói tiếng Anh</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Con được nói thường xuyên — nói sai được sửa — nói nhiều sẽ tự tin hơn. </a:t>
            </a:r>
            <a:pPr indent="0" marL="0">
              <a:buNone/>
            </a:pPr>
            <a:r>
              <a:rPr lang="en-US" sz="1600" dirty="0">
                <a:solidFill>
                  <a:srgbClr val="1F2A33"/>
                </a:solidFill>
                <a:latin typeface="Arial" pitchFamily="34" charset="0"/>
                <a:ea typeface="Arial" pitchFamily="34" charset="-122"/>
                <a:cs typeface="Arial" pitchFamily="34" charset="-120"/>
              </a:rPr>
              <a:t>Edupia tạo môi trường để con luyện nói với AI thông qua các tình huống gần với thực tế.</a:t>
            </a:r>
            <a:endParaRPr lang="en-US" sz="1600" dirty="0"/>
          </a:p>
        </p:txBody>
      </p:sp>
      <p:sp>
        <p:nvSpPr>
          <p:cNvPr id="10" name="Text 8"/>
          <p:cNvSpPr/>
          <p:nvPr/>
        </p:nvSpPr>
        <p:spPr>
          <a:xfrm>
            <a:off x="502920" y="238658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nhận được:</a:t>
            </a:r>
            <a:endParaRPr lang="en-US" sz="1600" dirty="0"/>
          </a:p>
        </p:txBody>
      </p:sp>
      <p:sp>
        <p:nvSpPr>
          <p:cNvPr id="11" name="Text 9"/>
          <p:cNvSpPr/>
          <p:nvPr/>
        </p:nvSpPr>
        <p:spPr>
          <a:xfrm>
            <a:off x="502920" y="2807208"/>
            <a:ext cx="11140135" cy="19568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nói thường xuyên mà không sợ bị đánh giá.</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gợi ý khi chưa biết nói gì.</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Được sửa lỗi phát âm và cách nói.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Luyện từ câu đơn giản đến hội thoại thực tế.</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Nội dung luyện nói phù hợp với trình độ và phần con đang cần cải thiện.</a:t>
            </a:r>
            <a:endParaRPr lang="en-US" sz="1600" dirty="0"/>
          </a:p>
        </p:txBody>
      </p:sp>
      <p:sp>
        <p:nvSpPr>
          <p:cNvPr id="12" name="Shape 10"/>
          <p:cNvSpPr/>
          <p:nvPr/>
        </p:nvSpPr>
        <p:spPr>
          <a:xfrm>
            <a:off x="502920" y="4946904"/>
            <a:ext cx="54864" cy="786384"/>
          </a:xfrm>
          <a:prstGeom prst="rect">
            <a:avLst/>
          </a:prstGeom>
          <a:solidFill>
            <a:srgbClr val="A5BE00"/>
          </a:solidFill>
          <a:ln/>
        </p:spPr>
      </p:sp>
      <p:sp>
        <p:nvSpPr>
          <p:cNvPr id="13" name="Text 11"/>
          <p:cNvSpPr/>
          <p:nvPr/>
        </p:nvSpPr>
        <p:spPr>
          <a:xfrm>
            <a:off x="731520" y="4946904"/>
            <a:ext cx="10911535" cy="786384"/>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Bố mẹ nhận được: không chỉ thấy con làm bài tốt hơn, mà còn thấy con dám nói tiếng Anh.</a:t>
            </a:r>
            <a:endParaRPr lang="en-US" sz="1600" dirty="0"/>
          </a:p>
        </p:txBody>
      </p:sp>
      <p:sp>
        <p:nvSpPr>
          <p:cNvPr id="14" name="Text 12"/>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11 / 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12</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5 điều bố mẹ mong muốn → 5 giá trị Edupia mang lại</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40135" cy="914400"/>
        </p:xfrm>
        <a:graphic>
          <a:graphicData uri="http://schemas.openxmlformats.org/drawingml/2006/table">
            <a:tbl>
              <a:tblPr/>
              <a:tblGrid>
                <a:gridCol w="5486400"/>
                <a:gridCol w="615391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Bố mẹ mong muốn</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giúp con</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1. Con học giỏi</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Học đúng chỗ yếu, được kèm và luyện đến khi chắc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2. Con học với GV giỏi</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Giáo viên thật dẫn dắt + AI hỗ trợ theo sát từng con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3. Con thích học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Học vừa sức, thấy tiến bộ, nhiều hoạt động để duy trì động lực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4. Yên tâm giao phó con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Giáo viên chủ nhiệm + hệ thống theo dõi + sổ liên lạc điện tử</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5. Con tự tin nói tiếng Anh</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Luyện nói thường xuyên, được sửa và thực hành tình huống thực tế</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bl>
          </a:graphicData>
        </a:graphic>
      </p:graphicFrame>
      <p:sp>
        <p:nvSpPr>
          <p:cNvPr id="10" name="Text 7"/>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12 / 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12</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5 điều bố mẹ mong muốn → 5 giá trị Edupia mang lại (tiếp)</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Shape 7"/>
          <p:cNvSpPr/>
          <p:nvPr/>
        </p:nvSpPr>
        <p:spPr>
          <a:xfrm>
            <a:off x="502920" y="1508760"/>
            <a:ext cx="54864" cy="1078992"/>
          </a:xfrm>
          <a:prstGeom prst="rect">
            <a:avLst/>
          </a:prstGeom>
          <a:solidFill>
            <a:srgbClr val="A5BE00"/>
          </a:solidFill>
          <a:ln/>
        </p:spPr>
      </p:sp>
      <p:sp>
        <p:nvSpPr>
          <p:cNvPr id="10" name="Text 8"/>
          <p:cNvSpPr/>
          <p:nvPr/>
        </p:nvSpPr>
        <p:spPr>
          <a:xfrm>
            <a:off x="731520" y="1508760"/>
            <a:ext cx="10911535" cy="1078992"/>
          </a:xfrm>
          <a:prstGeom prst="rect">
            <a:avLst/>
          </a:prstGeom>
          <a:noFill/>
          <a:ln/>
        </p:spPr>
        <p:txBody>
          <a:bodyPr wrap="square" rtlCol="0" anchor="ctr"/>
          <a:lstStyle/>
          <a:p>
            <a:pPr indent="0" marL="0">
              <a:buNone/>
            </a:pPr>
            <a:r>
              <a:rPr lang="en-US" sz="1600" i="1" dirty="0">
                <a:solidFill>
                  <a:srgbClr val="004671"/>
                </a:solidFill>
                <a:latin typeface="Arial" pitchFamily="34" charset="0"/>
                <a:ea typeface="Arial" pitchFamily="34" charset="-122"/>
                <a:cs typeface="Arial" pitchFamily="34" charset="-120"/>
              </a:rPr>
              <a:t>Thông điệp chốt: Bố mẹ không mua thêm một ứng dụng học tiếng Anh. Bố mẹ mua một cách để con học tốt hơn, được thầy cô giỏi dẫn dắt, thích học hơn, được theo sát và tự tin sử dụng tiếng Anh.</a:t>
            </a:r>
            <a:endParaRPr lang="en-US" sz="1600" dirty="0"/>
          </a:p>
        </p:txBody>
      </p:sp>
      <p:sp>
        <p:nvSpPr>
          <p:cNvPr id="11" name="Text 9"/>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13 / 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13</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So với những lựa chọn bố mẹ đang có</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40135" cy="914400"/>
        </p:xfrm>
        <a:graphic>
          <a:graphicData uri="http://schemas.openxmlformats.org/drawingml/2006/table">
            <a:tbl>
              <a:tblPr/>
              <a:tblGrid>
                <a:gridCol w="2743200"/>
                <a:gridCol w="2194560"/>
                <a:gridCol w="2194560"/>
                <a:gridCol w="2194560"/>
                <a:gridCol w="185623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Điều bố mẹ cần</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App tự học</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AI Class</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Gia sư người thật</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Edupia AI Class Plus</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Có giáo viên thật</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Không</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Có</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Có</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Có — giữ nguyên buổi học chính</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Biết con yếu chỗ nào</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Hạn chế</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Biết chung theo lớp</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Tuỳ gia sư</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Theo sát từng phần con đang yếu</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Có cách theo dõi tiến bộ</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Hạn chế</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Chung theo lớp</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Tuỳ gia sư</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Bố mẹ theo dõi được trong một nơi</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Bố mẹ phải tự kèm</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Nhiều</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Một phần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Ít</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Ít hơn — hệ thống tự giao bài, giáo viên chủ nhiệm đồng hành</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Chi phí/tháng</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60–200k</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~250k</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Vài triệu</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~390–400k</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bl>
          </a:graphicData>
        </a:graphic>
      </p:graphicFrame>
      <p:sp>
        <p:nvSpPr>
          <p:cNvPr id="10" name="Text 7"/>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14 / 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13</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So với những lựa chọn bố mẹ đang có (tiếp)</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Shape 7"/>
          <p:cNvSpPr/>
          <p:nvPr/>
        </p:nvSpPr>
        <p:spPr>
          <a:xfrm>
            <a:off x="502920" y="1508760"/>
            <a:ext cx="11140135" cy="1133856"/>
          </a:xfrm>
          <a:prstGeom prst="rect">
            <a:avLst/>
          </a:prstGeom>
          <a:solidFill>
            <a:srgbClr val="F1F5DE"/>
          </a:solidFill>
          <a:ln/>
        </p:spPr>
      </p:sp>
      <p:sp>
        <p:nvSpPr>
          <p:cNvPr id="10" name="Shape 8"/>
          <p:cNvSpPr/>
          <p:nvPr/>
        </p:nvSpPr>
        <p:spPr>
          <a:xfrm>
            <a:off x="502920" y="1508760"/>
            <a:ext cx="82296" cy="1133856"/>
          </a:xfrm>
          <a:prstGeom prst="rect">
            <a:avLst/>
          </a:prstGeom>
          <a:solidFill>
            <a:srgbClr val="A5BE00"/>
          </a:solidFill>
          <a:ln/>
        </p:spPr>
      </p:sp>
      <p:sp>
        <p:nvSpPr>
          <p:cNvPr id="11" name="Text 9"/>
          <p:cNvSpPr/>
          <p:nvPr/>
        </p:nvSpPr>
        <p:spPr>
          <a:xfrm>
            <a:off x="777240" y="1618488"/>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2" name="Text 10"/>
          <p:cNvSpPr/>
          <p:nvPr/>
        </p:nvSpPr>
        <p:spPr>
          <a:xfrm>
            <a:off x="777240" y="1892808"/>
            <a:ext cx="10682935" cy="676656"/>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"AI Class Plus không thay cô giáo và cũng không bắt con học thêm một đống buổi. Điểm mới là con được theo sát cá nhân hơn — biết yếu đâu thì sửa đúng đó."</a:t>
            </a:r>
            <a:endParaRPr lang="en-US" sz="1600" dirty="0"/>
          </a:p>
        </p:txBody>
      </p:sp>
      <p:sp>
        <p:nvSpPr>
          <p:cNvPr id="13" name="Text 11"/>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15 / 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p:spPr>
      </p:sp>
      <p:sp>
        <p:nvSpPr>
          <p:cNvPr id="3" name="Shape 1"/>
          <p:cNvSpPr/>
          <p:nvPr/>
        </p:nvSpPr>
        <p:spPr>
          <a:xfrm>
            <a:off x="0" y="0"/>
            <a:ext cx="12191695" cy="118872"/>
          </a:xfrm>
          <a:prstGeom prst="rect">
            <a:avLst/>
          </a:prstGeom>
          <a:solidFill>
            <a:srgbClr val="A5BE00"/>
          </a:solidFill>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05</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MỘT TUẦN CON SẼ HỌC NHƯ THẾ NÀO</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5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14</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không cần học thêm một lịch mới</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dirty="0">
                <a:solidFill>
                  <a:srgbClr val="1F2A33"/>
                </a:solidFill>
                <a:latin typeface="Arial" pitchFamily="34" charset="0"/>
                <a:ea typeface="Arial" pitchFamily="34" charset="-122"/>
                <a:cs typeface="Arial" pitchFamily="34" charset="-120"/>
              </a:rPr>
              <a:t>Con vẫn học các buổi như hiện tại — nhưng mỗi hoạt động đều được nối với phần con đang cần cải thiện.</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386584"/>
          <a:ext cx="11140135" cy="914400"/>
        </p:xfrm>
        <a:graphic>
          <a:graphicData uri="http://schemas.openxmlformats.org/drawingml/2006/table">
            <a:tbl>
              <a:tblPr/>
              <a:tblGrid>
                <a:gridCol w="2926080"/>
                <a:gridCol w="2926080"/>
                <a:gridCol w="5330952"/>
              </a:tblGrid>
              <a:tr h="0">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Hoạt động</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Tần suất</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450" b="1" dirty="0">
                          <a:solidFill>
                            <a:srgbClr val="FFFFFF"/>
                          </a:solidFill>
                          <a:latin typeface="Arial" pitchFamily="34" charset="0"/>
                          <a:ea typeface="Arial" pitchFamily="34" charset="-122"/>
                          <a:cs typeface="Arial" pitchFamily="34" charset="-120"/>
                        </a:rPr>
                        <a:t>Con được gì</a:t>
                      </a:r>
                      <a:endParaRPr lang="en-US" sz="14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Buổi học chính</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2 buổi/tuần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Cô giáo thật dạy theo chương trình, nhận ra con đang vướng ở đâu</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Kèm riêng 30 phút cuối buổi</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Khi con cần</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Nếu con chưa theo kịp, được kèm 1-1 với AI ngay lúc đó</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Bài tập về nhà</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Sau mỗi buổi</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Được giao đúng phần cần luyện, bài vừa sức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Phòng luyện nói cùng AI</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Mỗi ngày, tối đa 1 giờ</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Luyện nói thường xuyên theo đúng trình độ và phần cần củng cố</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0">
                <a:tc>
                  <a:txBody>
                    <a:bodyPr/>
                    <a:lstStyle/>
                    <a:p>
                      <a:pPr algn="l" indent="0" marL="0">
                        <a:buNone/>
                      </a:pPr>
                      <a:r>
                        <a:rPr lang="en-US" sz="1400" b="1" dirty="0">
                          <a:solidFill>
                            <a:srgbClr val="004671"/>
                          </a:solidFill>
                          <a:latin typeface="Arial" pitchFamily="34" charset="0"/>
                          <a:ea typeface="Arial" pitchFamily="34" charset="-122"/>
                          <a:cs typeface="Arial" pitchFamily="34" charset="-120"/>
                        </a:rPr>
                        <a:t>Câu lạc bộ</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Ngoại khoá</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Tăng tự tin, kỹ năng xã hội và gắn với nội dung đang học</a:t>
                      </a:r>
                      <a:endParaRPr lang="en-US" sz="1400" dirty="0">
                        <a:latin typeface="Arial" charset="0"/>
                        <a:ea typeface="Arial" charset="0"/>
                        <a:cs typeface="Arial" charset="0"/>
                      </a:endParaRPr>
                    </a:p>
                  </a:txBody>
                  <a:tcPr marL="91440" marR="91440" marT="45720" marB="45720" anchor="t">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bl>
          </a:graphicData>
        </a:graphic>
      </p:graphicFrame>
      <p:sp>
        <p:nvSpPr>
          <p:cNvPr id="11" name="Text 8"/>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16 / 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14</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không cần học thêm một lịch mới (tiếp)</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420624"/>
          </a:xfrm>
          <a:prstGeom prst="rect">
            <a:avLst/>
          </a:prstGeom>
          <a:noFill/>
          <a:ln/>
        </p:spPr>
        <p:txBody>
          <a:bodyPr wrap="square" rtlCol="0" anchor="t"/>
          <a:lstStyle/>
          <a:p>
            <a:pPr indent="0" marL="0">
              <a:buNone/>
            </a:pPr>
            <a:r>
              <a:rPr lang="en-US" sz="1600" dirty="0">
                <a:solidFill>
                  <a:srgbClr val="1F2A33"/>
                </a:solidFill>
                <a:latin typeface="Arial" pitchFamily="34" charset="0"/>
                <a:ea typeface="Arial" pitchFamily="34" charset="-122"/>
                <a:cs typeface="Arial" pitchFamily="34" charset="-120"/>
              </a:rPr>
              <a:t>Cộng thêm: Giáo viên chủ nhiệm và sổ liên lạc điện tử đồng hành xuyên suốt.</a:t>
            </a:r>
            <a:endParaRPr lang="en-US" sz="1600" dirty="0"/>
          </a:p>
        </p:txBody>
      </p:sp>
      <p:sp>
        <p:nvSpPr>
          <p:cNvPr id="10" name="Shape 8"/>
          <p:cNvSpPr/>
          <p:nvPr/>
        </p:nvSpPr>
        <p:spPr>
          <a:xfrm>
            <a:off x="502920" y="2112264"/>
            <a:ext cx="11140135" cy="1426464"/>
          </a:xfrm>
          <a:prstGeom prst="rect">
            <a:avLst/>
          </a:prstGeom>
          <a:solidFill>
            <a:srgbClr val="F1F5DE"/>
          </a:solidFill>
          <a:ln/>
        </p:spPr>
      </p:sp>
      <p:sp>
        <p:nvSpPr>
          <p:cNvPr id="11" name="Shape 9"/>
          <p:cNvSpPr/>
          <p:nvPr/>
        </p:nvSpPr>
        <p:spPr>
          <a:xfrm>
            <a:off x="502920" y="2112264"/>
            <a:ext cx="82296" cy="1426464"/>
          </a:xfrm>
          <a:prstGeom prst="rect">
            <a:avLst/>
          </a:prstGeom>
          <a:solidFill>
            <a:srgbClr val="A5BE00"/>
          </a:solidFill>
          <a:ln/>
        </p:spPr>
      </p:sp>
      <p:sp>
        <p:nvSpPr>
          <p:cNvPr id="12" name="Text 10"/>
          <p:cNvSpPr/>
          <p:nvPr/>
        </p:nvSpPr>
        <p:spPr>
          <a:xfrm>
            <a:off x="777240" y="2221992"/>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3" name="Text 11"/>
          <p:cNvSpPr/>
          <p:nvPr/>
        </p:nvSpPr>
        <p:spPr>
          <a:xfrm>
            <a:off x="777240" y="2496312"/>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"Bố mẹ không phải sắp xếp thêm một lịch học mới cho con. Con vẫn học như hiện tại, chỉ là ở mỗi bước đều có hệ thống theo sát để biết con đang cần gì và hỗ trợ đúng lúc."</a:t>
            </a:r>
            <a:endParaRPr lang="en-US" sz="1600" dirty="0"/>
          </a:p>
        </p:txBody>
      </p:sp>
      <p:sp>
        <p:nvSpPr>
          <p:cNvPr id="14" name="Text 12"/>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17 / 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15</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"Người kèm riêng" theo sát con như thế nào?</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548640"/>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Không phải con học một bài giống nhau rồi thôi. Edupia theo dõi rất chi tiết từng phần nhỏ trong chương trình tiếng Anh:</a:t>
            </a:r>
            <a:endParaRPr lang="en-US" sz="1600" dirty="0"/>
          </a:p>
        </p:txBody>
      </p:sp>
      <p:sp>
        <p:nvSpPr>
          <p:cNvPr id="10" name="Text 8"/>
          <p:cNvSpPr/>
          <p:nvPr/>
        </p:nvSpPr>
        <p:spPr>
          <a:xfrm>
            <a:off x="502920" y="2185416"/>
            <a:ext cx="1114013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có hồ sơ học tập riêng, cập nhật theo quá trình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Hệ thống nhận ra con đang chắc phần nào, còn yếu phần nào.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Từ đó chọn bài học và bài luyện phù hợp với chính con.</a:t>
            </a:r>
            <a:endParaRPr lang="en-US" sz="1600" dirty="0"/>
          </a:p>
        </p:txBody>
      </p:sp>
      <p:sp>
        <p:nvSpPr>
          <p:cNvPr id="11" name="Text 9"/>
          <p:cNvSpPr/>
          <p:nvPr/>
        </p:nvSpPr>
        <p:spPr>
          <a:xfrm>
            <a:off x="502920" y="3593592"/>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Bằng chứng: </a:t>
            </a:r>
            <a:pPr indent="0" marL="0">
              <a:buNone/>
            </a:pPr>
            <a:r>
              <a:rPr lang="en-US" sz="1600" dirty="0">
                <a:solidFill>
                  <a:srgbClr val="1F2A33"/>
                </a:solidFill>
                <a:latin typeface="Arial" pitchFamily="34" charset="0"/>
                <a:ea typeface="Arial" pitchFamily="34" charset="-122"/>
                <a:cs typeface="Arial" pitchFamily="34" charset="-120"/>
              </a:rPr>
              <a:t>Edupia hiện đã chia chương trình tiếng Anh lớp 1–8 thành hơn 1.400 điểm kiến thức nhỏ để có thể theo dõi chi tiết.</a:t>
            </a:r>
            <a:endParaRPr lang="en-US" sz="1600" dirty="0"/>
          </a:p>
        </p:txBody>
      </p:sp>
      <p:sp>
        <p:nvSpPr>
          <p:cNvPr id="12" name="Shape 10"/>
          <p:cNvSpPr/>
          <p:nvPr/>
        </p:nvSpPr>
        <p:spPr>
          <a:xfrm>
            <a:off x="502920" y="4471416"/>
            <a:ext cx="11140135" cy="1133856"/>
          </a:xfrm>
          <a:prstGeom prst="rect">
            <a:avLst/>
          </a:prstGeom>
          <a:solidFill>
            <a:srgbClr val="F1F5DE"/>
          </a:solidFill>
          <a:ln/>
        </p:spPr>
      </p:sp>
      <p:sp>
        <p:nvSpPr>
          <p:cNvPr id="13" name="Shape 11"/>
          <p:cNvSpPr/>
          <p:nvPr/>
        </p:nvSpPr>
        <p:spPr>
          <a:xfrm>
            <a:off x="502920" y="4471416"/>
            <a:ext cx="82296" cy="1133856"/>
          </a:xfrm>
          <a:prstGeom prst="rect">
            <a:avLst/>
          </a:prstGeom>
          <a:solidFill>
            <a:srgbClr val="A5BE00"/>
          </a:solidFill>
          <a:ln/>
        </p:spPr>
      </p:sp>
      <p:sp>
        <p:nvSpPr>
          <p:cNvPr id="14" name="Text 12"/>
          <p:cNvSpPr/>
          <p:nvPr/>
        </p:nvSpPr>
        <p:spPr>
          <a:xfrm>
            <a:off x="777240" y="4581144"/>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5" name="Text 13"/>
          <p:cNvSpPr/>
          <p:nvPr/>
        </p:nvSpPr>
        <p:spPr>
          <a:xfrm>
            <a:off x="777240" y="4855464"/>
            <a:ext cx="10682935" cy="676656"/>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"Không phải chỉ biết con được 7 hay 8 điểm. Edupia cố gắng biết sâu hơn: con đang yếu đúng phần nào để còn sửa đúng phần đó."</a:t>
            </a:r>
            <a:endParaRPr lang="en-US" sz="1600" dirty="0"/>
          </a:p>
        </p:txBody>
      </p:sp>
      <p:sp>
        <p:nvSpPr>
          <p:cNvPr id="16" name="Text 14"/>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18 / 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16</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Buổi học chính: vẫn là cô giáo, nhưng được theo sát hơn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vẫn học với cô giáo tại đúng khung giờ cố định mỗi tuần:</a:t>
            </a:r>
            <a:endParaRPr lang="en-US" sz="1600" dirty="0"/>
          </a:p>
        </p:txBody>
      </p:sp>
      <p:sp>
        <p:nvSpPr>
          <p:cNvPr id="10" name="Text 8"/>
          <p:cNvSpPr/>
          <p:nvPr/>
        </p:nvSpPr>
        <p:spPr>
          <a:xfrm>
            <a:off x="502920" y="1929384"/>
            <a:ext cx="11140135" cy="14996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Đầu buổi: cô giáo gọi tên chào con bằng giọng thật.</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Trong buổi: cô khen ngợi khi con trả lời đúng và tương tác với con.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Cuối buổi: trợ giảng AI hỗ trợ nhận xét kết quả học tập của con và nhắc con làm bài tập về nhà.</a:t>
            </a:r>
            <a:endParaRPr lang="en-US" sz="1600" dirty="0"/>
          </a:p>
        </p:txBody>
      </p:sp>
      <p:sp>
        <p:nvSpPr>
          <p:cNvPr id="11" name="Shape 9"/>
          <p:cNvSpPr/>
          <p:nvPr/>
        </p:nvSpPr>
        <p:spPr>
          <a:xfrm>
            <a:off x="502920" y="3611880"/>
            <a:ext cx="11140135" cy="1426464"/>
          </a:xfrm>
          <a:prstGeom prst="rect">
            <a:avLst/>
          </a:prstGeom>
          <a:solidFill>
            <a:srgbClr val="F1F5DE"/>
          </a:solidFill>
          <a:ln/>
        </p:spPr>
      </p:sp>
      <p:sp>
        <p:nvSpPr>
          <p:cNvPr id="12" name="Shape 10"/>
          <p:cNvSpPr/>
          <p:nvPr/>
        </p:nvSpPr>
        <p:spPr>
          <a:xfrm>
            <a:off x="502920" y="3611880"/>
            <a:ext cx="82296" cy="1426464"/>
          </a:xfrm>
          <a:prstGeom prst="rect">
            <a:avLst/>
          </a:prstGeom>
          <a:solidFill>
            <a:srgbClr val="A5BE00"/>
          </a:solidFill>
          <a:ln/>
        </p:spPr>
      </p:sp>
      <p:sp>
        <p:nvSpPr>
          <p:cNvPr id="13" name="Text 11"/>
          <p:cNvSpPr/>
          <p:nvPr/>
        </p:nvSpPr>
        <p:spPr>
          <a:xfrm>
            <a:off x="777240" y="3721608"/>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4" name="Text 12"/>
          <p:cNvSpPr/>
          <p:nvPr/>
        </p:nvSpPr>
        <p:spPr>
          <a:xfrm>
            <a:off x="777240" y="3995928"/>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"Con vẫn học trực tuyến với cô giáo tại đúng khung giờ cố định mỗi tuần, giống một buổi phát sóng trực tiếp. Cô gọi tên và tương tác với con trong buổi học. Cuối buổi có trợ giảng AI nhận xét cụ thể hôm nay con học thế nào và nhắc con làm bài."</a:t>
            </a:r>
            <a:endParaRPr lang="en-US" sz="1600" dirty="0"/>
          </a:p>
        </p:txBody>
      </p:sp>
      <p:sp>
        <p:nvSpPr>
          <p:cNvPr id="15" name="Text 13"/>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19 / 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16</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Buổi học chính: vẫn là cô giáo, nhưng được theo sát hơn (tiếp)</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Shape 7"/>
          <p:cNvSpPr/>
          <p:nvPr/>
        </p:nvSpPr>
        <p:spPr>
          <a:xfrm>
            <a:off x="502920" y="1508760"/>
            <a:ext cx="11140135" cy="2706624"/>
          </a:xfrm>
          <a:prstGeom prst="rect">
            <a:avLst/>
          </a:prstGeom>
          <a:solidFill>
            <a:srgbClr val="FFF4E0"/>
          </a:solidFill>
          <a:ln/>
        </p:spPr>
      </p:sp>
      <p:sp>
        <p:nvSpPr>
          <p:cNvPr id="10" name="Shape 8"/>
          <p:cNvSpPr/>
          <p:nvPr/>
        </p:nvSpPr>
        <p:spPr>
          <a:xfrm>
            <a:off x="502920" y="1508760"/>
            <a:ext cx="82296" cy="2706624"/>
          </a:xfrm>
          <a:prstGeom prst="rect">
            <a:avLst/>
          </a:prstGeom>
          <a:solidFill>
            <a:srgbClr val="C97A00"/>
          </a:solidFill>
          <a:ln/>
        </p:spPr>
      </p:sp>
      <p:sp>
        <p:nvSpPr>
          <p:cNvPr id="11" name="Text 9"/>
          <p:cNvSpPr/>
          <p:nvPr/>
        </p:nvSpPr>
        <p:spPr>
          <a:xfrm>
            <a:off x="777240" y="1636776"/>
            <a:ext cx="10682935" cy="310896"/>
          </a:xfrm>
          <a:prstGeom prst="rect">
            <a:avLst/>
          </a:prstGeom>
          <a:noFill/>
          <a:ln/>
        </p:spPr>
        <p:txBody>
          <a:bodyPr wrap="square" rtlCol="0" anchor="ctr"/>
          <a:lstStyle/>
          <a:p>
            <a:pPr indent="0" marL="0">
              <a:buNone/>
            </a:pPr>
            <a:r>
              <a:rPr lang="en-US" sz="1400" b="1" dirty="0">
                <a:solidFill>
                  <a:srgbClr val="C97A00"/>
                </a:solidFill>
                <a:latin typeface="Arial" pitchFamily="34" charset="0"/>
                <a:ea typeface="Arial" pitchFamily="34" charset="-122"/>
                <a:cs typeface="Arial" pitchFamily="34" charset="-120"/>
              </a:rPr>
              <a:t>⚠ Lưu ý bắt buộc khi Sale tư vấn</a:t>
            </a:r>
            <a:endParaRPr lang="en-US" sz="1400" dirty="0"/>
          </a:p>
        </p:txBody>
      </p:sp>
      <p:sp>
        <p:nvSpPr>
          <p:cNvPr id="12" name="Text 10"/>
          <p:cNvSpPr/>
          <p:nvPr/>
        </p:nvSpPr>
        <p:spPr>
          <a:xfrm>
            <a:off x="777240" y="1984248"/>
            <a:ext cx="10682935" cy="2121408"/>
          </a:xfrm>
          <a:prstGeom prst="rect">
            <a:avLst/>
          </a:prstGeom>
          <a:noFill/>
          <a:ln/>
        </p:spPr>
        <p:txBody>
          <a:bodyPr wrap="square" rtlCol="0" anchor="t"/>
          <a:lstStyle/>
          <a:p>
            <a:pPr marL="228600" indent="-228600">
              <a:buSzPct val="100000"/>
              <a:buChar char="•"/>
            </a:pPr>
            <a:r>
              <a:rPr lang="en-US" sz="1400" dirty="0">
                <a:solidFill>
                  <a:srgbClr val="5C3D00"/>
                </a:solidFill>
                <a:latin typeface="Arial" pitchFamily="34" charset="0"/>
                <a:ea typeface="Arial" pitchFamily="34" charset="-122"/>
                <a:cs typeface="Arial" pitchFamily="34" charset="-120"/>
              </a:rPr>
              <a:t>Không gọi buổi học là "video quay sẵn".</a:t>
            </a:r>
            <a:endParaRPr lang="en-US" sz="1400" dirty="0"/>
          </a:p>
          <a:p>
            <a:pPr marL="228600" indent="-228600">
              <a:buSzPct val="100000"/>
              <a:buChar char="•"/>
            </a:pPr>
            <a:r>
              <a:rPr lang="en-US" sz="1400" dirty="0">
                <a:solidFill>
                  <a:srgbClr val="5C3D00"/>
                </a:solidFill>
                <a:latin typeface="Arial" pitchFamily="34" charset="0"/>
                <a:ea typeface="Arial" pitchFamily="34" charset="-122"/>
                <a:cs typeface="Arial" pitchFamily="34" charset="-120"/>
              </a:rPr>
              <a:t>Không nói cô giáo đang ngồi trước máy tính dạy trực tiếp nếu thực tế không phải vậy.</a:t>
            </a:r>
            <a:endParaRPr lang="en-US" sz="1400" dirty="0"/>
          </a:p>
          <a:p>
            <a:pPr marL="228600" indent="-228600">
              <a:buSzPct val="100000"/>
              <a:buChar char="•"/>
            </a:pPr>
            <a:r>
              <a:rPr lang="en-US" sz="1400" dirty="0">
                <a:solidFill>
                  <a:srgbClr val="5C3D00"/>
                </a:solidFill>
                <a:latin typeface="Arial" pitchFamily="34" charset="0"/>
                <a:ea typeface="Arial" pitchFamily="34" charset="-122"/>
                <a:cs typeface="Arial" pitchFamily="34" charset="-120"/>
              </a:rPr>
              <a:t>Nếu phụ huynh hỏi về phần nhận xét cuối buổi, phải nói rõ đó là trợ giảng AI, không phải cô giáo chính.</a:t>
            </a:r>
            <a:endParaRPr lang="en-US" sz="1400" dirty="0"/>
          </a:p>
          <a:p>
            <a:pPr marL="228600" indent="-228600">
              <a:buSzPct val="100000"/>
              <a:buChar char="•"/>
            </a:pPr>
            <a:r>
              <a:rPr lang="en-US" sz="1400" dirty="0">
                <a:solidFill>
                  <a:srgbClr val="5C3D00"/>
                </a:solidFill>
                <a:latin typeface="Arial" pitchFamily="34" charset="0"/>
                <a:ea typeface="Arial" pitchFamily="34" charset="-122"/>
                <a:cs typeface="Arial" pitchFamily="34" charset="-120"/>
              </a:rPr>
              <a:t>Luôn mô tả đúng bản chất sản phẩm, không tạo hiểu nhầm.</a:t>
            </a:r>
            <a:endParaRPr lang="en-US" sz="1400" dirty="0"/>
          </a:p>
        </p:txBody>
      </p:sp>
      <p:sp>
        <p:nvSpPr>
          <p:cNvPr id="13" name="Text 11"/>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20 / 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17</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Con chưa hiểu bài? Được kèm ngay trong buổi</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69494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Kèm riêng 30 phút cuối buổi: </a:t>
            </a:r>
            <a:pPr indent="0" marL="0">
              <a:buNone/>
            </a:pPr>
            <a:r>
              <a:rPr lang="en-US" sz="1600" dirty="0">
                <a:solidFill>
                  <a:srgbClr val="1F2A33"/>
                </a:solidFill>
                <a:latin typeface="Arial" pitchFamily="34" charset="0"/>
                <a:ea typeface="Arial" pitchFamily="34" charset="-122"/>
                <a:cs typeface="Arial" pitchFamily="34" charset="-120"/>
              </a:rPr>
              <a:t>nếu trong buổi học chính con chưa theo kịp, con được chuyển sang học riêng 1-1 với AI trong 30 phút cuối buổi để xử lý phần vừa hổng.</a:t>
            </a:r>
            <a:endParaRPr lang="en-US" sz="1600" dirty="0"/>
          </a:p>
        </p:txBody>
      </p:sp>
      <p:sp>
        <p:nvSpPr>
          <p:cNvPr id="10" name="Text 8"/>
          <p:cNvSpPr/>
          <p:nvPr/>
        </p:nvSpPr>
        <p:spPr>
          <a:xfrm>
            <a:off x="502920" y="2386584"/>
            <a:ext cx="11140135" cy="96926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Vì sao điều này quan trọng? </a:t>
            </a:r>
            <a:pPr indent="0" marL="0">
              <a:buNone/>
            </a:pPr>
            <a:r>
              <a:rPr lang="en-US" sz="1600" dirty="0">
                <a:solidFill>
                  <a:srgbClr val="1F2A33"/>
                </a:solidFill>
                <a:latin typeface="Arial" pitchFamily="34" charset="0"/>
                <a:ea typeface="Arial" pitchFamily="34" charset="-122"/>
                <a:cs typeface="Arial" pitchFamily="34" charset="-120"/>
              </a:rPr>
              <a:t>Con thường dễ nản nhất khi: Không hiểu bài → về nhà tự làm → không biết hỏi ai → bỏ cuộc. Edupia cố gắng xử lý ngay từ bước: Chưa hiểu → kèm ngay → hiểu bài → về nhà luyện tiếp.</a:t>
            </a:r>
            <a:endParaRPr lang="en-US" sz="1600" dirty="0"/>
          </a:p>
        </p:txBody>
      </p:sp>
      <p:sp>
        <p:nvSpPr>
          <p:cNvPr id="11" name="Shape 9"/>
          <p:cNvSpPr/>
          <p:nvPr/>
        </p:nvSpPr>
        <p:spPr>
          <a:xfrm>
            <a:off x="502920" y="3538728"/>
            <a:ext cx="11140135" cy="1426464"/>
          </a:xfrm>
          <a:prstGeom prst="rect">
            <a:avLst/>
          </a:prstGeom>
          <a:solidFill>
            <a:srgbClr val="F1F5DE"/>
          </a:solidFill>
          <a:ln/>
        </p:spPr>
      </p:sp>
      <p:sp>
        <p:nvSpPr>
          <p:cNvPr id="12" name="Shape 10"/>
          <p:cNvSpPr/>
          <p:nvPr/>
        </p:nvSpPr>
        <p:spPr>
          <a:xfrm>
            <a:off x="502920" y="3538728"/>
            <a:ext cx="82296" cy="1426464"/>
          </a:xfrm>
          <a:prstGeom prst="rect">
            <a:avLst/>
          </a:prstGeom>
          <a:solidFill>
            <a:srgbClr val="A5BE00"/>
          </a:solidFill>
          <a:ln/>
        </p:spPr>
      </p:sp>
      <p:sp>
        <p:nvSpPr>
          <p:cNvPr id="13" name="Text 11"/>
          <p:cNvSpPr/>
          <p:nvPr/>
        </p:nvSpPr>
        <p:spPr>
          <a:xfrm>
            <a:off x="777240" y="3648456"/>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4" name="Text 12"/>
          <p:cNvSpPr/>
          <p:nvPr/>
        </p:nvSpPr>
        <p:spPr>
          <a:xfrm>
            <a:off x="777240" y="3922776"/>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"Nếu trong buổi học con chưa theo kịp, con được kèm riêng ngay 30 phút cuối để xử lý phần chưa hiểu. Như vậy con không phải mang chỗ hổng đó về nhà rồi tự mò một mình."</a:t>
            </a:r>
            <a:endParaRPr lang="en-US" sz="1600" dirty="0"/>
          </a:p>
        </p:txBody>
      </p:sp>
      <p:sp>
        <p:nvSpPr>
          <p:cNvPr id="15" name="Text 13"/>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21 / 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18</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Bài tập về nhà: không giao một đống bài giống nhau cho tất cả</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được giao bài theo đúng phần mình cần luyện:</a:t>
            </a:r>
            <a:endParaRPr lang="en-US" sz="1600" dirty="0"/>
          </a:p>
        </p:txBody>
      </p:sp>
      <p:sp>
        <p:nvSpPr>
          <p:cNvPr id="10" name="Text 8"/>
          <p:cNvSpPr/>
          <p:nvPr/>
        </p:nvSpPr>
        <p:spPr>
          <a:xfrm>
            <a:off x="502920" y="1929384"/>
            <a:ext cx="11140135" cy="186537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Hệ thống chọn 1–2 phần con đang yếu để ưu tiên luyện.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Làm xong được chấm, chữa và giải thích ngay.</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Làm tốt thì bài khó dần; làm chưa tốt thì bài dễ lại.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tập có cả phần đang yếu, phần mới học và phần ôn lại để con không quên kiến thức cũ.</a:t>
            </a:r>
            <a:endParaRPr lang="en-US" sz="1600" dirty="0"/>
          </a:p>
        </p:txBody>
      </p:sp>
      <p:sp>
        <p:nvSpPr>
          <p:cNvPr id="11" name="Shape 9"/>
          <p:cNvSpPr/>
          <p:nvPr/>
        </p:nvSpPr>
        <p:spPr>
          <a:xfrm>
            <a:off x="502920" y="3977640"/>
            <a:ext cx="11140135" cy="1426464"/>
          </a:xfrm>
          <a:prstGeom prst="rect">
            <a:avLst/>
          </a:prstGeom>
          <a:solidFill>
            <a:srgbClr val="F1F5DE"/>
          </a:solidFill>
          <a:ln/>
        </p:spPr>
      </p:sp>
      <p:sp>
        <p:nvSpPr>
          <p:cNvPr id="12" name="Shape 10"/>
          <p:cNvSpPr/>
          <p:nvPr/>
        </p:nvSpPr>
        <p:spPr>
          <a:xfrm>
            <a:off x="502920" y="3977640"/>
            <a:ext cx="82296" cy="1426464"/>
          </a:xfrm>
          <a:prstGeom prst="rect">
            <a:avLst/>
          </a:prstGeom>
          <a:solidFill>
            <a:srgbClr val="A5BE00"/>
          </a:solidFill>
          <a:ln/>
        </p:spPr>
      </p:sp>
      <p:sp>
        <p:nvSpPr>
          <p:cNvPr id="13" name="Text 11"/>
          <p:cNvSpPr/>
          <p:nvPr/>
        </p:nvSpPr>
        <p:spPr>
          <a:xfrm>
            <a:off x="777240" y="4087368"/>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4" name="Text 12"/>
          <p:cNvSpPr/>
          <p:nvPr/>
        </p:nvSpPr>
        <p:spPr>
          <a:xfrm>
            <a:off x="777240" y="4361688"/>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"Bố mẹ không cần bắt con làm thật nhiều bài. Quan trọng là con làm đúng những phần con đang yếu. Làm tốt thì bài nâng dần, còn đang đuối thì hệ thống điều chỉnh để con vẫn học được."</a:t>
            </a:r>
            <a:endParaRPr lang="en-US" sz="1600" dirty="0"/>
          </a:p>
        </p:txBody>
      </p:sp>
      <p:sp>
        <p:nvSpPr>
          <p:cNvPr id="15" name="Text 13"/>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22 / 26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19</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Phòng luyện nói cùng AI: con được nói nhiều hơn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420624"/>
          </a:xfrm>
          <a:prstGeom prst="rect">
            <a:avLst/>
          </a:prstGeom>
          <a:noFill/>
          <a:ln/>
        </p:spPr>
        <p:txBody>
          <a:bodyPr wrap="square" rtlCol="0" anchor="t"/>
          <a:lstStyle/>
          <a:p>
            <a:pPr indent="0" marL="0">
              <a:buNone/>
            </a:pPr>
            <a:r>
              <a:rPr lang="en-US" sz="1600" b="1" dirty="0">
                <a:solidFill>
                  <a:srgbClr val="004671"/>
                </a:solidFill>
                <a:latin typeface="Arial" pitchFamily="34" charset="0"/>
                <a:ea typeface="Arial" pitchFamily="34" charset="-122"/>
                <a:cs typeface="Arial" pitchFamily="34" charset="-120"/>
              </a:rPr>
              <a:t>Con đi từ dễ đến khó: </a:t>
            </a:r>
            <a:pPr indent="0" marL="0">
              <a:buNone/>
            </a:pPr>
            <a:r>
              <a:rPr lang="en-US" sz="1600" dirty="0">
                <a:solidFill>
                  <a:srgbClr val="1F2A33"/>
                </a:solidFill>
                <a:latin typeface="Arial" pitchFamily="34" charset="0"/>
                <a:ea typeface="Arial" pitchFamily="34" charset="-122"/>
                <a:cs typeface="Arial" pitchFamily="34" charset="-120"/>
              </a:rPr>
              <a:t>Từ vựng → câu đơn → hội thoại tình huống thật. Ví dụ: mua sắm, du lịch, thể thao...</a:t>
            </a:r>
            <a:endParaRPr lang="en-US" sz="1600" dirty="0"/>
          </a:p>
        </p:txBody>
      </p:sp>
      <p:sp>
        <p:nvSpPr>
          <p:cNvPr id="10" name="Text 8"/>
          <p:cNvSpPr/>
          <p:nvPr/>
        </p:nvSpPr>
        <p:spPr>
          <a:xfrm>
            <a:off x="502920" y="2112264"/>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Con được gì?</a:t>
            </a:r>
            <a:endParaRPr lang="en-US" sz="1600" dirty="0"/>
          </a:p>
        </p:txBody>
      </p:sp>
      <p:sp>
        <p:nvSpPr>
          <p:cNvPr id="11" name="Text 9"/>
          <p:cNvSpPr/>
          <p:nvPr/>
        </p:nvSpPr>
        <p:spPr>
          <a:xfrm>
            <a:off x="502920" y="2532888"/>
            <a:ext cx="11140135" cy="195681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Chưa tự tin vẫn có thể bắt đầu vì có gợi ý câu trả lời.</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Nói sai chỗ nào được hướng dẫn sửa chỗ đó.</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giọng cô giáo hướng dẫn những lỗi phát âm cụ thể.</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Bài luyện được điều chỉnh theo 3 mức trình độ.</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Chủ đề luyện nói bám vào phần con đang cần củng cố.</a:t>
            </a:r>
            <a:endParaRPr lang="en-US" sz="1600" dirty="0"/>
          </a:p>
        </p:txBody>
      </p:sp>
      <p:sp>
        <p:nvSpPr>
          <p:cNvPr id="12" name="Shape 10"/>
          <p:cNvSpPr/>
          <p:nvPr/>
        </p:nvSpPr>
        <p:spPr>
          <a:xfrm>
            <a:off x="502920" y="4672584"/>
            <a:ext cx="11140135" cy="1426464"/>
          </a:xfrm>
          <a:prstGeom prst="rect">
            <a:avLst/>
          </a:prstGeom>
          <a:solidFill>
            <a:srgbClr val="F1F5DE"/>
          </a:solidFill>
          <a:ln/>
        </p:spPr>
      </p:sp>
      <p:sp>
        <p:nvSpPr>
          <p:cNvPr id="13" name="Shape 11"/>
          <p:cNvSpPr/>
          <p:nvPr/>
        </p:nvSpPr>
        <p:spPr>
          <a:xfrm>
            <a:off x="502920" y="4672584"/>
            <a:ext cx="82296" cy="1426464"/>
          </a:xfrm>
          <a:prstGeom prst="rect">
            <a:avLst/>
          </a:prstGeom>
          <a:solidFill>
            <a:srgbClr val="A5BE00"/>
          </a:solidFill>
          <a:ln/>
        </p:spPr>
      </p:sp>
      <p:sp>
        <p:nvSpPr>
          <p:cNvPr id="14" name="Text 12"/>
          <p:cNvSpPr/>
          <p:nvPr/>
        </p:nvSpPr>
        <p:spPr>
          <a:xfrm>
            <a:off x="777240" y="4782312"/>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5" name="Text 13"/>
          <p:cNvSpPr/>
          <p:nvPr/>
        </p:nvSpPr>
        <p:spPr>
          <a:xfrm>
            <a:off x="777240" y="5056632"/>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"Con không chỉ bấm chọn đúng hay sai. Con được nói thật. Nếu phát âm chưa đúng, hệ thống chỉ cho con biết đang sai ở đâu và cần sửa thế nào. Con yếu thì luyện từ dễ, con khá thì được nâng lên."</a:t>
            </a:r>
            <a:endParaRPr lang="en-US" sz="1600" dirty="0"/>
          </a:p>
        </p:txBody>
      </p:sp>
      <p:sp>
        <p:nvSpPr>
          <p:cNvPr id="16" name="Text 14"/>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23 / 26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20</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Câu lạc bộ: học mà vẫn có môi trường để con tự tin hơn</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Không chỉ học kiến thức trong sách. Câu lạc bộ giúp con có thêm cơ hội:</a:t>
            </a:r>
            <a:endParaRPr lang="en-US" sz="1600" dirty="0"/>
          </a:p>
        </p:txBody>
      </p:sp>
      <p:sp>
        <p:nvSpPr>
          <p:cNvPr id="10" name="Text 8"/>
          <p:cNvSpPr/>
          <p:nvPr/>
        </p:nvSpPr>
        <p:spPr>
          <a:xfrm>
            <a:off x="502920" y="1929384"/>
            <a:ext cx="1114013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Khám phá thế giới, kỹ năng sống, khoa học công nghệ.</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Tham gia nhiệm vụ và thử thách theo tuần.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Thử thách từ vựng bám vào nội dung con đang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Tích điểm và ghi nhận vào quá trình học của con.</a:t>
            </a:r>
            <a:endParaRPr lang="en-US" sz="1600" dirty="0"/>
          </a:p>
        </p:txBody>
      </p:sp>
      <p:sp>
        <p:nvSpPr>
          <p:cNvPr id="11" name="Shape 9"/>
          <p:cNvSpPr/>
          <p:nvPr/>
        </p:nvSpPr>
        <p:spPr>
          <a:xfrm>
            <a:off x="502920" y="3703320"/>
            <a:ext cx="11140135" cy="1133856"/>
          </a:xfrm>
          <a:prstGeom prst="rect">
            <a:avLst/>
          </a:prstGeom>
          <a:solidFill>
            <a:srgbClr val="F1F5DE"/>
          </a:solidFill>
          <a:ln/>
        </p:spPr>
      </p:sp>
      <p:sp>
        <p:nvSpPr>
          <p:cNvPr id="12" name="Shape 10"/>
          <p:cNvSpPr/>
          <p:nvPr/>
        </p:nvSpPr>
        <p:spPr>
          <a:xfrm>
            <a:off x="502920" y="3703320"/>
            <a:ext cx="82296" cy="1133856"/>
          </a:xfrm>
          <a:prstGeom prst="rect">
            <a:avLst/>
          </a:prstGeom>
          <a:solidFill>
            <a:srgbClr val="A5BE00"/>
          </a:solidFill>
          <a:ln/>
        </p:spPr>
      </p:sp>
      <p:sp>
        <p:nvSpPr>
          <p:cNvPr id="13" name="Text 11"/>
          <p:cNvSpPr/>
          <p:nvPr/>
        </p:nvSpPr>
        <p:spPr>
          <a:xfrm>
            <a:off x="777240" y="3813048"/>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4" name="Text 12"/>
          <p:cNvSpPr/>
          <p:nvPr/>
        </p:nvSpPr>
        <p:spPr>
          <a:xfrm>
            <a:off x="777240" y="4087368"/>
            <a:ext cx="10682935" cy="676656"/>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"Ngoài học kiến thức, con còn có môi trường để thử sức, tương tác và tự tin hơn — nhưng hoạt động vẫn gắn với những gì con đang học."</a:t>
            </a:r>
            <a:endParaRPr lang="en-US" sz="1600" dirty="0"/>
          </a:p>
        </p:txBody>
      </p:sp>
      <p:sp>
        <p:nvSpPr>
          <p:cNvPr id="15" name="Text 13"/>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24 / 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21</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Bố mẹ không cần tự theo sát từng ngày</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Giáo viên chủ nhiệm:</a:t>
            </a:r>
            <a:endParaRPr lang="en-US" sz="1600" dirty="0"/>
          </a:p>
        </p:txBody>
      </p:sp>
      <p:sp>
        <p:nvSpPr>
          <p:cNvPr id="10" name="Text 8"/>
          <p:cNvSpPr/>
          <p:nvPr/>
        </p:nvSpPr>
        <p:spPr>
          <a:xfrm>
            <a:off x="502920" y="1929384"/>
            <a:ext cx="1114013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Theo dõi tiến độ.</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Hỗ trợ con.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Nhắc lịch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Gọi điện báo tình hình học tập cho phụ huynh.</a:t>
            </a:r>
            <a:endParaRPr lang="en-US" sz="1600" dirty="0"/>
          </a:p>
        </p:txBody>
      </p:sp>
      <p:sp>
        <p:nvSpPr>
          <p:cNvPr id="11" name="Text 9"/>
          <p:cNvSpPr/>
          <p:nvPr/>
        </p:nvSpPr>
        <p:spPr>
          <a:xfrm>
            <a:off x="502920" y="3703320"/>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Sổ liên lạc điện tử:</a:t>
            </a:r>
            <a:endParaRPr lang="en-US" sz="1600" dirty="0"/>
          </a:p>
        </p:txBody>
      </p:sp>
      <p:sp>
        <p:nvSpPr>
          <p:cNvPr id="12" name="Text 10"/>
          <p:cNvSpPr/>
          <p:nvPr/>
        </p:nvSpPr>
        <p:spPr>
          <a:xfrm>
            <a:off x="502920" y="4123944"/>
            <a:ext cx="11140135" cy="159105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Cho bố mẹ biết con đang học đến đâu.</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Biết con mạnh – yếu phần nào.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Theo dõi tiến bộ theo thời gian.</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Tập hợp hoạt động học vào một nơi.</a:t>
            </a:r>
            <a:endParaRPr lang="en-US" sz="1600" dirty="0"/>
          </a:p>
        </p:txBody>
      </p:sp>
      <p:sp>
        <p:nvSpPr>
          <p:cNvPr id="13" name="Text 11"/>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25 / 26</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864815" cy="256032"/>
          </a:xfrm>
          <a:prstGeom prst="rect">
            <a:avLst/>
          </a:prstGeom>
          <a:noFill/>
          <a:ln/>
        </p:spPr>
        <p:txBody>
          <a:bodyPr wrap="square" rtlCol="0" anchor="ctr"/>
          <a:lstStyle/>
          <a:p>
            <a:pPr algn="r" indent="0" marL="0">
              <a:buNone/>
            </a:pPr>
            <a:r>
              <a:rPr lang="en-US" sz="1300" b="1"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864815" cy="182880"/>
          </a:xfrm>
          <a:prstGeom prst="rect">
            <a:avLst/>
          </a:prstGeom>
          <a:noFill/>
          <a:ln/>
        </p:spPr>
        <p:txBody>
          <a:bodyPr wrap="square" rtlCol="0" anchor="ctr"/>
          <a:lstStyle/>
          <a:p>
            <a:pPr algn="r" indent="0" marL="0">
              <a:buNone/>
            </a:pPr>
            <a:r>
              <a:rPr lang="en-US" sz="750" b="1" spc="5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256032"/>
            <a:ext cx="2743200" cy="320040"/>
          </a:xfrm>
          <a:prstGeom prst="rect">
            <a:avLst/>
          </a:prstGeom>
          <a:noFill/>
          <a:ln/>
        </p:spPr>
        <p:txBody>
          <a:bodyPr wrap="square" rtlCol="0" anchor="ctr"/>
          <a:lstStyle/>
          <a:p>
            <a:pPr indent="0" marL="0">
              <a:buNone/>
            </a:pPr>
            <a:r>
              <a:rPr lang="en-US" sz="1100" b="1" spc="100" kern="0" dirty="0">
                <a:solidFill>
                  <a:srgbClr val="A5BE00"/>
                </a:solidFill>
                <a:latin typeface="Arial" pitchFamily="34" charset="0"/>
                <a:ea typeface="Arial" pitchFamily="34" charset="-122"/>
                <a:cs typeface="Arial" pitchFamily="34" charset="-120"/>
              </a:rPr>
              <a:t>SLIDE 21</a:t>
            </a:r>
            <a:endParaRPr lang="en-US" sz="1100" dirty="0"/>
          </a:p>
        </p:txBody>
      </p:sp>
      <p:sp>
        <p:nvSpPr>
          <p:cNvPr id="5" name="Text 3"/>
          <p:cNvSpPr/>
          <p:nvPr/>
        </p:nvSpPr>
        <p:spPr>
          <a:xfrm>
            <a:off x="502920" y="594360"/>
            <a:ext cx="8092440" cy="685800"/>
          </a:xfrm>
          <a:prstGeom prst="rect">
            <a:avLst/>
          </a:prstGeom>
          <a:noFill/>
          <a:ln/>
        </p:spPr>
        <p:txBody>
          <a:bodyPr wrap="square" rtlCol="0" anchor="t"/>
          <a:lstStyle/>
          <a:p>
            <a:pPr indent="0" marL="0">
              <a:buNone/>
            </a:pPr>
            <a:r>
              <a:rPr lang="en-US" sz="2200" b="1" dirty="0">
                <a:solidFill>
                  <a:srgbClr val="004671"/>
                </a:solidFill>
                <a:latin typeface="Arial" pitchFamily="34" charset="0"/>
                <a:ea typeface="Arial" pitchFamily="34" charset="-122"/>
                <a:cs typeface="Arial" pitchFamily="34" charset="-120"/>
              </a:rPr>
              <a:t>Bố mẹ không cần tự theo sát từng ngày (tiếp)</a:t>
            </a:r>
            <a:endParaRPr lang="en-US" sz="2200" dirty="0"/>
          </a:p>
        </p:txBody>
      </p:sp>
      <p:sp>
        <p:nvSpPr>
          <p:cNvPr id="6" name="Shape 4"/>
          <p:cNvSpPr/>
          <p:nvPr/>
        </p:nvSpPr>
        <p:spPr>
          <a:xfrm>
            <a:off x="502920" y="1371600"/>
            <a:ext cx="11140135" cy="0"/>
          </a:xfrm>
          <a:prstGeom prst="line">
            <a:avLst/>
          </a:prstGeom>
          <a:noFill/>
          <a:ln w="12700">
            <a:solidFill>
              <a:srgbClr val="DDE3D8"/>
            </a:solidFill>
            <a:prstDash val="solid"/>
          </a:ln>
        </p:spPr>
      </p:sp>
      <p:sp>
        <p:nvSpPr>
          <p:cNvPr id="7" name="Shape 5"/>
          <p:cNvSpPr/>
          <p:nvPr/>
        </p:nvSpPr>
        <p:spPr>
          <a:xfrm>
            <a:off x="502920" y="6437376"/>
            <a:ext cx="11140135" cy="0"/>
          </a:xfrm>
          <a:prstGeom prst="line">
            <a:avLst/>
          </a:prstGeom>
          <a:noFill/>
          <a:ln w="19050">
            <a:solidFill>
              <a:srgbClr val="A5BE00"/>
            </a:solidFill>
            <a:prstDash val="solid"/>
          </a:ln>
        </p:spPr>
      </p:sp>
      <p:sp>
        <p:nvSpPr>
          <p:cNvPr id="8" name="Text 6"/>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Phiên bản bán hàng</a:t>
            </a:r>
            <a:endParaRPr lang="en-US" sz="800" dirty="0"/>
          </a:p>
        </p:txBody>
      </p:sp>
      <p:sp>
        <p:nvSpPr>
          <p:cNvPr id="9" name="Text 7"/>
          <p:cNvSpPr/>
          <p:nvPr/>
        </p:nvSpPr>
        <p:spPr>
          <a:xfrm>
            <a:off x="502920" y="1508760"/>
            <a:ext cx="11140135" cy="29260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Điểm danh đầu &amp; cuối buổi:</a:t>
            </a:r>
            <a:endParaRPr lang="en-US" sz="1600" dirty="0"/>
          </a:p>
        </p:txBody>
      </p:sp>
      <p:sp>
        <p:nvSpPr>
          <p:cNvPr id="10" name="Text 8"/>
          <p:cNvSpPr/>
          <p:nvPr/>
        </p:nvSpPr>
        <p:spPr>
          <a:xfrm>
            <a:off x="502920" y="1929384"/>
            <a:ext cx="11140135" cy="1225296"/>
          </a:xfrm>
          <a:prstGeom prst="rect">
            <a:avLst/>
          </a:prstGeom>
          <a:noFill/>
          <a:ln/>
        </p:spPr>
        <p:txBody>
          <a:bodyPr wrap="square" rtlCol="0" anchor="t"/>
          <a:lstStyle/>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Con vào lớp, điện thoại phụ huynh có thông báo.</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Hệ thống ghi nhận việc con tham gia buổi học.</a:t>
            </a:r>
            <a:endParaRPr lang="en-US" sz="1600" dirty="0"/>
          </a:p>
          <a:p>
            <a:pPr marL="254000" indent="-254000">
              <a:spcAft>
                <a:spcPts val="800"/>
              </a:spcAft>
              <a:buSzPct val="100000"/>
              <a:buChar char="•"/>
            </a:pPr>
            <a:r>
              <a:rPr lang="en-US" sz="1600" dirty="0">
                <a:solidFill>
                  <a:srgbClr val="1F2A33"/>
                </a:solidFill>
                <a:latin typeface="Arial" pitchFamily="34" charset="0"/>
                <a:ea typeface="Arial" pitchFamily="34" charset="-122"/>
                <a:cs typeface="Arial" pitchFamily="34" charset="-120"/>
              </a:rPr>
              <a:t>Có hình ảnh lúc đầu và cuối buổi theo thiết kế sản phẩm.</a:t>
            </a:r>
            <a:endParaRPr lang="en-US" sz="1600" dirty="0"/>
          </a:p>
        </p:txBody>
      </p:sp>
      <p:sp>
        <p:nvSpPr>
          <p:cNvPr id="11" name="Shape 9"/>
          <p:cNvSpPr/>
          <p:nvPr/>
        </p:nvSpPr>
        <p:spPr>
          <a:xfrm>
            <a:off x="502920" y="3337560"/>
            <a:ext cx="11140135" cy="1426464"/>
          </a:xfrm>
          <a:prstGeom prst="rect">
            <a:avLst/>
          </a:prstGeom>
          <a:solidFill>
            <a:srgbClr val="F1F5DE"/>
          </a:solidFill>
          <a:ln/>
        </p:spPr>
      </p:sp>
      <p:sp>
        <p:nvSpPr>
          <p:cNvPr id="12" name="Shape 10"/>
          <p:cNvSpPr/>
          <p:nvPr/>
        </p:nvSpPr>
        <p:spPr>
          <a:xfrm>
            <a:off x="502920" y="3337560"/>
            <a:ext cx="82296" cy="1426464"/>
          </a:xfrm>
          <a:prstGeom prst="rect">
            <a:avLst/>
          </a:prstGeom>
          <a:solidFill>
            <a:srgbClr val="A5BE00"/>
          </a:solidFill>
          <a:ln/>
        </p:spPr>
      </p:sp>
      <p:sp>
        <p:nvSpPr>
          <p:cNvPr id="13" name="Text 11"/>
          <p:cNvSpPr/>
          <p:nvPr/>
        </p:nvSpPr>
        <p:spPr>
          <a:xfrm>
            <a:off x="777240" y="3447288"/>
            <a:ext cx="10682935" cy="228600"/>
          </a:xfrm>
          <a:prstGeom prst="rect">
            <a:avLst/>
          </a:prstGeom>
          <a:noFill/>
          <a:ln/>
        </p:spPr>
        <p:txBody>
          <a:bodyPr wrap="square" rtlCol="0" anchor="ctr"/>
          <a:lstStyle/>
          <a:p>
            <a:pPr indent="0" marL="0">
              <a:buNone/>
            </a:pPr>
            <a:r>
              <a:rPr lang="en-US" sz="1100" b="1" spc="100" kern="0" dirty="0">
                <a:solidFill>
                  <a:srgbClr val="51720A"/>
                </a:solidFill>
                <a:latin typeface="Arial" pitchFamily="34" charset="0"/>
                <a:ea typeface="Arial" pitchFamily="34" charset="-122"/>
                <a:cs typeface="Arial" pitchFamily="34" charset="-120"/>
              </a:rPr>
              <a:t>CÁCH NÓI VỚI PHỤ HUYNH</a:t>
            </a:r>
            <a:endParaRPr lang="en-US" sz="1100" dirty="0"/>
          </a:p>
        </p:txBody>
      </p:sp>
      <p:sp>
        <p:nvSpPr>
          <p:cNvPr id="14" name="Text 12"/>
          <p:cNvSpPr/>
          <p:nvPr/>
        </p:nvSpPr>
        <p:spPr>
          <a:xfrm>
            <a:off x="777240" y="3721608"/>
            <a:ext cx="10682935" cy="969264"/>
          </a:xfrm>
          <a:prstGeom prst="rect">
            <a:avLst/>
          </a:prstGeom>
          <a:noFill/>
          <a:ln/>
        </p:spPr>
        <p:txBody>
          <a:bodyPr wrap="square" rtlCol="0" anchor="t"/>
          <a:lstStyle/>
          <a:p>
            <a:pPr indent="0" marL="0">
              <a:spcAft>
                <a:spcPts val="500"/>
              </a:spcAft>
              <a:buNone/>
            </a:pPr>
            <a:r>
              <a:rPr lang="en-US" sz="1600" i="1" dirty="0">
                <a:solidFill>
                  <a:srgbClr val="004671"/>
                </a:solidFill>
                <a:latin typeface="Arial" pitchFamily="34" charset="0"/>
                <a:ea typeface="Arial" pitchFamily="34" charset="-122"/>
                <a:cs typeface="Arial" pitchFamily="34" charset="-120"/>
              </a:rPr>
              <a:t>"Bố mẹ không cần ngày nào cũng ngồi cạnh con để kiểm tra. Vào app là biết hôm nay con học gì, đang mạnh – yếu phần nào; có giáo viên chủ nhiệm theo dõi và báo tình hình cho bố mẹ."</a:t>
            </a:r>
            <a:endParaRPr lang="en-US" sz="1600" dirty="0"/>
          </a:p>
        </p:txBody>
      </p:sp>
      <p:sp>
        <p:nvSpPr>
          <p:cNvPr id="15" name="Text 13"/>
          <p:cNvSpPr/>
          <p:nvPr/>
        </p:nvSpPr>
        <p:spPr>
          <a:xfrm>
            <a:off x="981425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26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2026-09-03T08:57:56Z</dcterms:created>
  <dcterms:modified xsi:type="dcterms:W3CDTF">2026-09-03T08:57:56Z</dcterms:modified>
</cp:coreProperties>
</file>