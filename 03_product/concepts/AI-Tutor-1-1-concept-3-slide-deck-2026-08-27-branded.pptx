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6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4754880" cy="4754880"/>
          </a:xfrm>
          <a:prstGeom prst="ellipse">
            <a:avLst/>
          </a:prstGeom>
          <a:solidFill>
            <a:srgbClr val="0C578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0040"/>
            <a:ext cx="3291840" cy="3291840"/>
          </a:xfrm>
          <a:prstGeom prst="ellipse">
            <a:avLst/>
          </a:prstGeom>
          <a:solidFill>
            <a:srgbClr val="A5BE00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1371600" cy="1170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BE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GIỚI THIỆU SẢN PHẨM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4672" y="30632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Edupia AI Tutor 1-1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 sư AI 1 kèm 1 — vá đúng lỗ hổng kiến thức tiếng Anh theo Mastery Profile của từng học sinh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4892040"/>
            <a:ext cx="640080" cy="4114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Khối Sản phẩm và Công nghệ  ·  27/08/2026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MỤC LỤC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118872" cy="65836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8308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10042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Bối cảnh và cơ hội thị trường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Vì sao AI Tutor 1-1 ra đời đúng thời điểm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761488"/>
            <a:ext cx="118872" cy="65836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71576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715768"/>
            <a:ext cx="10042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Khách hàng mục tiêu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Chân dung phụ huynh – học sinh và nỗi đau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694176"/>
            <a:ext cx="118872" cy="65836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648456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3648456"/>
            <a:ext cx="10042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pháp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Tên thương hiệu · Value story · USP · So sánh thị trường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626864"/>
            <a:ext cx="118872" cy="65836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4581144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B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4581144"/>
            <a:ext cx="10042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 trúc sản phẩm và mô tả tính năng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Tutor 1-1 · AI Practice · AI Speak · Edupia Club · Phương pháp cá nhân hoá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6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A5BE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Bối cảnh và cơ hội thị trường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9539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 xu hướng gia sư AI toàn cầu — Squirrel AI · ALEKS · Khanmigo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01 — BỐI CẢNH &amp; CƠ HỘI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Vì sao AI Tutor 1-1 ra đời đúng thời điểm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83080"/>
            <a:ext cx="73152" cy="143256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10957255" cy="1432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 mô cầu đang mở rộng nhanh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nhu cầu học thêm Tiếng Anh dự báo ~3 tỷ USD vào năm 2030.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Học online tăng mạnh nhất, ~20%/năm; ảnh hưởng của TT29 (từ 2025) tiếp tục đẩy thị trường online ~33%/năm.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307080"/>
            <a:ext cx="73152" cy="143256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07080"/>
            <a:ext cx="10957255" cy="1432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Khoảng trống sản phẩm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 sư 1-1 con người chi phí cao, khó mở rộng — AI Tutor 1-1 giữ trải nghiệm cá nhân hoá với chi phí thấp hơn nhiều lần.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lớn sản phẩm online dạy đại trà, không biết chính xác học sinh yếu ở đâu — AI Tutor 1-1 vá đúng lỗ hổng theo Mastery Profile.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831080"/>
            <a:ext cx="73152" cy="143256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31080"/>
            <a:ext cx="10957255" cy="1432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Xu hướng toàn cầu đã kiểm chứng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Squirrel AI, ALEKS, Khanmigo đã chứng minh mô hình chẩn đoán – định tuyến cá nhân hoá hiệu quả hơn dạy đại trà.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Sứ mệnh: dùng công nghệ xoá nhoà khoảng cách điều kiện học tập — hiệu quả tương đương đào tạo chất lượng cao, giá thấp hơn, dễ tiếp cận hơn.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6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A5BE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Khách hàng mục tiêu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9539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Phụ huynh đã dùng AI Class / Big Class, cần chăm sóc riêng và cam kết tiến bộ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02 — KHÁCH HÀNG MỤC TIÊU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Chân dung khách hàng mục tiêu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83080"/>
            <a:ext cx="73152" cy="2176272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669280" cy="2176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Nhân khẩu học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Phụ huynh: 30–45 tuổi, đã dùng AI Class / Big Class, thu nhập khá – tốt trở lên.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Học sinh: lớp 1–8, đã học đại trà nhưng có lỗ hổng kiến thức rõ, cần chăm sóc riêng.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 chấp nhận "học đại trà mãi không khá lên" — cần chăm sóc riêng &amp; cam kết tiến bộ.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087368"/>
            <a:ext cx="73152" cy="2176272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87368"/>
            <a:ext cx="5669280" cy="2176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Nỗi đau (Pain point)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"Con học lớp đông, không biết chính xác con yếu chỗ nào để kèm riêng."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"Đã thử app / gia sư nhưng không chắc học có đúng chỗ hổng không."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"Sợ con thua thiệt nếu không có ai theo sát 1-1."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"Muốn chăm sóc cao cấp nhưng gia sư con người quá đắt để duy trì đều."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12280" y="1764792"/>
            <a:ext cx="48764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 JTBD của khách hàng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12280" y="2075688"/>
            <a:ext cx="4876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Số trong ngoặc = % khách hàng mục tiêu (nguồn cần xác nhận)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12280" y="260604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Muốn con học giỏi tiếng Anh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2916936"/>
            <a:ext cx="4190695" cy="164592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2916936"/>
            <a:ext cx="3771626" cy="164592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14" name="Text 12"/>
          <p:cNvSpPr/>
          <p:nvPr/>
        </p:nvSpPr>
        <p:spPr>
          <a:xfrm>
            <a:off x="11076127" y="28803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447288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Muốn con học với Giáo viên giỏi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3758184"/>
            <a:ext cx="4190695" cy="164592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3758184"/>
            <a:ext cx="3352556" cy="164592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18" name="Text 16"/>
          <p:cNvSpPr/>
          <p:nvPr/>
        </p:nvSpPr>
        <p:spPr>
          <a:xfrm>
            <a:off x="11076127" y="37216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4288536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Muốn con thích học, tự giác học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4599432"/>
            <a:ext cx="4190695" cy="164592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4599432"/>
            <a:ext cx="2933487" cy="164592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22" name="Text 20"/>
          <p:cNvSpPr/>
          <p:nvPr/>
        </p:nvSpPr>
        <p:spPr>
          <a:xfrm>
            <a:off x="11076127" y="456285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512978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Muốn yên tâm giao phó con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5440680"/>
            <a:ext cx="4190695" cy="164592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12280" y="5440680"/>
            <a:ext cx="2514417" cy="164592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26" name="Text 24"/>
          <p:cNvSpPr/>
          <p:nvPr/>
        </p:nvSpPr>
        <p:spPr>
          <a:xfrm>
            <a:off x="11076127" y="540410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5971032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Muốn con tự tin giao tiếp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6281928"/>
            <a:ext cx="4190695" cy="164592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29" name="Shape 27"/>
          <p:cNvSpPr/>
          <p:nvPr/>
        </p:nvSpPr>
        <p:spPr>
          <a:xfrm>
            <a:off x="6812280" y="6281928"/>
            <a:ext cx="2514417" cy="164592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30" name="Text 28"/>
          <p:cNvSpPr/>
          <p:nvPr/>
        </p:nvSpPr>
        <p:spPr>
          <a:xfrm>
            <a:off x="11076127" y="624535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60%</a:t>
            </a:r>
            <a:endParaRPr lang="en-US" sz="10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6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A5BE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Giải pháp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9539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AI Tutor 1-1 — gia sư AI riêng, vá đúng lỗ hổng, không dạy đại trà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03 —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Tên thương hiệu · Value 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25880"/>
            <a:ext cx="118872" cy="603504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Tên thương hiệu:  </a:t>
            </a:r>
            <a:pPr indent="0" marL="0">
              <a:buNone/>
            </a:pPr>
            <a:r>
              <a:rPr lang="en-US" sz="1200" b="1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AI TUTOR 1-1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Tagline: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“Gia sư AI riêng — vá đúng lỗ hổng, không dạy đại trà.”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73152" cy="201168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10957255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story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Buổi học 1-kèm-1 với "Cô Hà Tú" — giáo viên ảo cá nhân hoá: ~85% Video Bank quay sẵn của giáo viên thật + ~15% cá nhân hoá qua Voice Cloning / Lip-Sync.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Mỗi buổi 45 phút; Routing Engine chọn đúng 1–2 NLO học sinh đang yếu nhất — không dạy lại từ đầu, không dạy dàn trải.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Practice, AI Speak và Edupia Club không tách biệt — cùng bám 1 NLO và ghi cùng 1 Mastery Profile, dưới sự đồng hành của Giáo viên chủ nhiệm.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251960"/>
            <a:ext cx="73152" cy="201168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51960"/>
            <a:ext cx="10957255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phí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390.000đ/tháng — bằng một phần nhỏ chi phí gia sư 1-1 truyền thống (hàng triệu đồng/tháng), nhờ Video Bank tái sử dụng ở quy mô lớn.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03 —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USP — Điểm bán độc nhất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25880"/>
            <a:ext cx="11185855" cy="91440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“Gia sư AI 1-kèm-1 đầu tiên tại Việt Nam vá đúng lỗ hổng kiến thức theo dữ liệu thực (Mastery Profile) — không phải học đại trà, chỉ với chi phí bằng một phần nhỏ gia sư con người.”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576218" cy="352044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14600"/>
            <a:ext cx="3576218" cy="82296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770632"/>
            <a:ext cx="3173882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Vá đúng lỗ hổng theo dữ liệu thực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Routing Engine: priority = ppct_weight × (1−mastery) × prereq_boost — không chọn ngẫu nhiên, không dạy lại từ đầu.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7738" y="2514600"/>
            <a:ext cx="3576218" cy="352044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7738" y="2514600"/>
            <a:ext cx="3576218" cy="82296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2" name="Text 10"/>
          <p:cNvSpPr/>
          <p:nvPr/>
        </p:nvSpPr>
        <p:spPr>
          <a:xfrm>
            <a:off x="4508906" y="2770632"/>
            <a:ext cx="3173882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Đầu tiên tại Việt Nam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hợp Video Bank cá nhân hoá (Voice Cloning / Lip-Sync) với chấm phát âm theo âm vị (kiểu ELSA) trong một buổi học 1-1.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2557" y="2514600"/>
            <a:ext cx="3576218" cy="352044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2557" y="2514600"/>
            <a:ext cx="3576218" cy="82296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5" name="Text 13"/>
          <p:cNvSpPr/>
          <p:nvPr/>
        </p:nvSpPr>
        <p:spPr>
          <a:xfrm>
            <a:off x="8313725" y="2770632"/>
            <a:ext cx="3173882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phí bằng một phần nhỏ gia sư con người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390.000đ/tháng so với gia sư 1-1 truyền thống hàng triệu đồng/tháng, nhờ Video Bank tái sử dụng ở quy mô lớn.</a:t>
            </a:r>
            <a:endParaRPr lang="en-US" sz="1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03 —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Selling point (SA → SB → SE)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71016"/>
            <a:ext cx="3618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 — ƯU ĐIỂM SẢN PHẨM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86402" y="1271016"/>
            <a:ext cx="3618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SB — LỢI ÍCH CẢM NHẬN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69885" y="1271016"/>
            <a:ext cx="3618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18E0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 — CẢM XÚC KHƠI GỢI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618890" cy="79552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6002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Buổi học 1-1, 45 phút/buổi với giáo viên ảo cá nhân hoá (85% quay sẵn + 15% Voice Cloning)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86402" y="1600200"/>
            <a:ext cx="361889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2706" y="16002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được học riêng như có gia sư thật, được gọi tên, nhận xét đúng vào bài của con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069885" y="1600200"/>
            <a:ext cx="3618890" cy="795528"/>
          </a:xfrm>
          <a:prstGeom prst="rect">
            <a:avLst/>
          </a:prstGeom>
          <a:solidFill>
            <a:srgbClr val="F4F7E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6189" y="16002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4A5A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tâm — con mình được quan tâm riêng, không bị bỏ lại giữa lớp đông.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3618890" cy="79552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5146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Routing Engine chọn đúng NLO đang yếu nhất mỗi buổi — không dạy đại trà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286402" y="2514600"/>
            <a:ext cx="361889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2706" y="25146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học đến đâu chắc đến đấy, không mất thời gian học lại cái đã biết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069885" y="2514600"/>
            <a:ext cx="3618890" cy="795528"/>
          </a:xfrm>
          <a:prstGeom prst="rect">
            <a:avLst/>
          </a:prstGeom>
          <a:solidFill>
            <a:srgbClr val="F4F7E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6189" y="25146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4A5A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 rằng tiền đầu tư đi đúng chỗ — không lãng phí thời gian của con.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3618890" cy="79552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4290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iSpeak chấm phát âm theo âm vị, phản hồi ngay trong buổi học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286402" y="3429000"/>
            <a:ext cx="361889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2706" y="34290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luyện nói đều — phát âm tốt, không còn sợ nói sai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069885" y="3429000"/>
            <a:ext cx="3618890" cy="795528"/>
          </a:xfrm>
          <a:prstGeom prst="rect">
            <a:avLst/>
          </a:prstGeom>
          <a:solidFill>
            <a:srgbClr val="F4F7E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6189" y="34290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4A5A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 hào khi con dám nói tiếng Anh trước người khác.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343400"/>
            <a:ext cx="3618890" cy="79552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43434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 + AI Speak + Edupia Club cùng ghi 1 Mastery Profile với AI Tutor 1-1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286402" y="4343400"/>
            <a:ext cx="361889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2706" y="43434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Phụ huynh không cần lo 4 hệ thống rời rạc — mọi tiến bộ dồn về 1 báo cáo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69885" y="4343400"/>
            <a:ext cx="3618890" cy="795528"/>
          </a:xfrm>
          <a:prstGeom prst="rect">
            <a:avLst/>
          </a:prstGeom>
          <a:solidFill>
            <a:srgbClr val="F4F7E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6189" y="43434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4A5A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Nhẹ đầu — không phải tự ghép nối nhiều thứ rời rạc để hiểu con đang ở đâu.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5257800"/>
            <a:ext cx="3618890" cy="79552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52578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Giáo viên chủ nhiệm đồng hành, nhắc lịch, gọi điện báo kết quả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286402" y="5257800"/>
            <a:ext cx="361889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2706" y="52578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Bố mẹ yên tâm giao con cho Edupia, không phải tự đôn đốc từng buổi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069885" y="5257800"/>
            <a:ext cx="3618890" cy="795528"/>
          </a:xfrm>
          <a:prstGeom prst="rect">
            <a:avLst/>
          </a:prstGeom>
          <a:solidFill>
            <a:srgbClr val="F4F7E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6189" y="5257800"/>
            <a:ext cx="3326282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4A5A1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Yên tâm giao con — có người lo thay, không phải ngày nào cũng đôn đốc.</a:t>
            </a:r>
            <a:endParaRPr lang="en-US" sz="9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03 —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 sánh các giải pháp trên thị trường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12848"/>
            <a:ext cx="2221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Học với GV giỏi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3054096"/>
            <a:ext cx="2221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Vá đúng lỗ hổng cá nhân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895344"/>
            <a:ext cx="2221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Chấm phát âm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736592"/>
            <a:ext cx="2221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phí / tháng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5577840"/>
            <a:ext cx="2221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theo sát tiến độ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7792" y="1554480"/>
            <a:ext cx="2140382" cy="54864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1" name="Text 9"/>
          <p:cNvSpPr/>
          <p:nvPr/>
        </p:nvSpPr>
        <p:spPr>
          <a:xfrm>
            <a:off x="2962656" y="155448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 sư con người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07792" y="2212848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212848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 sư (chất lượng không đồng đều)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907792" y="3054096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3054096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Tuỳ gia sư, không có dữ liệu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907792" y="3895344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0088" y="3895344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Chủ quan theo tai người dạy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907792" y="4736592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4736592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Vài triệu đồng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907792" y="5577840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0088" y="5577840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 ai ngoài gia sư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121326" y="1554480"/>
            <a:ext cx="2140382" cy="54864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23" name="Text 21"/>
          <p:cNvSpPr/>
          <p:nvPr/>
        </p:nvSpPr>
        <p:spPr>
          <a:xfrm>
            <a:off x="5176190" y="155448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tự học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1326" y="2212848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3622" y="2212848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 có giáo viên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21326" y="3054096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3622" y="3054096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 có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21326" y="3895344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03622" y="3895344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Hiếm khi có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121326" y="4736592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3622" y="4736592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60–200k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121326" y="5577840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03622" y="5577840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 ai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334860" y="1554480"/>
            <a:ext cx="2140382" cy="54864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35" name="Text 33"/>
          <p:cNvSpPr/>
          <p:nvPr/>
        </p:nvSpPr>
        <p:spPr>
          <a:xfrm>
            <a:off x="7389724" y="155448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Class (nhóm)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34860" y="2212848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17156" y="2212848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GV trường quốc tế + AI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334860" y="3054096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17156" y="3054096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Theo lớp, chưa tới từng NLO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334860" y="3895344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17156" y="3895344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chấm trong lớp đông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334860" y="4736592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17156" y="4736592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~200k–800k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7334860" y="5577840"/>
            <a:ext cx="2140382" cy="749808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7156" y="5577840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 giáo vụ chung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9548393" y="1554480"/>
            <a:ext cx="2140382" cy="54864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47" name="Text 45"/>
          <p:cNvSpPr/>
          <p:nvPr/>
        </p:nvSpPr>
        <p:spPr>
          <a:xfrm>
            <a:off x="9603257" y="1554480"/>
            <a:ext cx="203065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Tutor 1-1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548393" y="2212848"/>
            <a:ext cx="2140382" cy="749808"/>
          </a:xfrm>
          <a:prstGeom prst="rect">
            <a:avLst/>
          </a:prstGeom>
          <a:solidFill>
            <a:srgbClr val="EAF3F7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30689" y="2212848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Giáo viên ảo cá nhân hoá 1-1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9548393" y="3054096"/>
            <a:ext cx="2140382" cy="749808"/>
          </a:xfrm>
          <a:prstGeom prst="rect">
            <a:avLst/>
          </a:prstGeom>
          <a:solidFill>
            <a:srgbClr val="EAF3F7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30689" y="3054096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Routing Engine theo NLO cá nhân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9548393" y="3895344"/>
            <a:ext cx="2140382" cy="749808"/>
          </a:xfrm>
          <a:prstGeom prst="rect">
            <a:avLst/>
          </a:prstGeom>
          <a:solidFill>
            <a:srgbClr val="EAF3F7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0689" y="3895344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chấm theo âm vị, riêng từng con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9548393" y="4736592"/>
            <a:ext cx="2140382" cy="749808"/>
          </a:xfrm>
          <a:prstGeom prst="rect">
            <a:avLst/>
          </a:prstGeom>
          <a:solidFill>
            <a:srgbClr val="EAF3F7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30689" y="4736592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390.000đ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9548393" y="5577840"/>
            <a:ext cx="2140382" cy="749808"/>
          </a:xfrm>
          <a:prstGeom prst="rect">
            <a:avLst/>
          </a:prstGeom>
          <a:solidFill>
            <a:srgbClr val="EAF3F7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30689" y="5577840"/>
            <a:ext cx="197579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GVCN + Mastery Profile riêng</a:t>
            </a:r>
            <a:endParaRPr lang="en-US" sz="92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03 — 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 &amp; After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71016"/>
            <a:ext cx="551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78144" y="1271016"/>
            <a:ext cx="551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18E0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10632" cy="795528"/>
          </a:xfrm>
          <a:prstGeom prst="rect">
            <a:avLst/>
          </a:prstGeom>
          <a:solidFill>
            <a:srgbClr val="F4F5F6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8144" y="1600200"/>
            <a:ext cx="5510632" cy="79552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6002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học lớp đông, không rõ đang yếu chỗ nào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342736" y="16002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Routing Engine xác định đúng NLO yếu nhất mỗi tuần, vá gọn từng lỗ hổng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5510632" cy="795528"/>
          </a:xfrm>
          <a:prstGeom prst="rect">
            <a:avLst/>
          </a:prstGeom>
          <a:solidFill>
            <a:srgbClr val="F4F5F6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8144" y="2514600"/>
            <a:ext cx="5510632" cy="79552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5146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Học phí gia sư 1-1 quá cao để duy trì đều đặn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342736" y="25146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390.000đ/tháng — bằng một phần nhỏ chi phí gia sư con người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5510632" cy="795528"/>
          </a:xfrm>
          <a:prstGeom prst="rect">
            <a:avLst/>
          </a:prstGeom>
          <a:solidFill>
            <a:srgbClr val="F4F5F6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8144" y="3429000"/>
            <a:ext cx="5510632" cy="79552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4290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ngại nói, sợ phát âm sai không ai chỉnh ngay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342736" y="34290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iSpeak chấm phát âm theo âm vị, phản hồi ngay trong buổi học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2920" y="4343400"/>
            <a:ext cx="5510632" cy="795528"/>
          </a:xfrm>
          <a:prstGeom prst="rect">
            <a:avLst/>
          </a:prstGeom>
          <a:solidFill>
            <a:srgbClr val="F4F5F6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8144" y="4343400"/>
            <a:ext cx="5510632" cy="79552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3434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Phụ huynh không biết con học gì, tiến bộ ra sao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342736" y="43434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Báo cáo Mastery Profile theo tuần qua Giáo viên chủ nhiệm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02920" y="5257800"/>
            <a:ext cx="5510632" cy="795528"/>
          </a:xfrm>
          <a:prstGeom prst="rect">
            <a:avLst/>
          </a:prstGeom>
          <a:solidFill>
            <a:srgbClr val="F4F5F6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8144" y="5257800"/>
            <a:ext cx="5510632" cy="795528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52578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hoạt động học rời rạc, không ai kết nối lại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342736" y="5257800"/>
            <a:ext cx="5181448" cy="7955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 / Speak / Club cùng bám 1 NLO, cùng 1 Mastery Profile</a:t>
            </a:r>
            <a:endParaRPr lang="en-US" sz="96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6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4480560" cy="4480560"/>
          </a:xfrm>
          <a:prstGeom prst="ellipse">
            <a:avLst/>
          </a:prstGeom>
          <a:solidFill>
            <a:srgbClr val="0C578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0040"/>
            <a:ext cx="3108960" cy="3108960"/>
          </a:xfrm>
          <a:prstGeom prst="ellipse">
            <a:avLst/>
          </a:prstGeom>
          <a:solidFill>
            <a:srgbClr val="A5BE0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A5BE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640080" cy="41148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461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Cấu trúc sản phẩm và mô tả tính năng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95399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buổi/tuần AI Tutor 1-1 · AI Practice · AI Speak mỗi ngày · Edupia Club · GVCN xuyên suốt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04 — CẤU TRÚC 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 trúc tổng thể AI Tutor 1-1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Nội dung cá nhân hoá theo NLO Taxonomy (1.473 đơn vị) — bám sát SGK Global Success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3152" cy="102870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Tutor 1-1 · 2 buổi/tuần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Buổi học adaptive theo Mastery Profile,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trong khung NLO đã chia và bám sát chương trình SGK Global Success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không lệch tiến độ chương trình.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994660"/>
            <a:ext cx="73152" cy="102870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9466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 + AI Speak · nâng cấp giống Concept 1.2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Practice: Staircase Difficulty + trộn NLO 40% yếu / 40% mới học / 20% ôn chống quên + Mastery cập nhật real-time.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Speak: bám NLO, ghi cùng Mastery Profile — </a:t>
            </a:r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18E0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bổ sung tính năng nói nhập vai theo tình huống (phát triển mới).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73152" cy="102870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1480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Club · tích hợp Mastery Profile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Giữ mô hình CLB đang chạy nhưng không còn tách biệt: thử thách bám NLO đang học, điểm ghi tín hiệu vào Mastery Profile.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234940"/>
            <a:ext cx="73152" cy="1028700"/>
          </a:xfrm>
          <a:prstGeom prst="rect">
            <a:avLst/>
          </a:prstGeom>
          <a:solidFill>
            <a:srgbClr val="6E7B8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23494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Giáo viên chủ nhiệm · xuyên suốt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Chăm sóc, hỗ trợ, theo dõi, báo cáo toàn bộ quá trình học tập và rèn luyện.</a:t>
            </a:r>
            <a:endParaRPr lang="en-US" sz="12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04 — CẤU TRÚC 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Tutor 1-1 — buổi học 45 phút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Tần suất 2 buổi/tuần với giáo viên ảo cá nhân hoá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3152" cy="140208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10957255" cy="140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 trúc buổi học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1 (20'): Dạy theo slide — video hoạt hình học từ vựng + video hội thoại học ngữ pháp.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2 (20'): Hỏi đáp &amp; sửa lỗi qua iSpeak — Routing Engine chọn câu theo đúng NLO đang yếu.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3 (5'): Tương tác – phản hồi – nhắc bài tập về nhà (giao ngay sau buổi).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368040"/>
            <a:ext cx="73152" cy="140208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68040"/>
            <a:ext cx="10957255" cy="140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Giáo viên ảo cá nhân hoá "Cô Hà Tú"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~85% Video Bank quay sẵn của giáo viên thật + ~15% cá nhân hoá qua Voice Cloning và Lip-Sync theo tên, kết quả từng học sinh.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diện 2 camera kiểu học 1-1 thật — Cô Hà Tú + học sinh; huy hiệu &amp; thử thách ghi nhận tiến bộ real-time.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861560"/>
            <a:ext cx="73152" cy="140208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61560"/>
            <a:ext cx="10957255" cy="140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Chấm phát âm theo âm vị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chấm điểm 0–100 từng âm (mô phỏng kiểu ELSA), phản hồi ngay trong buổi học.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Nội dung bám sát SGK Global Success, cá nhân hoá 100% theo Mastery Profile — không dạy đại trà.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04 — CẤU TRÚC 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 · AI Speak · Edupia Club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Cả 3 bám cùng NLO đang học và ghi cùng 1 Mastery Profile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3152" cy="140208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10957255" cy="140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Practice — bài tập ôn luyện tăng cường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Đề chuẩn hoá theo SGK Global Success; trộn NLO 40% đang yếu / 40% vừa học tuần này / 20% ôn chống quên.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Staircase Difficulty: 2 câu đúng liên tiếp tăng cấp độ, 1 câu sai giảm ngay 1 cấp; mỗi câu sai có giải thích + cho làm lại.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368040"/>
            <a:ext cx="73152" cy="140208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68040"/>
            <a:ext cx="10957255" cy="140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Speak — luyện giao tiếp tình huống thật  (phát triển mới)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 chấm ngữ pháp chặt — khuyến khích nói nhiều hơn nói đúng; Routing Engine chọn tình huống theo NLO đang yếu.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Học sinh nhập vai tình huống thực tế (làm quen bạn mới, đi mua sắm, đi du lịch…), tối đa 1 giờ/ngày; nút "Gợi ý câu trả lời".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861560"/>
            <a:ext cx="73152" cy="140208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61560"/>
            <a:ext cx="10957255" cy="140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Club — câu lạc bộ ngoại khoá (tích hợp Mastery Profile)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chủ đề xoay vòng: Khám phá thế giới, Kỹ năng sống, STEM, Công nghệ AI; nhiệm vụ tuần dẫn tới sự kiện tháng.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Thử thách từ vựng bám đúng NLO đang học tuần đó; điểm cộng chung 1 bảng xếp hạng, ghi tín hiệu vào Mastery Profile.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04 — CẤU TRÚC 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Phương pháp cá nhân hoá đằng sau AI Tutor 1-1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Nguồn: dự án Adaptive Learning Ecosystem — BOD Deck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73152" cy="102870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NLO Taxonomy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1.473 đơn vị kiến thức nhỏ nhất (Ngữ pháp, Từ vựng, Ngữ âm, Nghe, Nói, Đọc, Viết) — cùng bậc chi tiết với ALEKS (~1.000) / Carnegie MATHia (~700).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994660"/>
            <a:ext cx="73152" cy="102870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9466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Mastery Model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mastery_mới = mastery_cũ × decay + tín hiệu mới — cập nhật real-time sau mỗi tương tác, không chỉ sau bài kiểm tra.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73152" cy="102870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1480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 Detection Engine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Nhận tín hiệu từ Big Class + Quick Check để phát hiện đúng NLO đang yếu của từng học sinh.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234940"/>
            <a:ext cx="73152" cy="1028700"/>
          </a:xfrm>
          <a:prstGeom prst="rect">
            <a:avLst/>
          </a:prstGeom>
          <a:solidFill>
            <a:srgbClr val="6E7B8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234940"/>
            <a:ext cx="10957255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Routing Engine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priority = ppct_weight × (1−mastery) × prereq_boost — chọn đúng 1–2 NLO ưu tiên cao nhất cho mỗi buổi.</a:t>
            </a:r>
            <a:endParaRPr lang="en-US" sz="12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04 — CẤU TRÚC 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Bằng chứng &amp; niềm tin (Reasons to believe)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83080"/>
            <a:ext cx="73152" cy="105156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10957255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· Nền tảng khoa học học tập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recall &amp; spaced repetition (Roediger &amp; Karpicke, 2006) — 2 kỹ thuật "utility" cao nhất trong 10 kỹ thuật học tập (Dunlosky và cộng sự, 2013).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73152" cy="105156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10957255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· Nguyên tắc quản trị minh bạch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Mastery Map chỉ phục vụ sư phạm, không dùng để ép bán — bài học trực tiếp từ thất bại quản trị của Byju's.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73152" cy="1051560"/>
          </a:xfrm>
          <a:prstGeom prst="rect">
            <a:avLst/>
          </a:prstGeom>
          <a:solidFill>
            <a:srgbClr val="518E0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69080"/>
            <a:ext cx="10957255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· Kiến trúc cùng nhóm với chuẩn quốc tế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Granularity NLO (1.473 đơn vị) cùng bậc với ALEKS (~1.000) và Carnegie MATHia (~700) — không chạy đua granularity vô căn cứ.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5212080"/>
            <a:ext cx="73152" cy="1051560"/>
          </a:xfrm>
          <a:prstGeom prst="rect">
            <a:avLst/>
          </a:prstGeom>
          <a:solidFill>
            <a:srgbClr val="6E7B8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212080"/>
            <a:ext cx="10957255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· Cơ cấu chi phí minh bạch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390.000đ/tháng — công khai trong PRD, không mập mờ giữa AI thật và nhân sự.</a:t>
            </a:r>
            <a:endParaRPr lang="en-US" sz="1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04 — CẤU TRÚC SẢN PHẨM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Lộ trình triển khai — sẵn sàng cho Pilot Lớp 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2286000"/>
            <a:ext cx="2645588" cy="256032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86000"/>
            <a:ext cx="2645588" cy="9144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542032"/>
            <a:ext cx="2316404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0</a:t>
            </a:r>
            <a:endParaRPr lang="en-US" sz="1300" dirty="0"/>
          </a:p>
          <a:p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Chốt schema</a:t>
            </a:r>
            <a:endParaRPr lang="en-US" sz="13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tuần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30220" y="3383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49676" y="2286000"/>
            <a:ext cx="2645588" cy="256032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9676" y="2286000"/>
            <a:ext cx="2645588" cy="9144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1" name="Text 9"/>
          <p:cNvSpPr/>
          <p:nvPr/>
        </p:nvSpPr>
        <p:spPr>
          <a:xfrm>
            <a:off x="3514268" y="2542032"/>
            <a:ext cx="2316404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1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Pilot Lớp 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6976" y="3383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6432" y="2286000"/>
            <a:ext cx="2645588" cy="256032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6432" y="2286000"/>
            <a:ext cx="2645588" cy="9144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2542032"/>
            <a:ext cx="2316404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2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 rộng THCS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23731" y="338328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43187" y="2286000"/>
            <a:ext cx="2645588" cy="2560320"/>
          </a:xfrm>
          <a:prstGeom prst="rect">
            <a:avLst/>
          </a:prstGeom>
          <a:solidFill>
            <a:srgbClr val="F2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3187" y="2286000"/>
            <a:ext cx="2645588" cy="91440"/>
          </a:xfrm>
          <a:prstGeom prst="rect">
            <a:avLst/>
          </a:prstGeom>
          <a:solidFill>
            <a:srgbClr val="3B81B1"/>
          </a:solidFill>
          <a:ln/>
        </p:spPr>
      </p:sp>
      <p:sp>
        <p:nvSpPr>
          <p:cNvPr id="19" name="Text 17"/>
          <p:cNvSpPr/>
          <p:nvPr/>
        </p:nvSpPr>
        <p:spPr>
          <a:xfrm>
            <a:off x="9207779" y="2542032"/>
            <a:ext cx="2316404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3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 rộng Tiểu học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51206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Mỗi Phase có GATE review trước khi mở Phase tiếp theo.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1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 CHÚ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Trạng thái &amp; điểm cần lưu 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" cy="45720"/>
          </a:xfrm>
          <a:prstGeom prst="rect">
            <a:avLst/>
          </a:prstGeom>
          <a:solidFill>
            <a:srgbClr val="A5BE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Đối chiếu với tài liệu nội bộ — xem concept-3-ai-tutor-1-1-2026-08-27.md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solidFill>
            <a:srgbClr val="B23B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 CHÚ NỘI BỘ — KHÔNG TRÌNH ĐỐI NGOẠI. Các điểm dưới đây chưa chốt, cần làm rõ trước khi cam kết nguồn lực.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73152" cy="2148840"/>
          </a:xfrm>
          <a:prstGeom prst="rect">
            <a:avLst/>
          </a:prstGeom>
          <a:solidFill>
            <a:srgbClr val="00467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10957255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Đã chốt tạm (Lân, 27/08/2026)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Chọn biến thể 3.1 (AI nhân hoá "giáo viên ngôi sao").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Tạm dùng tên "EDUPIA AI TUTOR 1-1" làm tên làm việc — tên đối ngoại chính thức chưa chốt.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73152" cy="2148840"/>
          </a:xfrm>
          <a:prstGeom prst="rect">
            <a:avLst/>
          </a:prstGeom>
          <a:solidFill>
            <a:srgbClr val="B23B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14800"/>
            <a:ext cx="10957255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46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Chưa chốt / cần xử lý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Rủi ro trùng tên với "Edupia Tutor 1-1" (gia sư người thật); Voice Cloning / Lip-Sync giáo viên thật cần Product + Pháp lý sign-off.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 vị (substitute rẻ cho Edupia Tutor hay JTBD khác biệt) + cannibalization họ Edupia Tutor: chưa đo lường.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Sản phẩm mới đứng riêng 390k hay nâng cấp tại chỗ tệp 250k; con số "giá vốn ~13%" — nội bộ ghi biên chưa ước tính được.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33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Pilot nội bộ cho Concept 3; số liệu thị trường (3 tỷ USD, +20%/năm, TT29 +33%/năm) cần nguồn kiểm chứng.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7395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EDUPIA  ·  AI TUTOR 1-1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74375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Edupia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Edupia AI Tutor 1-1 — Concept 3</dc:title>
  <dc:subject>PptxGenJS Presentation</dc:subject>
  <dc:creator>Khối Sản phẩm và Công nghệ Edupia</dc:creator>
  <cp:lastModifiedBy>Khối Sản phẩm và Công nghệ Edupia</cp:lastModifiedBy>
  <cp:revision>1</cp:revision>
  <dcterms:created xsi:type="dcterms:W3CDTF">2026-08-27T09:18:13Z</dcterms:created>
  <dcterms:modified xsi:type="dcterms:W3CDTF">2026-08-27T09:18:13Z</dcterms:modified>
</cp:coreProperties>
</file>