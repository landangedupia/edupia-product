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A5BE00"/>
          </a:solidFill>
          <a:ln/>
        </p:spPr>
      </p:sp>
      <p:sp>
        <p:nvSpPr>
          <p:cNvPr id="3" name="Text 1"/>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A5BE00"/>
                </a:solidFill>
                <a:latin typeface="Arial" pitchFamily="34" charset="0"/>
                <a:ea typeface="Arial" pitchFamily="34" charset="-122"/>
                <a:cs typeface="Arial" pitchFamily="34" charset="-120"/>
              </a:rPr>
              <a:t>EDUPIA / AI TUTOR 1-1</a:t>
            </a:r>
            <a:endParaRPr lang="en-US" sz="1300" dirty="0"/>
          </a:p>
        </p:txBody>
      </p:sp>
      <p:sp>
        <p:nvSpPr>
          <p:cNvPr id="4" name="Text 2"/>
          <p:cNvSpPr/>
          <p:nvPr/>
        </p:nvSpPr>
        <p:spPr>
          <a:xfrm>
            <a:off x="548640" y="685800"/>
            <a:ext cx="9144000" cy="365760"/>
          </a:xfrm>
          <a:prstGeom prst="rect">
            <a:avLst/>
          </a:prstGeom>
          <a:noFill/>
          <a:ln/>
        </p:spPr>
        <p:txBody>
          <a:bodyPr wrap="square" rtlCol="0" anchor="ctr"/>
          <a:lstStyle/>
          <a:p>
            <a:pPr indent="0" marL="0">
              <a:buNone/>
            </a:pPr>
            <a:r>
              <a:rPr lang="en-US" sz="1300" spc="100" kern="0" dirty="0">
                <a:solidFill>
                  <a:srgbClr val="FFFFFF"/>
                </a:solidFill>
                <a:latin typeface="Arial" pitchFamily="34" charset="0"/>
                <a:ea typeface="Arial" pitchFamily="34" charset="-122"/>
                <a:cs typeface="Arial" pitchFamily="34" charset="-120"/>
              </a:rPr>
              <a:t>KHỐI SẢN PHẨM – CÔNG NGHỆ · CONCEPT 3 · PHIÊN BẢN NGÔN NGỮ BÁN HÀNG</a:t>
            </a:r>
            <a:endParaRPr lang="en-US" sz="1300" dirty="0"/>
          </a:p>
        </p:txBody>
      </p:sp>
      <p:sp>
        <p:nvSpPr>
          <p:cNvPr id="5" name="Text 3"/>
          <p:cNvSpPr/>
          <p:nvPr/>
        </p:nvSpPr>
        <p:spPr>
          <a:xfrm>
            <a:off x="548640" y="2468880"/>
            <a:ext cx="11094415" cy="146304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CON CÓ NGƯỜI KÈM RIÊNG 1-1</a:t>
            </a:r>
            <a:endParaRPr lang="en-US" sz="4000" dirty="0"/>
          </a:p>
        </p:txBody>
      </p:sp>
      <p:sp>
        <p:nvSpPr>
          <p:cNvPr id="6" name="Text 4"/>
          <p:cNvSpPr/>
          <p:nvPr/>
        </p:nvSpPr>
        <p:spPr>
          <a:xfrm>
            <a:off x="548640" y="3977640"/>
            <a:ext cx="10180015" cy="1463040"/>
          </a:xfrm>
          <a:prstGeom prst="rect">
            <a:avLst/>
          </a:prstGeom>
          <a:noFill/>
          <a:ln/>
        </p:spPr>
        <p:txBody>
          <a:bodyPr wrap="square" rtlCol="0" anchor="ctr"/>
          <a:lstStyle/>
          <a:p>
            <a:pPr indent="0" marL="0">
              <a:buNone/>
            </a:pPr>
            <a:r>
              <a:rPr lang="en-US" sz="1900" i="1" dirty="0">
                <a:solidFill>
                  <a:srgbClr val="FFFFFF"/>
                </a:solidFill>
                <a:latin typeface="Arial" pitchFamily="34" charset="0"/>
                <a:ea typeface="Arial" pitchFamily="34" charset="-122"/>
                <a:cs typeface="Arial" pitchFamily="34" charset="-120"/>
              </a:rPr>
              <a:t>Học đúng chỗ con yếu — được sửa ngay — tiến bộ từng bước. Trải nghiệm được kèm riêng 1-1, nhưng với mức chi phí dễ tiếp cận hơn so với gia sư truyền thống.</a:t>
            </a:r>
            <a:endParaRPr lang="en-US" sz="1900" dirty="0"/>
          </a:p>
        </p:txBody>
      </p:sp>
      <p:sp>
        <p:nvSpPr>
          <p:cNvPr id="7" name="Text 5"/>
          <p:cNvSpPr/>
          <p:nvPr/>
        </p:nvSpPr>
        <p:spPr>
          <a:xfrm>
            <a:off x="548640" y="6217920"/>
            <a:ext cx="11094415" cy="365760"/>
          </a:xfrm>
          <a:prstGeom prst="rect">
            <a:avLst/>
          </a:prstGeom>
          <a:noFill/>
          <a:ln/>
        </p:spPr>
        <p:txBody>
          <a:bodyPr wrap="square" rtlCol="0" anchor="ctr"/>
          <a:lstStyle/>
          <a:p>
            <a:pPr indent="0" marL="0">
              <a:buNone/>
            </a:pPr>
            <a:r>
              <a:rPr lang="en-US" sz="1100" dirty="0">
                <a:solidFill>
                  <a:srgbClr val="BFD2A0"/>
                </a:solidFill>
                <a:latin typeface="Arial" pitchFamily="34" charset="0"/>
                <a:ea typeface="Arial" pitchFamily="34" charset="-122"/>
                <a:cs typeface="Arial" pitchFamily="34" charset="-120"/>
              </a:rPr>
              <a:t>Phiên bản 2 — Ngôn ngữ bán hàng · Bản nháp 2026-09-03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4671"/>
          </a:solidFill>
          <a:ln/>
        </p:spPr>
      </p:sp>
      <p:sp>
        <p:nvSpPr>
          <p:cNvPr id="3" name="Text 1"/>
          <p:cNvSpPr/>
          <p:nvPr/>
        </p:nvSpPr>
        <p:spPr>
          <a:xfrm>
            <a:off x="548640" y="502920"/>
            <a:ext cx="11094415" cy="640080"/>
          </a:xfrm>
          <a:prstGeom prst="rect">
            <a:avLst/>
          </a:prstGeom>
          <a:noFill/>
          <a:ln/>
        </p:spPr>
        <p:txBody>
          <a:bodyPr wrap="square" rtlCol="0" anchor="ctr"/>
          <a:lstStyle/>
          <a:p>
            <a:pPr indent="0" marL="0">
              <a:buNone/>
            </a:pPr>
            <a:r>
              <a:rPr lang="en-US" sz="2800" b="1" dirty="0">
                <a:solidFill>
                  <a:srgbClr val="004671"/>
                </a:solidFill>
                <a:latin typeface="Arial" pitchFamily="34" charset="0"/>
                <a:ea typeface="Arial" pitchFamily="34" charset="-122"/>
                <a:cs typeface="Arial" pitchFamily="34" charset="-120"/>
              </a:rPr>
              <a:t>MỤC LỤC</a:t>
            </a:r>
            <a:endParaRPr lang="en-US" sz="2800" dirty="0"/>
          </a:p>
        </p:txBody>
      </p:sp>
      <p:sp>
        <p:nvSpPr>
          <p:cNvPr id="4" name="Text 2"/>
          <p:cNvSpPr/>
          <p:nvPr/>
        </p:nvSpPr>
        <p:spPr>
          <a:xfrm>
            <a:off x="548640" y="1554480"/>
            <a:ext cx="640080" cy="640080"/>
          </a:xfrm>
          <a:prstGeom prst="rect">
            <a:avLst/>
          </a:prstGeom>
          <a:noFill/>
          <a:ln/>
        </p:spPr>
        <p:txBody>
          <a:bodyPr wrap="square" rtlCol="0" anchor="ctr"/>
          <a:lstStyle/>
          <a:p>
            <a:pPr indent="0" marL="0">
              <a:buNone/>
            </a:pPr>
            <a:r>
              <a:rPr lang="en-US" sz="2800" b="1" dirty="0">
                <a:solidFill>
                  <a:srgbClr val="A5BE00"/>
                </a:solidFill>
                <a:latin typeface="Arial" pitchFamily="34" charset="0"/>
                <a:ea typeface="Arial" pitchFamily="34" charset="-122"/>
                <a:cs typeface="Arial" pitchFamily="34" charset="-120"/>
              </a:rPr>
              <a:t>1</a:t>
            </a:r>
            <a:endParaRPr lang="en-US" sz="2800" dirty="0"/>
          </a:p>
        </p:txBody>
      </p:sp>
      <p:sp>
        <p:nvSpPr>
          <p:cNvPr id="5" name="Text 3"/>
          <p:cNvSpPr/>
          <p:nvPr/>
        </p:nvSpPr>
        <p:spPr>
          <a:xfrm>
            <a:off x="1371600" y="1600200"/>
            <a:ext cx="10180015" cy="640080"/>
          </a:xfrm>
          <a:prstGeom prst="rect">
            <a:avLst/>
          </a:prstGeom>
          <a:noFill/>
          <a:ln/>
        </p:spPr>
        <p:txBody>
          <a:bodyPr wrap="square" rtlCol="0" anchor="ctr"/>
          <a:lstStyle/>
          <a:p>
            <a:pPr indent="0" marL="0">
              <a:buNone/>
            </a:pPr>
            <a:r>
              <a:rPr lang="en-US" sz="2000" dirty="0">
                <a:solidFill>
                  <a:srgbClr val="1F2A33"/>
                </a:solidFill>
                <a:latin typeface="Arial" pitchFamily="34" charset="0"/>
                <a:ea typeface="Arial" pitchFamily="34" charset="-122"/>
                <a:cs typeface="Arial" pitchFamily="34" charset="-120"/>
              </a:rPr>
              <a:t>Vì sao con cần được kèm riêng?</a:t>
            </a:r>
            <a:endParaRPr lang="en-US" sz="2000" dirty="0"/>
          </a:p>
        </p:txBody>
      </p:sp>
      <p:sp>
        <p:nvSpPr>
          <p:cNvPr id="6" name="Text 4"/>
          <p:cNvSpPr/>
          <p:nvPr/>
        </p:nvSpPr>
        <p:spPr>
          <a:xfrm>
            <a:off x="548640" y="2514600"/>
            <a:ext cx="640080" cy="640080"/>
          </a:xfrm>
          <a:prstGeom prst="rect">
            <a:avLst/>
          </a:prstGeom>
          <a:noFill/>
          <a:ln/>
        </p:spPr>
        <p:txBody>
          <a:bodyPr wrap="square" rtlCol="0" anchor="ctr"/>
          <a:lstStyle/>
          <a:p>
            <a:pPr indent="0" marL="0">
              <a:buNone/>
            </a:pPr>
            <a:r>
              <a:rPr lang="en-US" sz="2800" b="1" dirty="0">
                <a:solidFill>
                  <a:srgbClr val="A5BE00"/>
                </a:solidFill>
                <a:latin typeface="Arial" pitchFamily="34" charset="0"/>
                <a:ea typeface="Arial" pitchFamily="34" charset="-122"/>
                <a:cs typeface="Arial" pitchFamily="34" charset="-120"/>
              </a:rPr>
              <a:t>2</a:t>
            </a:r>
            <a:endParaRPr lang="en-US" sz="2800" dirty="0"/>
          </a:p>
        </p:txBody>
      </p:sp>
      <p:sp>
        <p:nvSpPr>
          <p:cNvPr id="7" name="Text 5"/>
          <p:cNvSpPr/>
          <p:nvPr/>
        </p:nvSpPr>
        <p:spPr>
          <a:xfrm>
            <a:off x="1371600" y="2560320"/>
            <a:ext cx="10180015" cy="640080"/>
          </a:xfrm>
          <a:prstGeom prst="rect">
            <a:avLst/>
          </a:prstGeom>
          <a:noFill/>
          <a:ln/>
        </p:spPr>
        <p:txBody>
          <a:bodyPr wrap="square" rtlCol="0" anchor="ctr"/>
          <a:lstStyle/>
          <a:p>
            <a:pPr indent="0" marL="0">
              <a:buNone/>
            </a:pPr>
            <a:r>
              <a:rPr lang="en-US" sz="2000" dirty="0">
                <a:solidFill>
                  <a:srgbClr val="1F2A33"/>
                </a:solidFill>
                <a:latin typeface="Arial" pitchFamily="34" charset="0"/>
                <a:ea typeface="Arial" pitchFamily="34" charset="-122"/>
                <a:cs typeface="Arial" pitchFamily="34" charset="-120"/>
              </a:rPr>
              <a:t>Phụ huynh nào sẽ thấy giá trị rõ nhất?</a:t>
            </a:r>
            <a:endParaRPr lang="en-US" sz="2000" dirty="0"/>
          </a:p>
        </p:txBody>
      </p:sp>
      <p:sp>
        <p:nvSpPr>
          <p:cNvPr id="8" name="Text 6"/>
          <p:cNvSpPr/>
          <p:nvPr/>
        </p:nvSpPr>
        <p:spPr>
          <a:xfrm>
            <a:off x="548640" y="3474720"/>
            <a:ext cx="640080" cy="640080"/>
          </a:xfrm>
          <a:prstGeom prst="rect">
            <a:avLst/>
          </a:prstGeom>
          <a:noFill/>
          <a:ln/>
        </p:spPr>
        <p:txBody>
          <a:bodyPr wrap="square" rtlCol="0" anchor="ctr"/>
          <a:lstStyle/>
          <a:p>
            <a:pPr indent="0" marL="0">
              <a:buNone/>
            </a:pPr>
            <a:r>
              <a:rPr lang="en-US" sz="2800" b="1" dirty="0">
                <a:solidFill>
                  <a:srgbClr val="A5BE00"/>
                </a:solidFill>
                <a:latin typeface="Arial" pitchFamily="34" charset="0"/>
                <a:ea typeface="Arial" pitchFamily="34" charset="-122"/>
                <a:cs typeface="Arial" pitchFamily="34" charset="-120"/>
              </a:rPr>
              <a:t>3</a:t>
            </a:r>
            <a:endParaRPr lang="en-US" sz="2800" dirty="0"/>
          </a:p>
        </p:txBody>
      </p:sp>
      <p:sp>
        <p:nvSpPr>
          <p:cNvPr id="9" name="Text 7"/>
          <p:cNvSpPr/>
          <p:nvPr/>
        </p:nvSpPr>
        <p:spPr>
          <a:xfrm>
            <a:off x="1371600" y="3520440"/>
            <a:ext cx="10180015" cy="640080"/>
          </a:xfrm>
          <a:prstGeom prst="rect">
            <a:avLst/>
          </a:prstGeom>
          <a:noFill/>
          <a:ln/>
        </p:spPr>
        <p:txBody>
          <a:bodyPr wrap="square" rtlCol="0" anchor="ctr"/>
          <a:lstStyle/>
          <a:p>
            <a:pPr indent="0" marL="0">
              <a:buNone/>
            </a:pPr>
            <a:r>
              <a:rPr lang="en-US" sz="2000" dirty="0">
                <a:solidFill>
                  <a:srgbClr val="1F2A33"/>
                </a:solidFill>
                <a:latin typeface="Arial" pitchFamily="34" charset="0"/>
                <a:ea typeface="Arial" pitchFamily="34" charset="-122"/>
                <a:cs typeface="Arial" pitchFamily="34" charset="-120"/>
              </a:rPr>
              <a:t>Con và bố mẹ nhận được gì?</a:t>
            </a:r>
            <a:endParaRPr lang="en-US" sz="2000" dirty="0"/>
          </a:p>
        </p:txBody>
      </p:sp>
      <p:sp>
        <p:nvSpPr>
          <p:cNvPr id="10" name="Text 8"/>
          <p:cNvSpPr/>
          <p:nvPr/>
        </p:nvSpPr>
        <p:spPr>
          <a:xfrm>
            <a:off x="548640" y="4434840"/>
            <a:ext cx="640080" cy="640080"/>
          </a:xfrm>
          <a:prstGeom prst="rect">
            <a:avLst/>
          </a:prstGeom>
          <a:noFill/>
          <a:ln/>
        </p:spPr>
        <p:txBody>
          <a:bodyPr wrap="square" rtlCol="0" anchor="ctr"/>
          <a:lstStyle/>
          <a:p>
            <a:pPr indent="0" marL="0">
              <a:buNone/>
            </a:pPr>
            <a:r>
              <a:rPr lang="en-US" sz="2800" b="1" dirty="0">
                <a:solidFill>
                  <a:srgbClr val="A5BE00"/>
                </a:solidFill>
                <a:latin typeface="Arial" pitchFamily="34" charset="0"/>
                <a:ea typeface="Arial" pitchFamily="34" charset="-122"/>
                <a:cs typeface="Arial" pitchFamily="34" charset="-120"/>
              </a:rPr>
              <a:t>4</a:t>
            </a:r>
            <a:endParaRPr lang="en-US" sz="2800" dirty="0"/>
          </a:p>
        </p:txBody>
      </p:sp>
      <p:sp>
        <p:nvSpPr>
          <p:cNvPr id="11" name="Text 9"/>
          <p:cNvSpPr/>
          <p:nvPr/>
        </p:nvSpPr>
        <p:spPr>
          <a:xfrm>
            <a:off x="1371600" y="4480560"/>
            <a:ext cx="10180015" cy="640080"/>
          </a:xfrm>
          <a:prstGeom prst="rect">
            <a:avLst/>
          </a:prstGeom>
          <a:noFill/>
          <a:ln/>
        </p:spPr>
        <p:txBody>
          <a:bodyPr wrap="square" rtlCol="0" anchor="ctr"/>
          <a:lstStyle/>
          <a:p>
            <a:pPr indent="0" marL="0">
              <a:buNone/>
            </a:pPr>
            <a:r>
              <a:rPr lang="en-US" sz="2000" dirty="0">
                <a:solidFill>
                  <a:srgbClr val="1F2A33"/>
                </a:solidFill>
                <a:latin typeface="Arial" pitchFamily="34" charset="0"/>
                <a:ea typeface="Arial" pitchFamily="34" charset="-122"/>
                <a:cs typeface="Arial" pitchFamily="34" charset="-120"/>
              </a:rPr>
              <a:t>Con sẽ học như thế nào?</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A5BE00"/>
          </a:solidFill>
          <a:ln/>
        </p:spPr>
      </p:sp>
      <p:sp>
        <p:nvSpPr>
          <p:cNvPr id="3" name="Text 1"/>
          <p:cNvSpPr/>
          <p:nvPr/>
        </p:nvSpPr>
        <p:spPr>
          <a:xfrm>
            <a:off x="548640" y="2377440"/>
            <a:ext cx="11094415" cy="548640"/>
          </a:xfrm>
          <a:prstGeom prst="rect">
            <a:avLst/>
          </a:prstGeom>
          <a:noFill/>
          <a:ln/>
        </p:spPr>
        <p:txBody>
          <a:bodyPr wrap="square" rtlCol="0" anchor="ctr"/>
          <a:lstStyle/>
          <a:p>
            <a:pPr indent="0" marL="0">
              <a:buNone/>
            </a:pPr>
            <a:r>
              <a:rPr lang="en-US" sz="1600" b="1" spc="200" kern="0" dirty="0">
                <a:solidFill>
                  <a:srgbClr val="A5BE00"/>
                </a:solidFill>
                <a:latin typeface="Arial" pitchFamily="34" charset="0"/>
                <a:ea typeface="Arial" pitchFamily="34" charset="-122"/>
                <a:cs typeface="Arial" pitchFamily="34" charset="-120"/>
              </a:rPr>
              <a:t>PHẦN 1</a:t>
            </a:r>
            <a:endParaRPr lang="en-US" sz="1600" dirty="0"/>
          </a:p>
        </p:txBody>
      </p:sp>
      <p:sp>
        <p:nvSpPr>
          <p:cNvPr id="4" name="Text 2"/>
          <p:cNvSpPr/>
          <p:nvPr/>
        </p:nvSpPr>
        <p:spPr>
          <a:xfrm>
            <a:off x="548640" y="2880360"/>
            <a:ext cx="11094415" cy="164592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Vì sao con cần được kèm riêng?</a:t>
            </a:r>
            <a:endParaRPr lang="en-US"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3</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Bố mẹ đang lo gì?</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Trong một lớp học có nhiều bạn:</a:t>
            </a:r>
            <a:endParaRPr lang="en-US" sz="1600" dirty="0"/>
          </a:p>
        </p:txBody>
      </p:sp>
      <p:sp>
        <p:nvSpPr>
          <p:cNvPr id="7" name="Text 5"/>
          <p:cNvSpPr/>
          <p:nvPr/>
        </p:nvSpPr>
        <p:spPr>
          <a:xfrm>
            <a:off x="548640" y="1792224"/>
            <a:ext cx="11094415" cy="15910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Mỗi bạn có một điểm mạnh, điểm yếu khác nhau.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bạn hiểu bài nhanh, có bạn cần được giải thích thêm.</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Nhưng cả lớp vẫn phải học theo một tiến độ chung.</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Giáo viên khó có thể dành nhiều thời gian cho từng con.</a:t>
            </a:r>
            <a:endParaRPr lang="en-US" sz="1600" dirty="0"/>
          </a:p>
        </p:txBody>
      </p:sp>
      <p:sp>
        <p:nvSpPr>
          <p:cNvPr id="8" name="Text 6"/>
          <p:cNvSpPr/>
          <p:nvPr/>
        </p:nvSpPr>
        <p:spPr>
          <a:xfrm>
            <a:off x="548640" y="356616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Vì vậy, có những lúc:</a:t>
            </a:r>
            <a:endParaRPr lang="en-US" sz="1600" dirty="0"/>
          </a:p>
        </p:txBody>
      </p:sp>
      <p:sp>
        <p:nvSpPr>
          <p:cNvPr id="9" name="Text 7"/>
          <p:cNvSpPr/>
          <p:nvPr/>
        </p:nvSpPr>
        <p:spPr>
          <a:xfrm>
            <a:off x="548640" y="3986784"/>
            <a:ext cx="11094415" cy="15910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vẫn đi học đều nhưng một vài phần chưa hiểu chắc.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ngại hỏi lại khi chưa hiểu.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Phần chưa chắc hôm nay có thể trở thành phần khó hơn sau này.</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Bố mẹ không biết chính xác con đang yếu ở đâu để hỗ trợ.</a:t>
            </a:r>
            <a:endParaRPr lang="en-US" sz="1600" dirty="0"/>
          </a:p>
        </p:txBody>
      </p:sp>
      <p:sp>
        <p:nvSpPr>
          <p:cNvPr id="10" name="Text 8"/>
          <p:cNvSpPr/>
          <p:nvPr/>
        </p:nvSpPr>
        <p:spPr>
          <a:xfrm>
            <a:off x="548640" y="576072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Trong khi đó:</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3</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Bố mẹ đang lo gì?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149961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Gia sư 1-1 có thể theo sát từng con nhưng chi phí thường cao.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Ứng dụng tự học có nhiều nội dung nhưng con phải tự học và tự duy trì động lực.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Bố mẹ bận, hoặc không đủ tự tin để tự dạy con tiếng Anh.</a:t>
            </a:r>
            <a:endParaRPr lang="en-US" sz="1600" dirty="0"/>
          </a:p>
        </p:txBody>
      </p:sp>
      <p:sp>
        <p:nvSpPr>
          <p:cNvPr id="7" name="Shape 5"/>
          <p:cNvSpPr/>
          <p:nvPr/>
        </p:nvSpPr>
        <p:spPr>
          <a:xfrm>
            <a:off x="548640" y="3054096"/>
            <a:ext cx="11094415" cy="1426464"/>
          </a:xfrm>
          <a:prstGeom prst="roundRect">
            <a:avLst>
              <a:gd name="adj" fmla="val 3846"/>
            </a:avLst>
          </a:prstGeom>
          <a:solidFill>
            <a:srgbClr val="EAF1DC"/>
          </a:solidFill>
          <a:ln w="12700">
            <a:solidFill>
              <a:srgbClr val="A5BE00"/>
            </a:solidFill>
            <a:prstDash val="solid"/>
          </a:ln>
        </p:spPr>
      </p:sp>
      <p:sp>
        <p:nvSpPr>
          <p:cNvPr id="8" name="Text 6"/>
          <p:cNvSpPr/>
          <p:nvPr/>
        </p:nvSpPr>
        <p:spPr>
          <a:xfrm>
            <a:off x="731520" y="3163824"/>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9" name="Text 7"/>
          <p:cNvSpPr/>
          <p:nvPr/>
        </p:nvSpPr>
        <p:spPr>
          <a:xfrm>
            <a:off x="731520" y="3438144"/>
            <a:ext cx="10728655" cy="969264"/>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"Nhiều khi con không học kém đâu chị. Con chỉ đang hổng một vài chỗ thôi. Nhưng nếu học theo một tiến độ chung thì những chỗ đó rất dễ bị bỏ qua. Cái con cần là có người theo sát, biết con yếu đâu và kèm đúng chỗ đó."</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4</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Cơ hội</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507992"/>
                <a:gridCol w="3291840"/>
                <a:gridCol w="3291840"/>
              </a:tblGrid>
              <a:tr h="0">
                <a:tc>
                  <a:txBody>
                    <a:bodyPr/>
                    <a:lstStyle/>
                    <a:p>
                      <a:pPr algn="l" indent="0" marL="0">
                        <a:buNone/>
                      </a:pP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Gia sư 1-1</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Ứng dụng tự học</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Được học riêng</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Được tập trung vào điểm yếu</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Một phần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Có người hướng dẫn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Một phần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Được luyện nói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Theo dõi quá trình học</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Tùy người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Giáo viên chủ nhiệm đồng hành</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Tùy người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Chi phí</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Cao</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Thấp hơn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5294376"/>
            <a:ext cx="1109441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Edupia mang đến một lựa chọn mới: </a:t>
            </a:r>
            <a:pPr indent="0" marL="0">
              <a:buNone/>
            </a:pPr>
            <a:r>
              <a:rPr lang="en-US" sz="1600" dirty="0">
                <a:solidFill>
                  <a:srgbClr val="1F2A33"/>
                </a:solidFill>
                <a:latin typeface="Arial" pitchFamily="34" charset="0"/>
                <a:ea typeface="Arial" pitchFamily="34" charset="-122"/>
                <a:cs typeface="Arial" pitchFamily="34" charset="-120"/>
              </a:rPr>
              <a:t>Con được học 1-1 với AI Tutor + nội dung học được điều chỉnh theo trình độ và kết quả của con + giáo viên chủ nhiệm đồng hành + bố mẹ theo dõi được quá trình học.</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4</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Cơ hội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Mức giá dự kiến khảo sát: </a:t>
            </a:r>
            <a:pPr indent="0" marL="0">
              <a:buNone/>
            </a:pPr>
            <a:r>
              <a:rPr lang="en-US" sz="1600" dirty="0">
                <a:solidFill>
                  <a:srgbClr val="1F2A33"/>
                </a:solidFill>
                <a:latin typeface="Arial" pitchFamily="34" charset="0"/>
                <a:ea typeface="Arial" pitchFamily="34" charset="-122"/>
                <a:cs typeface="Arial" pitchFamily="34" charset="-120"/>
              </a:rPr>
              <a:t>390.000–450.000đ/tháng</a:t>
            </a:r>
            <a:endParaRPr lang="en-US" sz="1600" dirty="0"/>
          </a:p>
        </p:txBody>
      </p:sp>
      <p:sp>
        <p:nvSpPr>
          <p:cNvPr id="7" name="Shape 5"/>
          <p:cNvSpPr/>
          <p:nvPr/>
        </p:nvSpPr>
        <p:spPr>
          <a:xfrm>
            <a:off x="548640" y="1975104"/>
            <a:ext cx="11094415" cy="1426464"/>
          </a:xfrm>
          <a:prstGeom prst="roundRect">
            <a:avLst>
              <a:gd name="adj" fmla="val 3846"/>
            </a:avLst>
          </a:prstGeom>
          <a:solidFill>
            <a:srgbClr val="EAF1DC"/>
          </a:solidFill>
          <a:ln w="12700">
            <a:solidFill>
              <a:srgbClr val="A5BE00"/>
            </a:solidFill>
            <a:prstDash val="solid"/>
          </a:ln>
        </p:spPr>
      </p:sp>
      <p:sp>
        <p:nvSpPr>
          <p:cNvPr id="8" name="Text 6"/>
          <p:cNvSpPr/>
          <p:nvPr/>
        </p:nvSpPr>
        <p:spPr>
          <a:xfrm>
            <a:off x="731520" y="2084832"/>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9" name="Text 7"/>
          <p:cNvSpPr/>
          <p:nvPr/>
        </p:nvSpPr>
        <p:spPr>
          <a:xfrm>
            <a:off x="731520" y="2359152"/>
            <a:ext cx="10728655" cy="969264"/>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"Nếu trước đây muốn con được kèm riêng thì bố mẹ thường phải thuê gia sư với chi phí khá cao, còn học app thì con lại phải tự học nhiều. Edupia muốn kết hợp hai điều này: con có trải nghiệm được kèm riêng 1-1 nhưng mức chi phí dễ tiếp cận hơn."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A5BE00"/>
          </a:solidFill>
          <a:ln/>
        </p:spPr>
      </p:sp>
      <p:sp>
        <p:nvSpPr>
          <p:cNvPr id="3" name="Text 1"/>
          <p:cNvSpPr/>
          <p:nvPr/>
        </p:nvSpPr>
        <p:spPr>
          <a:xfrm>
            <a:off x="548640" y="2377440"/>
            <a:ext cx="11094415" cy="548640"/>
          </a:xfrm>
          <a:prstGeom prst="rect">
            <a:avLst/>
          </a:prstGeom>
          <a:noFill/>
          <a:ln/>
        </p:spPr>
        <p:txBody>
          <a:bodyPr wrap="square" rtlCol="0" anchor="ctr"/>
          <a:lstStyle/>
          <a:p>
            <a:pPr indent="0" marL="0">
              <a:buNone/>
            </a:pPr>
            <a:r>
              <a:rPr lang="en-US" sz="1600" b="1" spc="200" kern="0" dirty="0">
                <a:solidFill>
                  <a:srgbClr val="A5BE00"/>
                </a:solidFill>
                <a:latin typeface="Arial" pitchFamily="34" charset="0"/>
                <a:ea typeface="Arial" pitchFamily="34" charset="-122"/>
                <a:cs typeface="Arial" pitchFamily="34" charset="-120"/>
              </a:rPr>
              <a:t>PHẦN 2</a:t>
            </a:r>
            <a:endParaRPr lang="en-US" sz="1600" dirty="0"/>
          </a:p>
        </p:txBody>
      </p:sp>
      <p:sp>
        <p:nvSpPr>
          <p:cNvPr id="4" name="Text 2"/>
          <p:cNvSpPr/>
          <p:nvPr/>
        </p:nvSpPr>
        <p:spPr>
          <a:xfrm>
            <a:off x="548640" y="2880360"/>
            <a:ext cx="11094415" cy="164592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Khách hàng mục tiêu</a:t>
            </a:r>
            <a:endParaRPr lang="en-US" sz="3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5</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Phụ huynh nào sẽ thấy giá trị rõ nhất?</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Phụ huynh:</a:t>
            </a:r>
            <a:endParaRPr lang="en-US" sz="1600" dirty="0"/>
          </a:p>
        </p:txBody>
      </p:sp>
      <p:sp>
        <p:nvSpPr>
          <p:cNvPr id="7" name="Text 5"/>
          <p:cNvSpPr/>
          <p:nvPr/>
        </p:nvSpPr>
        <p:spPr>
          <a:xfrm>
            <a:off x="548640" y="1792224"/>
            <a:ext cx="11094415" cy="268833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Khoảng 30–45 tuổi.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Đang cho con học Edupia / Big Class.</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Muốn con tiến bộ rõ ràng hơn.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Sẵn sàng chi thêm nếu thấy giá trị rõ.</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Muốn con được chăm sát hơn nhưng chi phí vẫn phù hợp.</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Bố mẹ bận, không có nhiều thời gian kèm con tại nhà.</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Không nhất thiết phải giỏi tiếng Anh để theo dõi việc học của con.</a:t>
            </a:r>
            <a:endParaRPr lang="en-US" sz="1600" dirty="0"/>
          </a:p>
        </p:txBody>
      </p:sp>
      <p:sp>
        <p:nvSpPr>
          <p:cNvPr id="8" name="Text 6"/>
          <p:cNvSpPr/>
          <p:nvPr/>
        </p:nvSpPr>
        <p:spPr>
          <a:xfrm>
            <a:off x="548640" y="466344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Học sinh:</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5</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Phụ huynh nào sẽ thấy giá trị rõ nhất?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32257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Khoảng lớp 1–8.</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những phần kiến thức chưa chắc.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Cần được hướng dẫn thêm ở những phần yếu.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Cần luyện nói thường xuyên.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Cần mức độ thử thách phù hợp.</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Cần một người theo sát để nhắc nhở và động viên.</a:t>
            </a:r>
            <a:endParaRPr lang="en-US" sz="1600" dirty="0"/>
          </a:p>
        </p:txBody>
      </p:sp>
      <p:sp>
        <p:nvSpPr>
          <p:cNvPr id="7" name="Shape 5"/>
          <p:cNvSpPr/>
          <p:nvPr/>
        </p:nvSpPr>
        <p:spPr>
          <a:xfrm>
            <a:off x="548640" y="3877056"/>
            <a:ext cx="54864" cy="1078992"/>
          </a:xfrm>
          <a:prstGeom prst="rect">
            <a:avLst/>
          </a:prstGeom>
          <a:solidFill>
            <a:srgbClr val="A5BE00"/>
          </a:solidFill>
          <a:ln/>
        </p:spPr>
      </p:sp>
      <p:sp>
        <p:nvSpPr>
          <p:cNvPr id="8" name="Text 6"/>
          <p:cNvSpPr/>
          <p:nvPr/>
        </p:nvSpPr>
        <p:spPr>
          <a:xfrm>
            <a:off x="777240" y="3877056"/>
            <a:ext cx="10865815" cy="1078992"/>
          </a:xfrm>
          <a:prstGeom prst="rect">
            <a:avLst/>
          </a:prstGeom>
          <a:noFill/>
          <a:ln/>
        </p:spPr>
        <p:txBody>
          <a:bodyPr wrap="square" rtlCol="0" anchor="ctr"/>
          <a:lstStyle/>
          <a:p>
            <a:pPr indent="0" marL="0">
              <a:buNone/>
            </a:pPr>
            <a:r>
              <a:rPr lang="en-US" sz="1500" i="1" dirty="0">
                <a:solidFill>
                  <a:srgbClr val="004671"/>
                </a:solidFill>
                <a:latin typeface="Arial" pitchFamily="34" charset="0"/>
                <a:ea typeface="Arial" pitchFamily="34" charset="-122"/>
                <a:cs typeface="Arial" pitchFamily="34" charset="-120"/>
              </a:rPr>
              <a:t>"Tôi muốn có người theo sát con hơn, nhưng thuê gia sư riêng thì chi phí cao."   ·   "Tôi đi làm cả ngày, không thể tối nào cũng ngồi dạy con."   ·   "Tôi muốn biết con đang yếu chỗ nào chứ không chỉ biết con làm được bao nhiêu điểm."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6</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Bố mẹ thực sự mong muốn gì?</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0"/>
                <a:gridCol w="615391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Bố mẹ muốn</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Nhưng đang lo</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học giỏi hơn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Không biết chính xác con đang yếu ở đâu</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được học với người giỏi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Học chung khó được theo sát riêng</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thích học hơn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Gặp phần khó dễ nản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Bố mẹ yên tâm giao phó con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Không có thời gian theo sát việc học</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tự tin nói tiếng Anh</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ít cơ hội nói và còn ngại nói sai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361688"/>
            <a:ext cx="54864" cy="786384"/>
          </a:xfrm>
          <a:prstGeom prst="rect">
            <a:avLst/>
          </a:prstGeom>
          <a:solidFill>
            <a:srgbClr val="A5BE00"/>
          </a:solidFill>
          <a:ln/>
        </p:spPr>
      </p:sp>
      <p:sp>
        <p:nvSpPr>
          <p:cNvPr id="8" name="Text 5"/>
          <p:cNvSpPr/>
          <p:nvPr/>
        </p:nvSpPr>
        <p:spPr>
          <a:xfrm>
            <a:off x="777240" y="4361688"/>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Điều bố mẹ thực sự cần: có người hiểu con — biết con đang yếu ở đâu — hướng dẫn đúng cách — và theo sát con trong suốt quá trình học.</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6</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Bố mẹ thực sự mong muốn gì?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Shape 4"/>
          <p:cNvSpPr/>
          <p:nvPr/>
        </p:nvSpPr>
        <p:spPr>
          <a:xfrm>
            <a:off x="548640" y="1371600"/>
            <a:ext cx="11094415" cy="1133856"/>
          </a:xfrm>
          <a:prstGeom prst="roundRect">
            <a:avLst>
              <a:gd name="adj" fmla="val 4839"/>
            </a:avLst>
          </a:prstGeom>
          <a:solidFill>
            <a:srgbClr val="EAF1DC"/>
          </a:solidFill>
          <a:ln w="12700">
            <a:solidFill>
              <a:srgbClr val="A5BE00"/>
            </a:solidFill>
            <a:prstDash val="solid"/>
          </a:ln>
        </p:spPr>
      </p:sp>
      <p:sp>
        <p:nvSpPr>
          <p:cNvPr id="7" name="Text 5"/>
          <p:cNvSpPr/>
          <p:nvPr/>
        </p:nvSpPr>
        <p:spPr>
          <a:xfrm>
            <a:off x="731520" y="1481328"/>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8" name="Text 6"/>
          <p:cNvSpPr/>
          <p:nvPr/>
        </p:nvSpPr>
        <p:spPr>
          <a:xfrm>
            <a:off x="731520" y="1755648"/>
            <a:ext cx="10728655" cy="676656"/>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"Bố mẹ không chỉ mua thêm một buổi học. Bố mẹ đang muốn có một người theo sát con hơn, để biết con yếu đâu, kèm đúng chỗ đó và giúp con tiến bộ từng bước."</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A5BE00"/>
          </a:solidFill>
          <a:ln/>
        </p:spPr>
      </p:sp>
      <p:sp>
        <p:nvSpPr>
          <p:cNvPr id="3" name="Text 1"/>
          <p:cNvSpPr/>
          <p:nvPr/>
        </p:nvSpPr>
        <p:spPr>
          <a:xfrm>
            <a:off x="548640" y="2377440"/>
            <a:ext cx="11094415" cy="548640"/>
          </a:xfrm>
          <a:prstGeom prst="rect">
            <a:avLst/>
          </a:prstGeom>
          <a:noFill/>
          <a:ln/>
        </p:spPr>
        <p:txBody>
          <a:bodyPr wrap="square" rtlCol="0" anchor="ctr"/>
          <a:lstStyle/>
          <a:p>
            <a:pPr indent="0" marL="0">
              <a:buNone/>
            </a:pPr>
            <a:r>
              <a:rPr lang="en-US" sz="1600" b="1" spc="200" kern="0" dirty="0">
                <a:solidFill>
                  <a:srgbClr val="A5BE00"/>
                </a:solidFill>
                <a:latin typeface="Arial" pitchFamily="34" charset="0"/>
                <a:ea typeface="Arial" pitchFamily="34" charset="-122"/>
                <a:cs typeface="Arial" pitchFamily="34" charset="-120"/>
              </a:rPr>
              <a:t>PHẦN 3</a:t>
            </a:r>
            <a:endParaRPr lang="en-US" sz="1600" dirty="0"/>
          </a:p>
        </p:txBody>
      </p:sp>
      <p:sp>
        <p:nvSpPr>
          <p:cNvPr id="4" name="Text 2"/>
          <p:cNvSpPr/>
          <p:nvPr/>
        </p:nvSpPr>
        <p:spPr>
          <a:xfrm>
            <a:off x="548640" y="2880360"/>
            <a:ext cx="11094415" cy="164592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Con và bố mẹ nhận được gì?</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7</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5 giá trị dành cho con và bố mẹ</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1. Con học giỏi hơn — con yếu đâu, được kèm đúng đó. </a:t>
            </a:r>
            <a:pPr indent="0" marL="0">
              <a:buNone/>
            </a:pPr>
            <a:r>
              <a:rPr lang="en-US" sz="1600" dirty="0">
                <a:solidFill>
                  <a:srgbClr val="1F2A33"/>
                </a:solidFill>
                <a:latin typeface="Arial" pitchFamily="34" charset="0"/>
                <a:ea typeface="Arial" pitchFamily="34" charset="-122"/>
                <a:cs typeface="Arial" pitchFamily="34" charset="-120"/>
              </a:rPr>
              <a:t>Con không phải học lại tất cả.</a:t>
            </a:r>
            <a:endParaRPr lang="en-US" sz="1600" dirty="0"/>
          </a:p>
        </p:txBody>
      </p:sp>
      <p:sp>
        <p:nvSpPr>
          <p:cNvPr id="7" name="Text 5"/>
          <p:cNvSpPr/>
          <p:nvPr/>
        </p:nvSpPr>
        <p:spPr>
          <a:xfrm>
            <a:off x="548640" y="1975104"/>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Người kèm riêng theo dõi kết quả học để biết:</a:t>
            </a:r>
            <a:endParaRPr lang="en-US" sz="1600" dirty="0"/>
          </a:p>
        </p:txBody>
      </p:sp>
      <p:sp>
        <p:nvSpPr>
          <p:cNvPr id="8" name="Text 6"/>
          <p:cNvSpPr/>
          <p:nvPr/>
        </p:nvSpPr>
        <p:spPr>
          <a:xfrm>
            <a:off x="548640" y="2395728"/>
            <a:ext cx="11094415" cy="122529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đã chắc phần nào.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còn chưa chắc phần nào.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cần luyện thêm ở đâu.</a:t>
            </a:r>
            <a:endParaRPr lang="en-US" sz="1600" dirty="0"/>
          </a:p>
        </p:txBody>
      </p:sp>
      <p:sp>
        <p:nvSpPr>
          <p:cNvPr id="9" name="Shape 7"/>
          <p:cNvSpPr/>
          <p:nvPr/>
        </p:nvSpPr>
        <p:spPr>
          <a:xfrm>
            <a:off x="548640" y="3803904"/>
            <a:ext cx="54864" cy="786384"/>
          </a:xfrm>
          <a:prstGeom prst="rect">
            <a:avLst/>
          </a:prstGeom>
          <a:solidFill>
            <a:srgbClr val="A5BE00"/>
          </a:solidFill>
          <a:ln/>
        </p:spPr>
      </p:sp>
      <p:sp>
        <p:nvSpPr>
          <p:cNvPr id="10" name="Text 8"/>
          <p:cNvSpPr/>
          <p:nvPr/>
        </p:nvSpPr>
        <p:spPr>
          <a:xfrm>
            <a:off x="777240" y="3803904"/>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nhận được: biết thời gian học của con đang được tập trung vào những phần con thực sự cần.</a:t>
            </a:r>
            <a:endParaRPr lang="en-US" sz="1600" dirty="0"/>
          </a:p>
        </p:txBody>
      </p:sp>
      <p:sp>
        <p:nvSpPr>
          <p:cNvPr id="11" name="Text 9"/>
          <p:cNvSpPr/>
          <p:nvPr/>
        </p:nvSpPr>
        <p:spPr>
          <a:xfrm>
            <a:off x="548640" y="4773168"/>
            <a:ext cx="1109441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2. Con được học với người phù hợp — không phải con nào cũng cần học giống nhau. </a:t>
            </a:r>
            <a:pPr indent="0" marL="0">
              <a:buNone/>
            </a:pPr>
            <a:r>
              <a:rPr lang="en-US" sz="1600" dirty="0">
                <a:solidFill>
                  <a:srgbClr val="1F2A33"/>
                </a:solidFill>
                <a:latin typeface="Arial" pitchFamily="34" charset="0"/>
                <a:ea typeface="Arial" pitchFamily="34" charset="-122"/>
                <a:cs typeface="Arial" pitchFamily="34" charset="-120"/>
              </a:rPr>
              <a:t>Ngay từ đầu, con được phân loại theo trình độ đầu vào để lựa chọn cách học và giáo viên AI phù hợp.</a:t>
            </a:r>
            <a:endParaRPr lang="en-US" sz="1600" dirty="0"/>
          </a:p>
        </p:txBody>
      </p:sp>
      <p:sp>
        <p:nvSpPr>
          <p:cNvPr id="12" name="Text 10"/>
          <p:cNvSpPr/>
          <p:nvPr/>
        </p:nvSpPr>
        <p:spPr>
          <a:xfrm>
            <a:off x="548640" y="5650992"/>
            <a:ext cx="1109441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Con ở trình độ yếu/trung bình: </a:t>
            </a:r>
            <a:pPr indent="0" marL="0">
              <a:buNone/>
            </a:pPr>
            <a:r>
              <a:rPr lang="en-US" sz="1600" dirty="0">
                <a:solidFill>
                  <a:srgbClr val="1F2A33"/>
                </a:solidFill>
                <a:latin typeface="Arial" pitchFamily="34" charset="0"/>
                <a:ea typeface="Arial" pitchFamily="34" charset="-122"/>
                <a:cs typeface="Arial" pitchFamily="34" charset="-120"/>
              </a:rPr>
              <a:t>học với giáo viên AI người Việt có cách hướng dẫn gần gũi, chi tiết, giúp con từng bước củng cố kiến thức.</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7</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5 giá trị dành cho con và bố mẹ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ở trình độ khá/giỏi — kết hợp:</a:t>
            </a:r>
            <a:endParaRPr lang="en-US" sz="1600" dirty="0"/>
          </a:p>
        </p:txBody>
      </p:sp>
      <p:sp>
        <p:nvSpPr>
          <p:cNvPr id="7" name="Text 5"/>
          <p:cNvSpPr/>
          <p:nvPr/>
        </p:nvSpPr>
        <p:spPr>
          <a:xfrm>
            <a:off x="548640" y="1792224"/>
            <a:ext cx="11094415" cy="85953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Giáo viên AI người Việt → tập trung vào kiến thức/ngữ pháp chuyên sâu.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Giáo viên AI bản xứ Anh/Mỹ → tăng cơ hội luyện giao tiếp.</a:t>
            </a:r>
            <a:endParaRPr lang="en-US" sz="1600" dirty="0"/>
          </a:p>
        </p:txBody>
      </p:sp>
      <p:sp>
        <p:nvSpPr>
          <p:cNvPr id="8" name="Shape 6"/>
          <p:cNvSpPr/>
          <p:nvPr/>
        </p:nvSpPr>
        <p:spPr>
          <a:xfrm>
            <a:off x="548640" y="2834640"/>
            <a:ext cx="11094415" cy="1426464"/>
          </a:xfrm>
          <a:prstGeom prst="roundRect">
            <a:avLst>
              <a:gd name="adj" fmla="val 3846"/>
            </a:avLst>
          </a:prstGeom>
          <a:solidFill>
            <a:srgbClr val="EAF1DC"/>
          </a:solidFill>
          <a:ln w="12700">
            <a:solidFill>
              <a:srgbClr val="A5BE00"/>
            </a:solidFill>
            <a:prstDash val="solid"/>
          </a:ln>
        </p:spPr>
      </p:sp>
      <p:sp>
        <p:nvSpPr>
          <p:cNvPr id="9" name="Text 7"/>
          <p:cNvSpPr/>
          <p:nvPr/>
        </p:nvSpPr>
        <p:spPr>
          <a:xfrm>
            <a:off x="731520" y="2944368"/>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10" name="Text 8"/>
          <p:cNvSpPr/>
          <p:nvPr/>
        </p:nvSpPr>
        <p:spPr>
          <a:xfrm>
            <a:off x="731520" y="3218688"/>
            <a:ext cx="10728655" cy="969264"/>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"Không phải con nào cũng học cùng một cách. Ngay từ đầu Edupia sẽ xác định trình độ của con để lựa chọn cách học phù hợp. Con đang yếu thì được hướng dẫn kỹ hơn; con khá giỏi thì có thêm phần nâng cao và giao tiếp."</a:t>
            </a:r>
            <a:endParaRPr lang="en-US" sz="1600" dirty="0"/>
          </a:p>
        </p:txBody>
      </p:sp>
      <p:sp>
        <p:nvSpPr>
          <p:cNvPr id="11" name="Text 9"/>
          <p:cNvSpPr/>
          <p:nvPr/>
        </p:nvSpPr>
        <p:spPr>
          <a:xfrm>
            <a:off x="548640" y="4443984"/>
            <a:ext cx="11094415" cy="96926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3. Con thích học hơn — học vừa sức, làm được, thấy mình tiến bộ. </a:t>
            </a:r>
            <a:pPr indent="0" marL="0">
              <a:buNone/>
            </a:pPr>
            <a:r>
              <a:rPr lang="en-US" sz="1600" dirty="0">
                <a:solidFill>
                  <a:srgbClr val="1F2A33"/>
                </a:solidFill>
                <a:latin typeface="Arial" pitchFamily="34" charset="0"/>
                <a:ea typeface="Arial" pitchFamily="34" charset="-122"/>
                <a:cs typeface="Arial" pitchFamily="34" charset="-120"/>
              </a:rPr>
              <a:t>Nếu bài quá khó, con dễ nản. Nếu bài quá dễ, con dễ chán. Nội dung học được điều chỉnh theo khả năng và kết quả của từng con. Trong buổi học, con còn được tham gia các hoạt động tương tác và trò chơi để việc luyện tập bớt khô khan.</a:t>
            </a:r>
            <a:endParaRPr lang="en-US" sz="1600" dirty="0"/>
          </a:p>
        </p:txBody>
      </p:sp>
      <p:sp>
        <p:nvSpPr>
          <p:cNvPr id="12" name="Shape 10"/>
          <p:cNvSpPr/>
          <p:nvPr/>
        </p:nvSpPr>
        <p:spPr>
          <a:xfrm>
            <a:off x="548640" y="5596128"/>
            <a:ext cx="54864" cy="786384"/>
          </a:xfrm>
          <a:prstGeom prst="rect">
            <a:avLst/>
          </a:prstGeom>
          <a:solidFill>
            <a:srgbClr val="A5BE00"/>
          </a:solidFill>
          <a:ln/>
        </p:spPr>
      </p:sp>
      <p:sp>
        <p:nvSpPr>
          <p:cNvPr id="13" name="Text 11"/>
          <p:cNvSpPr/>
          <p:nvPr/>
        </p:nvSpPr>
        <p:spPr>
          <a:xfrm>
            <a:off x="777240" y="5596128"/>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nhận được: con dễ có cảm giác "con làm được", từ đó có động lực học tiếp thay vì phải nhắc con liên tục.</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7</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5 giá trị dành cho con và bố mẹ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4. Bố mẹ yên tâm giao phó con — có người theo sát con, bố mẹ luôn biết con đang học thế nào. </a:t>
            </a:r>
            <a:pPr indent="0" marL="0">
              <a:buNone/>
            </a:pPr>
            <a:endParaRPr lang="en-US" sz="1600" dirty="0"/>
          </a:p>
        </p:txBody>
      </p:sp>
      <p:sp>
        <p:nvSpPr>
          <p:cNvPr id="7" name="Text 5"/>
          <p:cNvSpPr/>
          <p:nvPr/>
        </p:nvSpPr>
        <p:spPr>
          <a:xfrm>
            <a:off x="548640" y="1975104"/>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có:</a:t>
            </a:r>
            <a:endParaRPr lang="en-US" sz="1600" dirty="0"/>
          </a:p>
        </p:txBody>
      </p:sp>
      <p:sp>
        <p:nvSpPr>
          <p:cNvPr id="8" name="Text 6"/>
          <p:cNvSpPr/>
          <p:nvPr/>
        </p:nvSpPr>
        <p:spPr>
          <a:xfrm>
            <a:off x="548640" y="2395728"/>
            <a:ext cx="11094415" cy="15910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Người kèm riêng 1-1.</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Giáo viên chủ nhiệm đồng hành.</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Người nhắc lịch và động viên.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Người hỗ trợ khi con gặp khó khăn.</a:t>
            </a:r>
            <a:endParaRPr lang="en-US" sz="1600" dirty="0"/>
          </a:p>
        </p:txBody>
      </p:sp>
      <p:sp>
        <p:nvSpPr>
          <p:cNvPr id="9" name="Text 7"/>
          <p:cNvSpPr/>
          <p:nvPr/>
        </p:nvSpPr>
        <p:spPr>
          <a:xfrm>
            <a:off x="548640" y="4169664"/>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Bố mẹ có — sổ liên lạc điện tử, theo dõi được:</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7</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5 giá trị dành cho con và bố mẹ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32257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đang học gì.</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mạnh ở đâu.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còn yếu ở đâu.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Kết quả học tập.</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Mức độ tiến bộ.</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Các hoạt động học tập của con.</a:t>
            </a:r>
            <a:endParaRPr lang="en-US" sz="1600" dirty="0"/>
          </a:p>
        </p:txBody>
      </p:sp>
      <p:sp>
        <p:nvSpPr>
          <p:cNvPr id="7" name="Shape 5"/>
          <p:cNvSpPr/>
          <p:nvPr/>
        </p:nvSpPr>
        <p:spPr>
          <a:xfrm>
            <a:off x="548640" y="3877056"/>
            <a:ext cx="54864" cy="786384"/>
          </a:xfrm>
          <a:prstGeom prst="rect">
            <a:avLst/>
          </a:prstGeom>
          <a:solidFill>
            <a:srgbClr val="A5BE00"/>
          </a:solidFill>
          <a:ln/>
        </p:spPr>
      </p:sp>
      <p:sp>
        <p:nvSpPr>
          <p:cNvPr id="8" name="Text 6"/>
          <p:cNvSpPr/>
          <p:nvPr/>
        </p:nvSpPr>
        <p:spPr>
          <a:xfrm>
            <a:off x="777240" y="3877056"/>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nhận được: không cần ngồi cạnh con mỗi ngày nhưng vẫn biết con đang học thế nào.</a:t>
            </a:r>
            <a:endParaRPr lang="en-US" sz="1600" dirty="0"/>
          </a:p>
        </p:txBody>
      </p:sp>
      <p:sp>
        <p:nvSpPr>
          <p:cNvPr id="9" name="Text 7"/>
          <p:cNvSpPr/>
          <p:nvPr/>
        </p:nvSpPr>
        <p:spPr>
          <a:xfrm>
            <a:off x="548640" y="4846320"/>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5. Con tự tin nói tiếng Anh — được nói nhiều, nói sai được sửa, nói dần sẽ tự tin. </a:t>
            </a:r>
            <a:pPr indent="0" marL="0">
              <a:buNone/>
            </a:pPr>
            <a:endParaRPr lang="en-US" sz="1600" dirty="0"/>
          </a:p>
        </p:txBody>
      </p:sp>
      <p:sp>
        <p:nvSpPr>
          <p:cNvPr id="10" name="Text 8"/>
          <p:cNvSpPr/>
          <p:nvPr/>
        </p:nvSpPr>
        <p:spPr>
          <a:xfrm>
            <a:off x="548640" y="5449824"/>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được luyện nói thường xuyên thông qua:</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7</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5 giá trị dành cho con và bố mẹ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32257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Hội thoại.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Đóng vai.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Tình huống thực tế.</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Gợi ý khi con chưa biết nói.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Sửa phát âm.</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Luyện lại những câu con chưa nói tốt.</a:t>
            </a:r>
            <a:endParaRPr lang="en-US" sz="1600" dirty="0"/>
          </a:p>
        </p:txBody>
      </p:sp>
      <p:sp>
        <p:nvSpPr>
          <p:cNvPr id="7" name="Text 5"/>
          <p:cNvSpPr/>
          <p:nvPr/>
        </p:nvSpPr>
        <p:spPr>
          <a:xfrm>
            <a:off x="548640" y="3877056"/>
            <a:ext cx="11094415" cy="694944"/>
          </a:xfrm>
          <a:prstGeom prst="rect">
            <a:avLst/>
          </a:prstGeom>
          <a:noFill/>
          <a:ln/>
        </p:spPr>
        <p:txBody>
          <a:bodyPr wrap="square" rtlCol="0" anchor="t"/>
          <a:lstStyle/>
          <a:p>
            <a:pPr indent="0" marL="0">
              <a:buNone/>
            </a:pPr>
            <a:r>
              <a:rPr lang="en-US" sz="1600" dirty="0">
                <a:solidFill>
                  <a:srgbClr val="1F2A33"/>
                </a:solidFill>
                <a:latin typeface="Arial" pitchFamily="34" charset="0"/>
                <a:ea typeface="Arial" pitchFamily="34" charset="-122"/>
                <a:cs typeface="Arial" pitchFamily="34" charset="-120"/>
              </a:rPr>
              <a:t>Với học sinh khá/giỏi, con còn có buổi học với giáo viên AI bản xứ Anh/Mỹ để tăng cơ hội luyện giao tiếp.</a:t>
            </a:r>
            <a:endParaRPr lang="en-US" sz="1600" dirty="0"/>
          </a:p>
        </p:txBody>
      </p:sp>
      <p:sp>
        <p:nvSpPr>
          <p:cNvPr id="8" name="Shape 6"/>
          <p:cNvSpPr/>
          <p:nvPr/>
        </p:nvSpPr>
        <p:spPr>
          <a:xfrm>
            <a:off x="548640" y="4754880"/>
            <a:ext cx="54864" cy="786384"/>
          </a:xfrm>
          <a:prstGeom prst="rect">
            <a:avLst/>
          </a:prstGeom>
          <a:solidFill>
            <a:srgbClr val="A5BE00"/>
          </a:solidFill>
          <a:ln/>
        </p:spPr>
      </p:sp>
      <p:sp>
        <p:nvSpPr>
          <p:cNvPr id="9" name="Text 7"/>
          <p:cNvSpPr/>
          <p:nvPr/>
        </p:nvSpPr>
        <p:spPr>
          <a:xfrm>
            <a:off x="777240" y="4754880"/>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nhận được: con không chỉ học để làm bài mà còn có cơ hội sử dụng tiếng Anh thường xuyên hơn.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7B</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Từ điều bố mẹ muốn → giá trị Edupia mang lại</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0"/>
                <a:gridCol w="615391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Bố mẹ mong muốn</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Edupia giúp con</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học giỏi hơn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yếu đâu — được kèm đúng đó</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được học với người giỏi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Được phân loại trình độ — học với người phù hợp</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thích học hơn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Học vừa sức — tương tác nhiều — thấy mình tiến bộ</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Bố mẹ yên tâm giao phó</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Có người theo sát — bố mẹ luôn biết con đang học thế nào</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tự tin nói tiếng Anh</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Được nói nhiều — được sửa — luyện thường xuyên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361688"/>
            <a:ext cx="54864" cy="786384"/>
          </a:xfrm>
          <a:prstGeom prst="rect">
            <a:avLst/>
          </a:prstGeom>
          <a:solidFill>
            <a:srgbClr val="A5BE00"/>
          </a:solidFill>
          <a:ln/>
        </p:spPr>
      </p:sp>
      <p:sp>
        <p:nvSpPr>
          <p:cNvPr id="8" name="Text 5"/>
          <p:cNvSpPr/>
          <p:nvPr/>
        </p:nvSpPr>
        <p:spPr>
          <a:xfrm>
            <a:off x="777240" y="4361688"/>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DNA chung: con yếu đâu → được phát hiện → học/kèm đúng chỗ → luyện → sửa → theo dõi tiến bộ.</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8</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So với những lựa chọn hiện tại</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862072"/>
                <a:gridCol w="2103120"/>
                <a:gridCol w="2103120"/>
                <a:gridCol w="2011680"/>
                <a:gridCol w="2011680"/>
              </a:tblGrid>
              <a:tr h="0">
                <a:tc>
                  <a:txBody>
                    <a:bodyPr/>
                    <a:lstStyle/>
                    <a:p>
                      <a:pPr algn="l" indent="0" marL="0">
                        <a:buNone/>
                      </a:pP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Tự học trên App</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Gia sư 1-1</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Edupia AI Class</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Edupia AI Tutor 1-1</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Học 1-1</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Khi cần</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 xuyên suốt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Tập trung vào điểm yếu</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Một phần</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Phân loại theo trình độ</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Một phần</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Tùy gia sư</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 ngay từ đầu</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Có người hướng dẫn</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Một phần</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Luyện nói</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Theo dõi tiến bộ</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Tùy gia sư</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Sổ liên lạc điện tử</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Giáo viên chủ nhiệm</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Lịch học</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Tự học</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Thỏa thuận</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Khung cố định</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Khung giờ linh hoạt</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8</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So với những lựa chọn hiện tại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862072"/>
                <a:gridCol w="2103120"/>
                <a:gridCol w="2103120"/>
                <a:gridCol w="2011680"/>
                <a:gridCol w="2011680"/>
              </a:tblGrid>
              <a:tr h="0">
                <a:tc>
                  <a:txBody>
                    <a:bodyPr/>
                    <a:lstStyle/>
                    <a:p>
                      <a:pPr algn="l" indent="0" marL="0">
                        <a:buNone/>
                      </a:pP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Tự học trên App</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Gia sư 1-1</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Edupia AI Class</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Edupia AI Tutor 1-1</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r>
              <a:tr h="0">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Chi phí</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Thấp hơn</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Cao</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~390–400k</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3"/>
                          </a:solidFill>
                          <a:latin typeface="Arial" pitchFamily="34" charset="0"/>
                          <a:ea typeface="Arial" pitchFamily="34" charset="-122"/>
                          <a:cs typeface="Arial" pitchFamily="34" charset="-120"/>
                        </a:rPr>
                        <a:t>~390–450k</a:t>
                      </a:r>
                      <a:endParaRPr lang="en-US" sz="12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2496312"/>
            <a:ext cx="11094415" cy="1426464"/>
          </a:xfrm>
          <a:prstGeom prst="roundRect">
            <a:avLst>
              <a:gd name="adj" fmla="val 3846"/>
            </a:avLst>
          </a:prstGeom>
          <a:solidFill>
            <a:srgbClr val="EAF1DC"/>
          </a:solidFill>
          <a:ln w="12700">
            <a:solidFill>
              <a:srgbClr val="A5BE00"/>
            </a:solidFill>
            <a:prstDash val="solid"/>
          </a:ln>
        </p:spPr>
      </p:sp>
      <p:sp>
        <p:nvSpPr>
          <p:cNvPr id="8" name="Text 5"/>
          <p:cNvSpPr/>
          <p:nvPr/>
        </p:nvSpPr>
        <p:spPr>
          <a:xfrm>
            <a:off x="731520" y="2606040"/>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9" name="Text 6"/>
          <p:cNvSpPr/>
          <p:nvPr/>
        </p:nvSpPr>
        <p:spPr>
          <a:xfrm>
            <a:off x="731520" y="2880360"/>
            <a:ext cx="10728655" cy="969264"/>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"Nếu AI Class là con vẫn học lớp với cô và khi con yếu chỗ nào thì được hỗ trợ thêm, thì AI Tutor là mức độ chăm sát hơn: con có hẳn một người kèm riêng 1-1 xuyên suốt quá trình học."</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8B</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Trước và sau</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TRƯỚC:</a:t>
            </a:r>
            <a:endParaRPr lang="en-US" sz="1600" dirty="0"/>
          </a:p>
        </p:txBody>
      </p:sp>
      <p:sp>
        <p:nvSpPr>
          <p:cNvPr id="7" name="Text 5"/>
          <p:cNvSpPr/>
          <p:nvPr/>
        </p:nvSpPr>
        <p:spPr>
          <a:xfrm>
            <a:off x="548640" y="1792224"/>
            <a:ext cx="11094415" cy="305409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Bố mẹ không rõ con yếu chính xác ở đâu.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học theo một tiến độ chung.</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Gặp phần khó, con dễ bỏ qua.</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Muốn kèm riêng → phải thuê gia sư với chi phí cao.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ít có cơ hội nói.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Bố mẹ phải tự nhắc và theo sát.</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Lịch học khó thay đổi.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Khó nhìn thấy quá trình tiến bộ rõ ràng.</a:t>
            </a:r>
            <a:endParaRPr lang="en-US" sz="1600" dirty="0"/>
          </a:p>
        </p:txBody>
      </p:sp>
      <p:sp>
        <p:nvSpPr>
          <p:cNvPr id="8" name="Text 6"/>
          <p:cNvSpPr/>
          <p:nvPr/>
        </p:nvSpPr>
        <p:spPr>
          <a:xfrm>
            <a:off x="548640" y="502920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SAU:</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8B</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Trước và sau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34198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Biết con đang cần tập trung vào phần nào.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được phân loại theo trình độ ngay từ đầu.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người kèm riêng 1-1 xuyên suốt.</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Nội dung được điều chỉnh theo khả năng và kết quả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buổi chuyên sâu để củng cố hoặc nâng cao.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luyện nói thường xuyên.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nhiều khung giờ để lựa chọn.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Giáo viên chủ nhiệm đồng hành.</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Bố mẹ theo dõi qua Sổ liên lạc điện tử.</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A5BE00"/>
          </a:solidFill>
          <a:ln/>
        </p:spPr>
      </p:sp>
      <p:sp>
        <p:nvSpPr>
          <p:cNvPr id="3" name="Text 1"/>
          <p:cNvSpPr/>
          <p:nvPr/>
        </p:nvSpPr>
        <p:spPr>
          <a:xfrm>
            <a:off x="548640" y="2377440"/>
            <a:ext cx="11094415" cy="548640"/>
          </a:xfrm>
          <a:prstGeom prst="rect">
            <a:avLst/>
          </a:prstGeom>
          <a:noFill/>
          <a:ln/>
        </p:spPr>
        <p:txBody>
          <a:bodyPr wrap="square" rtlCol="0" anchor="ctr"/>
          <a:lstStyle/>
          <a:p>
            <a:pPr indent="0" marL="0">
              <a:buNone/>
            </a:pPr>
            <a:r>
              <a:rPr lang="en-US" sz="1600" b="1" spc="200" kern="0" dirty="0">
                <a:solidFill>
                  <a:srgbClr val="A5BE00"/>
                </a:solidFill>
                <a:latin typeface="Arial" pitchFamily="34" charset="0"/>
                <a:ea typeface="Arial" pitchFamily="34" charset="-122"/>
                <a:cs typeface="Arial" pitchFamily="34" charset="-120"/>
              </a:rPr>
              <a:t>PHẦN 4</a:t>
            </a:r>
            <a:endParaRPr lang="en-US" sz="1600" dirty="0"/>
          </a:p>
        </p:txBody>
      </p:sp>
      <p:sp>
        <p:nvSpPr>
          <p:cNvPr id="4" name="Text 2"/>
          <p:cNvSpPr/>
          <p:nvPr/>
        </p:nvSpPr>
        <p:spPr>
          <a:xfrm>
            <a:off x="548640" y="2880360"/>
            <a:ext cx="11094415" cy="164592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Con sẽ học như thế nào?</a:t>
            </a:r>
            <a:endParaRPr lang="en-US" sz="3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9</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Hành trình học của con</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657600"/>
                <a:gridCol w="798271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Khi nào</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Con làm gì</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2 buổi/tuần — Học kiến thức chính khóa</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Nội dung bám sát chương trình học, giúp con xây dựng kiến thức nền tảng theo lộ trình.</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Cứ 4 buổi chính khoá có 1 buổi chuyên sâu</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yếu: củng cố, vá lỗ hổng kiến thức. Con khá/giỏi: nâng cao, mở rộng kiến thức. (Buổi chuyên sâu là 1 trong chuỗi buổi, không cộng thêm ngoài 2 buổi/tuần.)</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Sau các buổi học — Luyện tập</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tiếp tục luyện những phần cần củng cố thông qua bài tập phù hợp với kết quả học.</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Hàng ngày — Luyện nói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luyện hội thoại, phát âm và các tình huống sử dụng tiếng Anh.</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Hàng tháng — Club</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Học theo chủ đề, thử thách và hoạt động để duy trì hứng thú.</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Xuyên suốt — Giáo viên chủ nhiệm + Sổ liên lạc điện tử</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Theo dõi, nhắc nhở, hỗ trợ con và giúp bố mẹ biết con đang học thế nào.</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9</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Hành trình học của con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Shape 4"/>
          <p:cNvSpPr/>
          <p:nvPr/>
        </p:nvSpPr>
        <p:spPr>
          <a:xfrm>
            <a:off x="548640" y="1371600"/>
            <a:ext cx="11094415" cy="1426464"/>
          </a:xfrm>
          <a:prstGeom prst="roundRect">
            <a:avLst>
              <a:gd name="adj" fmla="val 3846"/>
            </a:avLst>
          </a:prstGeom>
          <a:solidFill>
            <a:srgbClr val="EAF1DC"/>
          </a:solidFill>
          <a:ln w="12700">
            <a:solidFill>
              <a:srgbClr val="A5BE00"/>
            </a:solidFill>
            <a:prstDash val="solid"/>
          </a:ln>
        </p:spPr>
      </p:sp>
      <p:sp>
        <p:nvSpPr>
          <p:cNvPr id="7" name="Text 5"/>
          <p:cNvSpPr/>
          <p:nvPr/>
        </p:nvSpPr>
        <p:spPr>
          <a:xfrm>
            <a:off x="731520" y="1481328"/>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8" name="Text 6"/>
          <p:cNvSpPr/>
          <p:nvPr/>
        </p:nvSpPr>
        <p:spPr>
          <a:xfrm>
            <a:off x="731520" y="1755648"/>
            <a:ext cx="10728655" cy="969264"/>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"Con vẫn học đều 2 buổi mỗi tuần như bình thường. Cứ 4 buổi học kiến thức chính thì buổi tiếp theo là một buổi chuyên sâu, dành riêng để xử lý đúng nhu cầu của con — con yếu thì củng cố, con khá giỏi thì học nâng cao."</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10</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Khung lịch học linh hoạt</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Nhiều khung giờ để lựa chọn: </a:t>
            </a:r>
            <a:pPr indent="0" marL="0">
              <a:buNone/>
            </a:pPr>
            <a:r>
              <a:rPr lang="en-US" sz="1600" dirty="0">
                <a:solidFill>
                  <a:srgbClr val="1F2A33"/>
                </a:solidFill>
                <a:latin typeface="Arial" pitchFamily="34" charset="0"/>
                <a:ea typeface="Arial" pitchFamily="34" charset="-122"/>
                <a:cs typeface="Arial" pitchFamily="34" charset="-120"/>
              </a:rPr>
              <a:t>Ví dụ 18:30 — 19:00 — 19:30 — 20:00 — 20:30... Bố mẹ có thể lựa chọn khung giờ phù hợp với lịch sinh hoạt của gia đình.</a:t>
            </a:r>
            <a:endParaRPr lang="en-US" sz="1600" dirty="0"/>
          </a:p>
        </p:txBody>
      </p:sp>
      <p:sp>
        <p:nvSpPr>
          <p:cNvPr id="7" name="Text 5"/>
          <p:cNvSpPr/>
          <p:nvPr/>
        </p:nvSpPr>
        <p:spPr>
          <a:xfrm>
            <a:off x="548640" y="2249424"/>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Nếu có việc đột xuất: </a:t>
            </a:r>
            <a:pPr indent="0" marL="0">
              <a:buNone/>
            </a:pPr>
            <a:r>
              <a:rPr lang="en-US" sz="1600" dirty="0">
                <a:solidFill>
                  <a:srgbClr val="1F2A33"/>
                </a:solidFill>
                <a:latin typeface="Arial" pitchFamily="34" charset="0"/>
                <a:ea typeface="Arial" pitchFamily="34" charset="-122"/>
                <a:cs typeface="Arial" pitchFamily="34" charset="-120"/>
              </a:rPr>
              <a:t>có thể linh hoạt đổi sang khung giờ khác phù hợp hơn.</a:t>
            </a:r>
            <a:endParaRPr lang="en-US" sz="1600" dirty="0"/>
          </a:p>
        </p:txBody>
      </p:sp>
      <p:sp>
        <p:nvSpPr>
          <p:cNvPr id="8" name="Shape 6"/>
          <p:cNvSpPr/>
          <p:nvPr/>
        </p:nvSpPr>
        <p:spPr>
          <a:xfrm>
            <a:off x="548640" y="2852928"/>
            <a:ext cx="54864" cy="786384"/>
          </a:xfrm>
          <a:prstGeom prst="rect">
            <a:avLst/>
          </a:prstGeom>
          <a:solidFill>
            <a:srgbClr val="A5BE00"/>
          </a:solidFill>
          <a:ln/>
        </p:spPr>
      </p:sp>
      <p:sp>
        <p:nvSpPr>
          <p:cNvPr id="9" name="Text 7"/>
          <p:cNvSpPr/>
          <p:nvPr/>
        </p:nvSpPr>
        <p:spPr>
          <a:xfrm>
            <a:off x="777240" y="2852928"/>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Mục tiêu: con vẫn có lịch học đều đặn như một lớp học thực sự, nhưng gia đình không bị bó vào một khung giờ duy nhất.</a:t>
            </a:r>
            <a:endParaRPr lang="en-US" sz="1600" dirty="0"/>
          </a:p>
        </p:txBody>
      </p:sp>
      <p:sp>
        <p:nvSpPr>
          <p:cNvPr id="10" name="Shape 8"/>
          <p:cNvSpPr/>
          <p:nvPr/>
        </p:nvSpPr>
        <p:spPr>
          <a:xfrm>
            <a:off x="548640" y="3822192"/>
            <a:ext cx="11094415" cy="1133856"/>
          </a:xfrm>
          <a:prstGeom prst="roundRect">
            <a:avLst>
              <a:gd name="adj" fmla="val 4839"/>
            </a:avLst>
          </a:prstGeom>
          <a:solidFill>
            <a:srgbClr val="EAF1DC"/>
          </a:solidFill>
          <a:ln w="12700">
            <a:solidFill>
              <a:srgbClr val="A5BE00"/>
            </a:solidFill>
            <a:prstDash val="solid"/>
          </a:ln>
        </p:spPr>
      </p:sp>
      <p:sp>
        <p:nvSpPr>
          <p:cNvPr id="11" name="Text 9"/>
          <p:cNvSpPr/>
          <p:nvPr/>
        </p:nvSpPr>
        <p:spPr>
          <a:xfrm>
            <a:off x="731520" y="3931920"/>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12" name="Text 10"/>
          <p:cNvSpPr/>
          <p:nvPr/>
        </p:nvSpPr>
        <p:spPr>
          <a:xfrm>
            <a:off x="731520" y="4206240"/>
            <a:ext cx="10728655" cy="676656"/>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"Điểm tiện của mô hình này là bố mẹ có nhiều khung giờ để chọn. Nếu hôm nay gia đình có việc hoặc con có lịch khác thì có thể linh hoạt đổi sang ca phù hợp hơn."</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11</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Một buổi kèm riêng 1-1</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00400"/>
                <a:gridCol w="843991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Thời lượng</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Nội dung</a:t>
                      </a:r>
                      <a:endParaRPr lang="en-US" sz="1450" dirty="0">
                        <a:latin typeface="Arial" charset="0"/>
                        <a:ea typeface="Arial" charset="0"/>
                        <a:cs typeface="Arial" charset="0"/>
                      </a:endParaRPr>
                    </a:p>
                  </a:txBody>
                  <a:tcPr marL="91440" marR="91440" marT="45720" marB="45720" anchor="ctr">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004671"/>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20 phút — Học kiến thức mới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học thông qua hình ảnh, video, tình huống, hoạt động tương tác, trò chơi.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20 phút — Luyện tập, hỏi đáp, sửa</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tương tác trực tiếp với người kèm riêng: hỏi đáp, trả lời, luyện tập, sửa lỗi, giải thích lại phần chưa hiểu.</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5F7F2"/>
                    </a:solidFill>
                  </a:tcPr>
                </a:tc>
              </a:tr>
              <a:tr h="0">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5 phút — Nhận xét, giao bài</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3"/>
                          </a:solidFill>
                          <a:latin typeface="Arial" pitchFamily="34" charset="0"/>
                          <a:ea typeface="Arial" pitchFamily="34" charset="-122"/>
                          <a:cs typeface="Arial" pitchFamily="34" charset="-120"/>
                        </a:rPr>
                        <a:t>Con biết mình đã làm tốt điều gì, cần cải thiện điều gì, sau buổi học cần luyện thêm gì.</a:t>
                      </a:r>
                      <a:endParaRPr lang="en-US" sz="1400" dirty="0">
                        <a:latin typeface="Arial" charset="0"/>
                        <a:ea typeface="Arial" charset="0"/>
                        <a:cs typeface="Arial" charset="0"/>
                      </a:endParaRPr>
                    </a:p>
                  </a:txBody>
                  <a:tcPr marL="91440" marR="91440" marT="45720" marB="45720" anchor="t">
                    <a:lnL w="6350" cap="flat" cmpd="sng" algn="ctr">
                      <a:solidFill>
                        <a:srgbClr val="DDE3D8"/>
                      </a:solidFill>
                      <a:prstDash val="solid"/>
                      <a:round/>
                      <a:headEnd type="none" w="med" len="med"/>
                      <a:tailEnd type="none" w="med" len="med"/>
                    </a:lnL>
                    <a:lnR w="6350" cap="flat" cmpd="sng" algn="ctr">
                      <a:solidFill>
                        <a:srgbClr val="DDE3D8"/>
                      </a:solidFill>
                      <a:prstDash val="solid"/>
                      <a:round/>
                      <a:headEnd type="none" w="med" len="med"/>
                      <a:tailEnd type="none" w="med" len="med"/>
                    </a:lnR>
                    <a:lnT w="6350" cap="flat" cmpd="sng" algn="ctr">
                      <a:solidFill>
                        <a:srgbClr val="DDE3D8"/>
                      </a:solidFill>
                      <a:prstDash val="solid"/>
                      <a:round/>
                      <a:headEnd type="none" w="med" len="med"/>
                      <a:tailEnd type="none" w="med" len="med"/>
                    </a:lnT>
                    <a:lnB w="6350" cap="flat" cmpd="sng" algn="ctr">
                      <a:solidFill>
                        <a:srgbClr val="DDE3D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3922776"/>
            <a:ext cx="54864" cy="786384"/>
          </a:xfrm>
          <a:prstGeom prst="rect">
            <a:avLst/>
          </a:prstGeom>
          <a:solidFill>
            <a:srgbClr val="A5BE00"/>
          </a:solidFill>
          <a:ln/>
        </p:spPr>
      </p:sp>
      <p:sp>
        <p:nvSpPr>
          <p:cNvPr id="8" name="Text 5"/>
          <p:cNvSpPr/>
          <p:nvPr/>
        </p:nvSpPr>
        <p:spPr>
          <a:xfrm>
            <a:off x="777240" y="3922776"/>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Điểm quan trọng: không phải tất cả các con đều học giống nhau. Cách hướng dẫn và nội dung luyện tập được điều chỉnh dựa trên trình độ và kết quả học của chính con.</a:t>
            </a:r>
            <a:endParaRPr lang="en-US" sz="1600" dirty="0"/>
          </a:p>
        </p:txBody>
      </p:sp>
      <p:sp>
        <p:nvSpPr>
          <p:cNvPr id="9" name="Shape 6"/>
          <p:cNvSpPr/>
          <p:nvPr/>
        </p:nvSpPr>
        <p:spPr>
          <a:xfrm>
            <a:off x="548640" y="4892040"/>
            <a:ext cx="11094415" cy="1426464"/>
          </a:xfrm>
          <a:prstGeom prst="roundRect">
            <a:avLst>
              <a:gd name="adj" fmla="val 3846"/>
            </a:avLst>
          </a:prstGeom>
          <a:solidFill>
            <a:srgbClr val="EAF1DC"/>
          </a:solidFill>
          <a:ln w="12700">
            <a:solidFill>
              <a:srgbClr val="A5BE00"/>
            </a:solidFill>
            <a:prstDash val="solid"/>
          </a:ln>
        </p:spPr>
      </p:sp>
      <p:sp>
        <p:nvSpPr>
          <p:cNvPr id="10" name="Text 7"/>
          <p:cNvSpPr/>
          <p:nvPr/>
        </p:nvSpPr>
        <p:spPr>
          <a:xfrm>
            <a:off x="731520" y="5001768"/>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11" name="Text 8"/>
          <p:cNvSpPr/>
          <p:nvPr/>
        </p:nvSpPr>
        <p:spPr>
          <a:xfrm>
            <a:off x="731520" y="5276088"/>
            <a:ext cx="10728655" cy="969264"/>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"Đây là buổi học riêng của con. Người kèm biết con đang ở mức nào và trong buổi học sẽ tập trung vào những gì con cần, chứ không phải tất cả các bạn đều học giống nhau."</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12</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Người kèm riêng phù hợp với từng con</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Bước 1 — Xác định trình độ đầu vào: </a:t>
            </a:r>
            <a:pPr indent="0" marL="0">
              <a:buNone/>
            </a:pPr>
            <a:r>
              <a:rPr lang="en-US" sz="1600" dirty="0">
                <a:solidFill>
                  <a:srgbClr val="1F2A33"/>
                </a:solidFill>
                <a:latin typeface="Arial" pitchFamily="34" charset="0"/>
                <a:ea typeface="Arial" pitchFamily="34" charset="-122"/>
                <a:cs typeface="Arial" pitchFamily="34" charset="-120"/>
              </a:rPr>
              <a:t>biết con đang ở đâu trước khi bắt đầu lộ trình.</a:t>
            </a:r>
            <a:endParaRPr lang="en-US" sz="1600" dirty="0"/>
          </a:p>
        </p:txBody>
      </p:sp>
      <p:sp>
        <p:nvSpPr>
          <p:cNvPr id="7" name="Text 5"/>
          <p:cNvSpPr/>
          <p:nvPr/>
        </p:nvSpPr>
        <p:spPr>
          <a:xfrm>
            <a:off x="548640" y="1975104"/>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Bước 2 — Level B/C/D (yếu/trung bình): giáo viên AI người Việt →</a:t>
            </a:r>
            <a:endParaRPr lang="en-US" sz="1600" dirty="0"/>
          </a:p>
        </p:txBody>
      </p:sp>
      <p:sp>
        <p:nvSpPr>
          <p:cNvPr id="8" name="Text 6"/>
          <p:cNvSpPr/>
          <p:nvPr/>
        </p:nvSpPr>
        <p:spPr>
          <a:xfrm>
            <a:off x="548640" y="2395728"/>
            <a:ext cx="11094415" cy="122529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Hướng dẫn chi tiết.</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Củng cố kiến thức.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Tập trung xử lý những phần con còn yếu.</a:t>
            </a:r>
            <a:endParaRPr lang="en-US" sz="1600" dirty="0"/>
          </a:p>
        </p:txBody>
      </p:sp>
      <p:sp>
        <p:nvSpPr>
          <p:cNvPr id="9" name="Text 7"/>
          <p:cNvSpPr/>
          <p:nvPr/>
        </p:nvSpPr>
        <p:spPr>
          <a:xfrm>
            <a:off x="548640" y="3803904"/>
            <a:ext cx="11094415" cy="548640"/>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Level A (khá/giỏi): giáo viên AI người Việt (kiến thức, ngữ pháp chuyên sâu) + giáo viên AI bản xứ Anh/Mỹ →</a:t>
            </a:r>
            <a:endParaRPr lang="en-US" sz="1600" dirty="0"/>
          </a:p>
        </p:txBody>
      </p:sp>
      <p:sp>
        <p:nvSpPr>
          <p:cNvPr id="10" name="Text 8"/>
          <p:cNvSpPr/>
          <p:nvPr/>
        </p:nvSpPr>
        <p:spPr>
          <a:xfrm>
            <a:off x="548640" y="4480560"/>
            <a:ext cx="11094415" cy="49377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Luyện giao tiếp và sử dụng tiếng Anh.</a:t>
            </a:r>
            <a:endParaRPr lang="en-US" sz="1600" dirty="0"/>
          </a:p>
        </p:txBody>
      </p:sp>
      <p:sp>
        <p:nvSpPr>
          <p:cNvPr id="11" name="Text 9"/>
          <p:cNvSpPr/>
          <p:nvPr/>
        </p:nvSpPr>
        <p:spPr>
          <a:xfrm>
            <a:off x="548640" y="5157216"/>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Bước 3 — Theo sát và điều chỉnh: </a:t>
            </a:r>
            <a:pPr indent="0" marL="0">
              <a:buNone/>
            </a:pPr>
            <a:r>
              <a:rPr lang="en-US" sz="1600" dirty="0">
                <a:solidFill>
                  <a:srgbClr val="1F2A33"/>
                </a:solidFill>
                <a:latin typeface="Arial" pitchFamily="34" charset="0"/>
                <a:ea typeface="Arial" pitchFamily="34" charset="-122"/>
                <a:cs typeface="Arial" pitchFamily="34" charset="-120"/>
              </a:rPr>
              <a:t>trong quá trình học, nội dung tiếp tục được điều chỉnh theo kết quả thực tế của con.</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12</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Người kèm riêng phù hợp với từng con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Shape 4"/>
          <p:cNvSpPr/>
          <p:nvPr/>
        </p:nvSpPr>
        <p:spPr>
          <a:xfrm>
            <a:off x="548640" y="1371600"/>
            <a:ext cx="11094415" cy="1133856"/>
          </a:xfrm>
          <a:prstGeom prst="roundRect">
            <a:avLst>
              <a:gd name="adj" fmla="val 4839"/>
            </a:avLst>
          </a:prstGeom>
          <a:solidFill>
            <a:srgbClr val="EAF1DC"/>
          </a:solidFill>
          <a:ln w="12700">
            <a:solidFill>
              <a:srgbClr val="A5BE00"/>
            </a:solidFill>
            <a:prstDash val="solid"/>
          </a:ln>
        </p:spPr>
      </p:sp>
      <p:sp>
        <p:nvSpPr>
          <p:cNvPr id="7" name="Text 5"/>
          <p:cNvSpPr/>
          <p:nvPr/>
        </p:nvSpPr>
        <p:spPr>
          <a:xfrm>
            <a:off x="731520" y="1481328"/>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8" name="Text 6"/>
          <p:cNvSpPr/>
          <p:nvPr/>
        </p:nvSpPr>
        <p:spPr>
          <a:xfrm>
            <a:off x="731520" y="1755648"/>
            <a:ext cx="10728655" cy="676656"/>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"Điểm khác biệt là Edupia không mặc định tất cả các con đều học giống nhau. Con được xác định trình độ ngay từ đầu để có cách học phù hợp hơn."</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13</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Luyện nói</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Con học theo từng bước: </a:t>
            </a:r>
            <a:pPr indent="0" marL="0">
              <a:buNone/>
            </a:pPr>
            <a:r>
              <a:rPr lang="en-US" sz="1600" dirty="0">
                <a:solidFill>
                  <a:srgbClr val="1F2A33"/>
                </a:solidFill>
                <a:latin typeface="Arial" pitchFamily="34" charset="0"/>
                <a:ea typeface="Arial" pitchFamily="34" charset="-122"/>
                <a:cs typeface="Arial" pitchFamily="34" charset="-120"/>
              </a:rPr>
              <a:t>Từ vựng → Câu đơn giản → Hội thoại → Đóng vai → Tình huống thực tế.</a:t>
            </a:r>
            <a:endParaRPr lang="en-US" sz="1600" dirty="0"/>
          </a:p>
        </p:txBody>
      </p:sp>
      <p:sp>
        <p:nvSpPr>
          <p:cNvPr id="7" name="Text 5"/>
          <p:cNvSpPr/>
          <p:nvPr/>
        </p:nvSpPr>
        <p:spPr>
          <a:xfrm>
            <a:off x="548640" y="1975104"/>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Khi con chưa biết nói:</a:t>
            </a:r>
            <a:endParaRPr lang="en-US" sz="1600" dirty="0"/>
          </a:p>
        </p:txBody>
      </p:sp>
      <p:sp>
        <p:nvSpPr>
          <p:cNvPr id="8" name="Text 6"/>
          <p:cNvSpPr/>
          <p:nvPr/>
        </p:nvSpPr>
        <p:spPr>
          <a:xfrm>
            <a:off x="548640" y="2395728"/>
            <a:ext cx="11094415" cy="232257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gợi ý.</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hướng dẫn cách diễn đạt.</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sửa lỗi.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sửa phát âm.</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nói lại.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luyện nhiều lần.</a:t>
            </a:r>
            <a:endParaRPr lang="en-US" sz="1600" dirty="0"/>
          </a:p>
        </p:txBody>
      </p:sp>
      <p:sp>
        <p:nvSpPr>
          <p:cNvPr id="9" name="Text 7"/>
          <p:cNvSpPr/>
          <p:nvPr/>
        </p:nvSpPr>
        <p:spPr>
          <a:xfrm>
            <a:off x="548640" y="4901184"/>
            <a:ext cx="11094415" cy="420624"/>
          </a:xfrm>
          <a:prstGeom prst="rect">
            <a:avLst/>
          </a:prstGeom>
          <a:noFill/>
          <a:ln/>
        </p:spPr>
        <p:txBody>
          <a:bodyPr wrap="square" rtlCol="0" anchor="t"/>
          <a:lstStyle/>
          <a:p>
            <a:pPr indent="0" marL="0">
              <a:buNone/>
            </a:pPr>
            <a:r>
              <a:rPr lang="en-US" sz="1600" dirty="0">
                <a:solidFill>
                  <a:srgbClr val="1F2A33"/>
                </a:solidFill>
                <a:latin typeface="Arial" pitchFamily="34" charset="0"/>
                <a:ea typeface="Arial" pitchFamily="34" charset="-122"/>
                <a:cs typeface="Arial" pitchFamily="34" charset="-120"/>
              </a:rPr>
              <a:t>Với học sinh khá/giỏi: có thêm cơ hội luyện giao tiếp với giáo viên AI bản xứ Anh/Mỹ.</a:t>
            </a:r>
            <a:endParaRPr lang="en-US" sz="1600" dirty="0"/>
          </a:p>
        </p:txBody>
      </p:sp>
      <p:sp>
        <p:nvSpPr>
          <p:cNvPr id="10" name="Shape 8"/>
          <p:cNvSpPr/>
          <p:nvPr/>
        </p:nvSpPr>
        <p:spPr>
          <a:xfrm>
            <a:off x="548640" y="5504688"/>
            <a:ext cx="54864" cy="493776"/>
          </a:xfrm>
          <a:prstGeom prst="rect">
            <a:avLst/>
          </a:prstGeom>
          <a:solidFill>
            <a:srgbClr val="A5BE00"/>
          </a:solidFill>
          <a:ln/>
        </p:spPr>
      </p:sp>
      <p:sp>
        <p:nvSpPr>
          <p:cNvPr id="11" name="Text 9"/>
          <p:cNvSpPr/>
          <p:nvPr/>
        </p:nvSpPr>
        <p:spPr>
          <a:xfrm>
            <a:off x="777240" y="5504688"/>
            <a:ext cx="10865815" cy="493776"/>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Mục tiêu: không sợ nói sai → dám nói → nói được → nói tự nhiên hơn.</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14</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Bài tập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420624"/>
          </a:xfrm>
          <a:prstGeom prst="rect">
            <a:avLst/>
          </a:prstGeom>
          <a:noFill/>
          <a:ln/>
        </p:spPr>
        <p:txBody>
          <a:bodyPr wrap="square" rtlCol="0" anchor="t"/>
          <a:lstStyle/>
          <a:p>
            <a:pPr indent="0" marL="0">
              <a:buNone/>
            </a:pPr>
            <a:r>
              <a:rPr lang="en-US" sz="1600" dirty="0">
                <a:solidFill>
                  <a:srgbClr val="1F2A33"/>
                </a:solidFill>
                <a:latin typeface="Arial" pitchFamily="34" charset="0"/>
                <a:ea typeface="Arial" pitchFamily="34" charset="-122"/>
                <a:cs typeface="Arial" pitchFamily="34" charset="-120"/>
              </a:rPr>
              <a:t>Sau các buổi học, con được luyện tập dựa trên kết quả của mình.</a:t>
            </a:r>
            <a:endParaRPr lang="en-US" sz="1600" dirty="0"/>
          </a:p>
        </p:txBody>
      </p:sp>
      <p:sp>
        <p:nvSpPr>
          <p:cNvPr id="7" name="Text 5"/>
          <p:cNvSpPr/>
          <p:nvPr/>
        </p:nvSpPr>
        <p:spPr>
          <a:xfrm>
            <a:off x="548640" y="1975104"/>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có thể được giao:</a:t>
            </a:r>
            <a:endParaRPr lang="en-US" sz="1600" dirty="0"/>
          </a:p>
        </p:txBody>
      </p:sp>
      <p:sp>
        <p:nvSpPr>
          <p:cNvPr id="8" name="Text 6"/>
          <p:cNvSpPr/>
          <p:nvPr/>
        </p:nvSpPr>
        <p:spPr>
          <a:xfrm>
            <a:off x="548640" y="2395728"/>
            <a:ext cx="11094415" cy="15910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Bài tập củng cố phần còn yếu.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Bài tập kiến thức mới.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Bài tập ôn lại kiến thức cũ.</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Bài có độ khó phù hợp.</a:t>
            </a:r>
            <a:endParaRPr lang="en-US" sz="1600" dirty="0"/>
          </a:p>
        </p:txBody>
      </p:sp>
      <p:sp>
        <p:nvSpPr>
          <p:cNvPr id="9" name="Text 7"/>
          <p:cNvSpPr/>
          <p:nvPr/>
        </p:nvSpPr>
        <p:spPr>
          <a:xfrm>
            <a:off x="548640" y="4169664"/>
            <a:ext cx="1109441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Khi con làm sai: </a:t>
            </a:r>
            <a:pPr indent="0" marL="0">
              <a:buNone/>
            </a:pPr>
            <a:r>
              <a:rPr lang="en-US" sz="1600" dirty="0">
                <a:solidFill>
                  <a:srgbClr val="1F2A33"/>
                </a:solidFill>
                <a:latin typeface="Arial" pitchFamily="34" charset="0"/>
                <a:ea typeface="Arial" pitchFamily="34" charset="-122"/>
                <a:cs typeface="Arial" pitchFamily="34" charset="-120"/>
              </a:rPr>
              <a:t>Làm sai → Biết mình sai ở đâu → Được giải thích → Làm lại → Củng cố kiến thức.</a:t>
            </a:r>
            <a:endParaRPr lang="en-US" sz="1600" dirty="0"/>
          </a:p>
        </p:txBody>
      </p:sp>
      <p:sp>
        <p:nvSpPr>
          <p:cNvPr id="10" name="Shape 8"/>
          <p:cNvSpPr/>
          <p:nvPr/>
        </p:nvSpPr>
        <p:spPr>
          <a:xfrm>
            <a:off x="548640" y="4773168"/>
            <a:ext cx="54864" cy="493776"/>
          </a:xfrm>
          <a:prstGeom prst="rect">
            <a:avLst/>
          </a:prstGeom>
          <a:solidFill>
            <a:srgbClr val="A5BE00"/>
          </a:solidFill>
          <a:ln/>
        </p:spPr>
      </p:sp>
      <p:sp>
        <p:nvSpPr>
          <p:cNvPr id="11" name="Text 9"/>
          <p:cNvSpPr/>
          <p:nvPr/>
        </p:nvSpPr>
        <p:spPr>
          <a:xfrm>
            <a:off x="777240" y="4773168"/>
            <a:ext cx="10865815" cy="493776"/>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Mục tiêu: không để con làm thật nhiều bài nhưng vẫn không hiểu.</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14</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Bài tập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Shape 4"/>
          <p:cNvSpPr/>
          <p:nvPr/>
        </p:nvSpPr>
        <p:spPr>
          <a:xfrm>
            <a:off x="548640" y="1371600"/>
            <a:ext cx="11094415" cy="1133856"/>
          </a:xfrm>
          <a:prstGeom prst="roundRect">
            <a:avLst>
              <a:gd name="adj" fmla="val 4839"/>
            </a:avLst>
          </a:prstGeom>
          <a:solidFill>
            <a:srgbClr val="EAF1DC"/>
          </a:solidFill>
          <a:ln w="12700">
            <a:solidFill>
              <a:srgbClr val="A5BE00"/>
            </a:solidFill>
            <a:prstDash val="solid"/>
          </a:ln>
        </p:spPr>
      </p:sp>
      <p:sp>
        <p:nvSpPr>
          <p:cNvPr id="7" name="Text 5"/>
          <p:cNvSpPr/>
          <p:nvPr/>
        </p:nvSpPr>
        <p:spPr>
          <a:xfrm>
            <a:off x="731520" y="1481328"/>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8" name="Text 6"/>
          <p:cNvSpPr/>
          <p:nvPr/>
        </p:nvSpPr>
        <p:spPr>
          <a:xfrm>
            <a:off x="731520" y="1755648"/>
            <a:ext cx="10728655" cy="676656"/>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"Bài tập không phải để làm cho nhiều. Quan trọng là con đang cần luyện gì thì được tập trung luyện đúng phần đó."</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15</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Club</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Ngoài việc học và luyện tập, con có các hoạt động Club để:</a:t>
            </a:r>
            <a:endParaRPr lang="en-US" sz="1600" dirty="0"/>
          </a:p>
        </p:txBody>
      </p:sp>
      <p:sp>
        <p:nvSpPr>
          <p:cNvPr id="7" name="Text 5"/>
          <p:cNvSpPr/>
          <p:nvPr/>
        </p:nvSpPr>
        <p:spPr>
          <a:xfrm>
            <a:off x="548640" y="1792224"/>
            <a:ext cx="11094415" cy="195681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thêm động lực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giao lưu.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sử dụng tiếng Anh.</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Thử thách bản thân.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Duy trì thói quen học.</a:t>
            </a:r>
            <a:endParaRPr lang="en-US" sz="1600" dirty="0"/>
          </a:p>
        </p:txBody>
      </p:sp>
      <p:sp>
        <p:nvSpPr>
          <p:cNvPr id="8" name="Text 6"/>
          <p:cNvSpPr/>
          <p:nvPr/>
        </p:nvSpPr>
        <p:spPr>
          <a:xfrm>
            <a:off x="548640" y="393192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Hoạt động:</a:t>
            </a:r>
            <a:endParaRPr lang="en-US" sz="1600" dirty="0"/>
          </a:p>
        </p:txBody>
      </p:sp>
      <p:sp>
        <p:nvSpPr>
          <p:cNvPr id="9" name="Text 7"/>
          <p:cNvSpPr/>
          <p:nvPr/>
        </p:nvSpPr>
        <p:spPr>
          <a:xfrm>
            <a:off x="548640" y="4352544"/>
            <a:ext cx="11094415" cy="195681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Chủ đề theo tháng.</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Nhiệm vụ hàng tuần.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Thử thách từ vựng.</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Hoạt động/sự kiện hàng tháng.</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Điểm và thành tích.</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15</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Club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Shape 4"/>
          <p:cNvSpPr/>
          <p:nvPr/>
        </p:nvSpPr>
        <p:spPr>
          <a:xfrm>
            <a:off x="548640" y="1371600"/>
            <a:ext cx="54864" cy="493776"/>
          </a:xfrm>
          <a:prstGeom prst="rect">
            <a:avLst/>
          </a:prstGeom>
          <a:solidFill>
            <a:srgbClr val="A5BE00"/>
          </a:solidFill>
          <a:ln/>
        </p:spPr>
      </p:sp>
      <p:sp>
        <p:nvSpPr>
          <p:cNvPr id="7" name="Text 5"/>
          <p:cNvSpPr/>
          <p:nvPr/>
        </p:nvSpPr>
        <p:spPr>
          <a:xfrm>
            <a:off x="777240" y="1371600"/>
            <a:ext cx="10865815" cy="493776"/>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Mục tiêu: biến việc học thành một hành trình mà con muốn tiếp tục tham gia.</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16</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Giáo viên chủ nhiệm + Sổ liên lạc điện tử</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Giáo viên chủ nhiệm:</a:t>
            </a:r>
            <a:endParaRPr lang="en-US" sz="1600" dirty="0"/>
          </a:p>
        </p:txBody>
      </p:sp>
      <p:sp>
        <p:nvSpPr>
          <p:cNvPr id="7" name="Text 5"/>
          <p:cNvSpPr/>
          <p:nvPr/>
        </p:nvSpPr>
        <p:spPr>
          <a:xfrm>
            <a:off x="548640" y="1792224"/>
            <a:ext cx="11094415" cy="232257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Theo dõi việc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Nhắc lịch.</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Động viên con.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Hỗ trợ khi con gặp khó khăn.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Theo dõi tiến bộ.</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Trao đổi với bố mẹ khi cần.</a:t>
            </a:r>
            <a:endParaRPr lang="en-US" sz="1600" dirty="0"/>
          </a:p>
        </p:txBody>
      </p:sp>
      <p:sp>
        <p:nvSpPr>
          <p:cNvPr id="8" name="Text 6"/>
          <p:cNvSpPr/>
          <p:nvPr/>
        </p:nvSpPr>
        <p:spPr>
          <a:xfrm>
            <a:off x="548640" y="4297680"/>
            <a:ext cx="1109441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Sổ liên lạc điện tử — bố mẹ có thể theo dõi:</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4671"/>
          </a:solidFill>
          <a:ln/>
        </p:spPr>
      </p:sp>
      <p:sp>
        <p:nvSpPr>
          <p:cNvPr id="3" name="Text 1"/>
          <p:cNvSpPr/>
          <p:nvPr/>
        </p:nvSpPr>
        <p:spPr>
          <a:xfrm>
            <a:off x="54864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16</a:t>
            </a:r>
            <a:endParaRPr lang="en-US" sz="1100" dirty="0"/>
          </a:p>
        </p:txBody>
      </p:sp>
      <p:sp>
        <p:nvSpPr>
          <p:cNvPr id="4" name="Text 2"/>
          <p:cNvSpPr/>
          <p:nvPr/>
        </p:nvSpPr>
        <p:spPr>
          <a:xfrm>
            <a:off x="548640" y="548640"/>
            <a:ext cx="11094415" cy="548640"/>
          </a:xfrm>
          <a:prstGeom prst="rect">
            <a:avLst/>
          </a:prstGeom>
          <a:noFill/>
          <a:ln/>
        </p:spPr>
        <p:txBody>
          <a:bodyPr wrap="square" rtlCol="0" anchor="ctr"/>
          <a:lstStyle/>
          <a:p>
            <a:pPr indent="0" marL="0">
              <a:buNone/>
            </a:pPr>
            <a:r>
              <a:rPr lang="en-US" sz="2200" b="1" dirty="0">
                <a:solidFill>
                  <a:srgbClr val="004671"/>
                </a:solidFill>
                <a:latin typeface="Arial" pitchFamily="34" charset="0"/>
                <a:ea typeface="Arial" pitchFamily="34" charset="-122"/>
                <a:cs typeface="Arial" pitchFamily="34" charset="-120"/>
              </a:rPr>
              <a:t>Giáo viên chủ nhiệm + Sổ liên lạc điện tử (tiếp)</a:t>
            </a:r>
            <a:endParaRPr lang="en-US" sz="2200" dirty="0"/>
          </a:p>
        </p:txBody>
      </p:sp>
      <p:sp>
        <p:nvSpPr>
          <p:cNvPr id="5" name="Shape 3"/>
          <p:cNvSpPr/>
          <p:nvPr/>
        </p:nvSpPr>
        <p:spPr>
          <a:xfrm>
            <a:off x="548640" y="1170432"/>
            <a:ext cx="11094415" cy="0"/>
          </a:xfrm>
          <a:prstGeom prst="line">
            <a:avLst/>
          </a:prstGeom>
          <a:noFill/>
          <a:ln w="12700">
            <a:solidFill>
              <a:srgbClr val="DDE3D8"/>
            </a:solidFill>
            <a:prstDash val="solid"/>
          </a:ln>
        </p:spPr>
      </p:sp>
      <p:sp>
        <p:nvSpPr>
          <p:cNvPr id="6" name="Text 4"/>
          <p:cNvSpPr/>
          <p:nvPr/>
        </p:nvSpPr>
        <p:spPr>
          <a:xfrm>
            <a:off x="548640" y="1371600"/>
            <a:ext cx="11094415" cy="232257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đang học gì.</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mạnh ở đâu.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còn yếu ở đâu.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Kết quả học tập.</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Quá trình tiến bộ.</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Các hoạt động học tập của con.</a:t>
            </a:r>
            <a:endParaRPr lang="en-US" sz="1600" dirty="0"/>
          </a:p>
        </p:txBody>
      </p:sp>
      <p:sp>
        <p:nvSpPr>
          <p:cNvPr id="7" name="Shape 5"/>
          <p:cNvSpPr/>
          <p:nvPr/>
        </p:nvSpPr>
        <p:spPr>
          <a:xfrm>
            <a:off x="548640" y="3877056"/>
            <a:ext cx="54864" cy="786384"/>
          </a:xfrm>
          <a:prstGeom prst="rect">
            <a:avLst/>
          </a:prstGeom>
          <a:solidFill>
            <a:srgbClr val="A5BE00"/>
          </a:solidFill>
          <a:ln/>
        </p:spPr>
      </p:sp>
      <p:sp>
        <p:nvSpPr>
          <p:cNvPr id="8" name="Text 6"/>
          <p:cNvSpPr/>
          <p:nvPr/>
        </p:nvSpPr>
        <p:spPr>
          <a:xfrm>
            <a:off x="777240" y="3877056"/>
            <a:ext cx="1086581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Điều quan trọng: con có người đồng hành trong việc học. Bố mẹ không cần ngồi cạnh con mỗi ngày nhưng vẫn biết con đang học thế nào.</a:t>
            </a:r>
            <a:endParaRPr lang="en-US" sz="1600" dirty="0"/>
          </a:p>
        </p:txBody>
      </p:sp>
      <p:sp>
        <p:nvSpPr>
          <p:cNvPr id="9" name="Shape 7"/>
          <p:cNvSpPr/>
          <p:nvPr/>
        </p:nvSpPr>
        <p:spPr>
          <a:xfrm>
            <a:off x="548640" y="4846320"/>
            <a:ext cx="11094415" cy="1133856"/>
          </a:xfrm>
          <a:prstGeom prst="roundRect">
            <a:avLst>
              <a:gd name="adj" fmla="val 4839"/>
            </a:avLst>
          </a:prstGeom>
          <a:solidFill>
            <a:srgbClr val="EAF1DC"/>
          </a:solidFill>
          <a:ln w="12700">
            <a:solidFill>
              <a:srgbClr val="A5BE00"/>
            </a:solidFill>
            <a:prstDash val="solid"/>
          </a:ln>
        </p:spPr>
      </p:sp>
      <p:sp>
        <p:nvSpPr>
          <p:cNvPr id="10" name="Text 8"/>
          <p:cNvSpPr/>
          <p:nvPr/>
        </p:nvSpPr>
        <p:spPr>
          <a:xfrm>
            <a:off x="731520" y="4956048"/>
            <a:ext cx="10728655" cy="228600"/>
          </a:xfrm>
          <a:prstGeom prst="rect">
            <a:avLst/>
          </a:prstGeom>
          <a:noFill/>
          <a:ln/>
        </p:spPr>
        <p:txBody>
          <a:bodyPr wrap="square" rtlCol="0" anchor="ctr"/>
          <a:lstStyle/>
          <a:p>
            <a:pPr indent="0" marL="0">
              <a:buNone/>
            </a:pPr>
            <a:r>
              <a:rPr lang="en-US" sz="1100" b="1" spc="100" kern="0" dirty="0">
                <a:solidFill>
                  <a:srgbClr val="3D5A1F"/>
                </a:solidFill>
                <a:latin typeface="Arial" pitchFamily="34" charset="0"/>
                <a:ea typeface="Arial" pitchFamily="34" charset="-122"/>
                <a:cs typeface="Arial" pitchFamily="34" charset="-120"/>
              </a:rPr>
              <a:t>CÁCH NÓI VỚI PHỤ HUYNH</a:t>
            </a:r>
            <a:endParaRPr lang="en-US" sz="1100" dirty="0"/>
          </a:p>
        </p:txBody>
      </p:sp>
      <p:sp>
        <p:nvSpPr>
          <p:cNvPr id="11" name="Text 9"/>
          <p:cNvSpPr/>
          <p:nvPr/>
        </p:nvSpPr>
        <p:spPr>
          <a:xfrm>
            <a:off x="731520" y="5230368"/>
            <a:ext cx="10728655" cy="676656"/>
          </a:xfrm>
          <a:prstGeom prst="rect">
            <a:avLst/>
          </a:prstGeom>
          <a:noFill/>
          <a:ln/>
        </p:spPr>
        <p:txBody>
          <a:bodyPr wrap="square" rtlCol="0" anchor="t"/>
          <a:lstStyle/>
          <a:p>
            <a:pPr indent="0" marL="0">
              <a:spcAft>
                <a:spcPts val="500"/>
              </a:spcAft>
              <a:buNone/>
            </a:pPr>
            <a:r>
              <a:rPr lang="en-US" sz="1600" i="1" dirty="0">
                <a:solidFill>
                  <a:srgbClr val="1F3D0F"/>
                </a:solidFill>
                <a:latin typeface="Arial" pitchFamily="34" charset="0"/>
                <a:ea typeface="Arial" pitchFamily="34" charset="-122"/>
                <a:cs typeface="Arial" pitchFamily="34" charset="-120"/>
              </a:rPr>
              <a:t>"Bố mẹ có thể yên tâm giao việc học cho Edupia hơn, vì con có người kèm riêng, có giáo viên chủ nhiệm theo sát, còn bố mẹ vẫn nhìn được quá trình học của con."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2026-09-03T10:12:28Z</dcterms:created>
  <dcterms:modified xsi:type="dcterms:W3CDTF">2026-09-03T10:12:28Z</dcterms:modified>
</cp:coreProperties>
</file>