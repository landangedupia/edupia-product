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4671"/>
          </a:solidFill>
          <a:ln w="12700">
            <a:solidFill>
              <a:srgbClr val="004671"/>
            </a:solidFill>
            <a:prstDash val="solid"/>
          </a:ln>
        </p:spPr>
      </p:sp>
      <p:sp>
        <p:nvSpPr>
          <p:cNvPr id="3" name="Shape 1"/>
          <p:cNvSpPr/>
          <p:nvPr/>
        </p:nvSpPr>
        <p:spPr>
          <a:xfrm>
            <a:off x="0" y="0"/>
            <a:ext cx="4572000" cy="6858000"/>
          </a:xfrm>
          <a:prstGeom prst="rect">
            <a:avLst/>
          </a:prstGeom>
          <a:solidFill>
            <a:srgbClr val="003A5C"/>
          </a:solidFill>
          <a:ln w="12700">
            <a:solidFill>
              <a:srgbClr val="003A5C"/>
            </a:solidFill>
            <a:prstDash val="solid"/>
          </a:ln>
        </p:spPr>
      </p:sp>
      <p:sp>
        <p:nvSpPr>
          <p:cNvPr id="4" name="Shape 2"/>
          <p:cNvSpPr/>
          <p:nvPr/>
        </p:nvSpPr>
        <p:spPr>
          <a:xfrm>
            <a:off x="0" y="0"/>
            <a:ext cx="12191695" cy="118872"/>
          </a:xfrm>
          <a:prstGeom prst="rect">
            <a:avLst/>
          </a:prstGeom>
          <a:solidFill>
            <a:srgbClr val="A5BE00"/>
          </a:solidFill>
          <a:ln w="12700">
            <a:solidFill>
              <a:srgbClr val="A5BE00"/>
            </a:solidFill>
            <a:prstDash val="solid"/>
          </a:ln>
        </p:spPr>
      </p:sp>
      <p:pic>
        <p:nvPicPr>
          <p:cNvPr id="5" name="Image 0" descr="C:\Users\landa\AppData\Local\Temp\claude\c--Users-landa--Personal--D---n-AI-Class-new\6170762a-1bf0-4689-a8af-98b9345ac979\scratchpad\pptxbuild\logo-white.png">    </p:cNvPr>
          <p:cNvPicPr>
            <a:picLocks noChangeAspect="1"/>
          </p:cNvPicPr>
          <p:nvPr/>
        </p:nvPicPr>
        <p:blipFill>
          <a:blip r:embed="rId1"/>
          <a:stretch>
            <a:fillRect/>
          </a:stretch>
        </p:blipFill>
        <p:spPr>
          <a:xfrm>
            <a:off x="685800" y="960120"/>
            <a:ext cx="1920240" cy="1645920"/>
          </a:xfrm>
          <a:prstGeom prst="rect">
            <a:avLst/>
          </a:prstGeom>
        </p:spPr>
      </p:pic>
      <p:sp>
        <p:nvSpPr>
          <p:cNvPr id="6" name="Text 3"/>
          <p:cNvSpPr/>
          <p:nvPr/>
        </p:nvSpPr>
        <p:spPr>
          <a:xfrm>
            <a:off x="731520" y="2788920"/>
            <a:ext cx="10058400" cy="365760"/>
          </a:xfrm>
          <a:prstGeom prst="rect">
            <a:avLst/>
          </a:prstGeom>
          <a:noFill/>
          <a:ln/>
        </p:spPr>
        <p:txBody>
          <a:bodyPr wrap="square" rtlCol="0" anchor="ctr"/>
          <a:lstStyle/>
          <a:p>
            <a:pPr indent="0" marL="0">
              <a:buNone/>
            </a:pPr>
            <a:r>
              <a:rPr lang="en-US" sz="1200" b="1" spc="300" kern="0" dirty="0">
                <a:solidFill>
                  <a:srgbClr val="D9E8A0"/>
                </a:solidFill>
                <a:latin typeface="Arial" pitchFamily="34" charset="0"/>
                <a:ea typeface="Arial" pitchFamily="34" charset="-122"/>
                <a:cs typeface="Arial" pitchFamily="34" charset="-120"/>
              </a:rPr>
              <a:t>KHỐI SẢN PHẨM – CÔNG NGHỆ  ·  CONCEPT 1.2</a:t>
            </a:r>
            <a:endParaRPr lang="en-US" sz="1200" dirty="0"/>
          </a:p>
        </p:txBody>
      </p:sp>
      <p:sp>
        <p:nvSpPr>
          <p:cNvPr id="7" name="Text 4"/>
          <p:cNvSpPr/>
          <p:nvPr/>
        </p:nvSpPr>
        <p:spPr>
          <a:xfrm>
            <a:off x="713232" y="3200400"/>
            <a:ext cx="10789920" cy="109728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EDUPIA AI CLASS PLUS</a:t>
            </a:r>
            <a:endParaRPr lang="en-US" sz="4200" dirty="0"/>
          </a:p>
        </p:txBody>
      </p:sp>
      <p:sp>
        <p:nvSpPr>
          <p:cNvPr id="8" name="Text 5"/>
          <p:cNvSpPr/>
          <p:nvPr/>
        </p:nvSpPr>
        <p:spPr>
          <a:xfrm>
            <a:off x="749808" y="4297680"/>
            <a:ext cx="10607040" cy="457200"/>
          </a:xfrm>
          <a:prstGeom prst="rect">
            <a:avLst/>
          </a:prstGeom>
          <a:noFill/>
          <a:ln/>
        </p:spPr>
        <p:txBody>
          <a:bodyPr wrap="square" rtlCol="0" anchor="ctr"/>
          <a:lstStyle/>
          <a:p>
            <a:pPr indent="0" marL="0">
              <a:buNone/>
            </a:pPr>
            <a:r>
              <a:rPr lang="en-US" sz="1500" dirty="0">
                <a:solidFill>
                  <a:srgbClr val="CFE0EC"/>
                </a:solidFill>
                <a:latin typeface="Arial" pitchFamily="34" charset="0"/>
                <a:ea typeface="Arial" pitchFamily="34" charset="-122"/>
                <a:cs typeface="Arial" pitchFamily="34" charset="-120"/>
              </a:rPr>
              <a:t>Đầu tư tầng công nghệ AI — Adaptive Learning Ecosystem</a:t>
            </a:r>
            <a:endParaRPr lang="en-US" sz="1500" dirty="0"/>
          </a:p>
        </p:txBody>
      </p:sp>
      <p:sp>
        <p:nvSpPr>
          <p:cNvPr id="9" name="Text 6"/>
          <p:cNvSpPr/>
          <p:nvPr/>
        </p:nvSpPr>
        <p:spPr>
          <a:xfrm>
            <a:off x="749808" y="4709160"/>
            <a:ext cx="10607040" cy="411480"/>
          </a:xfrm>
          <a:prstGeom prst="rect">
            <a:avLst/>
          </a:prstGeom>
          <a:noFill/>
          <a:ln/>
        </p:spPr>
        <p:txBody>
          <a:bodyPr wrap="square" rtlCol="0" anchor="ctr"/>
          <a:lstStyle/>
          <a:p>
            <a:pPr indent="0" marL="0">
              <a:buNone/>
            </a:pPr>
            <a:r>
              <a:rPr lang="en-US" sz="1100" i="1" dirty="0">
                <a:solidFill>
                  <a:srgbClr val="9FC4D8"/>
                </a:solidFill>
                <a:latin typeface="Arial" pitchFamily="34" charset="0"/>
                <a:ea typeface="Arial" pitchFamily="34" charset="-122"/>
                <a:cs typeface="Arial" pitchFamily="34" charset="-120"/>
              </a:rPr>
              <a:t>Từ nghiên cứu 30+ EdTech hàng đầu thế giới</a:t>
            </a:r>
            <a:endParaRPr lang="en-US" sz="1100" dirty="0"/>
          </a:p>
        </p:txBody>
      </p:sp>
      <p:sp>
        <p:nvSpPr>
          <p:cNvPr id="10" name="Text 7"/>
          <p:cNvSpPr/>
          <p:nvPr/>
        </p:nvSpPr>
        <p:spPr>
          <a:xfrm>
            <a:off x="713232" y="5989320"/>
            <a:ext cx="2743200" cy="274320"/>
          </a:xfrm>
          <a:prstGeom prst="rect">
            <a:avLst/>
          </a:prstGeom>
          <a:noFill/>
          <a:ln/>
        </p:spPr>
        <p:txBody>
          <a:bodyPr wrap="square" rtlCol="0" anchor="ctr"/>
          <a:lstStyle/>
          <a:p>
            <a:pPr indent="0" marL="0">
              <a:buNone/>
            </a:pPr>
            <a:r>
              <a:rPr lang="en-US" sz="1300" b="1" spc="100" kern="0" dirty="0">
                <a:solidFill>
                  <a:srgbClr val="FFFFFF"/>
                </a:solidFill>
                <a:latin typeface="Arial" pitchFamily="34" charset="0"/>
                <a:ea typeface="Arial" pitchFamily="34" charset="-122"/>
                <a:cs typeface="Arial" pitchFamily="34" charset="-120"/>
              </a:rPr>
              <a:t>EDUPIA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907792" cy="256032"/>
          </a:xfrm>
          <a:prstGeom prst="rect">
            <a:avLst/>
          </a:prstGeom>
          <a:noFill/>
          <a:ln/>
        </p:spPr>
        <p:txBody>
          <a:bodyPr wrap="square" rtlCol="0" anchor="ctr"/>
          <a:lstStyle/>
          <a:p>
            <a:pPr algn="r" indent="0" marL="0">
              <a:buNone/>
            </a:pPr>
            <a:r>
              <a:rPr lang="en-US" sz="1300" b="1" spc="100" kern="0"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907792" cy="182880"/>
          </a:xfrm>
          <a:prstGeom prst="rect">
            <a:avLst/>
          </a:prstGeom>
          <a:noFill/>
          <a:ln/>
        </p:spPr>
        <p:txBody>
          <a:bodyPr wrap="square" rtlCol="0" anchor="ctr"/>
          <a:lstStyle/>
          <a:p>
            <a:pPr algn="r" indent="0" marL="0">
              <a:buNone/>
            </a:pPr>
            <a:r>
              <a:rPr lang="en-US" sz="750" b="1" spc="20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8092440" cy="914400"/>
          </a:xfrm>
          <a:prstGeom prst="rect">
            <a:avLst/>
          </a:prstGeom>
          <a:noFill/>
          <a:ln/>
        </p:spPr>
        <p:txBody>
          <a:bodyPr wrap="square" rtlCol="0" anchor="t"/>
          <a:lstStyle/>
          <a:p>
            <a:pPr indent="0" marL="0">
              <a:lnSpc>
                <a:spcPct val="104000"/>
              </a:lnSpc>
              <a:buNone/>
            </a:pPr>
            <a:r>
              <a:rPr lang="en-US" sz="2300" b="1" dirty="0">
                <a:solidFill>
                  <a:srgbClr val="004671"/>
                </a:solidFill>
                <a:latin typeface="Arial" pitchFamily="34" charset="0"/>
                <a:ea typeface="Arial" pitchFamily="34" charset="-122"/>
                <a:cs typeface="Arial" pitchFamily="34" charset="-120"/>
              </a:rPr>
              <a:t>Mục lục</a:t>
            </a:r>
            <a:endParaRPr lang="en-US" sz="2300" dirty="0"/>
          </a:p>
        </p:txBody>
      </p:sp>
      <p:sp>
        <p:nvSpPr>
          <p:cNvPr id="5" name="Shape 3"/>
          <p:cNvSpPr/>
          <p:nvPr/>
        </p:nvSpPr>
        <p:spPr>
          <a:xfrm>
            <a:off x="502920" y="6437376"/>
            <a:ext cx="11185855" cy="0"/>
          </a:xfrm>
          <a:prstGeom prst="line">
            <a:avLst/>
          </a:prstGeom>
          <a:noFill/>
          <a:ln w="19050">
            <a:solidFill>
              <a:srgbClr val="A5BE00"/>
            </a:solidFill>
            <a:prstDash val="solid"/>
          </a:ln>
        </p:spPr>
      </p:sp>
      <p:sp>
        <p:nvSpPr>
          <p:cNvPr id="6" name="Text 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Adaptive Learning</a:t>
            </a:r>
            <a:endParaRPr lang="en-US" sz="800" dirty="0"/>
          </a:p>
        </p:txBody>
      </p:sp>
      <p:sp>
        <p:nvSpPr>
          <p:cNvPr id="7" name="Text 5"/>
          <p:cNvSpPr/>
          <p:nvPr/>
        </p:nvSpPr>
        <p:spPr>
          <a:xfrm>
            <a:off x="985997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2 / 15</a:t>
            </a:r>
            <a:endParaRPr lang="en-US" sz="800" dirty="0"/>
          </a:p>
        </p:txBody>
      </p:sp>
      <p:sp>
        <p:nvSpPr>
          <p:cNvPr id="8" name="Shape 6"/>
          <p:cNvSpPr/>
          <p:nvPr/>
        </p:nvSpPr>
        <p:spPr>
          <a:xfrm>
            <a:off x="502920" y="1783080"/>
            <a:ext cx="11185855" cy="841248"/>
          </a:xfrm>
          <a:prstGeom prst="rect">
            <a:avLst/>
          </a:prstGeom>
          <a:solidFill>
            <a:srgbClr val="F4F9FC"/>
          </a:solidFill>
          <a:ln w="12700">
            <a:solidFill>
              <a:srgbClr val="DCE8F0"/>
            </a:solidFill>
            <a:prstDash val="solid"/>
          </a:ln>
        </p:spPr>
      </p:sp>
      <p:sp>
        <p:nvSpPr>
          <p:cNvPr id="9" name="Shape 7"/>
          <p:cNvSpPr/>
          <p:nvPr/>
        </p:nvSpPr>
        <p:spPr>
          <a:xfrm>
            <a:off x="502920" y="1783080"/>
            <a:ext cx="82296" cy="841248"/>
          </a:xfrm>
          <a:prstGeom prst="rect">
            <a:avLst/>
          </a:prstGeom>
          <a:solidFill>
            <a:srgbClr val="A5BE00"/>
          </a:solidFill>
          <a:ln w="12700">
            <a:solidFill>
              <a:srgbClr val="A5BE00"/>
            </a:solidFill>
            <a:prstDash val="solid"/>
          </a:ln>
        </p:spPr>
      </p:sp>
      <p:sp>
        <p:nvSpPr>
          <p:cNvPr id="10" name="Text 8"/>
          <p:cNvSpPr/>
          <p:nvPr/>
        </p:nvSpPr>
        <p:spPr>
          <a:xfrm>
            <a:off x="822960" y="1783080"/>
            <a:ext cx="914400" cy="841248"/>
          </a:xfrm>
          <a:prstGeom prst="rect">
            <a:avLst/>
          </a:prstGeom>
          <a:noFill/>
          <a:ln/>
        </p:spPr>
        <p:txBody>
          <a:bodyPr wrap="square" rtlCol="0" anchor="ctr"/>
          <a:lstStyle/>
          <a:p>
            <a:pPr indent="0" marL="0">
              <a:buNone/>
            </a:pPr>
            <a:r>
              <a:rPr lang="en-US" sz="2400" b="1" dirty="0">
                <a:solidFill>
                  <a:srgbClr val="51720A"/>
                </a:solidFill>
                <a:latin typeface="Arial" pitchFamily="34" charset="0"/>
                <a:ea typeface="Arial" pitchFamily="34" charset="-122"/>
                <a:cs typeface="Arial" pitchFamily="34" charset="-120"/>
              </a:rPr>
              <a:t>01</a:t>
            </a:r>
            <a:endParaRPr lang="en-US" sz="2400" dirty="0"/>
          </a:p>
        </p:txBody>
      </p:sp>
      <p:sp>
        <p:nvSpPr>
          <p:cNvPr id="11" name="Text 9"/>
          <p:cNvSpPr/>
          <p:nvPr/>
        </p:nvSpPr>
        <p:spPr>
          <a:xfrm>
            <a:off x="1965960" y="1783080"/>
            <a:ext cx="9357055" cy="84124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Bối cảnh và cơ hội thị trường</a:t>
            </a:r>
            <a:endParaRPr lang="en-US" sz="1600" dirty="0"/>
          </a:p>
        </p:txBody>
      </p:sp>
      <p:sp>
        <p:nvSpPr>
          <p:cNvPr id="12" name="Shape 10"/>
          <p:cNvSpPr/>
          <p:nvPr/>
        </p:nvSpPr>
        <p:spPr>
          <a:xfrm>
            <a:off x="502920" y="2807208"/>
            <a:ext cx="11185855" cy="841248"/>
          </a:xfrm>
          <a:prstGeom prst="rect">
            <a:avLst/>
          </a:prstGeom>
          <a:solidFill>
            <a:srgbClr val="FFFFFF"/>
          </a:solidFill>
          <a:ln w="12700">
            <a:solidFill>
              <a:srgbClr val="DCE8F0"/>
            </a:solidFill>
            <a:prstDash val="solid"/>
          </a:ln>
        </p:spPr>
      </p:sp>
      <p:sp>
        <p:nvSpPr>
          <p:cNvPr id="13" name="Shape 11"/>
          <p:cNvSpPr/>
          <p:nvPr/>
        </p:nvSpPr>
        <p:spPr>
          <a:xfrm>
            <a:off x="502920" y="2807208"/>
            <a:ext cx="82296" cy="841248"/>
          </a:xfrm>
          <a:prstGeom prst="rect">
            <a:avLst/>
          </a:prstGeom>
          <a:solidFill>
            <a:srgbClr val="A5BE00"/>
          </a:solidFill>
          <a:ln w="12700">
            <a:solidFill>
              <a:srgbClr val="A5BE00"/>
            </a:solidFill>
            <a:prstDash val="solid"/>
          </a:ln>
        </p:spPr>
      </p:sp>
      <p:sp>
        <p:nvSpPr>
          <p:cNvPr id="14" name="Text 12"/>
          <p:cNvSpPr/>
          <p:nvPr/>
        </p:nvSpPr>
        <p:spPr>
          <a:xfrm>
            <a:off x="822960" y="2807208"/>
            <a:ext cx="914400" cy="841248"/>
          </a:xfrm>
          <a:prstGeom prst="rect">
            <a:avLst/>
          </a:prstGeom>
          <a:noFill/>
          <a:ln/>
        </p:spPr>
        <p:txBody>
          <a:bodyPr wrap="square" rtlCol="0" anchor="ctr"/>
          <a:lstStyle/>
          <a:p>
            <a:pPr indent="0" marL="0">
              <a:buNone/>
            </a:pPr>
            <a:r>
              <a:rPr lang="en-US" sz="2400" b="1" dirty="0">
                <a:solidFill>
                  <a:srgbClr val="51720A"/>
                </a:solidFill>
                <a:latin typeface="Arial" pitchFamily="34" charset="0"/>
                <a:ea typeface="Arial" pitchFamily="34" charset="-122"/>
                <a:cs typeface="Arial" pitchFamily="34" charset="-120"/>
              </a:rPr>
              <a:t>02</a:t>
            </a:r>
            <a:endParaRPr lang="en-US" sz="2400" dirty="0"/>
          </a:p>
        </p:txBody>
      </p:sp>
      <p:sp>
        <p:nvSpPr>
          <p:cNvPr id="15" name="Text 13"/>
          <p:cNvSpPr/>
          <p:nvPr/>
        </p:nvSpPr>
        <p:spPr>
          <a:xfrm>
            <a:off x="1965960" y="2807208"/>
            <a:ext cx="9357055" cy="84124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Khách hàng mục tiêu</a:t>
            </a:r>
            <a:endParaRPr lang="en-US" sz="1600" dirty="0"/>
          </a:p>
        </p:txBody>
      </p:sp>
      <p:sp>
        <p:nvSpPr>
          <p:cNvPr id="16" name="Shape 14"/>
          <p:cNvSpPr/>
          <p:nvPr/>
        </p:nvSpPr>
        <p:spPr>
          <a:xfrm>
            <a:off x="502920" y="3831336"/>
            <a:ext cx="11185855" cy="841248"/>
          </a:xfrm>
          <a:prstGeom prst="rect">
            <a:avLst/>
          </a:prstGeom>
          <a:solidFill>
            <a:srgbClr val="F4F9FC"/>
          </a:solidFill>
          <a:ln w="12700">
            <a:solidFill>
              <a:srgbClr val="DCE8F0"/>
            </a:solidFill>
            <a:prstDash val="solid"/>
          </a:ln>
        </p:spPr>
      </p:sp>
      <p:sp>
        <p:nvSpPr>
          <p:cNvPr id="17" name="Shape 15"/>
          <p:cNvSpPr/>
          <p:nvPr/>
        </p:nvSpPr>
        <p:spPr>
          <a:xfrm>
            <a:off x="502920" y="3831336"/>
            <a:ext cx="82296" cy="841248"/>
          </a:xfrm>
          <a:prstGeom prst="rect">
            <a:avLst/>
          </a:prstGeom>
          <a:solidFill>
            <a:srgbClr val="A5BE00"/>
          </a:solidFill>
          <a:ln w="12700">
            <a:solidFill>
              <a:srgbClr val="A5BE00"/>
            </a:solidFill>
            <a:prstDash val="solid"/>
          </a:ln>
        </p:spPr>
      </p:sp>
      <p:sp>
        <p:nvSpPr>
          <p:cNvPr id="18" name="Text 16"/>
          <p:cNvSpPr/>
          <p:nvPr/>
        </p:nvSpPr>
        <p:spPr>
          <a:xfrm>
            <a:off x="822960" y="3831336"/>
            <a:ext cx="914400" cy="841248"/>
          </a:xfrm>
          <a:prstGeom prst="rect">
            <a:avLst/>
          </a:prstGeom>
          <a:noFill/>
          <a:ln/>
        </p:spPr>
        <p:txBody>
          <a:bodyPr wrap="square" rtlCol="0" anchor="ctr"/>
          <a:lstStyle/>
          <a:p>
            <a:pPr indent="0" marL="0">
              <a:buNone/>
            </a:pPr>
            <a:r>
              <a:rPr lang="en-US" sz="2400" b="1" dirty="0">
                <a:solidFill>
                  <a:srgbClr val="51720A"/>
                </a:solidFill>
                <a:latin typeface="Arial" pitchFamily="34" charset="0"/>
                <a:ea typeface="Arial" pitchFamily="34" charset="-122"/>
                <a:cs typeface="Arial" pitchFamily="34" charset="-120"/>
              </a:rPr>
              <a:t>03</a:t>
            </a:r>
            <a:endParaRPr lang="en-US" sz="2400" dirty="0"/>
          </a:p>
        </p:txBody>
      </p:sp>
      <p:sp>
        <p:nvSpPr>
          <p:cNvPr id="19" name="Text 17"/>
          <p:cNvSpPr/>
          <p:nvPr/>
        </p:nvSpPr>
        <p:spPr>
          <a:xfrm>
            <a:off x="1965960" y="3831336"/>
            <a:ext cx="9357055" cy="84124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Giải pháp</a:t>
            </a:r>
            <a:endParaRPr lang="en-US" sz="1600" dirty="0"/>
          </a:p>
        </p:txBody>
      </p:sp>
      <p:sp>
        <p:nvSpPr>
          <p:cNvPr id="20" name="Shape 18"/>
          <p:cNvSpPr/>
          <p:nvPr/>
        </p:nvSpPr>
        <p:spPr>
          <a:xfrm>
            <a:off x="502920" y="4855464"/>
            <a:ext cx="11185855" cy="841248"/>
          </a:xfrm>
          <a:prstGeom prst="rect">
            <a:avLst/>
          </a:prstGeom>
          <a:solidFill>
            <a:srgbClr val="FFFFFF"/>
          </a:solidFill>
          <a:ln w="12700">
            <a:solidFill>
              <a:srgbClr val="DCE8F0"/>
            </a:solidFill>
            <a:prstDash val="solid"/>
          </a:ln>
        </p:spPr>
      </p:sp>
      <p:sp>
        <p:nvSpPr>
          <p:cNvPr id="21" name="Shape 19"/>
          <p:cNvSpPr/>
          <p:nvPr/>
        </p:nvSpPr>
        <p:spPr>
          <a:xfrm>
            <a:off x="502920" y="4855464"/>
            <a:ext cx="82296" cy="841248"/>
          </a:xfrm>
          <a:prstGeom prst="rect">
            <a:avLst/>
          </a:prstGeom>
          <a:solidFill>
            <a:srgbClr val="A5BE00"/>
          </a:solidFill>
          <a:ln w="12700">
            <a:solidFill>
              <a:srgbClr val="A5BE00"/>
            </a:solidFill>
            <a:prstDash val="solid"/>
          </a:ln>
        </p:spPr>
      </p:sp>
      <p:sp>
        <p:nvSpPr>
          <p:cNvPr id="22" name="Text 20"/>
          <p:cNvSpPr/>
          <p:nvPr/>
        </p:nvSpPr>
        <p:spPr>
          <a:xfrm>
            <a:off x="822960" y="4855464"/>
            <a:ext cx="914400" cy="841248"/>
          </a:xfrm>
          <a:prstGeom prst="rect">
            <a:avLst/>
          </a:prstGeom>
          <a:noFill/>
          <a:ln/>
        </p:spPr>
        <p:txBody>
          <a:bodyPr wrap="square" rtlCol="0" anchor="ctr"/>
          <a:lstStyle/>
          <a:p>
            <a:pPr indent="0" marL="0">
              <a:buNone/>
            </a:pPr>
            <a:r>
              <a:rPr lang="en-US" sz="2400" b="1" dirty="0">
                <a:solidFill>
                  <a:srgbClr val="51720A"/>
                </a:solidFill>
                <a:latin typeface="Arial" pitchFamily="34" charset="0"/>
                <a:ea typeface="Arial" pitchFamily="34" charset="-122"/>
                <a:cs typeface="Arial" pitchFamily="34" charset="-120"/>
              </a:rPr>
              <a:t>04</a:t>
            </a:r>
            <a:endParaRPr lang="en-US" sz="2400" dirty="0"/>
          </a:p>
        </p:txBody>
      </p:sp>
      <p:sp>
        <p:nvSpPr>
          <p:cNvPr id="23" name="Text 21"/>
          <p:cNvSpPr/>
          <p:nvPr/>
        </p:nvSpPr>
        <p:spPr>
          <a:xfrm>
            <a:off x="1965960" y="4855464"/>
            <a:ext cx="9357055" cy="841248"/>
          </a:xfrm>
          <a:prstGeom prst="rect">
            <a:avLst/>
          </a:prstGeom>
          <a:noFill/>
          <a:ln/>
        </p:spPr>
        <p:txBody>
          <a:bodyPr wrap="square" rtlCol="0" anchor="ctr"/>
          <a:lstStyle/>
          <a:p>
            <a:pPr indent="0" marL="0">
              <a:buNone/>
            </a:pPr>
            <a:r>
              <a:rPr lang="en-US" sz="1600" b="1" dirty="0">
                <a:solidFill>
                  <a:srgbClr val="004671"/>
                </a:solidFill>
                <a:latin typeface="Arial" pitchFamily="34" charset="0"/>
                <a:ea typeface="Arial" pitchFamily="34" charset="-122"/>
                <a:cs typeface="Arial" pitchFamily="34" charset="-120"/>
              </a:rPr>
              <a:t>Cấu trúc sản phẩm và mô tả tính năng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003A5C"/>
          </a:solidFill>
          <a:ln w="12700">
            <a:solidFill>
              <a:srgbClr val="003A5C"/>
            </a:solidFill>
            <a:prstDash val="solid"/>
          </a:ln>
        </p:spPr>
      </p:sp>
      <p:sp>
        <p:nvSpPr>
          <p:cNvPr id="3" name="Shape 1"/>
          <p:cNvSpPr/>
          <p:nvPr/>
        </p:nvSpPr>
        <p:spPr>
          <a:xfrm>
            <a:off x="0" y="0"/>
            <a:ext cx="12191695" cy="118872"/>
          </a:xfrm>
          <a:prstGeom prst="rect">
            <a:avLst/>
          </a:prstGeom>
          <a:solidFill>
            <a:srgbClr val="A5BE00"/>
          </a:solidFill>
          <a:ln w="12700">
            <a:solidFill>
              <a:srgbClr val="A5BE00"/>
            </a:solidFill>
            <a:prstDash val="solid"/>
          </a:ln>
        </p:spPr>
      </p:sp>
      <p:sp>
        <p:nvSpPr>
          <p:cNvPr id="4" name="Text 2"/>
          <p:cNvSpPr/>
          <p:nvPr/>
        </p:nvSpPr>
        <p:spPr>
          <a:xfrm>
            <a:off x="640080" y="2286000"/>
            <a:ext cx="2743200" cy="1005840"/>
          </a:xfrm>
          <a:prstGeom prst="rect">
            <a:avLst/>
          </a:prstGeom>
          <a:noFill/>
          <a:ln/>
        </p:spPr>
        <p:txBody>
          <a:bodyPr wrap="square" rtlCol="0" anchor="ctr"/>
          <a:lstStyle/>
          <a:p>
            <a:pPr indent="0" marL="0">
              <a:buNone/>
            </a:pPr>
            <a:r>
              <a:rPr lang="en-US" sz="4000" b="1" dirty="0">
                <a:solidFill>
                  <a:srgbClr val="A5BE00"/>
                </a:solidFill>
                <a:latin typeface="Arial" pitchFamily="34" charset="0"/>
                <a:ea typeface="Arial" pitchFamily="34" charset="-122"/>
                <a:cs typeface="Arial" pitchFamily="34" charset="-120"/>
              </a:rPr>
              <a:t>01</a:t>
            </a:r>
            <a:endParaRPr lang="en-US" sz="4000" dirty="0"/>
          </a:p>
        </p:txBody>
      </p:sp>
      <p:sp>
        <p:nvSpPr>
          <p:cNvPr id="5" name="Text 3"/>
          <p:cNvSpPr/>
          <p:nvPr/>
        </p:nvSpPr>
        <p:spPr>
          <a:xfrm>
            <a:off x="640080" y="3063240"/>
            <a:ext cx="10607040" cy="1280160"/>
          </a:xfrm>
          <a:prstGeom prst="rect">
            <a:avLst/>
          </a:prstGeom>
          <a:noFill/>
          <a:ln/>
        </p:spPr>
        <p:txBody>
          <a:bodyPr wrap="square" rtlCol="0" anchor="ctr"/>
          <a:lstStyle/>
          <a:p>
            <a:pPr indent="0" marL="0">
              <a:lnSpc>
                <a:spcPct val="105000"/>
              </a:lnSpc>
              <a:buNone/>
            </a:pPr>
            <a:r>
              <a:rPr lang="en-US" sz="3000" b="1" dirty="0">
                <a:solidFill>
                  <a:srgbClr val="FFFFFF"/>
                </a:solidFill>
                <a:latin typeface="Arial" pitchFamily="34" charset="0"/>
                <a:ea typeface="Arial" pitchFamily="34" charset="-122"/>
                <a:cs typeface="Arial" pitchFamily="34" charset="-120"/>
              </a:rPr>
              <a:t>BỐI CẢNH VÀ CƠ HỘI THỊ TRƯỜNG</a:t>
            </a:r>
            <a:endParaRPr lang="en-US" sz="3000" dirty="0"/>
          </a:p>
        </p:txBody>
      </p:sp>
      <p:sp>
        <p:nvSpPr>
          <p:cNvPr id="6" name="Text 4"/>
          <p:cNvSpPr/>
          <p:nvPr/>
        </p:nvSpPr>
        <p:spPr>
          <a:xfrm>
            <a:off x="640080" y="5806440"/>
            <a:ext cx="2743200" cy="274320"/>
          </a:xfrm>
          <a:prstGeom prst="rect">
            <a:avLst/>
          </a:prstGeom>
          <a:noFill/>
          <a:ln/>
        </p:spPr>
        <p:txBody>
          <a:bodyPr wrap="square" rtlCol="0" anchor="ctr"/>
          <a:lstStyle/>
          <a:p>
            <a:pPr indent="0" marL="0">
              <a:buNone/>
            </a:pPr>
            <a:r>
              <a:rPr lang="en-US" sz="1200" b="1" spc="100" kern="0" dirty="0">
                <a:solidFill>
                  <a:srgbClr val="FFFFFF"/>
                </a:solidFill>
                <a:latin typeface="Arial" pitchFamily="34" charset="0"/>
                <a:ea typeface="Arial" pitchFamily="34" charset="-122"/>
                <a:cs typeface="Arial" pitchFamily="34" charset="-120"/>
              </a:rPr>
              <a:t>EDUPIA</a:t>
            </a:r>
            <a:endParaRPr lang="en-US" sz="1200" dirty="0"/>
          </a:p>
        </p:txBody>
      </p:sp>
      <p:sp>
        <p:nvSpPr>
          <p:cNvPr id="7" name="Text 5"/>
          <p:cNvSpPr/>
          <p:nvPr/>
        </p:nvSpPr>
        <p:spPr>
          <a:xfrm>
            <a:off x="640080" y="6089904"/>
            <a:ext cx="2743200" cy="201168"/>
          </a:xfrm>
          <a:prstGeom prst="rect">
            <a:avLst/>
          </a:prstGeom>
          <a:noFill/>
          <a:ln/>
        </p:spPr>
        <p:txBody>
          <a:bodyPr wrap="square" rtlCol="0" anchor="ctr"/>
          <a:lstStyle/>
          <a:p>
            <a:pPr indent="0" marL="0">
              <a:buNone/>
            </a:pPr>
            <a:r>
              <a:rPr lang="en-US" sz="750" b="1" spc="200" kern="0" dirty="0">
                <a:solidFill>
                  <a:srgbClr val="C7E08A"/>
                </a:solidFill>
                <a:latin typeface="Arial" pitchFamily="34" charset="0"/>
                <a:ea typeface="Arial" pitchFamily="34" charset="-122"/>
                <a:cs typeface="Arial" pitchFamily="34" charset="-120"/>
              </a:rPr>
              <a:t>AI CLASS PLUS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907792" cy="256032"/>
          </a:xfrm>
          <a:prstGeom prst="rect">
            <a:avLst/>
          </a:prstGeom>
          <a:noFill/>
          <a:ln/>
        </p:spPr>
        <p:txBody>
          <a:bodyPr wrap="square" rtlCol="0" anchor="ctr"/>
          <a:lstStyle/>
          <a:p>
            <a:pPr algn="r" indent="0" marL="0">
              <a:buNone/>
            </a:pPr>
            <a:r>
              <a:rPr lang="en-US" sz="1300" b="1" spc="100" kern="0"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907792" cy="182880"/>
          </a:xfrm>
          <a:prstGeom prst="rect">
            <a:avLst/>
          </a:prstGeom>
          <a:noFill/>
          <a:ln/>
        </p:spPr>
        <p:txBody>
          <a:bodyPr wrap="square" rtlCol="0" anchor="ctr"/>
          <a:lstStyle/>
          <a:p>
            <a:pPr algn="r" indent="0" marL="0">
              <a:buNone/>
            </a:pPr>
            <a:r>
              <a:rPr lang="en-US" sz="750" b="1" spc="20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8092440" cy="914400"/>
          </a:xfrm>
          <a:prstGeom prst="rect">
            <a:avLst/>
          </a:prstGeom>
          <a:noFill/>
          <a:ln/>
        </p:spPr>
        <p:txBody>
          <a:bodyPr wrap="square" rtlCol="0" anchor="t"/>
          <a:lstStyle/>
          <a:p>
            <a:pPr indent="0" marL="0">
              <a:lnSpc>
                <a:spcPct val="104000"/>
              </a:lnSpc>
              <a:buNone/>
            </a:pPr>
            <a:r>
              <a:rPr lang="en-US" sz="2200" b="1" dirty="0">
                <a:solidFill>
                  <a:srgbClr val="004671"/>
                </a:solidFill>
                <a:latin typeface="Arial" pitchFamily="34" charset="0"/>
                <a:ea typeface="Arial" pitchFamily="34" charset="-122"/>
                <a:cs typeface="Arial" pitchFamily="34" charset="-120"/>
              </a:rPr>
              <a:t>Bối cảnh: Vì sao cần Adaptive Learning</a:t>
            </a:r>
            <a:endParaRPr lang="en-US" sz="2200" dirty="0"/>
          </a:p>
        </p:txBody>
      </p:sp>
      <p:sp>
        <p:nvSpPr>
          <p:cNvPr id="5" name="Shape 3"/>
          <p:cNvSpPr/>
          <p:nvPr/>
        </p:nvSpPr>
        <p:spPr>
          <a:xfrm>
            <a:off x="502920" y="6437376"/>
            <a:ext cx="11185855" cy="0"/>
          </a:xfrm>
          <a:prstGeom prst="line">
            <a:avLst/>
          </a:prstGeom>
          <a:noFill/>
          <a:ln w="19050">
            <a:solidFill>
              <a:srgbClr val="A5BE00"/>
            </a:solidFill>
            <a:prstDash val="solid"/>
          </a:ln>
        </p:spPr>
      </p:sp>
      <p:sp>
        <p:nvSpPr>
          <p:cNvPr id="6" name="Text 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Adaptive Learning</a:t>
            </a:r>
            <a:endParaRPr lang="en-US" sz="800" dirty="0"/>
          </a:p>
        </p:txBody>
      </p:sp>
      <p:sp>
        <p:nvSpPr>
          <p:cNvPr id="7" name="Text 5"/>
          <p:cNvSpPr/>
          <p:nvPr/>
        </p:nvSpPr>
        <p:spPr>
          <a:xfrm>
            <a:off x="985997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3 / 15</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85855" cy="914400"/>
        </p:xfrm>
        <a:graphic>
          <a:graphicData uri="http://schemas.openxmlformats.org/drawingml/2006/table">
            <a:tbl>
              <a:tblPr/>
              <a:tblGrid>
                <a:gridCol w="3355757"/>
                <a:gridCol w="7830099"/>
              </a:tblGrid>
              <a:tr h="749808">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Vấn đề hiện tại</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Diễn giải</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r>
              <a:tr h="749808">
                <a:tc>
                  <a:txBody>
                    <a:bodyPr/>
                    <a:lstStyle/>
                    <a:p>
                      <a:pPr indent="0" marL="0">
                        <a:buNone/>
                      </a:pPr>
                      <a:r>
                        <a:rPr lang="en-US" sz="1050" b="1" dirty="0">
                          <a:solidFill>
                            <a:srgbClr val="004671"/>
                          </a:solidFill>
                          <a:latin typeface="Arial" pitchFamily="34" charset="0"/>
                          <a:ea typeface="Arial" pitchFamily="34" charset="-122"/>
                          <a:cs typeface="Arial" pitchFamily="34" charset="-120"/>
                        </a:rPr>
                        <a:t>Cá nhân hoá còn hời hợt</a:t>
                      </a:r>
                      <a:endParaRPr lang="en-US" sz="10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Big Class dạy đại trà; học sinh yếu ở điểm khác nhau nhưng nhận cùng nội dung, cùng tốc độ.</a:t>
                      </a:r>
                      <a:endParaRPr lang="en-US" sz="10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749808">
                <a:tc>
                  <a:txBody>
                    <a:bodyPr/>
                    <a:lstStyle/>
                    <a:p>
                      <a:pPr indent="0" marL="0">
                        <a:buNone/>
                      </a:pPr>
                      <a:r>
                        <a:rPr lang="en-US" sz="1050" b="1" dirty="0">
                          <a:solidFill>
                            <a:srgbClr val="004671"/>
                          </a:solidFill>
                          <a:latin typeface="Arial" pitchFamily="34" charset="0"/>
                          <a:ea typeface="Arial" pitchFamily="34" charset="-122"/>
                          <a:cs typeface="Arial" pitchFamily="34" charset="-120"/>
                        </a:rPr>
                        <a:t>Không đo được lỗ hổng thật</a:t>
                      </a:r>
                      <a:endParaRPr lang="en-US" sz="10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GV đánh giá cảm tính qua điểm tổng — không biết chính xác học sinh yếu ở đâu.</a:t>
                      </a:r>
                      <a:endParaRPr lang="en-US" sz="10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749808">
                <a:tc>
                  <a:txBody>
                    <a:bodyPr/>
                    <a:lstStyle/>
                    <a:p>
                      <a:pPr indent="0" marL="0">
                        <a:buNone/>
                      </a:pPr>
                      <a:r>
                        <a:rPr lang="en-US" sz="1050" b="1" dirty="0">
                          <a:solidFill>
                            <a:srgbClr val="004671"/>
                          </a:solidFill>
                          <a:latin typeface="Arial" pitchFamily="34" charset="0"/>
                          <a:ea typeface="Arial" pitchFamily="34" charset="-122"/>
                          <a:cs typeface="Arial" pitchFamily="34" charset="-120"/>
                        </a:rPr>
                        <a:t>TLGH phụ thuộc niềm tin</a:t>
                      </a:r>
                      <a:endParaRPr lang="en-US" sz="10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Phụ huynh cần bằng chứng tiến bộ cụ thể, đo lường được để gia hạn.</a:t>
                      </a:r>
                      <a:endParaRPr lang="en-US" sz="10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749808">
                <a:tc>
                  <a:txBody>
                    <a:bodyPr/>
                    <a:lstStyle/>
                    <a:p>
                      <a:pPr indent="0" marL="0">
                        <a:buNone/>
                      </a:pPr>
                      <a:r>
                        <a:rPr lang="en-US" sz="1050" b="1" dirty="0">
                          <a:solidFill>
                            <a:srgbClr val="004671"/>
                          </a:solidFill>
                          <a:latin typeface="Arial" pitchFamily="34" charset="0"/>
                          <a:ea typeface="Arial" pitchFamily="34" charset="-122"/>
                          <a:cs typeface="Arial" pitchFamily="34" charset="-120"/>
                        </a:rPr>
                        <a:t>Đối thủ toàn cầu đã đi trước</a:t>
                      </a:r>
                      <a:endParaRPr lang="en-US" sz="10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1050" dirty="0">
                          <a:solidFill>
                            <a:srgbClr val="333333"/>
                          </a:solidFill>
                          <a:latin typeface="Arial" pitchFamily="34" charset="0"/>
                          <a:ea typeface="Arial" pitchFamily="34" charset="-122"/>
                          <a:cs typeface="Arial" pitchFamily="34" charset="-120"/>
                        </a:rPr>
                        <a:t>Squirrel AI, Riiid, atama+, Alef Education đã chứng minh mô hình chẩn đoán chi tiết hiệu quả.</a:t>
                      </a:r>
                      <a:endParaRPr lang="en-US" sz="10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907792" cy="256032"/>
          </a:xfrm>
          <a:prstGeom prst="rect">
            <a:avLst/>
          </a:prstGeom>
          <a:noFill/>
          <a:ln/>
        </p:spPr>
        <p:txBody>
          <a:bodyPr wrap="square" rtlCol="0" anchor="ctr"/>
          <a:lstStyle/>
          <a:p>
            <a:pPr algn="r" indent="0" marL="0">
              <a:buNone/>
            </a:pPr>
            <a:r>
              <a:rPr lang="en-US" sz="1300" b="1" spc="100" kern="0"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907792" cy="182880"/>
          </a:xfrm>
          <a:prstGeom prst="rect">
            <a:avLst/>
          </a:prstGeom>
          <a:noFill/>
          <a:ln/>
        </p:spPr>
        <p:txBody>
          <a:bodyPr wrap="square" rtlCol="0" anchor="ctr"/>
          <a:lstStyle/>
          <a:p>
            <a:pPr algn="r" indent="0" marL="0">
              <a:buNone/>
            </a:pPr>
            <a:r>
              <a:rPr lang="en-US" sz="750" b="1" spc="20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8092440" cy="914400"/>
          </a:xfrm>
          <a:prstGeom prst="rect">
            <a:avLst/>
          </a:prstGeom>
          <a:noFill/>
          <a:ln/>
        </p:spPr>
        <p:txBody>
          <a:bodyPr wrap="square" rtlCol="0" anchor="t"/>
          <a:lstStyle/>
          <a:p>
            <a:pPr indent="0" marL="0">
              <a:lnSpc>
                <a:spcPct val="104000"/>
              </a:lnSpc>
              <a:buNone/>
            </a:pPr>
            <a:r>
              <a:rPr lang="en-US" sz="2200" b="1" dirty="0">
                <a:solidFill>
                  <a:srgbClr val="004671"/>
                </a:solidFill>
                <a:latin typeface="Arial" pitchFamily="34" charset="0"/>
                <a:ea typeface="Arial" pitchFamily="34" charset="-122"/>
                <a:cs typeface="Arial" pitchFamily="34" charset="-120"/>
              </a:rPr>
              <a:t>Cơ hội thị trường: Edupia đang ở đâu</a:t>
            </a:r>
            <a:endParaRPr lang="en-US" sz="2200" dirty="0"/>
          </a:p>
        </p:txBody>
      </p:sp>
      <p:sp>
        <p:nvSpPr>
          <p:cNvPr id="5" name="Shape 3"/>
          <p:cNvSpPr/>
          <p:nvPr/>
        </p:nvSpPr>
        <p:spPr>
          <a:xfrm>
            <a:off x="502920" y="6437376"/>
            <a:ext cx="11185855" cy="0"/>
          </a:xfrm>
          <a:prstGeom prst="line">
            <a:avLst/>
          </a:prstGeom>
          <a:noFill/>
          <a:ln w="19050">
            <a:solidFill>
              <a:srgbClr val="A5BE00"/>
            </a:solidFill>
            <a:prstDash val="solid"/>
          </a:ln>
        </p:spPr>
      </p:sp>
      <p:sp>
        <p:nvSpPr>
          <p:cNvPr id="6" name="Text 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Adaptive Learning</a:t>
            </a:r>
            <a:endParaRPr lang="en-US" sz="800" dirty="0"/>
          </a:p>
        </p:txBody>
      </p:sp>
      <p:sp>
        <p:nvSpPr>
          <p:cNvPr id="7" name="Text 5"/>
          <p:cNvSpPr/>
          <p:nvPr/>
        </p:nvSpPr>
        <p:spPr>
          <a:xfrm>
            <a:off x="985997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4 / 15</a:t>
            </a:r>
            <a:endParaRPr lang="en-US" sz="800" dirty="0"/>
          </a:p>
        </p:txBody>
      </p:sp>
      <p:sp>
        <p:nvSpPr>
          <p:cNvPr id="8" name="Shape 6"/>
          <p:cNvSpPr/>
          <p:nvPr/>
        </p:nvSpPr>
        <p:spPr>
          <a:xfrm>
            <a:off x="502920" y="1371600"/>
            <a:ext cx="11185855" cy="868680"/>
          </a:xfrm>
          <a:prstGeom prst="rect">
            <a:avLst/>
          </a:prstGeom>
          <a:solidFill>
            <a:srgbClr val="F1F5DE"/>
          </a:solidFill>
          <a:ln w="12700">
            <a:solidFill>
              <a:srgbClr val="F1F5DE"/>
            </a:solidFill>
            <a:prstDash val="solid"/>
          </a:ln>
        </p:spPr>
      </p:sp>
      <p:sp>
        <p:nvSpPr>
          <p:cNvPr id="9" name="Shape 7"/>
          <p:cNvSpPr/>
          <p:nvPr/>
        </p:nvSpPr>
        <p:spPr>
          <a:xfrm>
            <a:off x="502920" y="1371600"/>
            <a:ext cx="82296" cy="868680"/>
          </a:xfrm>
          <a:prstGeom prst="rect">
            <a:avLst/>
          </a:prstGeom>
          <a:solidFill>
            <a:srgbClr val="A5BE00"/>
          </a:solidFill>
          <a:ln w="12700">
            <a:solidFill>
              <a:srgbClr val="A5BE00"/>
            </a:solidFill>
            <a:prstDash val="solid"/>
          </a:ln>
        </p:spPr>
      </p:sp>
      <p:sp>
        <p:nvSpPr>
          <p:cNvPr id="10" name="Text 8"/>
          <p:cNvSpPr/>
          <p:nvPr/>
        </p:nvSpPr>
        <p:spPr>
          <a:xfrm>
            <a:off x="777240" y="1444752"/>
            <a:ext cx="10682935" cy="722376"/>
          </a:xfrm>
          <a:prstGeom prst="rect">
            <a:avLst/>
          </a:prstGeom>
          <a:noFill/>
          <a:ln/>
        </p:spPr>
        <p:txBody>
          <a:bodyPr wrap="square" rtlCol="0" anchor="ctr"/>
          <a:lstStyle/>
          <a:p>
            <a:pPr indent="0" marL="0">
              <a:lnSpc>
                <a:spcPct val="110000"/>
              </a:lnSpc>
              <a:buNone/>
            </a:pPr>
            <a:r>
              <a:rPr lang="en-US" sz="1200" b="1" dirty="0">
                <a:solidFill>
                  <a:srgbClr val="004671"/>
                </a:solidFill>
                <a:latin typeface="Arial" pitchFamily="34" charset="0"/>
                <a:ea typeface="Arial" pitchFamily="34" charset="-122"/>
                <a:cs typeface="Arial" pitchFamily="34" charset="-120"/>
              </a:rPr>
              <a:t>Cơ hội cho Edupia AI Class Plus: đầu tư tầng AI để lấp đúng khoảng trống "cá nhân hoá granular + giá đại trà (~390k)" — chưa đối thủ VN nào đứng ở đó.</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514600"/>
          <a:ext cx="11185855" cy="914400"/>
        </p:xfrm>
        <a:graphic>
          <a:graphicData uri="http://schemas.openxmlformats.org/drawingml/2006/table">
            <a:tbl>
              <a:tblPr/>
              <a:tblGrid>
                <a:gridCol w="2013454"/>
                <a:gridCol w="1006727"/>
                <a:gridCol w="4921776"/>
                <a:gridCol w="3243898"/>
              </a:tblGrid>
              <a:tr h="384048">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Công ty</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Nước</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Đơn vị nhỏ nhất</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Mô hình KD</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r>
              <a:tr h="384048">
                <a:tc>
                  <a:txBody>
                    <a:bodyPr/>
                    <a:lstStyle/>
                    <a:p>
                      <a:pPr indent="0" marL="0">
                        <a:buNone/>
                      </a:pPr>
                      <a:r>
                        <a:rPr lang="en-US" sz="950" b="1" dirty="0">
                          <a:solidFill>
                            <a:srgbClr val="004671"/>
                          </a:solidFill>
                          <a:latin typeface="Arial" pitchFamily="34" charset="0"/>
                          <a:ea typeface="Arial" pitchFamily="34" charset="-122"/>
                          <a:cs typeface="Arial" pitchFamily="34" charset="-120"/>
                        </a:rPr>
                        <a:t>Squirrel AI</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TQ</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&gt;10K knowledge point (xác nhận)</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B2C + trung tâm</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04671"/>
                          </a:solidFill>
                          <a:latin typeface="Arial" pitchFamily="34" charset="0"/>
                          <a:ea typeface="Arial" pitchFamily="34" charset="-122"/>
                          <a:cs typeface="Arial" pitchFamily="34" charset="-120"/>
                        </a:rPr>
                        <a:t>ALEKS</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Mỹ</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Knowledge item (~1.000)</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B2B2C academic</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384048">
                <a:tc>
                  <a:txBody>
                    <a:bodyPr/>
                    <a:lstStyle/>
                    <a:p>
                      <a:pPr indent="0" marL="0">
                        <a:buNone/>
                      </a:pPr>
                      <a:r>
                        <a:rPr lang="en-US" sz="950" b="1" dirty="0">
                          <a:solidFill>
                            <a:srgbClr val="004671"/>
                          </a:solidFill>
                          <a:latin typeface="Arial" pitchFamily="34" charset="0"/>
                          <a:ea typeface="Arial" pitchFamily="34" charset="-122"/>
                          <a:cs typeface="Arial" pitchFamily="34" charset="-120"/>
                        </a:rPr>
                        <a:t>Carnegie MATHia</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Mỹ</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Knowledge Component (~700/lớp)</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In-school bổ trợ</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04671"/>
                          </a:solidFill>
                          <a:latin typeface="Arial" pitchFamily="34" charset="0"/>
                          <a:ea typeface="Arial" pitchFamily="34" charset="-122"/>
                          <a:cs typeface="Arial" pitchFamily="34" charset="-120"/>
                        </a:rPr>
                        <a:t>Byju's</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Ấn Độ</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"Concept" (100.000, PR — chưa kiểm chứng)</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B2C — SỤP ĐỔ</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384048">
                <a:tc>
                  <a:txBody>
                    <a:bodyPr/>
                    <a:lstStyle/>
                    <a:p>
                      <a:pPr indent="0" marL="0">
                        <a:buNone/>
                      </a:pPr>
                      <a:r>
                        <a:rPr lang="en-US" sz="950" b="1" dirty="0">
                          <a:solidFill>
                            <a:srgbClr val="004671"/>
                          </a:solidFill>
                          <a:latin typeface="Arial" pitchFamily="34" charset="0"/>
                          <a:ea typeface="Arial" pitchFamily="34" charset="-122"/>
                          <a:cs typeface="Arial" pitchFamily="34" charset="-120"/>
                        </a:rPr>
                        <a:t>Riiid/Santa</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Hàn Quốc</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293 skills (EdNet), Transformer SAINT+</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B2C→B2B, lỗ luỹ kế</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04671"/>
                          </a:solidFill>
                          <a:latin typeface="Arial" pitchFamily="34" charset="0"/>
                          <a:ea typeface="Arial" pitchFamily="34" charset="-122"/>
                          <a:cs typeface="Arial" pitchFamily="34" charset="-120"/>
                        </a:rPr>
                        <a:t>atama+</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Nhật Bản</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Nano-step (700M+ lượt)</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B2B2C qua juku</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384048">
                <a:tc>
                  <a:txBody>
                    <a:bodyPr/>
                    <a:lstStyle/>
                    <a:p>
                      <a:pPr indent="0" marL="0">
                        <a:buNone/>
                      </a:pPr>
                      <a:r>
                        <a:rPr lang="en-US" sz="950" b="1" dirty="0">
                          <a:solidFill>
                            <a:srgbClr val="004671"/>
                          </a:solidFill>
                          <a:latin typeface="Arial" pitchFamily="34" charset="0"/>
                          <a:ea typeface="Arial" pitchFamily="34" charset="-122"/>
                          <a:cs typeface="Arial" pitchFamily="34" charset="-120"/>
                        </a:rPr>
                        <a:t>Alef Education</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UAE</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Bite-sized LO</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B2G — IPO $514M</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004671"/>
                          </a:solidFill>
                          <a:latin typeface="Arial" pitchFamily="34" charset="0"/>
                          <a:ea typeface="Arial" pitchFamily="34" charset="-122"/>
                          <a:cs typeface="Arial" pitchFamily="34" charset="-120"/>
                        </a:rPr>
                        <a:t>Edupia</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VN</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Adaptive Learning với NLO (~1.473, taxonomy rõ)</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B2C (AI Class Plus / AI Tutor 1-1)</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003A5C"/>
          </a:solidFill>
          <a:ln w="12700">
            <a:solidFill>
              <a:srgbClr val="003A5C"/>
            </a:solidFill>
            <a:prstDash val="solid"/>
          </a:ln>
        </p:spPr>
      </p:sp>
      <p:sp>
        <p:nvSpPr>
          <p:cNvPr id="3" name="Shape 1"/>
          <p:cNvSpPr/>
          <p:nvPr/>
        </p:nvSpPr>
        <p:spPr>
          <a:xfrm>
            <a:off x="0" y="0"/>
            <a:ext cx="12191695" cy="118872"/>
          </a:xfrm>
          <a:prstGeom prst="rect">
            <a:avLst/>
          </a:prstGeom>
          <a:solidFill>
            <a:srgbClr val="A5BE00"/>
          </a:solidFill>
          <a:ln w="12700">
            <a:solidFill>
              <a:srgbClr val="A5BE00"/>
            </a:solidFill>
            <a:prstDash val="solid"/>
          </a:ln>
        </p:spPr>
      </p:sp>
      <p:sp>
        <p:nvSpPr>
          <p:cNvPr id="4" name="Text 2"/>
          <p:cNvSpPr/>
          <p:nvPr/>
        </p:nvSpPr>
        <p:spPr>
          <a:xfrm>
            <a:off x="640080" y="2286000"/>
            <a:ext cx="2743200" cy="1005840"/>
          </a:xfrm>
          <a:prstGeom prst="rect">
            <a:avLst/>
          </a:prstGeom>
          <a:noFill/>
          <a:ln/>
        </p:spPr>
        <p:txBody>
          <a:bodyPr wrap="square" rtlCol="0" anchor="ctr"/>
          <a:lstStyle/>
          <a:p>
            <a:pPr indent="0" marL="0">
              <a:buNone/>
            </a:pPr>
            <a:r>
              <a:rPr lang="en-US" sz="4000" b="1" dirty="0">
                <a:solidFill>
                  <a:srgbClr val="A5BE00"/>
                </a:solidFill>
                <a:latin typeface="Arial" pitchFamily="34" charset="0"/>
                <a:ea typeface="Arial" pitchFamily="34" charset="-122"/>
                <a:cs typeface="Arial" pitchFamily="34" charset="-120"/>
              </a:rPr>
              <a:t>02</a:t>
            </a:r>
            <a:endParaRPr lang="en-US" sz="4000" dirty="0"/>
          </a:p>
        </p:txBody>
      </p:sp>
      <p:sp>
        <p:nvSpPr>
          <p:cNvPr id="5" name="Text 3"/>
          <p:cNvSpPr/>
          <p:nvPr/>
        </p:nvSpPr>
        <p:spPr>
          <a:xfrm>
            <a:off x="640080" y="3063240"/>
            <a:ext cx="10607040" cy="1280160"/>
          </a:xfrm>
          <a:prstGeom prst="rect">
            <a:avLst/>
          </a:prstGeom>
          <a:noFill/>
          <a:ln/>
        </p:spPr>
        <p:txBody>
          <a:bodyPr wrap="square" rtlCol="0" anchor="ctr"/>
          <a:lstStyle/>
          <a:p>
            <a:pPr indent="0" marL="0">
              <a:lnSpc>
                <a:spcPct val="105000"/>
              </a:lnSpc>
              <a:buNone/>
            </a:pPr>
            <a:r>
              <a:rPr lang="en-US" sz="3000" b="1" dirty="0">
                <a:solidFill>
                  <a:srgbClr val="FFFFFF"/>
                </a:solidFill>
                <a:latin typeface="Arial" pitchFamily="34" charset="0"/>
                <a:ea typeface="Arial" pitchFamily="34" charset="-122"/>
                <a:cs typeface="Arial" pitchFamily="34" charset="-120"/>
              </a:rPr>
              <a:t>KHÁCH HÀNG MỤC TIÊU</a:t>
            </a:r>
            <a:endParaRPr lang="en-US" sz="3000" dirty="0"/>
          </a:p>
        </p:txBody>
      </p:sp>
      <p:sp>
        <p:nvSpPr>
          <p:cNvPr id="6" name="Text 4"/>
          <p:cNvSpPr/>
          <p:nvPr/>
        </p:nvSpPr>
        <p:spPr>
          <a:xfrm>
            <a:off x="640080" y="5806440"/>
            <a:ext cx="2743200" cy="274320"/>
          </a:xfrm>
          <a:prstGeom prst="rect">
            <a:avLst/>
          </a:prstGeom>
          <a:noFill/>
          <a:ln/>
        </p:spPr>
        <p:txBody>
          <a:bodyPr wrap="square" rtlCol="0" anchor="ctr"/>
          <a:lstStyle/>
          <a:p>
            <a:pPr indent="0" marL="0">
              <a:buNone/>
            </a:pPr>
            <a:r>
              <a:rPr lang="en-US" sz="1200" b="1" spc="100" kern="0" dirty="0">
                <a:solidFill>
                  <a:srgbClr val="FFFFFF"/>
                </a:solidFill>
                <a:latin typeface="Arial" pitchFamily="34" charset="0"/>
                <a:ea typeface="Arial" pitchFamily="34" charset="-122"/>
                <a:cs typeface="Arial" pitchFamily="34" charset="-120"/>
              </a:rPr>
              <a:t>EDUPIA</a:t>
            </a:r>
            <a:endParaRPr lang="en-US" sz="1200" dirty="0"/>
          </a:p>
        </p:txBody>
      </p:sp>
      <p:sp>
        <p:nvSpPr>
          <p:cNvPr id="7" name="Text 5"/>
          <p:cNvSpPr/>
          <p:nvPr/>
        </p:nvSpPr>
        <p:spPr>
          <a:xfrm>
            <a:off x="640080" y="6089904"/>
            <a:ext cx="2743200" cy="201168"/>
          </a:xfrm>
          <a:prstGeom prst="rect">
            <a:avLst/>
          </a:prstGeom>
          <a:noFill/>
          <a:ln/>
        </p:spPr>
        <p:txBody>
          <a:bodyPr wrap="square" rtlCol="0" anchor="ctr"/>
          <a:lstStyle/>
          <a:p>
            <a:pPr indent="0" marL="0">
              <a:buNone/>
            </a:pPr>
            <a:r>
              <a:rPr lang="en-US" sz="750" b="1" spc="200" kern="0" dirty="0">
                <a:solidFill>
                  <a:srgbClr val="C7E08A"/>
                </a:solidFill>
                <a:latin typeface="Arial" pitchFamily="34" charset="0"/>
                <a:ea typeface="Arial" pitchFamily="34" charset="-122"/>
                <a:cs typeface="Arial" pitchFamily="34" charset="-120"/>
              </a:rPr>
              <a:t>AI CLASS PLUS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907792" cy="256032"/>
          </a:xfrm>
          <a:prstGeom prst="rect">
            <a:avLst/>
          </a:prstGeom>
          <a:noFill/>
          <a:ln/>
        </p:spPr>
        <p:txBody>
          <a:bodyPr wrap="square" rtlCol="0" anchor="ctr"/>
          <a:lstStyle/>
          <a:p>
            <a:pPr algn="r" indent="0" marL="0">
              <a:buNone/>
            </a:pPr>
            <a:r>
              <a:rPr lang="en-US" sz="1300" b="1" spc="100" kern="0"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907792" cy="182880"/>
          </a:xfrm>
          <a:prstGeom prst="rect">
            <a:avLst/>
          </a:prstGeom>
          <a:noFill/>
          <a:ln/>
        </p:spPr>
        <p:txBody>
          <a:bodyPr wrap="square" rtlCol="0" anchor="ctr"/>
          <a:lstStyle/>
          <a:p>
            <a:pPr algn="r" indent="0" marL="0">
              <a:buNone/>
            </a:pPr>
            <a:r>
              <a:rPr lang="en-US" sz="750" b="1" spc="20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8092440" cy="914400"/>
          </a:xfrm>
          <a:prstGeom prst="rect">
            <a:avLst/>
          </a:prstGeom>
          <a:noFill/>
          <a:ln/>
        </p:spPr>
        <p:txBody>
          <a:bodyPr wrap="square" rtlCol="0" anchor="t"/>
          <a:lstStyle/>
          <a:p>
            <a:pPr indent="0" marL="0">
              <a:lnSpc>
                <a:spcPct val="104000"/>
              </a:lnSpc>
              <a:buNone/>
            </a:pPr>
            <a:r>
              <a:rPr lang="en-US" sz="2200" b="1" dirty="0">
                <a:solidFill>
                  <a:srgbClr val="004671"/>
                </a:solidFill>
                <a:latin typeface="Arial" pitchFamily="34" charset="0"/>
                <a:ea typeface="Arial" pitchFamily="34" charset="-122"/>
                <a:cs typeface="Arial" pitchFamily="34" charset="-120"/>
              </a:rPr>
              <a:t>Chân dung khách hàng mục tiêu</a:t>
            </a:r>
            <a:endParaRPr lang="en-US" sz="2200" dirty="0"/>
          </a:p>
        </p:txBody>
      </p:sp>
      <p:sp>
        <p:nvSpPr>
          <p:cNvPr id="5" name="Shape 3"/>
          <p:cNvSpPr/>
          <p:nvPr/>
        </p:nvSpPr>
        <p:spPr>
          <a:xfrm>
            <a:off x="502920" y="6437376"/>
            <a:ext cx="11185855" cy="0"/>
          </a:xfrm>
          <a:prstGeom prst="line">
            <a:avLst/>
          </a:prstGeom>
          <a:noFill/>
          <a:ln w="19050">
            <a:solidFill>
              <a:srgbClr val="A5BE00"/>
            </a:solidFill>
            <a:prstDash val="solid"/>
          </a:ln>
        </p:spPr>
      </p:sp>
      <p:sp>
        <p:nvSpPr>
          <p:cNvPr id="6" name="Text 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Adaptive Learning</a:t>
            </a:r>
            <a:endParaRPr lang="en-US" sz="800" dirty="0"/>
          </a:p>
        </p:txBody>
      </p:sp>
      <p:sp>
        <p:nvSpPr>
          <p:cNvPr id="7" name="Text 5"/>
          <p:cNvSpPr/>
          <p:nvPr/>
        </p:nvSpPr>
        <p:spPr>
          <a:xfrm>
            <a:off x="985997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5 / 15</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2460888"/>
                <a:gridCol w="8724967"/>
              </a:tblGrid>
              <a:tr h="36576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Chiều</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Nội dung</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r>
              <a:tr h="365760">
                <a:tc>
                  <a:txBody>
                    <a:bodyPr/>
                    <a:lstStyle/>
                    <a:p>
                      <a:pPr indent="0" marL="0">
                        <a:buNone/>
                      </a:pPr>
                      <a:r>
                        <a:rPr lang="en-US" sz="950" b="1" dirty="0">
                          <a:solidFill>
                            <a:srgbClr val="004671"/>
                          </a:solidFill>
                          <a:latin typeface="Arial" pitchFamily="34" charset="0"/>
                          <a:ea typeface="Arial" pitchFamily="34" charset="-122"/>
                          <a:cs typeface="Arial" pitchFamily="34" charset="-120"/>
                        </a:rPr>
                        <a:t>Ai ra quyết định</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Mẹ, 30–45 tuổi, có con lớp 1–6</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004671"/>
                          </a:solidFill>
                          <a:latin typeface="Arial" pitchFamily="34" charset="0"/>
                          <a:ea typeface="Arial" pitchFamily="34" charset="-122"/>
                          <a:cs typeface="Arial" pitchFamily="34" charset="-120"/>
                        </a:rPr>
                        <a:t>Vị trí</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Thành phố tỉnh, thị xã, nông thôn (⚠ nguồn ghi Tier 2/3/4 — rộng hơn Tier 3/4 mà chiến lược 390k nhắm)</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365760">
                <a:tc>
                  <a:txBody>
                    <a:bodyPr/>
                    <a:lstStyle/>
                    <a:p>
                      <a:pPr indent="0" marL="0">
                        <a:buNone/>
                      </a:pPr>
                      <a:r>
                        <a:rPr lang="en-US" sz="950" b="1" dirty="0">
                          <a:solidFill>
                            <a:srgbClr val="004671"/>
                          </a:solidFill>
                          <a:latin typeface="Arial" pitchFamily="34" charset="0"/>
                          <a:ea typeface="Arial" pitchFamily="34" charset="-122"/>
                          <a:cs typeface="Arial" pitchFamily="34" charset="-120"/>
                        </a:rPr>
                        <a:t>Nghề nghiệp</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Văn phòng, kinh doanh nhỏ, lao động phổ thông — làm toàn thời gian (&gt;8h/ngày)</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004671"/>
                          </a:solidFill>
                          <a:latin typeface="Arial" pitchFamily="34" charset="0"/>
                          <a:ea typeface="Arial" pitchFamily="34" charset="-122"/>
                          <a:cs typeface="Arial" pitchFamily="34" charset="-120"/>
                        </a:rPr>
                        <a:t>Thu nhập hộ</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10–20 triệu/tháng (phân khúc "Good") — hiện chi trả được 200–250k/tháng</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365760">
                <a:tc>
                  <a:txBody>
                    <a:bodyPr/>
                    <a:lstStyle/>
                    <a:p>
                      <a:pPr indent="0" marL="0">
                        <a:buNone/>
                      </a:pPr>
                      <a:r>
                        <a:rPr lang="en-US" sz="950" b="1" dirty="0">
                          <a:solidFill>
                            <a:srgbClr val="004671"/>
                          </a:solidFill>
                          <a:latin typeface="Arial" pitchFamily="34" charset="0"/>
                          <a:ea typeface="Arial" pitchFamily="34" charset="-122"/>
                          <a:cs typeface="Arial" pitchFamily="34" charset="-120"/>
                        </a:rPr>
                        <a:t>Trình độ tiếng Anh</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Đa số không biết tiếng Anh — không tự kèm con được</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365760">
                <a:tc>
                  <a:txBody>
                    <a:bodyPr/>
                    <a:lstStyle/>
                    <a:p>
                      <a:pPr indent="0" marL="0">
                        <a:buNone/>
                      </a:pPr>
                      <a:r>
                        <a:rPr lang="en-US" sz="950" b="1" dirty="0">
                          <a:solidFill>
                            <a:srgbClr val="004671"/>
                          </a:solidFill>
                          <a:latin typeface="Arial" pitchFamily="34" charset="0"/>
                          <a:ea typeface="Arial" pitchFamily="34" charset="-122"/>
                          <a:cs typeface="Arial" pitchFamily="34" charset="-120"/>
                        </a:rPr>
                        <a:t>Bối cảnh</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50" dirty="0">
                          <a:solidFill>
                            <a:srgbClr val="333333"/>
                          </a:solidFill>
                          <a:latin typeface="Arial" pitchFamily="34" charset="0"/>
                          <a:ea typeface="Arial" pitchFamily="34" charset="-122"/>
                          <a:cs typeface="Arial" pitchFamily="34" charset="-120"/>
                        </a:rPr>
                        <a:t>Con học TA ở trường; ~50% từng/đang học thêm nhà GV; đã thử vài sản phẩm TA online</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bl>
          </a:graphicData>
        </a:graphic>
      </p:graphicFrame>
      <p:sp>
        <p:nvSpPr>
          <p:cNvPr id="9" name="Text 6"/>
          <p:cNvSpPr/>
          <p:nvPr/>
        </p:nvSpPr>
        <p:spPr>
          <a:xfrm>
            <a:off x="502920" y="4160520"/>
            <a:ext cx="11185855" cy="502920"/>
          </a:xfrm>
          <a:prstGeom prst="rect">
            <a:avLst/>
          </a:prstGeom>
          <a:noFill/>
          <a:ln/>
        </p:spPr>
        <p:txBody>
          <a:bodyPr wrap="square" rtlCol="0" anchor="ctr"/>
          <a:lstStyle/>
          <a:p>
            <a:pPr indent="0" marL="0">
              <a:lnSpc>
                <a:spcPct val="110000"/>
              </a:lnSpc>
              <a:buNone/>
            </a:pPr>
            <a:r>
              <a:rPr lang="en-US" sz="1050" b="1" dirty="0">
                <a:solidFill>
                  <a:srgbClr val="004671"/>
                </a:solidFill>
                <a:latin typeface="Arial" pitchFamily="34" charset="0"/>
                <a:ea typeface="Arial" pitchFamily="34" charset="-122"/>
                <a:cs typeface="Arial" pitchFamily="34" charset="-120"/>
              </a:rPr>
              <a:t>Trigger tìm giải pháp:  </a:t>
            </a:r>
            <a:pPr indent="0" marL="0">
              <a:lnSpc>
                <a:spcPct val="110000"/>
              </a:lnSpc>
              <a:buNone/>
            </a:pPr>
            <a:r>
              <a:rPr lang="en-US" sz="1050" dirty="0">
                <a:solidFill>
                  <a:srgbClr val="333333"/>
                </a:solidFill>
                <a:latin typeface="Arial" pitchFamily="34" charset="0"/>
                <a:ea typeface="Arial" pitchFamily="34" charset="-122"/>
                <a:cs typeface="Arial" pitchFamily="34" charset="-120"/>
              </a:rPr>
              <a:t>họp phụ huynh thấy con điểm kém · thấy "con nhà người ta" nói TA trôi chảy · thấy con nhà người ta học chỗ khác hiệu quả.</a:t>
            </a:r>
            <a:endParaRPr lang="en-US" sz="1050" dirty="0"/>
          </a:p>
        </p:txBody>
      </p:sp>
      <p:sp>
        <p:nvSpPr>
          <p:cNvPr id="10" name="Text 7"/>
          <p:cNvSpPr/>
          <p:nvPr/>
        </p:nvSpPr>
        <p:spPr>
          <a:xfrm>
            <a:off x="502920" y="4754880"/>
            <a:ext cx="11185855" cy="1188720"/>
          </a:xfrm>
          <a:prstGeom prst="rect">
            <a:avLst/>
          </a:prstGeom>
          <a:noFill/>
          <a:ln/>
        </p:spPr>
        <p:txBody>
          <a:bodyPr wrap="square" rtlCol="0" anchor="t"/>
          <a:lstStyle/>
          <a:p>
            <a:pPr indent="0" marL="0">
              <a:lnSpc>
                <a:spcPct val="120000"/>
              </a:lnSpc>
              <a:buNone/>
            </a:pPr>
            <a:r>
              <a:rPr lang="en-US" sz="1000" b="1" dirty="0">
                <a:solidFill>
                  <a:srgbClr val="004671"/>
                </a:solidFill>
                <a:latin typeface="Arial" pitchFamily="34" charset="0"/>
                <a:ea typeface="Arial" pitchFamily="34" charset="-122"/>
                <a:cs typeface="Arial" pitchFamily="34" charset="-120"/>
              </a:rPr>
              <a:t>Tiếng nói của khách hàng:  </a:t>
            </a:r>
            <a:pPr indent="0" marL="0">
              <a:lnSpc>
                <a:spcPct val="120000"/>
              </a:lnSpc>
              <a:buNone/>
            </a:pPr>
            <a:r>
              <a:rPr lang="en-US" sz="1000" i="1" dirty="0">
                <a:solidFill>
                  <a:srgbClr val="3B81B1"/>
                </a:solidFill>
                <a:latin typeface="Arial" pitchFamily="34" charset="0"/>
                <a:ea typeface="Arial" pitchFamily="34" charset="-122"/>
                <a:cs typeface="Arial" pitchFamily="34" charset="-120"/>
              </a:rPr>
              <a:t>"Dù khó khăn, tôi cố gắng để đầu tư vào học tập cho con"  ·  "Tôi sợ mình không có điều kiện nên không thể lo cho con được học bằng bạn bằng bè"  ·  "Tôi muốn đầu tư cho con học tiếng Anh để đời con không khổ như bố mẹ"</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907792" cy="256032"/>
          </a:xfrm>
          <a:prstGeom prst="rect">
            <a:avLst/>
          </a:prstGeom>
          <a:noFill/>
          <a:ln/>
        </p:spPr>
        <p:txBody>
          <a:bodyPr wrap="square" rtlCol="0" anchor="ctr"/>
          <a:lstStyle/>
          <a:p>
            <a:pPr algn="r" indent="0" marL="0">
              <a:buNone/>
            </a:pPr>
            <a:r>
              <a:rPr lang="en-US" sz="1300" b="1" spc="100" kern="0"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907792" cy="182880"/>
          </a:xfrm>
          <a:prstGeom prst="rect">
            <a:avLst/>
          </a:prstGeom>
          <a:noFill/>
          <a:ln/>
        </p:spPr>
        <p:txBody>
          <a:bodyPr wrap="square" rtlCol="0" anchor="ctr"/>
          <a:lstStyle/>
          <a:p>
            <a:pPr algn="r" indent="0" marL="0">
              <a:buNone/>
            </a:pPr>
            <a:r>
              <a:rPr lang="en-US" sz="750" b="1" spc="20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8092440" cy="914400"/>
          </a:xfrm>
          <a:prstGeom prst="rect">
            <a:avLst/>
          </a:prstGeom>
          <a:noFill/>
          <a:ln/>
        </p:spPr>
        <p:txBody>
          <a:bodyPr wrap="square" rtlCol="0" anchor="t"/>
          <a:lstStyle/>
          <a:p>
            <a:pPr indent="0" marL="0">
              <a:lnSpc>
                <a:spcPct val="104000"/>
              </a:lnSpc>
              <a:buNone/>
            </a:pPr>
            <a:r>
              <a:rPr lang="en-US" sz="2300" b="1" dirty="0">
                <a:solidFill>
                  <a:srgbClr val="004671"/>
                </a:solidFill>
                <a:latin typeface="Arial" pitchFamily="34" charset="0"/>
                <a:ea typeface="Arial" pitchFamily="34" charset="-122"/>
                <a:cs typeface="Arial" pitchFamily="34" charset="-120"/>
              </a:rPr>
              <a:t>Pain point &amp; JTBD</a:t>
            </a:r>
            <a:endParaRPr lang="en-US" sz="2300" dirty="0"/>
          </a:p>
        </p:txBody>
      </p:sp>
      <p:sp>
        <p:nvSpPr>
          <p:cNvPr id="5" name="Shape 3"/>
          <p:cNvSpPr/>
          <p:nvPr/>
        </p:nvSpPr>
        <p:spPr>
          <a:xfrm>
            <a:off x="502920" y="6437376"/>
            <a:ext cx="11185855" cy="0"/>
          </a:xfrm>
          <a:prstGeom prst="line">
            <a:avLst/>
          </a:prstGeom>
          <a:noFill/>
          <a:ln w="19050">
            <a:solidFill>
              <a:srgbClr val="A5BE00"/>
            </a:solidFill>
            <a:prstDash val="solid"/>
          </a:ln>
        </p:spPr>
      </p:sp>
      <p:sp>
        <p:nvSpPr>
          <p:cNvPr id="6" name="Text 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Adaptive Learning</a:t>
            </a:r>
            <a:endParaRPr lang="en-US" sz="800" dirty="0"/>
          </a:p>
        </p:txBody>
      </p:sp>
      <p:sp>
        <p:nvSpPr>
          <p:cNvPr id="7" name="Text 5"/>
          <p:cNvSpPr/>
          <p:nvPr/>
        </p:nvSpPr>
        <p:spPr>
          <a:xfrm>
            <a:off x="985997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6 / 15</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85855" cy="914400"/>
        </p:xfrm>
        <a:graphic>
          <a:graphicData uri="http://schemas.openxmlformats.org/drawingml/2006/table">
            <a:tbl>
              <a:tblPr/>
              <a:tblGrid>
                <a:gridCol w="3579474"/>
                <a:gridCol w="7606382"/>
              </a:tblGrid>
              <a:tr h="86868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JTBD (phụ huynh)</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Pain point</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r>
              <a:tr h="868680">
                <a:tc>
                  <a:txBody>
                    <a:bodyPr/>
                    <a:lstStyle/>
                    <a:p>
                      <a:pPr indent="0" marL="0">
                        <a:buNone/>
                      </a:pPr>
                      <a:r>
                        <a:rPr lang="en-US" sz="1100" b="1" dirty="0">
                          <a:solidFill>
                            <a:srgbClr val="004671"/>
                          </a:solidFill>
                          <a:latin typeface="Arial" pitchFamily="34" charset="0"/>
                          <a:ea typeface="Arial" pitchFamily="34" charset="-122"/>
                          <a:cs typeface="Arial" pitchFamily="34" charset="-120"/>
                        </a:rPr>
                        <a:t>Muốn con học giỏi tiếng Anh — nhìn thấy bằng thành tích đo lường được</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Con tiến bộ chậm — không biết con còn yếu ở đâu và cần bổ sung kiến thức gì; không có bằng chứng tiến bộ cụ thể là tiền học bỏ ra có kết quả.</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868680">
                <a:tc>
                  <a:txBody>
                    <a:bodyPr/>
                    <a:lstStyle/>
                    <a:p>
                      <a:pPr indent="0" marL="0">
                        <a:buNone/>
                      </a:pPr>
                      <a:r>
                        <a:rPr lang="en-US" sz="1100" b="1" dirty="0">
                          <a:solidFill>
                            <a:srgbClr val="004671"/>
                          </a:solidFill>
                          <a:latin typeface="Arial" pitchFamily="34" charset="0"/>
                          <a:ea typeface="Arial" pitchFamily="34" charset="-122"/>
                          <a:cs typeface="Arial" pitchFamily="34" charset="-120"/>
                        </a:rPr>
                        <a:t>Muốn con tự tin giao tiếp thực tế</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Học nhiều năm vẫn không tự tin giao tiếp tiếng Anh để ứng dụng trong các tình huống ngoài đời sống.</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868680">
                <a:tc>
                  <a:txBody>
                    <a:bodyPr/>
                    <a:lstStyle/>
                    <a:p>
                      <a:pPr indent="0" marL="0">
                        <a:buNone/>
                      </a:pPr>
                      <a:r>
                        <a:rPr lang="en-US" sz="1100" b="1" dirty="0">
                          <a:solidFill>
                            <a:srgbClr val="004671"/>
                          </a:solidFill>
                          <a:latin typeface="Arial" pitchFamily="34" charset="0"/>
                          <a:ea typeface="Arial" pitchFamily="34" charset="-122"/>
                          <a:cs typeface="Arial" pitchFamily="34" charset="-120"/>
                        </a:rPr>
                        <a:t>Muốn con được học với GV giỏi</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Chưa có người giám sát, đốc thúc con học; lộ trình học chưa được cá nhân hoá để phù hợp với trình độ của con.</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868680">
                <a:tc>
                  <a:txBody>
                    <a:bodyPr/>
                    <a:lstStyle/>
                    <a:p>
                      <a:pPr indent="0" marL="0">
                        <a:buNone/>
                      </a:pPr>
                      <a:r>
                        <a:rPr lang="en-US" sz="1100" b="1" dirty="0">
                          <a:solidFill>
                            <a:srgbClr val="004671"/>
                          </a:solidFill>
                          <a:latin typeface="Arial" pitchFamily="34" charset="0"/>
                          <a:ea typeface="Arial" pitchFamily="34" charset="-122"/>
                          <a:cs typeface="Arial" pitchFamily="34" charset="-120"/>
                        </a:rPr>
                        <a:t>Muốn giải phóng thời gian &amp; áp lực kèm con</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1100" dirty="0">
                          <a:solidFill>
                            <a:srgbClr val="333333"/>
                          </a:solidFill>
                          <a:latin typeface="Arial" pitchFamily="34" charset="0"/>
                          <a:ea typeface="Arial" pitchFamily="34" charset="-122"/>
                          <a:cs typeface="Arial" pitchFamily="34" charset="-120"/>
                        </a:rPr>
                        <a:t>Phụ huynh bận &gt;8h/ngày, không giỏi tiếng Anh — không hỗ trợ được con khi con gặp vấn đề.</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003A5C"/>
          </a:solidFill>
          <a:ln w="12700">
            <a:solidFill>
              <a:srgbClr val="003A5C"/>
            </a:solidFill>
            <a:prstDash val="solid"/>
          </a:ln>
        </p:spPr>
      </p:sp>
      <p:sp>
        <p:nvSpPr>
          <p:cNvPr id="3" name="Shape 1"/>
          <p:cNvSpPr/>
          <p:nvPr/>
        </p:nvSpPr>
        <p:spPr>
          <a:xfrm>
            <a:off x="0" y="0"/>
            <a:ext cx="12191695" cy="118872"/>
          </a:xfrm>
          <a:prstGeom prst="rect">
            <a:avLst/>
          </a:prstGeom>
          <a:solidFill>
            <a:srgbClr val="A5BE00"/>
          </a:solidFill>
          <a:ln w="12700">
            <a:solidFill>
              <a:srgbClr val="A5BE00"/>
            </a:solidFill>
            <a:prstDash val="solid"/>
          </a:ln>
        </p:spPr>
      </p:sp>
      <p:sp>
        <p:nvSpPr>
          <p:cNvPr id="4" name="Text 2"/>
          <p:cNvSpPr/>
          <p:nvPr/>
        </p:nvSpPr>
        <p:spPr>
          <a:xfrm>
            <a:off x="640080" y="2286000"/>
            <a:ext cx="2743200" cy="1005840"/>
          </a:xfrm>
          <a:prstGeom prst="rect">
            <a:avLst/>
          </a:prstGeom>
          <a:noFill/>
          <a:ln/>
        </p:spPr>
        <p:txBody>
          <a:bodyPr wrap="square" rtlCol="0" anchor="ctr"/>
          <a:lstStyle/>
          <a:p>
            <a:pPr indent="0" marL="0">
              <a:buNone/>
            </a:pPr>
            <a:r>
              <a:rPr lang="en-US" sz="4000" b="1" dirty="0">
                <a:solidFill>
                  <a:srgbClr val="A5BE00"/>
                </a:solidFill>
                <a:latin typeface="Arial" pitchFamily="34" charset="0"/>
                <a:ea typeface="Arial" pitchFamily="34" charset="-122"/>
                <a:cs typeface="Arial" pitchFamily="34" charset="-120"/>
              </a:rPr>
              <a:t>03</a:t>
            </a:r>
            <a:endParaRPr lang="en-US" sz="4000" dirty="0"/>
          </a:p>
        </p:txBody>
      </p:sp>
      <p:sp>
        <p:nvSpPr>
          <p:cNvPr id="5" name="Text 3"/>
          <p:cNvSpPr/>
          <p:nvPr/>
        </p:nvSpPr>
        <p:spPr>
          <a:xfrm>
            <a:off x="640080" y="3063240"/>
            <a:ext cx="10607040" cy="1280160"/>
          </a:xfrm>
          <a:prstGeom prst="rect">
            <a:avLst/>
          </a:prstGeom>
          <a:noFill/>
          <a:ln/>
        </p:spPr>
        <p:txBody>
          <a:bodyPr wrap="square" rtlCol="0" anchor="ctr"/>
          <a:lstStyle/>
          <a:p>
            <a:pPr indent="0" marL="0">
              <a:lnSpc>
                <a:spcPct val="105000"/>
              </a:lnSpc>
              <a:buNone/>
            </a:pPr>
            <a:r>
              <a:rPr lang="en-US" sz="3000" b="1" dirty="0">
                <a:solidFill>
                  <a:srgbClr val="FFFFFF"/>
                </a:solidFill>
                <a:latin typeface="Arial" pitchFamily="34" charset="0"/>
                <a:ea typeface="Arial" pitchFamily="34" charset="-122"/>
                <a:cs typeface="Arial" pitchFamily="34" charset="-120"/>
              </a:rPr>
              <a:t>GIẢI PHÁP</a:t>
            </a:r>
            <a:endParaRPr lang="en-US" sz="3000" dirty="0"/>
          </a:p>
        </p:txBody>
      </p:sp>
      <p:sp>
        <p:nvSpPr>
          <p:cNvPr id="6" name="Text 4"/>
          <p:cNvSpPr/>
          <p:nvPr/>
        </p:nvSpPr>
        <p:spPr>
          <a:xfrm>
            <a:off x="640080" y="5806440"/>
            <a:ext cx="2743200" cy="274320"/>
          </a:xfrm>
          <a:prstGeom prst="rect">
            <a:avLst/>
          </a:prstGeom>
          <a:noFill/>
          <a:ln/>
        </p:spPr>
        <p:txBody>
          <a:bodyPr wrap="square" rtlCol="0" anchor="ctr"/>
          <a:lstStyle/>
          <a:p>
            <a:pPr indent="0" marL="0">
              <a:buNone/>
            </a:pPr>
            <a:r>
              <a:rPr lang="en-US" sz="1200" b="1" spc="100" kern="0" dirty="0">
                <a:solidFill>
                  <a:srgbClr val="FFFFFF"/>
                </a:solidFill>
                <a:latin typeface="Arial" pitchFamily="34" charset="0"/>
                <a:ea typeface="Arial" pitchFamily="34" charset="-122"/>
                <a:cs typeface="Arial" pitchFamily="34" charset="-120"/>
              </a:rPr>
              <a:t>EDUPIA</a:t>
            </a:r>
            <a:endParaRPr lang="en-US" sz="1200" dirty="0"/>
          </a:p>
        </p:txBody>
      </p:sp>
      <p:sp>
        <p:nvSpPr>
          <p:cNvPr id="7" name="Text 5"/>
          <p:cNvSpPr/>
          <p:nvPr/>
        </p:nvSpPr>
        <p:spPr>
          <a:xfrm>
            <a:off x="640080" y="6089904"/>
            <a:ext cx="2743200" cy="201168"/>
          </a:xfrm>
          <a:prstGeom prst="rect">
            <a:avLst/>
          </a:prstGeom>
          <a:noFill/>
          <a:ln/>
        </p:spPr>
        <p:txBody>
          <a:bodyPr wrap="square" rtlCol="0" anchor="ctr"/>
          <a:lstStyle/>
          <a:p>
            <a:pPr indent="0" marL="0">
              <a:buNone/>
            </a:pPr>
            <a:r>
              <a:rPr lang="en-US" sz="750" b="1" spc="200" kern="0" dirty="0">
                <a:solidFill>
                  <a:srgbClr val="C7E08A"/>
                </a:solidFill>
                <a:latin typeface="Arial" pitchFamily="34" charset="0"/>
                <a:ea typeface="Arial" pitchFamily="34" charset="-122"/>
                <a:cs typeface="Arial" pitchFamily="34" charset="-120"/>
              </a:rPr>
              <a:t>AI CLASS PLUS</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907792" cy="256032"/>
          </a:xfrm>
          <a:prstGeom prst="rect">
            <a:avLst/>
          </a:prstGeom>
          <a:noFill/>
          <a:ln/>
        </p:spPr>
        <p:txBody>
          <a:bodyPr wrap="square" rtlCol="0" anchor="ctr"/>
          <a:lstStyle/>
          <a:p>
            <a:pPr algn="r" indent="0" marL="0">
              <a:buNone/>
            </a:pPr>
            <a:r>
              <a:rPr lang="en-US" sz="1300" b="1" spc="100" kern="0"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907792" cy="182880"/>
          </a:xfrm>
          <a:prstGeom prst="rect">
            <a:avLst/>
          </a:prstGeom>
          <a:noFill/>
          <a:ln/>
        </p:spPr>
        <p:txBody>
          <a:bodyPr wrap="square" rtlCol="0" anchor="ctr"/>
          <a:lstStyle/>
          <a:p>
            <a:pPr algn="r" indent="0" marL="0">
              <a:buNone/>
            </a:pPr>
            <a:r>
              <a:rPr lang="en-US" sz="750" b="1" spc="20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8092440" cy="914400"/>
          </a:xfrm>
          <a:prstGeom prst="rect">
            <a:avLst/>
          </a:prstGeom>
          <a:noFill/>
          <a:ln/>
        </p:spPr>
        <p:txBody>
          <a:bodyPr wrap="square" rtlCol="0" anchor="t"/>
          <a:lstStyle/>
          <a:p>
            <a:pPr indent="0" marL="0">
              <a:lnSpc>
                <a:spcPct val="104000"/>
              </a:lnSpc>
              <a:buNone/>
            </a:pPr>
            <a:r>
              <a:rPr lang="en-US" sz="2100" b="1" dirty="0">
                <a:solidFill>
                  <a:srgbClr val="004671"/>
                </a:solidFill>
                <a:latin typeface="Arial" pitchFamily="34" charset="0"/>
                <a:ea typeface="Arial" pitchFamily="34" charset="-122"/>
                <a:cs typeface="Arial" pitchFamily="34" charset="-120"/>
              </a:rPr>
              <a:t>Selling Point:  SA → SB → SE   +   USP</a:t>
            </a:r>
            <a:endParaRPr lang="en-US" sz="2100" dirty="0"/>
          </a:p>
        </p:txBody>
      </p:sp>
      <p:sp>
        <p:nvSpPr>
          <p:cNvPr id="5" name="Shape 3"/>
          <p:cNvSpPr/>
          <p:nvPr/>
        </p:nvSpPr>
        <p:spPr>
          <a:xfrm>
            <a:off x="502920" y="6437376"/>
            <a:ext cx="11185855" cy="0"/>
          </a:xfrm>
          <a:prstGeom prst="line">
            <a:avLst/>
          </a:prstGeom>
          <a:noFill/>
          <a:ln w="19050">
            <a:solidFill>
              <a:srgbClr val="A5BE00"/>
            </a:solidFill>
            <a:prstDash val="solid"/>
          </a:ln>
        </p:spPr>
      </p:sp>
      <p:sp>
        <p:nvSpPr>
          <p:cNvPr id="6" name="Text 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Adaptive Learning</a:t>
            </a:r>
            <a:endParaRPr lang="en-US" sz="800" dirty="0"/>
          </a:p>
        </p:txBody>
      </p:sp>
      <p:sp>
        <p:nvSpPr>
          <p:cNvPr id="7" name="Text 5"/>
          <p:cNvSpPr/>
          <p:nvPr/>
        </p:nvSpPr>
        <p:spPr>
          <a:xfrm>
            <a:off x="985997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7 / 15</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3728618"/>
                <a:gridCol w="3728618"/>
                <a:gridCol w="3728618"/>
              </a:tblGrid>
              <a:tr h="438912">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SA — Ưu điểm sản phẩm</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SB — Lợi ích cảm nhận</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SE — Cảm xúc phụ huynh</a:t>
                      </a:r>
                      <a:endParaRPr lang="en-US" sz="9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r>
              <a:tr h="438912">
                <a:tc>
                  <a:txBody>
                    <a:bodyPr/>
                    <a:lstStyle/>
                    <a:p>
                      <a:pPr indent="0" marL="0">
                        <a:buNone/>
                      </a:pPr>
                      <a:r>
                        <a:rPr lang="en-US" sz="800" b="1" dirty="0">
                          <a:solidFill>
                            <a:srgbClr val="004671"/>
                          </a:solidFill>
                          <a:latin typeface="Arial" pitchFamily="34" charset="0"/>
                          <a:ea typeface="Arial" pitchFamily="34" charset="-122"/>
                          <a:cs typeface="Arial" pitchFamily="34" charset="-120"/>
                        </a:rPr>
                        <a:t>Sau mỗi buổi Big Class, Adaptive Learning tự chẩn đoán con yếu NLO nào và giao đúng phần đó vào BTVN / luyện tập / luyện nói</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Arial" pitchFamily="34" charset="0"/>
                          <a:ea typeface="Arial" pitchFamily="34" charset="-122"/>
                          <a:cs typeface="Arial" pitchFamily="34" charset="-120"/>
                        </a:rPr>
                        <a:t>Con được luyện đúng chỗ hổng ngay sau buổi học — không học lại cái đã biết, không dàn trải</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Arial" pitchFamily="34" charset="0"/>
                          <a:ea typeface="Arial" pitchFamily="34" charset="-122"/>
                          <a:cs typeface="Arial" pitchFamily="34" charset="-120"/>
                        </a:rPr>
                        <a:t>Yên tâm: lỗ hổng của con được bắt ngay, không tích lại tới kỳ thi</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438912">
                <a:tc>
                  <a:txBody>
                    <a:bodyPr/>
                    <a:lstStyle/>
                    <a:p>
                      <a:pPr indent="0" marL="0">
                        <a:buNone/>
                      </a:pPr>
                      <a:r>
                        <a:rPr lang="en-US" sz="800" b="1" dirty="0">
                          <a:solidFill>
                            <a:srgbClr val="004671"/>
                          </a:solidFill>
                          <a:latin typeface="Arial" pitchFamily="34" charset="0"/>
                          <a:ea typeface="Arial" pitchFamily="34" charset="-122"/>
                          <a:cs typeface="Arial" pitchFamily="34" charset="-120"/>
                        </a:rPr>
                        <a:t>Chẩn đoán &amp; điều hướng theo 1.473 NLO (Gap Detection + Routing Engine) — cùng bậc chi tiết ALEKS/Carnegie</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800" dirty="0">
                          <a:solidFill>
                            <a:srgbClr val="333333"/>
                          </a:solidFill>
                          <a:latin typeface="Arial" pitchFamily="34" charset="0"/>
                          <a:ea typeface="Arial" pitchFamily="34" charset="-122"/>
                          <a:cs typeface="Arial" pitchFamily="34" charset="-120"/>
                        </a:rPr>
                        <a:t>Con học đến đâu chắc đến đấy; lỗ hổng phát hiện sớm thay vì đợi tới kỳ thi</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800" dirty="0">
                          <a:solidFill>
                            <a:srgbClr val="333333"/>
                          </a:solidFill>
                          <a:latin typeface="Arial" pitchFamily="34" charset="0"/>
                          <a:ea typeface="Arial" pitchFamily="34" charset="-122"/>
                          <a:cs typeface="Arial" pitchFamily="34" charset="-120"/>
                        </a:rPr>
                        <a:t>Nhẹ nhõm vì hết cảnh mù mờ không biết con học tới đâu, hổng chỗ nào</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438912">
                <a:tc>
                  <a:txBody>
                    <a:bodyPr/>
                    <a:lstStyle/>
                    <a:p>
                      <a:pPr indent="0" marL="0">
                        <a:buNone/>
                      </a:pPr>
                      <a:r>
                        <a:rPr lang="en-US" sz="800" b="1" dirty="0">
                          <a:solidFill>
                            <a:srgbClr val="004671"/>
                          </a:solidFill>
                          <a:latin typeface="Arial" pitchFamily="34" charset="0"/>
                          <a:ea typeface="Arial" pitchFamily="34" charset="-122"/>
                          <a:cs typeface="Arial" pitchFamily="34" charset="-120"/>
                        </a:rPr>
                        <a:t>BTVN Adaptive — Staircase Difficulty: độ khó câu tự điều chỉnh theo năng lực của con</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Arial" pitchFamily="34" charset="0"/>
                          <a:ea typeface="Arial" pitchFamily="34" charset="-122"/>
                          <a:cs typeface="Arial" pitchFamily="34" charset="-120"/>
                        </a:rPr>
                        <a:t>Con làm bài "vừa sức" — không nản vì quá khó, không chán vì quá dễ</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Arial" pitchFamily="34" charset="0"/>
                          <a:ea typeface="Arial" pitchFamily="34" charset="-122"/>
                          <a:cs typeface="Arial" pitchFamily="34" charset="-120"/>
                        </a:rPr>
                        <a:t>Vui vẻ: khi thấy con không bị chán nản khi làm bài</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438912">
                <a:tc>
                  <a:txBody>
                    <a:bodyPr/>
                    <a:lstStyle/>
                    <a:p>
                      <a:pPr indent="0" marL="0">
                        <a:buNone/>
                      </a:pPr>
                      <a:r>
                        <a:rPr lang="en-US" sz="800" b="1" dirty="0">
                          <a:solidFill>
                            <a:srgbClr val="004671"/>
                          </a:solidFill>
                          <a:latin typeface="Arial" pitchFamily="34" charset="0"/>
                          <a:ea typeface="Arial" pitchFamily="34" charset="-122"/>
                          <a:cs typeface="Arial" pitchFamily="34" charset="-120"/>
                        </a:rPr>
                        <a:t>Nâng cấp kho đề Practice + AI Mock Test, tăng độ chính xác chấm phát âm AI Speak</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800" dirty="0">
                          <a:solidFill>
                            <a:srgbClr val="333333"/>
                          </a:solidFill>
                          <a:latin typeface="Arial" pitchFamily="34" charset="0"/>
                          <a:ea typeface="Arial" pitchFamily="34" charset="-122"/>
                          <a:cs typeface="Arial" pitchFamily="34" charset="-120"/>
                        </a:rPr>
                        <a:t>Luyện tập và luyện nói bám cùng lỗ hổng đang học — không rời rạc</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438912">
                <a:tc>
                  <a:txBody>
                    <a:bodyPr/>
                    <a:lstStyle/>
                    <a:p>
                      <a:pPr indent="0" marL="0">
                        <a:buNone/>
                      </a:pPr>
                      <a:r>
                        <a:rPr lang="en-US" sz="800" b="1" dirty="0">
                          <a:solidFill>
                            <a:srgbClr val="004671"/>
                          </a:solidFill>
                          <a:latin typeface="Arial" pitchFamily="34" charset="0"/>
                          <a:ea typeface="Arial" pitchFamily="34" charset="-122"/>
                          <a:cs typeface="Arial" pitchFamily="34" charset="-120"/>
                        </a:rPr>
                        <a:t>Parent Mode — Mastery Map: báo cáo tiến bộ theo NLO, khớp chuẩn TT22/CV7991, đối chiếu học bạ</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Arial" pitchFamily="34" charset="0"/>
                          <a:ea typeface="Arial" pitchFamily="34" charset="-122"/>
                          <a:cs typeface="Arial" pitchFamily="34" charset="-120"/>
                        </a:rPr>
                        <a:t>Phụ huynh nhìn thấy tiến bộ cụ thể, đo được, đối chiếu với điểm ở trường</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800" dirty="0">
                          <a:solidFill>
                            <a:srgbClr val="333333"/>
                          </a:solidFill>
                          <a:latin typeface="Arial" pitchFamily="34" charset="0"/>
                          <a:ea typeface="Arial" pitchFamily="34" charset="-122"/>
                          <a:cs typeface="Arial" pitchFamily="34" charset="-120"/>
                        </a:rPr>
                        <a:t>Tự hào khi thấy con tiến bộ rõ ràng qua từng tuần — có cái để khoe</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438912">
                <a:tc>
                  <a:txBody>
                    <a:bodyPr/>
                    <a:lstStyle/>
                    <a:p>
                      <a:pPr indent="0" marL="0">
                        <a:buNone/>
                      </a:pPr>
                      <a:r>
                        <a:rPr lang="en-US" sz="800" b="1" dirty="0">
                          <a:solidFill>
                            <a:srgbClr val="004671"/>
                          </a:solidFill>
                          <a:latin typeface="Arial" pitchFamily="34" charset="0"/>
                          <a:ea typeface="Arial" pitchFamily="34" charset="-122"/>
                          <a:cs typeface="Arial" pitchFamily="34" charset="-120"/>
                        </a:rPr>
                        <a:t>1 Mastery Profile duy nhất xuyên suốt Big Class / BTVN / AI Practice / AI Speak / Edupia Club</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800" dirty="0">
                          <a:solidFill>
                            <a:srgbClr val="333333"/>
                          </a:solidFill>
                          <a:latin typeface="Arial" pitchFamily="34" charset="0"/>
                          <a:ea typeface="Arial" pitchFamily="34" charset="-122"/>
                          <a:cs typeface="Arial" pitchFamily="34" charset="-120"/>
                        </a:rPr>
                        <a:t>Không phải theo dõi nhiều hệ thống rời rạc; mọi tín hiệu dồn về 1 báo cáo</a:t>
                      </a: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endParaRPr lang="en-US" sz="8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bl>
          </a:graphicData>
        </a:graphic>
      </p:graphicFrame>
      <p:sp>
        <p:nvSpPr>
          <p:cNvPr id="9" name="Shape 6"/>
          <p:cNvSpPr/>
          <p:nvPr/>
        </p:nvSpPr>
        <p:spPr>
          <a:xfrm>
            <a:off x="502920" y="5074920"/>
            <a:ext cx="11185855" cy="1234440"/>
          </a:xfrm>
          <a:prstGeom prst="rect">
            <a:avLst/>
          </a:prstGeom>
          <a:solidFill>
            <a:srgbClr val="004671"/>
          </a:solidFill>
          <a:ln w="12700">
            <a:solidFill>
              <a:srgbClr val="004671"/>
            </a:solidFill>
            <a:prstDash val="solid"/>
          </a:ln>
        </p:spPr>
      </p:sp>
      <p:sp>
        <p:nvSpPr>
          <p:cNvPr id="10" name="Text 7"/>
          <p:cNvSpPr/>
          <p:nvPr/>
        </p:nvSpPr>
        <p:spPr>
          <a:xfrm>
            <a:off x="777240" y="5138928"/>
            <a:ext cx="10637215" cy="1097280"/>
          </a:xfrm>
          <a:prstGeom prst="rect">
            <a:avLst/>
          </a:prstGeom>
          <a:noFill/>
          <a:ln/>
        </p:spPr>
        <p:txBody>
          <a:bodyPr wrap="square" rtlCol="0" anchor="ctr"/>
          <a:lstStyle/>
          <a:p>
            <a:pPr indent="0" marL="0">
              <a:lnSpc>
                <a:spcPct val="115000"/>
              </a:lnSpc>
              <a:buNone/>
            </a:pPr>
            <a:r>
              <a:rPr lang="en-US" sz="1150" b="1" dirty="0">
                <a:solidFill>
                  <a:srgbClr val="C7E08A"/>
                </a:solidFill>
                <a:latin typeface="Arial" pitchFamily="34" charset="0"/>
                <a:ea typeface="Arial" pitchFamily="34" charset="-122"/>
                <a:cs typeface="Arial" pitchFamily="34" charset="-120"/>
              </a:rPr>
              <a:t>USP:  </a:t>
            </a:r>
            <a:pPr indent="0" marL="0">
              <a:lnSpc>
                <a:spcPct val="115000"/>
              </a:lnSpc>
              <a:buNone/>
            </a:pPr>
            <a:r>
              <a:rPr lang="en-US" sz="1150" b="1" dirty="0">
                <a:solidFill>
                  <a:srgbClr val="FFFFFF"/>
                </a:solidFill>
                <a:latin typeface="Arial" pitchFamily="34" charset="0"/>
                <a:ea typeface="Arial" pitchFamily="34" charset="-122"/>
                <a:cs typeface="Arial" pitchFamily="34" charset="-120"/>
              </a:rPr>
              <a:t>"Chương trình tiếng Anh trực tuyến có giáo viên thật, cộng thêm tầng AI tự động chẩn đoán và chỉ đúng lỗ hổng của con theo 1.473 đơn vị kiến thức — và một bản đồ tiến bộ phụ huynh đọc được, khớp chuẩn nhà trường."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907792" cy="256032"/>
          </a:xfrm>
          <a:prstGeom prst="rect">
            <a:avLst/>
          </a:prstGeom>
          <a:noFill/>
          <a:ln/>
        </p:spPr>
        <p:txBody>
          <a:bodyPr wrap="square" rtlCol="0" anchor="ctr"/>
          <a:lstStyle/>
          <a:p>
            <a:pPr algn="r" indent="0" marL="0">
              <a:buNone/>
            </a:pPr>
            <a:r>
              <a:rPr lang="en-US" sz="1300" b="1" spc="100" kern="0"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907792" cy="182880"/>
          </a:xfrm>
          <a:prstGeom prst="rect">
            <a:avLst/>
          </a:prstGeom>
          <a:noFill/>
          <a:ln/>
        </p:spPr>
        <p:txBody>
          <a:bodyPr wrap="square" rtlCol="0" anchor="ctr"/>
          <a:lstStyle/>
          <a:p>
            <a:pPr algn="r" indent="0" marL="0">
              <a:buNone/>
            </a:pPr>
            <a:r>
              <a:rPr lang="en-US" sz="750" b="1" spc="20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8092440" cy="914400"/>
          </a:xfrm>
          <a:prstGeom prst="rect">
            <a:avLst/>
          </a:prstGeom>
          <a:noFill/>
          <a:ln/>
        </p:spPr>
        <p:txBody>
          <a:bodyPr wrap="square" rtlCol="0" anchor="t"/>
          <a:lstStyle/>
          <a:p>
            <a:pPr indent="0" marL="0">
              <a:lnSpc>
                <a:spcPct val="104000"/>
              </a:lnSpc>
              <a:buNone/>
            </a:pPr>
            <a:r>
              <a:rPr lang="en-US" sz="2300" b="1" dirty="0">
                <a:solidFill>
                  <a:srgbClr val="004671"/>
                </a:solidFill>
                <a:latin typeface="Arial" pitchFamily="34" charset="0"/>
                <a:ea typeface="Arial" pitchFamily="34" charset="-122"/>
                <a:cs typeface="Arial" pitchFamily="34" charset="-120"/>
              </a:rPr>
              <a:t>So sánh giải pháp trên thị trường</a:t>
            </a:r>
            <a:endParaRPr lang="en-US" sz="2300" dirty="0"/>
          </a:p>
        </p:txBody>
      </p:sp>
      <p:sp>
        <p:nvSpPr>
          <p:cNvPr id="5" name="Shape 3"/>
          <p:cNvSpPr/>
          <p:nvPr/>
        </p:nvSpPr>
        <p:spPr>
          <a:xfrm>
            <a:off x="502920" y="6437376"/>
            <a:ext cx="11185855" cy="0"/>
          </a:xfrm>
          <a:prstGeom prst="line">
            <a:avLst/>
          </a:prstGeom>
          <a:noFill/>
          <a:ln w="19050">
            <a:solidFill>
              <a:srgbClr val="A5BE00"/>
            </a:solidFill>
            <a:prstDash val="solid"/>
          </a:ln>
        </p:spPr>
      </p:sp>
      <p:sp>
        <p:nvSpPr>
          <p:cNvPr id="6" name="Text 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Adaptive Learning</a:t>
            </a:r>
            <a:endParaRPr lang="en-US" sz="800" dirty="0"/>
          </a:p>
        </p:txBody>
      </p:sp>
      <p:sp>
        <p:nvSpPr>
          <p:cNvPr id="7" name="Text 5"/>
          <p:cNvSpPr/>
          <p:nvPr/>
        </p:nvSpPr>
        <p:spPr>
          <a:xfrm>
            <a:off x="985997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8 / 15</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85855" cy="914400"/>
        </p:xfrm>
        <a:graphic>
          <a:graphicData uri="http://schemas.openxmlformats.org/drawingml/2006/table">
            <a:tbl>
              <a:tblPr/>
              <a:tblGrid>
                <a:gridCol w="2460888"/>
                <a:gridCol w="1677878"/>
                <a:gridCol w="2125312"/>
                <a:gridCol w="2237171"/>
                <a:gridCol w="2684605"/>
              </a:tblGrid>
              <a:tr h="640080">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Mong muốn của phụ huynh</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App tự học (60–200k)</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Edupia AI Class (250k)</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Gia sư người thật (vài triệu)</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Edupia AI Class Plus (~390k)</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r>
              <a:tr h="640080">
                <a:tc>
                  <a:txBody>
                    <a:bodyPr/>
                    <a:lstStyle/>
                    <a:p>
                      <a:pPr indent="0" marL="0">
                        <a:buNone/>
                      </a:pPr>
                      <a:r>
                        <a:rPr lang="en-US" sz="900" b="1" dirty="0">
                          <a:solidFill>
                            <a:srgbClr val="004671"/>
                          </a:solidFill>
                          <a:latin typeface="Arial" pitchFamily="34" charset="0"/>
                          <a:ea typeface="Arial" pitchFamily="34" charset="-122"/>
                          <a:cs typeface="Arial" pitchFamily="34" charset="-120"/>
                        </a:rPr>
                        <a:t>Có giáo viên thật dạy</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Không</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Có (Big Class)</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Có</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Có (Big Class giữ nguyên)</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640080">
                <a:tc>
                  <a:txBody>
                    <a:bodyPr/>
                    <a:lstStyle/>
                    <a:p>
                      <a:pPr indent="0" marL="0">
                        <a:buNone/>
                      </a:pPr>
                      <a:r>
                        <a:rPr lang="en-US" sz="900" b="1" dirty="0">
                          <a:solidFill>
                            <a:srgbClr val="004671"/>
                          </a:solidFill>
                          <a:latin typeface="Arial" pitchFamily="34" charset="0"/>
                          <a:ea typeface="Arial" pitchFamily="34" charset="-122"/>
                          <a:cs typeface="Arial" pitchFamily="34" charset="-120"/>
                        </a:rPr>
                        <a:t>Vá đúng lỗ hổng cá nhân</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Không</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Theo lớp, chưa tới từng NLO</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Tuỳ gia sư, không có dữ liệu</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Routing Engine theo NLO cá nhân</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640080">
                <a:tc>
                  <a:txBody>
                    <a:bodyPr/>
                    <a:lstStyle/>
                    <a:p>
                      <a:pPr indent="0" marL="0">
                        <a:buNone/>
                      </a:pPr>
                      <a:r>
                        <a:rPr lang="en-US" sz="900" b="1" dirty="0">
                          <a:solidFill>
                            <a:srgbClr val="004671"/>
                          </a:solidFill>
                          <a:latin typeface="Arial" pitchFamily="34" charset="0"/>
                          <a:ea typeface="Arial" pitchFamily="34" charset="-122"/>
                          <a:cs typeface="Arial" pitchFamily="34" charset="-120"/>
                        </a:rPr>
                        <a:t>Báo cáo tiến bộ đo được</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Hiếm</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Chung chung</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Không có</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Mastery Map theo NLO + chuẩn TT22</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640080">
                <a:tc>
                  <a:txBody>
                    <a:bodyPr/>
                    <a:lstStyle/>
                    <a:p>
                      <a:pPr indent="0" marL="0">
                        <a:buNone/>
                      </a:pPr>
                      <a:r>
                        <a:rPr lang="en-US" sz="900" b="1" dirty="0">
                          <a:solidFill>
                            <a:srgbClr val="004671"/>
                          </a:solidFill>
                          <a:latin typeface="Arial" pitchFamily="34" charset="0"/>
                          <a:ea typeface="Arial" pitchFamily="34" charset="-122"/>
                          <a:cs typeface="Arial" pitchFamily="34" charset="-120"/>
                        </a:rPr>
                        <a:t>Phụ huynh không phải tự kèm</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Không</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Một phần</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Có</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Có (Adaptive tự giao bài đúng chỗ hổng + GVCN)</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640080">
                <a:tc>
                  <a:txBody>
                    <a:bodyPr/>
                    <a:lstStyle/>
                    <a:p>
                      <a:pPr indent="0" marL="0">
                        <a:buNone/>
                      </a:pPr>
                      <a:r>
                        <a:rPr lang="en-US" sz="900" b="1" dirty="0">
                          <a:solidFill>
                            <a:srgbClr val="004671"/>
                          </a:solidFill>
                          <a:latin typeface="Arial" pitchFamily="34" charset="0"/>
                          <a:ea typeface="Arial" pitchFamily="34" charset="-122"/>
                          <a:cs typeface="Arial" pitchFamily="34" charset="-120"/>
                        </a:rPr>
                        <a:t>Chi phí/tháng</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60–200k</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~250k</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Vài triệu</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900" dirty="0">
                          <a:solidFill>
                            <a:srgbClr val="333333"/>
                          </a:solidFill>
                          <a:latin typeface="Arial" pitchFamily="34" charset="0"/>
                          <a:ea typeface="Arial" pitchFamily="34" charset="-122"/>
                          <a:cs typeface="Arial" pitchFamily="34" charset="-120"/>
                        </a:rPr>
                        <a:t>~390k</a:t>
                      </a:r>
                      <a:endParaRPr lang="en-US" sz="9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4671"/>
        </a:solidFill>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003A5C"/>
          </a:solidFill>
          <a:ln w="12700">
            <a:solidFill>
              <a:srgbClr val="003A5C"/>
            </a:solidFill>
            <a:prstDash val="solid"/>
          </a:ln>
        </p:spPr>
      </p:sp>
      <p:sp>
        <p:nvSpPr>
          <p:cNvPr id="3" name="Shape 1"/>
          <p:cNvSpPr/>
          <p:nvPr/>
        </p:nvSpPr>
        <p:spPr>
          <a:xfrm>
            <a:off x="0" y="0"/>
            <a:ext cx="12191695" cy="118872"/>
          </a:xfrm>
          <a:prstGeom prst="rect">
            <a:avLst/>
          </a:prstGeom>
          <a:solidFill>
            <a:srgbClr val="A5BE00"/>
          </a:solidFill>
          <a:ln w="12700">
            <a:solidFill>
              <a:srgbClr val="A5BE00"/>
            </a:solidFill>
            <a:prstDash val="solid"/>
          </a:ln>
        </p:spPr>
      </p:sp>
      <p:sp>
        <p:nvSpPr>
          <p:cNvPr id="4" name="Text 2"/>
          <p:cNvSpPr/>
          <p:nvPr/>
        </p:nvSpPr>
        <p:spPr>
          <a:xfrm>
            <a:off x="640080" y="2286000"/>
            <a:ext cx="2743200" cy="1005840"/>
          </a:xfrm>
          <a:prstGeom prst="rect">
            <a:avLst/>
          </a:prstGeom>
          <a:noFill/>
          <a:ln/>
        </p:spPr>
        <p:txBody>
          <a:bodyPr wrap="square" rtlCol="0" anchor="ctr"/>
          <a:lstStyle/>
          <a:p>
            <a:pPr indent="0" marL="0">
              <a:buNone/>
            </a:pPr>
            <a:r>
              <a:rPr lang="en-US" sz="4000" b="1" dirty="0">
                <a:solidFill>
                  <a:srgbClr val="A5BE00"/>
                </a:solidFill>
                <a:latin typeface="Arial" pitchFamily="34" charset="0"/>
                <a:ea typeface="Arial" pitchFamily="34" charset="-122"/>
                <a:cs typeface="Arial" pitchFamily="34" charset="-120"/>
              </a:rPr>
              <a:t>04</a:t>
            </a:r>
            <a:endParaRPr lang="en-US" sz="4000" dirty="0"/>
          </a:p>
        </p:txBody>
      </p:sp>
      <p:sp>
        <p:nvSpPr>
          <p:cNvPr id="5" name="Text 3"/>
          <p:cNvSpPr/>
          <p:nvPr/>
        </p:nvSpPr>
        <p:spPr>
          <a:xfrm>
            <a:off x="640080" y="3063240"/>
            <a:ext cx="10607040" cy="1280160"/>
          </a:xfrm>
          <a:prstGeom prst="rect">
            <a:avLst/>
          </a:prstGeom>
          <a:noFill/>
          <a:ln/>
        </p:spPr>
        <p:txBody>
          <a:bodyPr wrap="square" rtlCol="0" anchor="ctr"/>
          <a:lstStyle/>
          <a:p>
            <a:pPr indent="0" marL="0">
              <a:lnSpc>
                <a:spcPct val="105000"/>
              </a:lnSpc>
              <a:buNone/>
            </a:pPr>
            <a:r>
              <a:rPr lang="en-US" sz="3000" b="1" dirty="0">
                <a:solidFill>
                  <a:srgbClr val="FFFFFF"/>
                </a:solidFill>
                <a:latin typeface="Arial" pitchFamily="34" charset="0"/>
                <a:ea typeface="Arial" pitchFamily="34" charset="-122"/>
                <a:cs typeface="Arial" pitchFamily="34" charset="-120"/>
              </a:rPr>
              <a:t>CẤU TRÚC SẢN PHẨM VÀ MÔ TẢ TÍNH NĂNG</a:t>
            </a:r>
            <a:endParaRPr lang="en-US" sz="3000" dirty="0"/>
          </a:p>
        </p:txBody>
      </p:sp>
      <p:sp>
        <p:nvSpPr>
          <p:cNvPr id="6" name="Text 4"/>
          <p:cNvSpPr/>
          <p:nvPr/>
        </p:nvSpPr>
        <p:spPr>
          <a:xfrm>
            <a:off x="640080" y="5806440"/>
            <a:ext cx="2743200" cy="274320"/>
          </a:xfrm>
          <a:prstGeom prst="rect">
            <a:avLst/>
          </a:prstGeom>
          <a:noFill/>
          <a:ln/>
        </p:spPr>
        <p:txBody>
          <a:bodyPr wrap="square" rtlCol="0" anchor="ctr"/>
          <a:lstStyle/>
          <a:p>
            <a:pPr indent="0" marL="0">
              <a:buNone/>
            </a:pPr>
            <a:r>
              <a:rPr lang="en-US" sz="1200" b="1" spc="100" kern="0" dirty="0">
                <a:solidFill>
                  <a:srgbClr val="FFFFFF"/>
                </a:solidFill>
                <a:latin typeface="Arial" pitchFamily="34" charset="0"/>
                <a:ea typeface="Arial" pitchFamily="34" charset="-122"/>
                <a:cs typeface="Arial" pitchFamily="34" charset="-120"/>
              </a:rPr>
              <a:t>EDUPIA</a:t>
            </a:r>
            <a:endParaRPr lang="en-US" sz="1200" dirty="0"/>
          </a:p>
        </p:txBody>
      </p:sp>
      <p:sp>
        <p:nvSpPr>
          <p:cNvPr id="7" name="Text 5"/>
          <p:cNvSpPr/>
          <p:nvPr/>
        </p:nvSpPr>
        <p:spPr>
          <a:xfrm>
            <a:off x="640080" y="6089904"/>
            <a:ext cx="2743200" cy="201168"/>
          </a:xfrm>
          <a:prstGeom prst="rect">
            <a:avLst/>
          </a:prstGeom>
          <a:noFill/>
          <a:ln/>
        </p:spPr>
        <p:txBody>
          <a:bodyPr wrap="square" rtlCol="0" anchor="ctr"/>
          <a:lstStyle/>
          <a:p>
            <a:pPr indent="0" marL="0">
              <a:buNone/>
            </a:pPr>
            <a:r>
              <a:rPr lang="en-US" sz="750" b="1" spc="200" kern="0" dirty="0">
                <a:solidFill>
                  <a:srgbClr val="C7E08A"/>
                </a:solidFill>
                <a:latin typeface="Arial" pitchFamily="34" charset="0"/>
                <a:ea typeface="Arial" pitchFamily="34" charset="-122"/>
                <a:cs typeface="Arial" pitchFamily="34" charset="-120"/>
              </a:rPr>
              <a:t>AI CLASS PLUS</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907792" cy="256032"/>
          </a:xfrm>
          <a:prstGeom prst="rect">
            <a:avLst/>
          </a:prstGeom>
          <a:noFill/>
          <a:ln/>
        </p:spPr>
        <p:txBody>
          <a:bodyPr wrap="square" rtlCol="0" anchor="ctr"/>
          <a:lstStyle/>
          <a:p>
            <a:pPr algn="r" indent="0" marL="0">
              <a:buNone/>
            </a:pPr>
            <a:r>
              <a:rPr lang="en-US" sz="1300" b="1" spc="100" kern="0"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907792" cy="182880"/>
          </a:xfrm>
          <a:prstGeom prst="rect">
            <a:avLst/>
          </a:prstGeom>
          <a:noFill/>
          <a:ln/>
        </p:spPr>
        <p:txBody>
          <a:bodyPr wrap="square" rtlCol="0" anchor="ctr"/>
          <a:lstStyle/>
          <a:p>
            <a:pPr algn="r" indent="0" marL="0">
              <a:buNone/>
            </a:pPr>
            <a:r>
              <a:rPr lang="en-US" sz="750" b="1" spc="20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8092440" cy="914400"/>
          </a:xfrm>
          <a:prstGeom prst="rect">
            <a:avLst/>
          </a:prstGeom>
          <a:noFill/>
          <a:ln/>
        </p:spPr>
        <p:txBody>
          <a:bodyPr wrap="square" rtlCol="0" anchor="t"/>
          <a:lstStyle/>
          <a:p>
            <a:pPr indent="0" marL="0">
              <a:lnSpc>
                <a:spcPct val="104000"/>
              </a:lnSpc>
              <a:buNone/>
            </a:pPr>
            <a:r>
              <a:rPr lang="en-US" sz="2100" b="1" dirty="0">
                <a:solidFill>
                  <a:srgbClr val="004671"/>
                </a:solidFill>
                <a:latin typeface="Arial" pitchFamily="34" charset="0"/>
                <a:ea typeface="Arial" pitchFamily="34" charset="-122"/>
                <a:cs typeface="Arial" pitchFamily="34" charset="-120"/>
              </a:rPr>
              <a:t>Cấu trúc sản phẩm Edupia AI Class Plus</a:t>
            </a:r>
            <a:endParaRPr lang="en-US" sz="2100" dirty="0"/>
          </a:p>
        </p:txBody>
      </p:sp>
      <p:sp>
        <p:nvSpPr>
          <p:cNvPr id="5" name="Shape 3"/>
          <p:cNvSpPr/>
          <p:nvPr/>
        </p:nvSpPr>
        <p:spPr>
          <a:xfrm>
            <a:off x="502920" y="6437376"/>
            <a:ext cx="11185855" cy="0"/>
          </a:xfrm>
          <a:prstGeom prst="line">
            <a:avLst/>
          </a:prstGeom>
          <a:noFill/>
          <a:ln w="19050">
            <a:solidFill>
              <a:srgbClr val="A5BE00"/>
            </a:solidFill>
            <a:prstDash val="solid"/>
          </a:ln>
        </p:spPr>
      </p:sp>
      <p:sp>
        <p:nvSpPr>
          <p:cNvPr id="6" name="Text 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Adaptive Learning</a:t>
            </a:r>
            <a:endParaRPr lang="en-US" sz="800" dirty="0"/>
          </a:p>
        </p:txBody>
      </p:sp>
      <p:sp>
        <p:nvSpPr>
          <p:cNvPr id="7" name="Text 5"/>
          <p:cNvSpPr/>
          <p:nvPr/>
        </p:nvSpPr>
        <p:spPr>
          <a:xfrm>
            <a:off x="985997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9 / 15</a:t>
            </a:r>
            <a:endParaRPr lang="en-US" sz="800" dirty="0"/>
          </a:p>
        </p:txBody>
      </p:sp>
      <p:sp>
        <p:nvSpPr>
          <p:cNvPr id="8" name="Shape 6"/>
          <p:cNvSpPr/>
          <p:nvPr/>
        </p:nvSpPr>
        <p:spPr>
          <a:xfrm>
            <a:off x="502920" y="1325880"/>
            <a:ext cx="11185855" cy="841248"/>
          </a:xfrm>
          <a:prstGeom prst="rect">
            <a:avLst/>
          </a:prstGeom>
          <a:solidFill>
            <a:srgbClr val="A5BE00"/>
          </a:solidFill>
          <a:ln w="12700">
            <a:solidFill>
              <a:srgbClr val="A5BE00"/>
            </a:solidFill>
            <a:prstDash val="solid"/>
          </a:ln>
        </p:spPr>
      </p:sp>
      <p:sp>
        <p:nvSpPr>
          <p:cNvPr id="9" name="Text 7"/>
          <p:cNvSpPr/>
          <p:nvPr/>
        </p:nvSpPr>
        <p:spPr>
          <a:xfrm>
            <a:off x="731520" y="1325880"/>
            <a:ext cx="10728655" cy="841248"/>
          </a:xfrm>
          <a:prstGeom prst="rect">
            <a:avLst/>
          </a:prstGeom>
          <a:noFill/>
          <a:ln/>
        </p:spPr>
        <p:txBody>
          <a:bodyPr wrap="square" rtlCol="0" anchor="ctr"/>
          <a:lstStyle/>
          <a:p>
            <a:pPr indent="0" marL="0">
              <a:lnSpc>
                <a:spcPct val="105000"/>
              </a:lnSpc>
              <a:buNone/>
            </a:pPr>
            <a:r>
              <a:rPr lang="en-US" sz="1000" b="1" dirty="0">
                <a:solidFill>
                  <a:srgbClr val="2E3D00"/>
                </a:solidFill>
                <a:latin typeface="Arial" pitchFamily="34" charset="0"/>
                <a:ea typeface="Arial" pitchFamily="34" charset="-122"/>
                <a:cs typeface="Arial" pitchFamily="34" charset="-120"/>
              </a:rPr>
              <a:t>LAYER 1 — Nội dung &amp; Mastery Profile
</a:t>
            </a:r>
            <a:pPr indent="0" marL="0">
              <a:lnSpc>
                <a:spcPct val="105000"/>
              </a:lnSpc>
              <a:buNone/>
            </a:pPr>
            <a:r>
              <a:rPr lang="en-US" sz="850" dirty="0">
                <a:solidFill>
                  <a:srgbClr val="3B4A0A"/>
                </a:solidFill>
                <a:latin typeface="Arial" pitchFamily="34" charset="0"/>
                <a:ea typeface="Arial" pitchFamily="34" charset="-122"/>
                <a:cs typeface="Arial" pitchFamily="34" charset="-120"/>
              </a:rPr>
              <a:t>Nội dung cá nhân hoá theo NLO Taxonomy (1.473 đơn vị), bám sát SGK Global Success. Tầng Adaptive Learning (Gap Detection → Routing Engine) chọn đúng lỗ hổng cho mọi thành phần.</a:t>
            </a:r>
            <a:endParaRPr lang="en-US" sz="1000" dirty="0"/>
          </a:p>
        </p:txBody>
      </p:sp>
      <p:sp>
        <p:nvSpPr>
          <p:cNvPr id="10" name="Text 8"/>
          <p:cNvSpPr/>
          <p:nvPr/>
        </p:nvSpPr>
        <p:spPr>
          <a:xfrm>
            <a:off x="502920" y="2286000"/>
            <a:ext cx="11185855" cy="228600"/>
          </a:xfrm>
          <a:prstGeom prst="rect">
            <a:avLst/>
          </a:prstGeom>
          <a:noFill/>
          <a:ln/>
        </p:spPr>
        <p:txBody>
          <a:bodyPr wrap="square" rtlCol="0" anchor="ctr"/>
          <a:lstStyle/>
          <a:p>
            <a:pPr indent="0" marL="0">
              <a:buNone/>
            </a:pPr>
            <a:r>
              <a:rPr lang="en-US" sz="900" b="1" spc="100" kern="0" dirty="0">
                <a:solidFill>
                  <a:srgbClr val="518E0D"/>
                </a:solidFill>
                <a:latin typeface="Arial" pitchFamily="34" charset="0"/>
                <a:ea typeface="Arial" pitchFamily="34" charset="-122"/>
                <a:cs typeface="Arial" pitchFamily="34" charset="-120"/>
              </a:rPr>
              <a:t>LAYER 2 — 4 thành phần học tập (giữ nguyên cấu phần hiện có, thêm tầng AI điều hướng)</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2560320"/>
          <a:ext cx="11185855" cy="914400"/>
        </p:xfrm>
        <a:graphic>
          <a:graphicData uri="http://schemas.openxmlformats.org/drawingml/2006/table">
            <a:tbl>
              <a:tblPr/>
              <a:tblGrid>
                <a:gridCol w="2796464"/>
                <a:gridCol w="2460888"/>
                <a:gridCol w="5928503"/>
              </a:tblGrid>
              <a:tr h="438912">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Thành phần</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Tần suất</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Vai trò</a:t>
                      </a:r>
                      <a:endParaRPr lang="en-US" sz="110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004671"/>
                    </a:solidFill>
                  </a:tcPr>
                </a:tc>
              </a:tr>
              <a:tr h="438912">
                <a:tc>
                  <a:txBody>
                    <a:bodyPr/>
                    <a:lstStyle/>
                    <a:p>
                      <a:pPr indent="0" marL="0">
                        <a:buNone/>
                      </a:pPr>
                      <a:r>
                        <a:rPr lang="en-US" sz="850" b="1" dirty="0">
                          <a:solidFill>
                            <a:srgbClr val="004671"/>
                          </a:solidFill>
                          <a:latin typeface="Arial" pitchFamily="34" charset="0"/>
                          <a:ea typeface="Arial" pitchFamily="34" charset="-122"/>
                          <a:cs typeface="Arial" pitchFamily="34" charset="-120"/>
                        </a:rPr>
                        <a:t>Big Class  (trung tâm — không đổi)</a:t>
                      </a:r>
                      <a:endParaRPr lang="en-US" sz="8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2 buổi/tuần</a:t>
                      </a:r>
                      <a:endParaRPr lang="en-US" sz="8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Giáo viên thật dạy live bám SGK; GV Star gán NLO + Quick Check phát hiện lỗ hổng</a:t>
                      </a:r>
                      <a:endParaRPr lang="en-US" sz="8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438912">
                <a:tc>
                  <a:txBody>
                    <a:bodyPr/>
                    <a:lstStyle/>
                    <a:p>
                      <a:pPr indent="0" marL="0">
                        <a:buNone/>
                      </a:pPr>
                      <a:r>
                        <a:rPr lang="en-US" sz="850" b="1" dirty="0">
                          <a:solidFill>
                            <a:srgbClr val="004671"/>
                          </a:solidFill>
                          <a:latin typeface="Arial" pitchFamily="34" charset="0"/>
                          <a:ea typeface="Arial" pitchFamily="34" charset="-122"/>
                          <a:cs typeface="Arial" pitchFamily="34" charset="-120"/>
                        </a:rPr>
                        <a:t>BTVN Adaptive / AI Practice</a:t>
                      </a:r>
                      <a:endParaRPr lang="en-US" sz="8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Bài tập ôn luyện sau mỗi buổi</a:t>
                      </a:r>
                      <a:endParaRPr lang="en-US" sz="8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Routing Engine giao đúng 1–2 NLO con yếu nhất; Staircase Difficulty; trộn 40 / 40 / 20</a:t>
                      </a:r>
                      <a:endParaRPr lang="en-US" sz="8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r h="438912">
                <a:tc>
                  <a:txBody>
                    <a:bodyPr/>
                    <a:lstStyle/>
                    <a:p>
                      <a:pPr indent="0" marL="0">
                        <a:buNone/>
                      </a:pPr>
                      <a:r>
                        <a:rPr lang="en-US" sz="850" b="1" dirty="0">
                          <a:solidFill>
                            <a:srgbClr val="004671"/>
                          </a:solidFill>
                          <a:latin typeface="Arial" pitchFamily="34" charset="0"/>
                          <a:ea typeface="Arial" pitchFamily="34" charset="-122"/>
                          <a:cs typeface="Arial" pitchFamily="34" charset="-120"/>
                        </a:rPr>
                        <a:t>AI Speak</a:t>
                      </a:r>
                      <a:endParaRPr lang="en-US" sz="8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Mỗi ngày (tối đa 1h)</a:t>
                      </a:r>
                      <a:endParaRPr lang="en-US" sz="8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Luyện nói tình huống thật — chủ đề theo NLO yếu</a:t>
                      </a:r>
                      <a:endParaRPr lang="en-US" sz="8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FFFFF"/>
                    </a:solidFill>
                  </a:tcPr>
                </a:tc>
              </a:tr>
              <a:tr h="438912">
                <a:tc>
                  <a:txBody>
                    <a:bodyPr/>
                    <a:lstStyle/>
                    <a:p>
                      <a:pPr indent="0" marL="0">
                        <a:buNone/>
                      </a:pPr>
                      <a:r>
                        <a:rPr lang="en-US" sz="850" b="1" dirty="0">
                          <a:solidFill>
                            <a:srgbClr val="004671"/>
                          </a:solidFill>
                          <a:latin typeface="Arial" pitchFamily="34" charset="0"/>
                          <a:ea typeface="Arial" pitchFamily="34" charset="-122"/>
                          <a:cs typeface="Arial" pitchFamily="34" charset="-120"/>
                        </a:rPr>
                        <a:t>Edupia Club</a:t>
                      </a:r>
                      <a:endParaRPr lang="en-US" sz="8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Hoạt động ngoại khoá</a:t>
                      </a:r>
                      <a:endParaRPr lang="en-US" sz="8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c>
                  <a:txBody>
                    <a:bodyPr/>
                    <a:lstStyle/>
                    <a:p>
                      <a:pPr indent="0" marL="0">
                        <a:buNone/>
                      </a:pPr>
                      <a:r>
                        <a:rPr lang="en-US" sz="850" dirty="0">
                          <a:solidFill>
                            <a:srgbClr val="333333"/>
                          </a:solidFill>
                          <a:latin typeface="Arial" pitchFamily="34" charset="0"/>
                          <a:ea typeface="Arial" pitchFamily="34" charset="-122"/>
                          <a:cs typeface="Arial" pitchFamily="34" charset="-120"/>
                        </a:rPr>
                        <a:t>Rèn tự tin &amp; kỹ năng xã hội — thử thách bám đúng NLO đang học</a:t>
                      </a:r>
                      <a:endParaRPr lang="en-US" sz="850" dirty="0">
                        <a:latin typeface="Arial" charset="0"/>
                        <a:ea typeface="Arial" charset="0"/>
                        <a:cs typeface="Arial" charset="0"/>
                      </a:endParaRPr>
                    </a:p>
                  </a:txBody>
                  <a:tcPr marL="91440" marR="91440" marT="45720" marB="45720" anchor="ctr">
                    <a:lnL w="12700" cap="flat" cmpd="sng" algn="ctr">
                      <a:solidFill>
                        <a:srgbClr val="DCE8F0"/>
                      </a:solidFill>
                      <a:prstDash val="solid"/>
                      <a:round/>
                      <a:headEnd type="none" w="med" len="med"/>
                      <a:tailEnd type="none" w="med" len="med"/>
                    </a:lnL>
                    <a:lnR w="12700" cap="flat" cmpd="sng" algn="ctr">
                      <a:solidFill>
                        <a:srgbClr val="DCE8F0"/>
                      </a:solidFill>
                      <a:prstDash val="solid"/>
                      <a:round/>
                      <a:headEnd type="none" w="med" len="med"/>
                      <a:tailEnd type="none" w="med" len="med"/>
                    </a:lnR>
                    <a:lnT w="12700" cap="flat" cmpd="sng" algn="ctr">
                      <a:solidFill>
                        <a:srgbClr val="DCE8F0"/>
                      </a:solidFill>
                      <a:prstDash val="solid"/>
                      <a:round/>
                      <a:headEnd type="none" w="med" len="med"/>
                      <a:tailEnd type="none" w="med" len="med"/>
                    </a:lnT>
                    <a:lnB w="12700" cap="flat" cmpd="sng" algn="ctr">
                      <a:solidFill>
                        <a:srgbClr val="DCE8F0"/>
                      </a:solidFill>
                      <a:prstDash val="solid"/>
                      <a:round/>
                      <a:headEnd type="none" w="med" len="med"/>
                      <a:tailEnd type="none" w="med" len="med"/>
                    </a:lnB>
                    <a:solidFill>
                      <a:srgbClr val="F4F9FC"/>
                    </a:solidFill>
                  </a:tcPr>
                </a:tc>
              </a:tr>
            </a:tbl>
          </a:graphicData>
        </a:graphic>
      </p:graphicFrame>
      <p:sp>
        <p:nvSpPr>
          <p:cNvPr id="12" name="Shape 9"/>
          <p:cNvSpPr/>
          <p:nvPr/>
        </p:nvSpPr>
        <p:spPr>
          <a:xfrm>
            <a:off x="502920" y="5029200"/>
            <a:ext cx="11185855" cy="685800"/>
          </a:xfrm>
          <a:prstGeom prst="rect">
            <a:avLst/>
          </a:prstGeom>
          <a:solidFill>
            <a:srgbClr val="004671"/>
          </a:solidFill>
          <a:ln w="12700">
            <a:solidFill>
              <a:srgbClr val="004671"/>
            </a:solidFill>
            <a:prstDash val="solid"/>
          </a:ln>
        </p:spPr>
      </p:sp>
      <p:sp>
        <p:nvSpPr>
          <p:cNvPr id="13" name="Text 10"/>
          <p:cNvSpPr/>
          <p:nvPr/>
        </p:nvSpPr>
        <p:spPr>
          <a:xfrm>
            <a:off x="731520" y="5029200"/>
            <a:ext cx="10728655" cy="685800"/>
          </a:xfrm>
          <a:prstGeom prst="rect">
            <a:avLst/>
          </a:prstGeom>
          <a:noFill/>
          <a:ln/>
        </p:spPr>
        <p:txBody>
          <a:bodyPr wrap="square" rtlCol="0" anchor="ctr"/>
          <a:lstStyle/>
          <a:p>
            <a:pPr indent="0" marL="0">
              <a:lnSpc>
                <a:spcPct val="105000"/>
              </a:lnSpc>
              <a:buNone/>
            </a:pPr>
            <a:r>
              <a:rPr lang="en-US" sz="1000" b="1" dirty="0">
                <a:solidFill>
                  <a:srgbClr val="C7E08A"/>
                </a:solidFill>
                <a:latin typeface="Arial" pitchFamily="34" charset="0"/>
                <a:ea typeface="Arial" pitchFamily="34" charset="-122"/>
                <a:cs typeface="Arial" pitchFamily="34" charset="-120"/>
              </a:rPr>
              <a:t>LAYER 3 — Giáo viên chủ nhiệm &amp; Parent Mode
</a:t>
            </a:r>
            <a:pPr indent="0" marL="0">
              <a:lnSpc>
                <a:spcPct val="105000"/>
              </a:lnSpc>
              <a:buNone/>
            </a:pPr>
            <a:r>
              <a:rPr lang="en-US" sz="850" dirty="0">
                <a:solidFill>
                  <a:srgbClr val="FFFFFF"/>
                </a:solidFill>
                <a:latin typeface="Arial" pitchFamily="34" charset="0"/>
                <a:ea typeface="Arial" pitchFamily="34" charset="-122"/>
                <a:cs typeface="Arial" pitchFamily="34" charset="-120"/>
              </a:rPr>
              <a:t>Đồng hành, theo dõi, báo cáo toàn bộ quá trình; Mastery Map cho phụ huynh.</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907792" cy="256032"/>
          </a:xfrm>
          <a:prstGeom prst="rect">
            <a:avLst/>
          </a:prstGeom>
          <a:noFill/>
          <a:ln/>
        </p:spPr>
        <p:txBody>
          <a:bodyPr wrap="square" rtlCol="0" anchor="ctr"/>
          <a:lstStyle/>
          <a:p>
            <a:pPr algn="r" indent="0" marL="0">
              <a:buNone/>
            </a:pPr>
            <a:r>
              <a:rPr lang="en-US" sz="1300" b="1" spc="100" kern="0"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907792" cy="182880"/>
          </a:xfrm>
          <a:prstGeom prst="rect">
            <a:avLst/>
          </a:prstGeom>
          <a:noFill/>
          <a:ln/>
        </p:spPr>
        <p:txBody>
          <a:bodyPr wrap="square" rtlCol="0" anchor="ctr"/>
          <a:lstStyle/>
          <a:p>
            <a:pPr algn="r" indent="0" marL="0">
              <a:buNone/>
            </a:pPr>
            <a:r>
              <a:rPr lang="en-US" sz="750" b="1" spc="20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8092440" cy="914400"/>
          </a:xfrm>
          <a:prstGeom prst="rect">
            <a:avLst/>
          </a:prstGeom>
          <a:noFill/>
          <a:ln/>
        </p:spPr>
        <p:txBody>
          <a:bodyPr wrap="square" rtlCol="0" anchor="t"/>
          <a:lstStyle/>
          <a:p>
            <a:pPr indent="0" marL="0">
              <a:lnSpc>
                <a:spcPct val="104000"/>
              </a:lnSpc>
              <a:buNone/>
            </a:pPr>
            <a:r>
              <a:rPr lang="en-US" sz="2200" b="1" dirty="0">
                <a:solidFill>
                  <a:srgbClr val="004671"/>
                </a:solidFill>
                <a:latin typeface="Arial" pitchFamily="34" charset="0"/>
                <a:ea typeface="Arial" pitchFamily="34" charset="-122"/>
                <a:cs typeface="Arial" pitchFamily="34" charset="-120"/>
              </a:rPr>
              <a:t>Nền tảng chung: NLO &amp; Mastery Profile</a:t>
            </a:r>
            <a:endParaRPr lang="en-US" sz="2200" dirty="0"/>
          </a:p>
        </p:txBody>
      </p:sp>
      <p:sp>
        <p:nvSpPr>
          <p:cNvPr id="5" name="Shape 3"/>
          <p:cNvSpPr/>
          <p:nvPr/>
        </p:nvSpPr>
        <p:spPr>
          <a:xfrm>
            <a:off x="502920" y="6437376"/>
            <a:ext cx="11185855" cy="0"/>
          </a:xfrm>
          <a:prstGeom prst="line">
            <a:avLst/>
          </a:prstGeom>
          <a:noFill/>
          <a:ln w="19050">
            <a:solidFill>
              <a:srgbClr val="A5BE00"/>
            </a:solidFill>
            <a:prstDash val="solid"/>
          </a:ln>
        </p:spPr>
      </p:sp>
      <p:sp>
        <p:nvSpPr>
          <p:cNvPr id="6" name="Text 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Adaptive Learning</a:t>
            </a:r>
            <a:endParaRPr lang="en-US" sz="800" dirty="0"/>
          </a:p>
        </p:txBody>
      </p:sp>
      <p:sp>
        <p:nvSpPr>
          <p:cNvPr id="7" name="Text 5"/>
          <p:cNvSpPr/>
          <p:nvPr/>
        </p:nvSpPr>
        <p:spPr>
          <a:xfrm>
            <a:off x="985997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10 / 15</a:t>
            </a:r>
            <a:endParaRPr lang="en-US" sz="800" dirty="0"/>
          </a:p>
        </p:txBody>
      </p:sp>
      <p:sp>
        <p:nvSpPr>
          <p:cNvPr id="8" name="Shape 6"/>
          <p:cNvSpPr/>
          <p:nvPr/>
        </p:nvSpPr>
        <p:spPr>
          <a:xfrm>
            <a:off x="502920" y="1600200"/>
            <a:ext cx="11185855" cy="1325880"/>
          </a:xfrm>
          <a:prstGeom prst="rect">
            <a:avLst/>
          </a:prstGeom>
          <a:solidFill>
            <a:srgbClr val="F4F9FC"/>
          </a:solidFill>
          <a:ln w="12700">
            <a:solidFill>
              <a:srgbClr val="DCE8F0"/>
            </a:solidFill>
            <a:prstDash val="solid"/>
          </a:ln>
        </p:spPr>
      </p:sp>
      <p:sp>
        <p:nvSpPr>
          <p:cNvPr id="9" name="Shape 7"/>
          <p:cNvSpPr/>
          <p:nvPr/>
        </p:nvSpPr>
        <p:spPr>
          <a:xfrm>
            <a:off x="502920" y="1600200"/>
            <a:ext cx="82296" cy="1325880"/>
          </a:xfrm>
          <a:prstGeom prst="rect">
            <a:avLst/>
          </a:prstGeom>
          <a:solidFill>
            <a:srgbClr val="A5BE00"/>
          </a:solidFill>
          <a:ln w="12700">
            <a:solidFill>
              <a:srgbClr val="A5BE00"/>
            </a:solidFill>
            <a:prstDash val="solid"/>
          </a:ln>
        </p:spPr>
      </p:sp>
      <p:sp>
        <p:nvSpPr>
          <p:cNvPr id="10" name="Text 8"/>
          <p:cNvSpPr/>
          <p:nvPr/>
        </p:nvSpPr>
        <p:spPr>
          <a:xfrm>
            <a:off x="777240" y="1728216"/>
            <a:ext cx="10637215" cy="320040"/>
          </a:xfrm>
          <a:prstGeom prst="rect">
            <a:avLst/>
          </a:prstGeom>
          <a:noFill/>
          <a:ln/>
        </p:spPr>
        <p:txBody>
          <a:bodyPr wrap="square" rtlCol="0" anchor="ctr"/>
          <a:lstStyle/>
          <a:p>
            <a:pPr indent="0" marL="0">
              <a:buNone/>
            </a:pPr>
            <a:r>
              <a:rPr lang="en-US" sz="1300" b="1" dirty="0">
                <a:solidFill>
                  <a:srgbClr val="004671"/>
                </a:solidFill>
                <a:latin typeface="Arial" pitchFamily="34" charset="0"/>
                <a:ea typeface="Arial" pitchFamily="34" charset="-122"/>
                <a:cs typeface="Arial" pitchFamily="34" charset="-120"/>
              </a:rPr>
              <a:t>NLO (Nano Learning Objective)</a:t>
            </a:r>
            <a:endParaRPr lang="en-US" sz="1300" dirty="0"/>
          </a:p>
        </p:txBody>
      </p:sp>
      <p:sp>
        <p:nvSpPr>
          <p:cNvPr id="11" name="Text 9"/>
          <p:cNvSpPr/>
          <p:nvPr/>
        </p:nvSpPr>
        <p:spPr>
          <a:xfrm>
            <a:off x="777240" y="2075688"/>
            <a:ext cx="10637215" cy="777240"/>
          </a:xfrm>
          <a:prstGeom prst="rect">
            <a:avLst/>
          </a:prstGeom>
          <a:noFill/>
          <a:ln/>
        </p:spPr>
        <p:txBody>
          <a:bodyPr wrap="square" rtlCol="0" anchor="ctr"/>
          <a:lstStyle/>
          <a:p>
            <a:pPr indent="0" marL="0">
              <a:lnSpc>
                <a:spcPct val="115000"/>
              </a:lnSpc>
              <a:buNone/>
            </a:pPr>
            <a:r>
              <a:rPr lang="en-US" sz="1100" dirty="0">
                <a:solidFill>
                  <a:srgbClr val="333333"/>
                </a:solidFill>
                <a:latin typeface="Arial" pitchFamily="34" charset="0"/>
                <a:ea typeface="Arial" pitchFamily="34" charset="-122"/>
                <a:cs typeface="Arial" pitchFamily="34" charset="-120"/>
              </a:rPr>
              <a:t>Đơn vị kiến thức/kỹ năng nhỏ nhất, đo lường độc lập, dạy trọn trong 10–15 phút. Edupia đã có 1.473 NLO cho Tiếng Anh Lớp 1–8.</a:t>
            </a:r>
            <a:endParaRPr lang="en-US" sz="1100" dirty="0"/>
          </a:p>
        </p:txBody>
      </p:sp>
      <p:sp>
        <p:nvSpPr>
          <p:cNvPr id="12" name="Shape 10"/>
          <p:cNvSpPr/>
          <p:nvPr/>
        </p:nvSpPr>
        <p:spPr>
          <a:xfrm>
            <a:off x="502920" y="3108960"/>
            <a:ext cx="11185855" cy="1325880"/>
          </a:xfrm>
          <a:prstGeom prst="rect">
            <a:avLst/>
          </a:prstGeom>
          <a:solidFill>
            <a:srgbClr val="F4F9FC"/>
          </a:solidFill>
          <a:ln w="12700">
            <a:solidFill>
              <a:srgbClr val="DCE8F0"/>
            </a:solidFill>
            <a:prstDash val="solid"/>
          </a:ln>
        </p:spPr>
      </p:sp>
      <p:sp>
        <p:nvSpPr>
          <p:cNvPr id="13" name="Shape 11"/>
          <p:cNvSpPr/>
          <p:nvPr/>
        </p:nvSpPr>
        <p:spPr>
          <a:xfrm>
            <a:off x="502920" y="3108960"/>
            <a:ext cx="82296" cy="1325880"/>
          </a:xfrm>
          <a:prstGeom prst="rect">
            <a:avLst/>
          </a:prstGeom>
          <a:solidFill>
            <a:srgbClr val="A5BE00"/>
          </a:solidFill>
          <a:ln w="12700">
            <a:solidFill>
              <a:srgbClr val="A5BE00"/>
            </a:solidFill>
            <a:prstDash val="solid"/>
          </a:ln>
        </p:spPr>
      </p:sp>
      <p:sp>
        <p:nvSpPr>
          <p:cNvPr id="14" name="Text 12"/>
          <p:cNvSpPr/>
          <p:nvPr/>
        </p:nvSpPr>
        <p:spPr>
          <a:xfrm>
            <a:off x="777240" y="3236976"/>
            <a:ext cx="10637215" cy="320040"/>
          </a:xfrm>
          <a:prstGeom prst="rect">
            <a:avLst/>
          </a:prstGeom>
          <a:noFill/>
          <a:ln/>
        </p:spPr>
        <p:txBody>
          <a:bodyPr wrap="square" rtlCol="0" anchor="ctr"/>
          <a:lstStyle/>
          <a:p>
            <a:pPr indent="0" marL="0">
              <a:buNone/>
            </a:pPr>
            <a:r>
              <a:rPr lang="en-US" sz="1300" b="1" dirty="0">
                <a:solidFill>
                  <a:srgbClr val="004671"/>
                </a:solidFill>
                <a:latin typeface="Arial" pitchFamily="34" charset="0"/>
                <a:ea typeface="Arial" pitchFamily="34" charset="-122"/>
                <a:cs typeface="Arial" pitchFamily="34" charset="-120"/>
              </a:rPr>
              <a:t>Mastery Profile</a:t>
            </a:r>
            <a:endParaRPr lang="en-US" sz="1300" dirty="0"/>
          </a:p>
        </p:txBody>
      </p:sp>
      <p:sp>
        <p:nvSpPr>
          <p:cNvPr id="15" name="Text 13"/>
          <p:cNvSpPr/>
          <p:nvPr/>
        </p:nvSpPr>
        <p:spPr>
          <a:xfrm>
            <a:off x="777240" y="3584448"/>
            <a:ext cx="10637215" cy="777240"/>
          </a:xfrm>
          <a:prstGeom prst="rect">
            <a:avLst/>
          </a:prstGeom>
          <a:noFill/>
          <a:ln/>
        </p:spPr>
        <p:txBody>
          <a:bodyPr wrap="square" rtlCol="0" anchor="ctr"/>
          <a:lstStyle/>
          <a:p>
            <a:pPr indent="0" marL="0">
              <a:lnSpc>
                <a:spcPct val="115000"/>
              </a:lnSpc>
              <a:buNone/>
            </a:pPr>
            <a:r>
              <a:rPr lang="en-US" sz="1100" dirty="0">
                <a:solidFill>
                  <a:srgbClr val="333333"/>
                </a:solidFill>
                <a:latin typeface="Arial" pitchFamily="34" charset="0"/>
                <a:ea typeface="Arial" pitchFamily="34" charset="-122"/>
                <a:cs typeface="Arial" pitchFamily="34" charset="-120"/>
              </a:rPr>
              <a:t>Hồ sơ năng lực của học sinh theo từng NLO — cập nhật real-time. Mọi thành phần đọc/ghi vào cùng 1 Mastery Profile → không rời rạc, không phải ghép thủ công.</a:t>
            </a:r>
            <a:endParaRPr lang="en-US" sz="1100" dirty="0"/>
          </a:p>
        </p:txBody>
      </p:sp>
      <p:sp>
        <p:nvSpPr>
          <p:cNvPr id="16" name="Shape 14"/>
          <p:cNvSpPr/>
          <p:nvPr/>
        </p:nvSpPr>
        <p:spPr>
          <a:xfrm>
            <a:off x="502920" y="4617720"/>
            <a:ext cx="11185855" cy="1325880"/>
          </a:xfrm>
          <a:prstGeom prst="rect">
            <a:avLst/>
          </a:prstGeom>
          <a:solidFill>
            <a:srgbClr val="F4F9FC"/>
          </a:solidFill>
          <a:ln w="12700">
            <a:solidFill>
              <a:srgbClr val="DCE8F0"/>
            </a:solidFill>
            <a:prstDash val="solid"/>
          </a:ln>
        </p:spPr>
      </p:sp>
      <p:sp>
        <p:nvSpPr>
          <p:cNvPr id="17" name="Shape 15"/>
          <p:cNvSpPr/>
          <p:nvPr/>
        </p:nvSpPr>
        <p:spPr>
          <a:xfrm>
            <a:off x="502920" y="4617720"/>
            <a:ext cx="82296" cy="1325880"/>
          </a:xfrm>
          <a:prstGeom prst="rect">
            <a:avLst/>
          </a:prstGeom>
          <a:solidFill>
            <a:srgbClr val="A5BE00"/>
          </a:solidFill>
          <a:ln w="12700">
            <a:solidFill>
              <a:srgbClr val="A5BE00"/>
            </a:solidFill>
            <a:prstDash val="solid"/>
          </a:ln>
        </p:spPr>
      </p:sp>
      <p:sp>
        <p:nvSpPr>
          <p:cNvPr id="18" name="Text 16"/>
          <p:cNvSpPr/>
          <p:nvPr/>
        </p:nvSpPr>
        <p:spPr>
          <a:xfrm>
            <a:off x="777240" y="4745736"/>
            <a:ext cx="10637215" cy="320040"/>
          </a:xfrm>
          <a:prstGeom prst="rect">
            <a:avLst/>
          </a:prstGeom>
          <a:noFill/>
          <a:ln/>
        </p:spPr>
        <p:txBody>
          <a:bodyPr wrap="square" rtlCol="0" anchor="ctr"/>
          <a:lstStyle/>
          <a:p>
            <a:pPr indent="0" marL="0">
              <a:buNone/>
            </a:pPr>
            <a:r>
              <a:rPr lang="en-US" sz="1300" b="1" dirty="0">
                <a:solidFill>
                  <a:srgbClr val="004671"/>
                </a:solidFill>
                <a:latin typeface="Arial" pitchFamily="34" charset="0"/>
                <a:ea typeface="Arial" pitchFamily="34" charset="-122"/>
                <a:cs typeface="Arial" pitchFamily="34" charset="-120"/>
              </a:rPr>
              <a:t>Adaptive Learning — "bộ não"</a:t>
            </a:r>
            <a:endParaRPr lang="en-US" sz="1300" dirty="0"/>
          </a:p>
        </p:txBody>
      </p:sp>
      <p:sp>
        <p:nvSpPr>
          <p:cNvPr id="19" name="Text 17"/>
          <p:cNvSpPr/>
          <p:nvPr/>
        </p:nvSpPr>
        <p:spPr>
          <a:xfrm>
            <a:off x="777240" y="5093208"/>
            <a:ext cx="10637215" cy="777240"/>
          </a:xfrm>
          <a:prstGeom prst="rect">
            <a:avLst/>
          </a:prstGeom>
          <a:noFill/>
          <a:ln/>
        </p:spPr>
        <p:txBody>
          <a:bodyPr wrap="square" rtlCol="0" anchor="ctr"/>
          <a:lstStyle/>
          <a:p>
            <a:pPr indent="0" marL="0">
              <a:lnSpc>
                <a:spcPct val="115000"/>
              </a:lnSpc>
              <a:buNone/>
            </a:pPr>
            <a:r>
              <a:rPr lang="en-US" sz="1100" dirty="0">
                <a:solidFill>
                  <a:srgbClr val="333333"/>
                </a:solidFill>
                <a:latin typeface="Arial" pitchFamily="34" charset="0"/>
                <a:ea typeface="Arial" pitchFamily="34" charset="-122"/>
                <a:cs typeface="Arial" pitchFamily="34" charset="-120"/>
              </a:rPr>
              <a:t>Phát hiện lỗ hổng (Gap Detection) → chọn đúng NLO cần vá cho từng thành phần (Routing Engine).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907792" cy="256032"/>
          </a:xfrm>
          <a:prstGeom prst="rect">
            <a:avLst/>
          </a:prstGeom>
          <a:noFill/>
          <a:ln/>
        </p:spPr>
        <p:txBody>
          <a:bodyPr wrap="square" rtlCol="0" anchor="ctr"/>
          <a:lstStyle/>
          <a:p>
            <a:pPr algn="r" indent="0" marL="0">
              <a:buNone/>
            </a:pPr>
            <a:r>
              <a:rPr lang="en-US" sz="1300" b="1" spc="100" kern="0"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907792" cy="182880"/>
          </a:xfrm>
          <a:prstGeom prst="rect">
            <a:avLst/>
          </a:prstGeom>
          <a:noFill/>
          <a:ln/>
        </p:spPr>
        <p:txBody>
          <a:bodyPr wrap="square" rtlCol="0" anchor="ctr"/>
          <a:lstStyle/>
          <a:p>
            <a:pPr algn="r" indent="0" marL="0">
              <a:buNone/>
            </a:pPr>
            <a:r>
              <a:rPr lang="en-US" sz="750" b="1" spc="20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8092440" cy="914400"/>
          </a:xfrm>
          <a:prstGeom prst="rect">
            <a:avLst/>
          </a:prstGeom>
          <a:noFill/>
          <a:ln/>
        </p:spPr>
        <p:txBody>
          <a:bodyPr wrap="square" rtlCol="0" anchor="t"/>
          <a:lstStyle/>
          <a:p>
            <a:pPr indent="0" marL="0">
              <a:lnSpc>
                <a:spcPct val="104000"/>
              </a:lnSpc>
              <a:buNone/>
            </a:pPr>
            <a:r>
              <a:rPr lang="en-US" sz="2200" b="1" dirty="0">
                <a:solidFill>
                  <a:srgbClr val="004671"/>
                </a:solidFill>
                <a:latin typeface="Arial" pitchFamily="34" charset="0"/>
                <a:ea typeface="Arial" pitchFamily="34" charset="-122"/>
                <a:cs typeface="Arial" pitchFamily="34" charset="-120"/>
              </a:rPr>
              <a:t>Thành phần 1: Big Class</a:t>
            </a:r>
            <a:endParaRPr lang="en-US" sz="2200" dirty="0"/>
          </a:p>
        </p:txBody>
      </p:sp>
      <p:sp>
        <p:nvSpPr>
          <p:cNvPr id="5" name="Shape 3"/>
          <p:cNvSpPr/>
          <p:nvPr/>
        </p:nvSpPr>
        <p:spPr>
          <a:xfrm>
            <a:off x="502920" y="6437376"/>
            <a:ext cx="11185855" cy="0"/>
          </a:xfrm>
          <a:prstGeom prst="line">
            <a:avLst/>
          </a:prstGeom>
          <a:noFill/>
          <a:ln w="19050">
            <a:solidFill>
              <a:srgbClr val="A5BE00"/>
            </a:solidFill>
            <a:prstDash val="solid"/>
          </a:ln>
        </p:spPr>
      </p:sp>
      <p:sp>
        <p:nvSpPr>
          <p:cNvPr id="6" name="Text 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Adaptive Learning</a:t>
            </a:r>
            <a:endParaRPr lang="en-US" sz="800" dirty="0"/>
          </a:p>
        </p:txBody>
      </p:sp>
      <p:sp>
        <p:nvSpPr>
          <p:cNvPr id="7" name="Text 5"/>
          <p:cNvSpPr/>
          <p:nvPr/>
        </p:nvSpPr>
        <p:spPr>
          <a:xfrm>
            <a:off x="985997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11 / 15</a:t>
            </a:r>
            <a:endParaRPr lang="en-US" sz="800" dirty="0"/>
          </a:p>
        </p:txBody>
      </p:sp>
      <p:sp>
        <p:nvSpPr>
          <p:cNvPr id="8" name="Text 6"/>
          <p:cNvSpPr/>
          <p:nvPr/>
        </p:nvSpPr>
        <p:spPr>
          <a:xfrm>
            <a:off x="502920" y="1417320"/>
            <a:ext cx="11185855" cy="1463040"/>
          </a:xfrm>
          <a:prstGeom prst="rect">
            <a:avLst/>
          </a:prstGeom>
          <a:noFill/>
          <a:ln/>
        </p:spPr>
        <p:txBody>
          <a:bodyPr wrap="square" rtlCol="0" anchor="t"/>
          <a:lstStyle/>
          <a:p>
            <a:pPr indent="0" marL="0">
              <a:lnSpc>
                <a:spcPct val="120000"/>
              </a:lnSpc>
              <a:buNone/>
            </a:pPr>
            <a:r>
              <a:rPr lang="en-US" sz="1250" b="1" dirty="0">
                <a:solidFill>
                  <a:srgbClr val="004671"/>
                </a:solidFill>
                <a:latin typeface="Arial" pitchFamily="34" charset="0"/>
                <a:ea typeface="Arial" pitchFamily="34" charset="-122"/>
                <a:cs typeface="Arial" pitchFamily="34" charset="-120"/>
              </a:rPr>
              <a:t>Là gì:  </a:t>
            </a:r>
            <a:pPr indent="0" marL="0">
              <a:lnSpc>
                <a:spcPct val="120000"/>
              </a:lnSpc>
              <a:buNone/>
            </a:pPr>
            <a:r>
              <a:rPr lang="en-US" sz="1250" dirty="0">
                <a:solidFill>
                  <a:srgbClr val="333333"/>
                </a:solidFill>
                <a:latin typeface="Arial" pitchFamily="34" charset="0"/>
                <a:ea typeface="Arial" pitchFamily="34" charset="-122"/>
                <a:cs typeface="Arial" pitchFamily="34" charset="-120"/>
              </a:rPr>
              <a:t>Buổi học trực tuyến nhóm, giáo viên thật (GV Star) dạy live, 2 buổi/tuần, bám sát SGK Global Success. Đây là lõi sản phẩm không thay đổi so với Edupia AI Class 250k hiện tại.</a:t>
            </a:r>
            <a:endParaRPr lang="en-US" sz="1250" dirty="0"/>
          </a:p>
        </p:txBody>
      </p:sp>
      <p:sp>
        <p:nvSpPr>
          <p:cNvPr id="9" name="Shape 7"/>
          <p:cNvSpPr/>
          <p:nvPr/>
        </p:nvSpPr>
        <p:spPr>
          <a:xfrm>
            <a:off x="502920" y="3246120"/>
            <a:ext cx="11185855" cy="2651760"/>
          </a:xfrm>
          <a:prstGeom prst="rect">
            <a:avLst/>
          </a:prstGeom>
          <a:solidFill>
            <a:srgbClr val="F4F9FC"/>
          </a:solidFill>
          <a:ln w="12700">
            <a:solidFill>
              <a:srgbClr val="DCE8F0"/>
            </a:solidFill>
            <a:prstDash val="solid"/>
          </a:ln>
        </p:spPr>
      </p:sp>
      <p:sp>
        <p:nvSpPr>
          <p:cNvPr id="10" name="Shape 8"/>
          <p:cNvSpPr/>
          <p:nvPr/>
        </p:nvSpPr>
        <p:spPr>
          <a:xfrm>
            <a:off x="502920" y="3246120"/>
            <a:ext cx="82296" cy="2651760"/>
          </a:xfrm>
          <a:prstGeom prst="rect">
            <a:avLst/>
          </a:prstGeom>
          <a:solidFill>
            <a:srgbClr val="A5BE00"/>
          </a:solidFill>
          <a:ln w="12700">
            <a:solidFill>
              <a:srgbClr val="A5BE00"/>
            </a:solidFill>
            <a:prstDash val="solid"/>
          </a:ln>
        </p:spPr>
      </p:sp>
      <p:sp>
        <p:nvSpPr>
          <p:cNvPr id="11" name="Text 9"/>
          <p:cNvSpPr/>
          <p:nvPr/>
        </p:nvSpPr>
        <p:spPr>
          <a:xfrm>
            <a:off x="777240" y="3374136"/>
            <a:ext cx="10637215" cy="274320"/>
          </a:xfrm>
          <a:prstGeom prst="rect">
            <a:avLst/>
          </a:prstGeom>
          <a:noFill/>
          <a:ln/>
        </p:spPr>
        <p:txBody>
          <a:bodyPr wrap="square" rtlCol="0" anchor="ctr"/>
          <a:lstStyle/>
          <a:p>
            <a:pPr indent="0" marL="0">
              <a:buNone/>
            </a:pPr>
            <a:r>
              <a:rPr lang="en-US" sz="900" b="1" spc="150" kern="0" dirty="0">
                <a:solidFill>
                  <a:srgbClr val="518E0D"/>
                </a:solidFill>
                <a:latin typeface="Arial" pitchFamily="34" charset="0"/>
                <a:ea typeface="Arial" pitchFamily="34" charset="-122"/>
                <a:cs typeface="Arial" pitchFamily="34" charset="-120"/>
              </a:rPr>
              <a:t>CHỨC NĂNG CHÍNH</a:t>
            </a:r>
            <a:endParaRPr lang="en-US" sz="900" dirty="0"/>
          </a:p>
        </p:txBody>
      </p:sp>
      <p:sp>
        <p:nvSpPr>
          <p:cNvPr id="12" name="Text 10"/>
          <p:cNvSpPr/>
          <p:nvPr/>
        </p:nvSpPr>
        <p:spPr>
          <a:xfrm>
            <a:off x="795528" y="3703320"/>
            <a:ext cx="10545775" cy="2057400"/>
          </a:xfrm>
          <a:prstGeom prst="rect">
            <a:avLst/>
          </a:prstGeom>
          <a:noFill/>
          <a:ln/>
        </p:spPr>
        <p:txBody>
          <a:bodyPr wrap="square" rtlCol="0" anchor="t"/>
          <a:lstStyle/>
          <a:p>
            <a:pPr marL="152400" indent="-152400">
              <a:lnSpc>
                <a:spcPct val="115000"/>
              </a:lnSpc>
              <a:spcAft>
                <a:spcPts val="800"/>
              </a:spcAft>
              <a:buSzPct val="100000"/>
              <a:buChar char="•"/>
            </a:pPr>
            <a:r>
              <a:rPr lang="en-US" sz="1150" dirty="0">
                <a:solidFill>
                  <a:srgbClr val="333333"/>
                </a:solidFill>
                <a:latin typeface="Arial" pitchFamily="34" charset="0"/>
                <a:ea typeface="Arial" pitchFamily="34" charset="-122"/>
                <a:cs typeface="Arial" pitchFamily="34" charset="-120"/>
              </a:rPr>
              <a:t>GV Star giảng bài theo chương trình, tổ chức tương tác lớp.</a:t>
            </a:r>
            <a:endParaRPr lang="en-US" sz="1150" dirty="0"/>
          </a:p>
          <a:p>
            <a:pPr marL="152400" indent="-152400">
              <a:lnSpc>
                <a:spcPct val="115000"/>
              </a:lnSpc>
              <a:spcAft>
                <a:spcPts val="800"/>
              </a:spcAft>
              <a:buSzPct val="100000"/>
              <a:buChar char="•"/>
            </a:pPr>
            <a:r>
              <a:rPr lang="en-US" sz="1150" dirty="0">
                <a:solidFill>
                  <a:srgbClr val="333333"/>
                </a:solidFill>
                <a:latin typeface="Arial" pitchFamily="34" charset="0"/>
                <a:ea typeface="Arial" pitchFamily="34" charset="-122"/>
                <a:cs typeface="Arial" pitchFamily="34" charset="-120"/>
              </a:rPr>
              <a:t>Gán NLO cho từng học sinh dựa trên biểu hiện trong buổi (qua Quick Check) → sinh tín hiệu cho Gap Detection.</a:t>
            </a:r>
            <a:endParaRPr lang="en-US" sz="1150" dirty="0"/>
          </a:p>
          <a:p>
            <a:pPr marL="152400" indent="-152400">
              <a:lnSpc>
                <a:spcPct val="115000"/>
              </a:lnSpc>
              <a:spcAft>
                <a:spcPts val="800"/>
              </a:spcAft>
              <a:buSzPct val="100000"/>
              <a:buChar char="•"/>
            </a:pPr>
            <a:r>
              <a:rPr lang="en-US" sz="1150" dirty="0">
                <a:solidFill>
                  <a:srgbClr val="333333"/>
                </a:solidFill>
                <a:latin typeface="Arial" pitchFamily="34" charset="0"/>
                <a:ea typeface="Arial" pitchFamily="34" charset="-122"/>
                <a:cs typeface="Arial" pitchFamily="34" charset="-120"/>
              </a:rPr>
              <a:t>Big Class + Quick Check phát hiện lỗ hổng → Routing Engine điều hướng BTVN / luyện tập / luyện nói bám đúng NLO yếu.</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907792" cy="256032"/>
          </a:xfrm>
          <a:prstGeom prst="rect">
            <a:avLst/>
          </a:prstGeom>
          <a:noFill/>
          <a:ln/>
        </p:spPr>
        <p:txBody>
          <a:bodyPr wrap="square" rtlCol="0" anchor="ctr"/>
          <a:lstStyle/>
          <a:p>
            <a:pPr algn="r" indent="0" marL="0">
              <a:buNone/>
            </a:pPr>
            <a:r>
              <a:rPr lang="en-US" sz="1300" b="1" spc="100" kern="0"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907792" cy="182880"/>
          </a:xfrm>
          <a:prstGeom prst="rect">
            <a:avLst/>
          </a:prstGeom>
          <a:noFill/>
          <a:ln/>
        </p:spPr>
        <p:txBody>
          <a:bodyPr wrap="square" rtlCol="0" anchor="ctr"/>
          <a:lstStyle/>
          <a:p>
            <a:pPr algn="r" indent="0" marL="0">
              <a:buNone/>
            </a:pPr>
            <a:r>
              <a:rPr lang="en-US" sz="750" b="1" spc="20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8092440" cy="914400"/>
          </a:xfrm>
          <a:prstGeom prst="rect">
            <a:avLst/>
          </a:prstGeom>
          <a:noFill/>
          <a:ln/>
        </p:spPr>
        <p:txBody>
          <a:bodyPr wrap="square" rtlCol="0" anchor="t"/>
          <a:lstStyle/>
          <a:p>
            <a:pPr indent="0" marL="0">
              <a:lnSpc>
                <a:spcPct val="104000"/>
              </a:lnSpc>
              <a:buNone/>
            </a:pPr>
            <a:r>
              <a:rPr lang="en-US" sz="2000" b="1" dirty="0">
                <a:solidFill>
                  <a:srgbClr val="004671"/>
                </a:solidFill>
                <a:latin typeface="Arial" pitchFamily="34" charset="0"/>
                <a:ea typeface="Arial" pitchFamily="34" charset="-122"/>
                <a:cs typeface="Arial" pitchFamily="34" charset="-120"/>
              </a:rPr>
              <a:t>Thành phần 2: BTVN Adaptive &amp; AI Practice</a:t>
            </a:r>
            <a:endParaRPr lang="en-US" sz="2000" dirty="0"/>
          </a:p>
        </p:txBody>
      </p:sp>
      <p:sp>
        <p:nvSpPr>
          <p:cNvPr id="5" name="Shape 3"/>
          <p:cNvSpPr/>
          <p:nvPr/>
        </p:nvSpPr>
        <p:spPr>
          <a:xfrm>
            <a:off x="502920" y="6437376"/>
            <a:ext cx="11185855" cy="0"/>
          </a:xfrm>
          <a:prstGeom prst="line">
            <a:avLst/>
          </a:prstGeom>
          <a:noFill/>
          <a:ln w="19050">
            <a:solidFill>
              <a:srgbClr val="A5BE00"/>
            </a:solidFill>
            <a:prstDash val="solid"/>
          </a:ln>
        </p:spPr>
      </p:sp>
      <p:sp>
        <p:nvSpPr>
          <p:cNvPr id="6" name="Text 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Adaptive Learning</a:t>
            </a:r>
            <a:endParaRPr lang="en-US" sz="800" dirty="0"/>
          </a:p>
        </p:txBody>
      </p:sp>
      <p:sp>
        <p:nvSpPr>
          <p:cNvPr id="7" name="Text 5"/>
          <p:cNvSpPr/>
          <p:nvPr/>
        </p:nvSpPr>
        <p:spPr>
          <a:xfrm>
            <a:off x="985997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12 / 15</a:t>
            </a:r>
            <a:endParaRPr lang="en-US" sz="800" dirty="0"/>
          </a:p>
        </p:txBody>
      </p:sp>
      <p:sp>
        <p:nvSpPr>
          <p:cNvPr id="8" name="Text 6"/>
          <p:cNvSpPr/>
          <p:nvPr/>
        </p:nvSpPr>
        <p:spPr>
          <a:xfrm>
            <a:off x="502920" y="1417320"/>
            <a:ext cx="11185855" cy="1463040"/>
          </a:xfrm>
          <a:prstGeom prst="rect">
            <a:avLst/>
          </a:prstGeom>
          <a:noFill/>
          <a:ln/>
        </p:spPr>
        <p:txBody>
          <a:bodyPr wrap="square" rtlCol="0" anchor="t"/>
          <a:lstStyle/>
          <a:p>
            <a:pPr indent="0" marL="0">
              <a:lnSpc>
                <a:spcPct val="120000"/>
              </a:lnSpc>
              <a:buNone/>
            </a:pPr>
            <a:r>
              <a:rPr lang="en-US" sz="1250" b="1" dirty="0">
                <a:solidFill>
                  <a:srgbClr val="004671"/>
                </a:solidFill>
                <a:latin typeface="Arial" pitchFamily="34" charset="0"/>
                <a:ea typeface="Arial" pitchFamily="34" charset="-122"/>
                <a:cs typeface="Arial" pitchFamily="34" charset="-120"/>
              </a:rPr>
              <a:t>Là gì:  </a:t>
            </a:r>
            <a:pPr indent="0" marL="0">
              <a:lnSpc>
                <a:spcPct val="120000"/>
              </a:lnSpc>
              <a:buNone/>
            </a:pPr>
            <a:r>
              <a:rPr lang="en-US" sz="1250" dirty="0">
                <a:solidFill>
                  <a:srgbClr val="333333"/>
                </a:solidFill>
                <a:latin typeface="Arial" pitchFamily="34" charset="0"/>
                <a:ea typeface="Arial" pitchFamily="34" charset="-122"/>
                <a:cs typeface="Arial" pitchFamily="34" charset="-120"/>
              </a:rPr>
              <a:t>Hệ thống bài tập ôn luyện sau mỗi buổi + kho đề chuẩn theo SGK (Global Success, I Learn Smart Start, Family and Friends…) + kho đề thi. Đây là kênh chính tầng AI dùng để "vá lỗ hổng" — thay cho một buổi học riêng.</a:t>
            </a:r>
            <a:endParaRPr lang="en-US" sz="1250" dirty="0"/>
          </a:p>
        </p:txBody>
      </p:sp>
      <p:sp>
        <p:nvSpPr>
          <p:cNvPr id="9" name="Shape 7"/>
          <p:cNvSpPr/>
          <p:nvPr/>
        </p:nvSpPr>
        <p:spPr>
          <a:xfrm>
            <a:off x="502920" y="3063240"/>
            <a:ext cx="11185855" cy="2880360"/>
          </a:xfrm>
          <a:prstGeom prst="rect">
            <a:avLst/>
          </a:prstGeom>
          <a:solidFill>
            <a:srgbClr val="F4F9FC"/>
          </a:solidFill>
          <a:ln w="12700">
            <a:solidFill>
              <a:srgbClr val="DCE8F0"/>
            </a:solidFill>
            <a:prstDash val="solid"/>
          </a:ln>
        </p:spPr>
      </p:sp>
      <p:sp>
        <p:nvSpPr>
          <p:cNvPr id="10" name="Shape 8"/>
          <p:cNvSpPr/>
          <p:nvPr/>
        </p:nvSpPr>
        <p:spPr>
          <a:xfrm>
            <a:off x="502920" y="3063240"/>
            <a:ext cx="82296" cy="2880360"/>
          </a:xfrm>
          <a:prstGeom prst="rect">
            <a:avLst/>
          </a:prstGeom>
          <a:solidFill>
            <a:srgbClr val="A5BE00"/>
          </a:solidFill>
          <a:ln w="12700">
            <a:solidFill>
              <a:srgbClr val="A5BE00"/>
            </a:solidFill>
            <a:prstDash val="solid"/>
          </a:ln>
        </p:spPr>
      </p:sp>
      <p:sp>
        <p:nvSpPr>
          <p:cNvPr id="11" name="Text 9"/>
          <p:cNvSpPr/>
          <p:nvPr/>
        </p:nvSpPr>
        <p:spPr>
          <a:xfrm>
            <a:off x="777240" y="3191256"/>
            <a:ext cx="10637215" cy="274320"/>
          </a:xfrm>
          <a:prstGeom prst="rect">
            <a:avLst/>
          </a:prstGeom>
          <a:noFill/>
          <a:ln/>
        </p:spPr>
        <p:txBody>
          <a:bodyPr wrap="square" rtlCol="0" anchor="ctr"/>
          <a:lstStyle/>
          <a:p>
            <a:pPr indent="0" marL="0">
              <a:buNone/>
            </a:pPr>
            <a:r>
              <a:rPr lang="en-US" sz="900" b="1" spc="150" kern="0" dirty="0">
                <a:solidFill>
                  <a:srgbClr val="518E0D"/>
                </a:solidFill>
                <a:latin typeface="Arial" pitchFamily="34" charset="0"/>
                <a:ea typeface="Arial" pitchFamily="34" charset="-122"/>
                <a:cs typeface="Arial" pitchFamily="34" charset="-120"/>
              </a:rPr>
              <a:t>CHỨC NĂNG CHÍNH</a:t>
            </a:r>
            <a:endParaRPr lang="en-US" sz="900" dirty="0"/>
          </a:p>
        </p:txBody>
      </p:sp>
      <p:sp>
        <p:nvSpPr>
          <p:cNvPr id="12" name="Text 10"/>
          <p:cNvSpPr/>
          <p:nvPr/>
        </p:nvSpPr>
        <p:spPr>
          <a:xfrm>
            <a:off x="795528" y="3520440"/>
            <a:ext cx="10545775" cy="2286000"/>
          </a:xfrm>
          <a:prstGeom prst="rect">
            <a:avLst/>
          </a:prstGeom>
          <a:noFill/>
          <a:ln/>
        </p:spPr>
        <p:txBody>
          <a:bodyPr wrap="square" rtlCol="0" anchor="t"/>
          <a:lstStyle/>
          <a:p>
            <a:pPr marL="152400" indent="-152400">
              <a:lnSpc>
                <a:spcPct val="115000"/>
              </a:lnSpc>
              <a:spcAft>
                <a:spcPts val="800"/>
              </a:spcAft>
              <a:buSzPct val="100000"/>
              <a:buChar char="•"/>
            </a:pPr>
            <a:r>
              <a:rPr lang="en-US" sz="1050" dirty="0">
                <a:solidFill>
                  <a:srgbClr val="333333"/>
                </a:solidFill>
                <a:latin typeface="Arial" pitchFamily="34" charset="0"/>
                <a:ea typeface="Arial" pitchFamily="34" charset="-122"/>
                <a:cs typeface="Arial" pitchFamily="34" charset="-120"/>
              </a:rPr>
              <a:t>Routing Engine giao đúng 1–2 NLO con yếu nhất vào phiên BTVN ngay sau buổi Big Class.</a:t>
            </a:r>
            <a:endParaRPr lang="en-US" sz="1050" dirty="0"/>
          </a:p>
          <a:p>
            <a:pPr marL="152400" indent="-152400">
              <a:lnSpc>
                <a:spcPct val="115000"/>
              </a:lnSpc>
              <a:spcAft>
                <a:spcPts val="800"/>
              </a:spcAft>
              <a:buSzPct val="100000"/>
              <a:buChar char="•"/>
            </a:pPr>
            <a:r>
              <a:rPr lang="en-US" sz="1050" dirty="0">
                <a:solidFill>
                  <a:srgbClr val="333333"/>
                </a:solidFill>
                <a:latin typeface="Arial" pitchFamily="34" charset="0"/>
                <a:ea typeface="Arial" pitchFamily="34" charset="-122"/>
                <a:cs typeface="Arial" pitchFamily="34" charset="-120"/>
              </a:rPr>
              <a:t>AI chấm — chữa — giải thích lỗi ngay sau khi nộp; cho làm lại nhiều lần.</a:t>
            </a:r>
            <a:endParaRPr lang="en-US" sz="1050" dirty="0"/>
          </a:p>
          <a:p>
            <a:pPr marL="152400" indent="-152400">
              <a:lnSpc>
                <a:spcPct val="115000"/>
              </a:lnSpc>
              <a:spcAft>
                <a:spcPts val="800"/>
              </a:spcAft>
              <a:buSzPct val="100000"/>
              <a:buChar char="•"/>
            </a:pPr>
            <a:r>
              <a:rPr lang="en-US" sz="1050" dirty="0">
                <a:solidFill>
                  <a:srgbClr val="333333"/>
                </a:solidFill>
                <a:latin typeface="Arial" pitchFamily="34" charset="0"/>
                <a:ea typeface="Arial" pitchFamily="34" charset="-122"/>
                <a:cs typeface="Arial" pitchFamily="34" charset="-120"/>
              </a:rPr>
              <a:t>Staircase Difficulty: độ khó câu tự điều chỉnh trong lúc làm (E→M→H; đúng 2 câu liên tiếp tăng bậc, sai 1 câu giảm ngay).</a:t>
            </a:r>
            <a:endParaRPr lang="en-US" sz="1050" dirty="0"/>
          </a:p>
          <a:p>
            <a:pPr marL="152400" indent="-152400">
              <a:lnSpc>
                <a:spcPct val="115000"/>
              </a:lnSpc>
              <a:spcAft>
                <a:spcPts val="800"/>
              </a:spcAft>
              <a:buSzPct val="100000"/>
              <a:buChar char="•"/>
            </a:pPr>
            <a:r>
              <a:rPr lang="en-US" sz="1050" dirty="0">
                <a:solidFill>
                  <a:srgbClr val="333333"/>
                </a:solidFill>
                <a:latin typeface="Arial" pitchFamily="34" charset="0"/>
                <a:ea typeface="Arial" pitchFamily="34" charset="-122"/>
                <a:cs typeface="Arial" pitchFamily="34" charset="-120"/>
              </a:rPr>
              <a:t>Trộn NLO mỗi phiên: 40% NLO đang yếu · 40% NLO mới học · 20% NLO cũ (ôn chống quên).</a:t>
            </a:r>
            <a:endParaRPr lang="en-US" sz="1050" dirty="0"/>
          </a:p>
          <a:p>
            <a:pPr marL="152400" indent="-152400">
              <a:lnSpc>
                <a:spcPct val="115000"/>
              </a:lnSpc>
              <a:spcAft>
                <a:spcPts val="800"/>
              </a:spcAft>
              <a:buSzPct val="100000"/>
              <a:buChar char="•"/>
            </a:pPr>
            <a:r>
              <a:rPr lang="en-US" sz="1050" dirty="0">
                <a:solidFill>
                  <a:srgbClr val="333333"/>
                </a:solidFill>
                <a:latin typeface="Arial" pitchFamily="34" charset="0"/>
                <a:ea typeface="Arial" pitchFamily="34" charset="-122"/>
                <a:cs typeface="Arial" pitchFamily="34" charset="-120"/>
              </a:rPr>
              <a:t>Nâng cấp kho đề Practice + AI Mock Test.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907792" cy="256032"/>
          </a:xfrm>
          <a:prstGeom prst="rect">
            <a:avLst/>
          </a:prstGeom>
          <a:noFill/>
          <a:ln/>
        </p:spPr>
        <p:txBody>
          <a:bodyPr wrap="square" rtlCol="0" anchor="ctr"/>
          <a:lstStyle/>
          <a:p>
            <a:pPr algn="r" indent="0" marL="0">
              <a:buNone/>
            </a:pPr>
            <a:r>
              <a:rPr lang="en-US" sz="1300" b="1" spc="100" kern="0"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907792" cy="182880"/>
          </a:xfrm>
          <a:prstGeom prst="rect">
            <a:avLst/>
          </a:prstGeom>
          <a:noFill/>
          <a:ln/>
        </p:spPr>
        <p:txBody>
          <a:bodyPr wrap="square" rtlCol="0" anchor="ctr"/>
          <a:lstStyle/>
          <a:p>
            <a:pPr algn="r" indent="0" marL="0">
              <a:buNone/>
            </a:pPr>
            <a:r>
              <a:rPr lang="en-US" sz="750" b="1" spc="20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8092440" cy="914400"/>
          </a:xfrm>
          <a:prstGeom prst="rect">
            <a:avLst/>
          </a:prstGeom>
          <a:noFill/>
          <a:ln/>
        </p:spPr>
        <p:txBody>
          <a:bodyPr wrap="square" rtlCol="0" anchor="t"/>
          <a:lstStyle/>
          <a:p>
            <a:pPr indent="0" marL="0">
              <a:lnSpc>
                <a:spcPct val="104000"/>
              </a:lnSpc>
              <a:buNone/>
            </a:pPr>
            <a:r>
              <a:rPr lang="en-US" sz="2200" b="1" dirty="0">
                <a:solidFill>
                  <a:srgbClr val="004671"/>
                </a:solidFill>
                <a:latin typeface="Arial" pitchFamily="34" charset="0"/>
                <a:ea typeface="Arial" pitchFamily="34" charset="-122"/>
                <a:cs typeface="Arial" pitchFamily="34" charset="-120"/>
              </a:rPr>
              <a:t>Thành phần 3: AI Speak</a:t>
            </a:r>
            <a:endParaRPr lang="en-US" sz="2200" dirty="0"/>
          </a:p>
        </p:txBody>
      </p:sp>
      <p:sp>
        <p:nvSpPr>
          <p:cNvPr id="5" name="Shape 3"/>
          <p:cNvSpPr/>
          <p:nvPr/>
        </p:nvSpPr>
        <p:spPr>
          <a:xfrm>
            <a:off x="502920" y="6437376"/>
            <a:ext cx="11185855" cy="0"/>
          </a:xfrm>
          <a:prstGeom prst="line">
            <a:avLst/>
          </a:prstGeom>
          <a:noFill/>
          <a:ln w="19050">
            <a:solidFill>
              <a:srgbClr val="A5BE00"/>
            </a:solidFill>
            <a:prstDash val="solid"/>
          </a:ln>
        </p:spPr>
      </p:sp>
      <p:sp>
        <p:nvSpPr>
          <p:cNvPr id="6" name="Text 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Adaptive Learning</a:t>
            </a:r>
            <a:endParaRPr lang="en-US" sz="800" dirty="0"/>
          </a:p>
        </p:txBody>
      </p:sp>
      <p:sp>
        <p:nvSpPr>
          <p:cNvPr id="7" name="Text 5"/>
          <p:cNvSpPr/>
          <p:nvPr/>
        </p:nvSpPr>
        <p:spPr>
          <a:xfrm>
            <a:off x="985997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13 / 15</a:t>
            </a:r>
            <a:endParaRPr lang="en-US" sz="800" dirty="0"/>
          </a:p>
        </p:txBody>
      </p:sp>
      <p:sp>
        <p:nvSpPr>
          <p:cNvPr id="8" name="Text 6"/>
          <p:cNvSpPr/>
          <p:nvPr/>
        </p:nvSpPr>
        <p:spPr>
          <a:xfrm>
            <a:off x="502920" y="1417320"/>
            <a:ext cx="11185855" cy="1463040"/>
          </a:xfrm>
          <a:prstGeom prst="rect">
            <a:avLst/>
          </a:prstGeom>
          <a:noFill/>
          <a:ln/>
        </p:spPr>
        <p:txBody>
          <a:bodyPr wrap="square" rtlCol="0" anchor="t"/>
          <a:lstStyle/>
          <a:p>
            <a:pPr indent="0" marL="0">
              <a:lnSpc>
                <a:spcPct val="120000"/>
              </a:lnSpc>
              <a:buNone/>
            </a:pPr>
            <a:r>
              <a:rPr lang="en-US" sz="1250" b="1" dirty="0">
                <a:solidFill>
                  <a:srgbClr val="004671"/>
                </a:solidFill>
                <a:latin typeface="Arial" pitchFamily="34" charset="0"/>
                <a:ea typeface="Arial" pitchFamily="34" charset="-122"/>
                <a:cs typeface="Arial" pitchFamily="34" charset="-120"/>
              </a:rPr>
              <a:t>Là gì:  </a:t>
            </a:r>
            <a:pPr indent="0" marL="0">
              <a:lnSpc>
                <a:spcPct val="120000"/>
              </a:lnSpc>
              <a:buNone/>
            </a:pPr>
            <a:r>
              <a:rPr lang="en-US" sz="1250" dirty="0">
                <a:solidFill>
                  <a:srgbClr val="333333"/>
                </a:solidFill>
                <a:latin typeface="Arial" pitchFamily="34" charset="0"/>
                <a:ea typeface="Arial" pitchFamily="34" charset="-122"/>
                <a:cs typeface="Arial" pitchFamily="34" charset="-120"/>
              </a:rPr>
              <a:t>Phòng luyện nói với nhân vật ảo AI, mỗi ngày tối đa 1 giờ; học sinh nhập vai tình huống thực tế (mua sắm, du lịch, thể thao…).</a:t>
            </a:r>
            <a:endParaRPr lang="en-US" sz="1250" dirty="0"/>
          </a:p>
        </p:txBody>
      </p:sp>
      <p:sp>
        <p:nvSpPr>
          <p:cNvPr id="9" name="Shape 7"/>
          <p:cNvSpPr/>
          <p:nvPr/>
        </p:nvSpPr>
        <p:spPr>
          <a:xfrm>
            <a:off x="502920" y="3063240"/>
            <a:ext cx="11185855" cy="2788920"/>
          </a:xfrm>
          <a:prstGeom prst="rect">
            <a:avLst/>
          </a:prstGeom>
          <a:solidFill>
            <a:srgbClr val="F4F9FC"/>
          </a:solidFill>
          <a:ln w="12700">
            <a:solidFill>
              <a:srgbClr val="DCE8F0"/>
            </a:solidFill>
            <a:prstDash val="solid"/>
          </a:ln>
        </p:spPr>
      </p:sp>
      <p:sp>
        <p:nvSpPr>
          <p:cNvPr id="10" name="Shape 8"/>
          <p:cNvSpPr/>
          <p:nvPr/>
        </p:nvSpPr>
        <p:spPr>
          <a:xfrm>
            <a:off x="502920" y="3063240"/>
            <a:ext cx="82296" cy="2788920"/>
          </a:xfrm>
          <a:prstGeom prst="rect">
            <a:avLst/>
          </a:prstGeom>
          <a:solidFill>
            <a:srgbClr val="A5BE00"/>
          </a:solidFill>
          <a:ln w="12700">
            <a:solidFill>
              <a:srgbClr val="A5BE00"/>
            </a:solidFill>
            <a:prstDash val="solid"/>
          </a:ln>
        </p:spPr>
      </p:sp>
      <p:sp>
        <p:nvSpPr>
          <p:cNvPr id="11" name="Text 9"/>
          <p:cNvSpPr/>
          <p:nvPr/>
        </p:nvSpPr>
        <p:spPr>
          <a:xfrm>
            <a:off x="777240" y="3191256"/>
            <a:ext cx="10637215" cy="274320"/>
          </a:xfrm>
          <a:prstGeom prst="rect">
            <a:avLst/>
          </a:prstGeom>
          <a:noFill/>
          <a:ln/>
        </p:spPr>
        <p:txBody>
          <a:bodyPr wrap="square" rtlCol="0" anchor="ctr"/>
          <a:lstStyle/>
          <a:p>
            <a:pPr indent="0" marL="0">
              <a:buNone/>
            </a:pPr>
            <a:r>
              <a:rPr lang="en-US" sz="900" b="1" spc="150" kern="0" dirty="0">
                <a:solidFill>
                  <a:srgbClr val="518E0D"/>
                </a:solidFill>
                <a:latin typeface="Arial" pitchFamily="34" charset="0"/>
                <a:ea typeface="Arial" pitchFamily="34" charset="-122"/>
                <a:cs typeface="Arial" pitchFamily="34" charset="-120"/>
              </a:rPr>
              <a:t>CHỨC NĂNG CHÍNH</a:t>
            </a:r>
            <a:endParaRPr lang="en-US" sz="900" dirty="0"/>
          </a:p>
        </p:txBody>
      </p:sp>
      <p:sp>
        <p:nvSpPr>
          <p:cNvPr id="12" name="Text 10"/>
          <p:cNvSpPr/>
          <p:nvPr/>
        </p:nvSpPr>
        <p:spPr>
          <a:xfrm>
            <a:off x="795528" y="3520440"/>
            <a:ext cx="10545775" cy="2194560"/>
          </a:xfrm>
          <a:prstGeom prst="rect">
            <a:avLst/>
          </a:prstGeom>
          <a:noFill/>
          <a:ln/>
        </p:spPr>
        <p:txBody>
          <a:bodyPr wrap="square" rtlCol="0" anchor="t"/>
          <a:lstStyle/>
          <a:p>
            <a:pPr marL="152400" indent="-152400">
              <a:lnSpc>
                <a:spcPct val="115000"/>
              </a:lnSpc>
              <a:spcAft>
                <a:spcPts val="800"/>
              </a:spcAft>
              <a:buSzPct val="100000"/>
              <a:buChar char="•"/>
            </a:pPr>
            <a:r>
              <a:rPr lang="en-US" sz="1150" dirty="0">
                <a:solidFill>
                  <a:srgbClr val="333333"/>
                </a:solidFill>
                <a:latin typeface="Arial" pitchFamily="34" charset="0"/>
                <a:ea typeface="Arial" pitchFamily="34" charset="-122"/>
                <a:cs typeface="Arial" pitchFamily="34" charset="-120"/>
              </a:rPr>
              <a:t>Gợi ý câu trả lời theo từng câu hỏi — giúp học sinh chưa tự tin vẫn bắt đầu nói được.</a:t>
            </a:r>
            <a:endParaRPr lang="en-US" sz="1150" dirty="0"/>
          </a:p>
          <a:p>
            <a:pPr marL="152400" indent="-152400">
              <a:lnSpc>
                <a:spcPct val="115000"/>
              </a:lnSpc>
              <a:spcAft>
                <a:spcPts val="800"/>
              </a:spcAft>
              <a:buSzPct val="100000"/>
              <a:buChar char="•"/>
            </a:pPr>
            <a:r>
              <a:rPr lang="en-US" sz="1150" dirty="0">
                <a:solidFill>
                  <a:srgbClr val="333333"/>
                </a:solidFill>
                <a:latin typeface="Arial" pitchFamily="34" charset="0"/>
                <a:ea typeface="Arial" pitchFamily="34" charset="-122"/>
                <a:cs typeface="Arial" pitchFamily="34" charset="-120"/>
              </a:rPr>
              <a:t>Chấm phát âm — nâng độ chính xác model chấm (kế thừa Option 1.1).</a:t>
            </a:r>
            <a:endParaRPr lang="en-US" sz="1150" dirty="0"/>
          </a:p>
          <a:p>
            <a:pPr marL="152400" indent="-152400">
              <a:lnSpc>
                <a:spcPct val="115000"/>
              </a:lnSpc>
              <a:spcAft>
                <a:spcPts val="800"/>
              </a:spcAft>
              <a:buSzPct val="100000"/>
              <a:buChar char="•"/>
            </a:pPr>
            <a:r>
              <a:rPr lang="en-US" sz="1150" dirty="0">
                <a:solidFill>
                  <a:srgbClr val="333333"/>
                </a:solidFill>
                <a:latin typeface="Arial" pitchFamily="34" charset="0"/>
                <a:ea typeface="Arial" pitchFamily="34" charset="-122"/>
                <a:cs typeface="Arial" pitchFamily="34" charset="-120"/>
              </a:rPr>
              <a:t>Chủ đề hội thoại do Routing Engine chọn theo đúng NLO đang yếu nhất — không ngẫu nhiên; số lượt nói ghi vào Mastery Profile như tín hiệu phụ.</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907792" cy="256032"/>
          </a:xfrm>
          <a:prstGeom prst="rect">
            <a:avLst/>
          </a:prstGeom>
          <a:noFill/>
          <a:ln/>
        </p:spPr>
        <p:txBody>
          <a:bodyPr wrap="square" rtlCol="0" anchor="ctr"/>
          <a:lstStyle/>
          <a:p>
            <a:pPr algn="r" indent="0" marL="0">
              <a:buNone/>
            </a:pPr>
            <a:r>
              <a:rPr lang="en-US" sz="1300" b="1" spc="100" kern="0"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907792" cy="182880"/>
          </a:xfrm>
          <a:prstGeom prst="rect">
            <a:avLst/>
          </a:prstGeom>
          <a:noFill/>
          <a:ln/>
        </p:spPr>
        <p:txBody>
          <a:bodyPr wrap="square" rtlCol="0" anchor="ctr"/>
          <a:lstStyle/>
          <a:p>
            <a:pPr algn="r" indent="0" marL="0">
              <a:buNone/>
            </a:pPr>
            <a:r>
              <a:rPr lang="en-US" sz="750" b="1" spc="20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8092440" cy="914400"/>
          </a:xfrm>
          <a:prstGeom prst="rect">
            <a:avLst/>
          </a:prstGeom>
          <a:noFill/>
          <a:ln/>
        </p:spPr>
        <p:txBody>
          <a:bodyPr wrap="square" rtlCol="0" anchor="t"/>
          <a:lstStyle/>
          <a:p>
            <a:pPr indent="0" marL="0">
              <a:lnSpc>
                <a:spcPct val="104000"/>
              </a:lnSpc>
              <a:buNone/>
            </a:pPr>
            <a:r>
              <a:rPr lang="en-US" sz="2200" b="1" dirty="0">
                <a:solidFill>
                  <a:srgbClr val="004671"/>
                </a:solidFill>
                <a:latin typeface="Arial" pitchFamily="34" charset="0"/>
                <a:ea typeface="Arial" pitchFamily="34" charset="-122"/>
                <a:cs typeface="Arial" pitchFamily="34" charset="-120"/>
              </a:rPr>
              <a:t>Thành phần 4: Edupia Club</a:t>
            </a:r>
            <a:endParaRPr lang="en-US" sz="2200" dirty="0"/>
          </a:p>
        </p:txBody>
      </p:sp>
      <p:sp>
        <p:nvSpPr>
          <p:cNvPr id="5" name="Shape 3"/>
          <p:cNvSpPr/>
          <p:nvPr/>
        </p:nvSpPr>
        <p:spPr>
          <a:xfrm>
            <a:off x="502920" y="6437376"/>
            <a:ext cx="11185855" cy="0"/>
          </a:xfrm>
          <a:prstGeom prst="line">
            <a:avLst/>
          </a:prstGeom>
          <a:noFill/>
          <a:ln w="19050">
            <a:solidFill>
              <a:srgbClr val="A5BE00"/>
            </a:solidFill>
            <a:prstDash val="solid"/>
          </a:ln>
        </p:spPr>
      </p:sp>
      <p:sp>
        <p:nvSpPr>
          <p:cNvPr id="6" name="Text 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Adaptive Learning</a:t>
            </a:r>
            <a:endParaRPr lang="en-US" sz="800" dirty="0"/>
          </a:p>
        </p:txBody>
      </p:sp>
      <p:sp>
        <p:nvSpPr>
          <p:cNvPr id="7" name="Text 5"/>
          <p:cNvSpPr/>
          <p:nvPr/>
        </p:nvSpPr>
        <p:spPr>
          <a:xfrm>
            <a:off x="985997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14 / 15</a:t>
            </a:r>
            <a:endParaRPr lang="en-US" sz="800" dirty="0"/>
          </a:p>
        </p:txBody>
      </p:sp>
      <p:sp>
        <p:nvSpPr>
          <p:cNvPr id="8" name="Text 6"/>
          <p:cNvSpPr/>
          <p:nvPr/>
        </p:nvSpPr>
        <p:spPr>
          <a:xfrm>
            <a:off x="502920" y="1417320"/>
            <a:ext cx="11185855" cy="1463040"/>
          </a:xfrm>
          <a:prstGeom prst="rect">
            <a:avLst/>
          </a:prstGeom>
          <a:noFill/>
          <a:ln/>
        </p:spPr>
        <p:txBody>
          <a:bodyPr wrap="square" rtlCol="0" anchor="t"/>
          <a:lstStyle/>
          <a:p>
            <a:pPr indent="0" marL="0">
              <a:lnSpc>
                <a:spcPct val="120000"/>
              </a:lnSpc>
              <a:buNone/>
            </a:pPr>
            <a:r>
              <a:rPr lang="en-US" sz="1250" b="1" dirty="0">
                <a:solidFill>
                  <a:srgbClr val="004671"/>
                </a:solidFill>
                <a:latin typeface="Arial" pitchFamily="34" charset="0"/>
                <a:ea typeface="Arial" pitchFamily="34" charset="-122"/>
                <a:cs typeface="Arial" pitchFamily="34" charset="-120"/>
              </a:rPr>
              <a:t>Là gì:  </a:t>
            </a:r>
            <a:pPr indent="0" marL="0">
              <a:lnSpc>
                <a:spcPct val="120000"/>
              </a:lnSpc>
              <a:buNone/>
            </a:pPr>
            <a:r>
              <a:rPr lang="en-US" sz="1250" dirty="0">
                <a:solidFill>
                  <a:srgbClr val="333333"/>
                </a:solidFill>
                <a:latin typeface="Arial" pitchFamily="34" charset="0"/>
                <a:ea typeface="Arial" pitchFamily="34" charset="-122"/>
                <a:cs typeface="Arial" pitchFamily="34" charset="-120"/>
              </a:rPr>
              <a:t>Câu lạc bộ hoạt động ngoại khoá trực tuyến theo mô hình CLB trường quốc tế — không phải hoạt động "cho vui" tách biệt.</a:t>
            </a:r>
            <a:endParaRPr lang="en-US" sz="1250" dirty="0"/>
          </a:p>
        </p:txBody>
      </p:sp>
      <p:sp>
        <p:nvSpPr>
          <p:cNvPr id="9" name="Shape 7"/>
          <p:cNvSpPr/>
          <p:nvPr/>
        </p:nvSpPr>
        <p:spPr>
          <a:xfrm>
            <a:off x="502920" y="3063240"/>
            <a:ext cx="11185855" cy="2788920"/>
          </a:xfrm>
          <a:prstGeom prst="rect">
            <a:avLst/>
          </a:prstGeom>
          <a:solidFill>
            <a:srgbClr val="F4F9FC"/>
          </a:solidFill>
          <a:ln w="12700">
            <a:solidFill>
              <a:srgbClr val="DCE8F0"/>
            </a:solidFill>
            <a:prstDash val="solid"/>
          </a:ln>
        </p:spPr>
      </p:sp>
      <p:sp>
        <p:nvSpPr>
          <p:cNvPr id="10" name="Shape 8"/>
          <p:cNvSpPr/>
          <p:nvPr/>
        </p:nvSpPr>
        <p:spPr>
          <a:xfrm>
            <a:off x="502920" y="3063240"/>
            <a:ext cx="82296" cy="2788920"/>
          </a:xfrm>
          <a:prstGeom prst="rect">
            <a:avLst/>
          </a:prstGeom>
          <a:solidFill>
            <a:srgbClr val="A5BE00"/>
          </a:solidFill>
          <a:ln w="12700">
            <a:solidFill>
              <a:srgbClr val="A5BE00"/>
            </a:solidFill>
            <a:prstDash val="solid"/>
          </a:ln>
        </p:spPr>
      </p:sp>
      <p:sp>
        <p:nvSpPr>
          <p:cNvPr id="11" name="Text 9"/>
          <p:cNvSpPr/>
          <p:nvPr/>
        </p:nvSpPr>
        <p:spPr>
          <a:xfrm>
            <a:off x="777240" y="3191256"/>
            <a:ext cx="10637215" cy="274320"/>
          </a:xfrm>
          <a:prstGeom prst="rect">
            <a:avLst/>
          </a:prstGeom>
          <a:noFill/>
          <a:ln/>
        </p:spPr>
        <p:txBody>
          <a:bodyPr wrap="square" rtlCol="0" anchor="ctr"/>
          <a:lstStyle/>
          <a:p>
            <a:pPr indent="0" marL="0">
              <a:buNone/>
            </a:pPr>
            <a:r>
              <a:rPr lang="en-US" sz="900" b="1" spc="150" kern="0" dirty="0">
                <a:solidFill>
                  <a:srgbClr val="518E0D"/>
                </a:solidFill>
                <a:latin typeface="Arial" pitchFamily="34" charset="0"/>
                <a:ea typeface="Arial" pitchFamily="34" charset="-122"/>
                <a:cs typeface="Arial" pitchFamily="34" charset="-120"/>
              </a:rPr>
              <a:t>CHỨC NĂNG CHÍNH</a:t>
            </a:r>
            <a:endParaRPr lang="en-US" sz="900" dirty="0"/>
          </a:p>
        </p:txBody>
      </p:sp>
      <p:sp>
        <p:nvSpPr>
          <p:cNvPr id="12" name="Text 10"/>
          <p:cNvSpPr/>
          <p:nvPr/>
        </p:nvSpPr>
        <p:spPr>
          <a:xfrm>
            <a:off x="795528" y="3520440"/>
            <a:ext cx="10545775" cy="2194560"/>
          </a:xfrm>
          <a:prstGeom prst="rect">
            <a:avLst/>
          </a:prstGeom>
          <a:noFill/>
          <a:ln/>
        </p:spPr>
        <p:txBody>
          <a:bodyPr wrap="square" rtlCol="0" anchor="t"/>
          <a:lstStyle/>
          <a:p>
            <a:pPr marL="152400" indent="-152400">
              <a:lnSpc>
                <a:spcPct val="115000"/>
              </a:lnSpc>
              <a:spcAft>
                <a:spcPts val="800"/>
              </a:spcAft>
              <a:buSzPct val="100000"/>
              <a:buChar char="•"/>
            </a:pPr>
            <a:r>
              <a:rPr lang="en-US" sz="1150" dirty="0">
                <a:solidFill>
                  <a:srgbClr val="333333"/>
                </a:solidFill>
                <a:latin typeface="Arial" pitchFamily="34" charset="0"/>
                <a:ea typeface="Arial" pitchFamily="34" charset="-122"/>
                <a:cs typeface="Arial" pitchFamily="34" charset="-120"/>
              </a:rPr>
              <a:t>Chủ đề tháng: kỹ năng sống, STEM, công nghệ AI, khám phá thế giới… triển khai qua nhiệm vụ tuần, thử thách tích điểm, livestream.</a:t>
            </a:r>
            <a:endParaRPr lang="en-US" sz="1150" dirty="0"/>
          </a:p>
          <a:p>
            <a:pPr marL="152400" indent="-152400">
              <a:lnSpc>
                <a:spcPct val="115000"/>
              </a:lnSpc>
              <a:spcAft>
                <a:spcPts val="800"/>
              </a:spcAft>
              <a:buSzPct val="100000"/>
              <a:buChar char="•"/>
            </a:pPr>
            <a:r>
              <a:rPr lang="en-US" sz="1150" dirty="0">
                <a:solidFill>
                  <a:srgbClr val="333333"/>
                </a:solidFill>
                <a:latin typeface="Arial" pitchFamily="34" charset="0"/>
                <a:ea typeface="Arial" pitchFamily="34" charset="-122"/>
                <a:cs typeface="Arial" pitchFamily="34" charset="-120"/>
              </a:rPr>
              <a:t>Thử thách từ vựng bám đúng NLO đang học ở Big Class tuần đó.</a:t>
            </a:r>
            <a:endParaRPr lang="en-US" sz="1150" dirty="0"/>
          </a:p>
          <a:p>
            <a:pPr marL="152400" indent="-152400">
              <a:lnSpc>
                <a:spcPct val="115000"/>
              </a:lnSpc>
              <a:spcAft>
                <a:spcPts val="800"/>
              </a:spcAft>
              <a:buSzPct val="100000"/>
              <a:buChar char="•"/>
            </a:pPr>
            <a:r>
              <a:rPr lang="en-US" sz="1150" dirty="0">
                <a:solidFill>
                  <a:srgbClr val="333333"/>
                </a:solidFill>
                <a:latin typeface="Arial" pitchFamily="34" charset="0"/>
                <a:ea typeface="Arial" pitchFamily="34" charset="-122"/>
                <a:cs typeface="Arial" pitchFamily="34" charset="-120"/>
              </a:rPr>
              <a:t>Điểm cộng chung 1 bảng xếp hạng; cùng ghi tín hiệu vào Mastery Profile.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778240" y="301752"/>
            <a:ext cx="2907792" cy="256032"/>
          </a:xfrm>
          <a:prstGeom prst="rect">
            <a:avLst/>
          </a:prstGeom>
          <a:noFill/>
          <a:ln/>
        </p:spPr>
        <p:txBody>
          <a:bodyPr wrap="square" rtlCol="0" anchor="ctr"/>
          <a:lstStyle/>
          <a:p>
            <a:pPr algn="r" indent="0" marL="0">
              <a:buNone/>
            </a:pPr>
            <a:r>
              <a:rPr lang="en-US" sz="1300" b="1" spc="100" kern="0" dirty="0">
                <a:solidFill>
                  <a:srgbClr val="004671"/>
                </a:solidFill>
                <a:latin typeface="Arial" pitchFamily="34" charset="0"/>
                <a:ea typeface="Arial" pitchFamily="34" charset="-122"/>
                <a:cs typeface="Arial" pitchFamily="34" charset="-120"/>
              </a:rPr>
              <a:t>EDUPIA</a:t>
            </a:r>
            <a:endParaRPr lang="en-US" sz="1300" dirty="0"/>
          </a:p>
        </p:txBody>
      </p:sp>
      <p:sp>
        <p:nvSpPr>
          <p:cNvPr id="3" name="Text 1"/>
          <p:cNvSpPr/>
          <p:nvPr/>
        </p:nvSpPr>
        <p:spPr>
          <a:xfrm>
            <a:off x="8778240" y="576072"/>
            <a:ext cx="2907792" cy="182880"/>
          </a:xfrm>
          <a:prstGeom prst="rect">
            <a:avLst/>
          </a:prstGeom>
          <a:noFill/>
          <a:ln/>
        </p:spPr>
        <p:txBody>
          <a:bodyPr wrap="square" rtlCol="0" anchor="ctr"/>
          <a:lstStyle/>
          <a:p>
            <a:pPr algn="r" indent="0" marL="0">
              <a:buNone/>
            </a:pPr>
            <a:r>
              <a:rPr lang="en-US" sz="750" b="1" spc="200" kern="0" dirty="0">
                <a:solidFill>
                  <a:srgbClr val="51720A"/>
                </a:solidFill>
                <a:latin typeface="Arial" pitchFamily="34" charset="0"/>
                <a:ea typeface="Arial" pitchFamily="34" charset="-122"/>
                <a:cs typeface="Arial" pitchFamily="34" charset="-120"/>
              </a:rPr>
              <a:t>AI CLASS PLUS</a:t>
            </a:r>
            <a:endParaRPr lang="en-US" sz="750" dirty="0"/>
          </a:p>
        </p:txBody>
      </p:sp>
      <p:sp>
        <p:nvSpPr>
          <p:cNvPr id="4" name="Text 2"/>
          <p:cNvSpPr/>
          <p:nvPr/>
        </p:nvSpPr>
        <p:spPr>
          <a:xfrm>
            <a:off x="502920" y="365760"/>
            <a:ext cx="8092440" cy="914400"/>
          </a:xfrm>
          <a:prstGeom prst="rect">
            <a:avLst/>
          </a:prstGeom>
          <a:noFill/>
          <a:ln/>
        </p:spPr>
        <p:txBody>
          <a:bodyPr wrap="square" rtlCol="0" anchor="t"/>
          <a:lstStyle/>
          <a:p>
            <a:pPr indent="0" marL="0">
              <a:lnSpc>
                <a:spcPct val="104000"/>
              </a:lnSpc>
              <a:buNone/>
            </a:pPr>
            <a:r>
              <a:rPr lang="en-US" sz="2000" b="1" dirty="0">
                <a:solidFill>
                  <a:srgbClr val="004671"/>
                </a:solidFill>
                <a:latin typeface="Arial" pitchFamily="34" charset="0"/>
                <a:ea typeface="Arial" pitchFamily="34" charset="-122"/>
                <a:cs typeface="Arial" pitchFamily="34" charset="-120"/>
              </a:rPr>
              <a:t>Thành phần 5: Giáo viên chủ nhiệm &amp; Parent Mode</a:t>
            </a:r>
            <a:endParaRPr lang="en-US" sz="2000" dirty="0"/>
          </a:p>
        </p:txBody>
      </p:sp>
      <p:sp>
        <p:nvSpPr>
          <p:cNvPr id="5" name="Shape 3"/>
          <p:cNvSpPr/>
          <p:nvPr/>
        </p:nvSpPr>
        <p:spPr>
          <a:xfrm>
            <a:off x="502920" y="6437376"/>
            <a:ext cx="11185855" cy="0"/>
          </a:xfrm>
          <a:prstGeom prst="line">
            <a:avLst/>
          </a:prstGeom>
          <a:noFill/>
          <a:ln w="19050">
            <a:solidFill>
              <a:srgbClr val="A5BE00"/>
            </a:solidFill>
            <a:prstDash val="solid"/>
          </a:ln>
        </p:spPr>
      </p:sp>
      <p:sp>
        <p:nvSpPr>
          <p:cNvPr id="6" name="Text 4"/>
          <p:cNvSpPr/>
          <p:nvPr/>
        </p:nvSpPr>
        <p:spPr>
          <a:xfrm>
            <a:off x="502920" y="6492240"/>
            <a:ext cx="7315200" cy="274320"/>
          </a:xfrm>
          <a:prstGeom prst="rect">
            <a:avLst/>
          </a:prstGeom>
          <a:noFill/>
          <a:ln/>
        </p:spPr>
        <p:txBody>
          <a:bodyPr wrap="square" rtlCol="0" anchor="ctr"/>
          <a:lstStyle/>
          <a:p>
            <a:pPr indent="0" marL="0">
              <a:buNone/>
            </a:pPr>
            <a:r>
              <a:rPr lang="en-US" sz="800" dirty="0">
                <a:solidFill>
                  <a:srgbClr val="5B6472"/>
                </a:solidFill>
                <a:latin typeface="Arial" pitchFamily="34" charset="0"/>
                <a:ea typeface="Arial" pitchFamily="34" charset="-122"/>
                <a:cs typeface="Arial" pitchFamily="34" charset="-120"/>
              </a:rPr>
              <a:t>Edupia AI Class Plus · Concept 1.2 — Adaptive Learning</a:t>
            </a:r>
            <a:endParaRPr lang="en-US" sz="800" dirty="0"/>
          </a:p>
        </p:txBody>
      </p:sp>
      <p:sp>
        <p:nvSpPr>
          <p:cNvPr id="7" name="Text 5"/>
          <p:cNvSpPr/>
          <p:nvPr/>
        </p:nvSpPr>
        <p:spPr>
          <a:xfrm>
            <a:off x="9859975" y="6492240"/>
            <a:ext cx="1828800" cy="274320"/>
          </a:xfrm>
          <a:prstGeom prst="rect">
            <a:avLst/>
          </a:prstGeom>
          <a:noFill/>
          <a:ln/>
        </p:spPr>
        <p:txBody>
          <a:bodyPr wrap="square" rtlCol="0" anchor="ctr"/>
          <a:lstStyle/>
          <a:p>
            <a:pPr algn="r" indent="0" marL="0">
              <a:buNone/>
            </a:pPr>
            <a:r>
              <a:rPr lang="en-US" sz="800" dirty="0">
                <a:solidFill>
                  <a:srgbClr val="5B6472"/>
                </a:solidFill>
                <a:latin typeface="Arial" pitchFamily="34" charset="0"/>
                <a:ea typeface="Arial" pitchFamily="34" charset="-122"/>
                <a:cs typeface="Arial" pitchFamily="34" charset="-120"/>
              </a:rPr>
              <a:t>15 / 15</a:t>
            </a:r>
            <a:endParaRPr lang="en-US" sz="800" dirty="0"/>
          </a:p>
        </p:txBody>
      </p:sp>
      <p:sp>
        <p:nvSpPr>
          <p:cNvPr id="8" name="Text 6"/>
          <p:cNvSpPr/>
          <p:nvPr/>
        </p:nvSpPr>
        <p:spPr>
          <a:xfrm>
            <a:off x="502920" y="1417320"/>
            <a:ext cx="11185855" cy="1554480"/>
          </a:xfrm>
          <a:prstGeom prst="rect">
            <a:avLst/>
          </a:prstGeom>
          <a:noFill/>
          <a:ln/>
        </p:spPr>
        <p:txBody>
          <a:bodyPr wrap="square" rtlCol="0" anchor="t"/>
          <a:lstStyle/>
          <a:p>
            <a:pPr indent="0" marL="0">
              <a:lnSpc>
                <a:spcPct val="120000"/>
              </a:lnSpc>
              <a:buNone/>
            </a:pPr>
            <a:r>
              <a:rPr lang="en-US" sz="1250" b="1" dirty="0">
                <a:solidFill>
                  <a:srgbClr val="004671"/>
                </a:solidFill>
                <a:latin typeface="Arial" pitchFamily="34" charset="0"/>
                <a:ea typeface="Arial" pitchFamily="34" charset="-122"/>
                <a:cs typeface="Arial" pitchFamily="34" charset="-120"/>
              </a:rPr>
              <a:t>Giáo viên chủ nhiệm (GVCN):  </a:t>
            </a:r>
            <a:pPr indent="0" marL="0">
              <a:lnSpc>
                <a:spcPct val="120000"/>
              </a:lnSpc>
              <a:buNone/>
            </a:pPr>
            <a:r>
              <a:rPr lang="en-US" sz="1250" dirty="0">
                <a:solidFill>
                  <a:srgbClr val="333333"/>
                </a:solidFill>
                <a:latin typeface="Arial" pitchFamily="34" charset="0"/>
                <a:ea typeface="Arial" pitchFamily="34" charset="-122"/>
                <a:cs typeface="Arial" pitchFamily="34" charset="-120"/>
              </a:rPr>
              <a:t>đồng hành, theo dõi tiến độ, hỗ trợ, nhắc lịch, gọi điện báo kết quả — dùng cùng bộ số với báo cáo phụ huynh.
</a:t>
            </a:r>
            <a:pPr indent="0" marL="0">
              <a:lnSpc>
                <a:spcPct val="120000"/>
              </a:lnSpc>
              <a:buNone/>
            </a:pPr>
            <a:r>
              <a:rPr lang="en-US" sz="1250" b="1" dirty="0">
                <a:solidFill>
                  <a:srgbClr val="004671"/>
                </a:solidFill>
                <a:latin typeface="Arial" pitchFamily="34" charset="0"/>
                <a:ea typeface="Arial" pitchFamily="34" charset="-122"/>
                <a:cs typeface="Arial" pitchFamily="34" charset="-120"/>
              </a:rPr>
              <a:t>Parent Mode — Mastery Map:  </a:t>
            </a:r>
            <a:pPr indent="0" marL="0">
              <a:lnSpc>
                <a:spcPct val="120000"/>
              </a:lnSpc>
              <a:buNone/>
            </a:pPr>
            <a:r>
              <a:rPr lang="en-US" sz="1250" dirty="0">
                <a:solidFill>
                  <a:srgbClr val="333333"/>
                </a:solidFill>
                <a:latin typeface="Arial" pitchFamily="34" charset="0"/>
                <a:ea typeface="Arial" pitchFamily="34" charset="-122"/>
                <a:cs typeface="Arial" pitchFamily="34" charset="-120"/>
              </a:rPr>
              <a:t>giao diện cho phụ huynh theo dõi tiến bộ của con theo NLO.</a:t>
            </a:r>
            <a:endParaRPr lang="en-US" sz="1250" dirty="0"/>
          </a:p>
        </p:txBody>
      </p:sp>
      <p:sp>
        <p:nvSpPr>
          <p:cNvPr id="9" name="Shape 7"/>
          <p:cNvSpPr/>
          <p:nvPr/>
        </p:nvSpPr>
        <p:spPr>
          <a:xfrm>
            <a:off x="502920" y="3108960"/>
            <a:ext cx="11185855" cy="2743200"/>
          </a:xfrm>
          <a:prstGeom prst="rect">
            <a:avLst/>
          </a:prstGeom>
          <a:solidFill>
            <a:srgbClr val="F4F9FC"/>
          </a:solidFill>
          <a:ln w="12700">
            <a:solidFill>
              <a:srgbClr val="DCE8F0"/>
            </a:solidFill>
            <a:prstDash val="solid"/>
          </a:ln>
        </p:spPr>
      </p:sp>
      <p:sp>
        <p:nvSpPr>
          <p:cNvPr id="10" name="Shape 8"/>
          <p:cNvSpPr/>
          <p:nvPr/>
        </p:nvSpPr>
        <p:spPr>
          <a:xfrm>
            <a:off x="502920" y="3108960"/>
            <a:ext cx="82296" cy="2743200"/>
          </a:xfrm>
          <a:prstGeom prst="rect">
            <a:avLst/>
          </a:prstGeom>
          <a:solidFill>
            <a:srgbClr val="A5BE00"/>
          </a:solidFill>
          <a:ln w="12700">
            <a:solidFill>
              <a:srgbClr val="A5BE00"/>
            </a:solidFill>
            <a:prstDash val="solid"/>
          </a:ln>
        </p:spPr>
      </p:sp>
      <p:sp>
        <p:nvSpPr>
          <p:cNvPr id="11" name="Text 9"/>
          <p:cNvSpPr/>
          <p:nvPr/>
        </p:nvSpPr>
        <p:spPr>
          <a:xfrm>
            <a:off x="777240" y="3236976"/>
            <a:ext cx="10637215" cy="274320"/>
          </a:xfrm>
          <a:prstGeom prst="rect">
            <a:avLst/>
          </a:prstGeom>
          <a:noFill/>
          <a:ln/>
        </p:spPr>
        <p:txBody>
          <a:bodyPr wrap="square" rtlCol="0" anchor="ctr"/>
          <a:lstStyle/>
          <a:p>
            <a:pPr indent="0" marL="0">
              <a:buNone/>
            </a:pPr>
            <a:r>
              <a:rPr lang="en-US" sz="900" b="1" spc="150" kern="0" dirty="0">
                <a:solidFill>
                  <a:srgbClr val="518E0D"/>
                </a:solidFill>
                <a:latin typeface="Arial" pitchFamily="34" charset="0"/>
                <a:ea typeface="Arial" pitchFamily="34" charset="-122"/>
                <a:cs typeface="Arial" pitchFamily="34" charset="-120"/>
              </a:rPr>
              <a:t>CHỨC NĂNG CHÍNH</a:t>
            </a:r>
            <a:endParaRPr lang="en-US" sz="900" dirty="0"/>
          </a:p>
        </p:txBody>
      </p:sp>
      <p:sp>
        <p:nvSpPr>
          <p:cNvPr id="12" name="Text 10"/>
          <p:cNvSpPr/>
          <p:nvPr/>
        </p:nvSpPr>
        <p:spPr>
          <a:xfrm>
            <a:off x="795528" y="3611880"/>
            <a:ext cx="10545775" cy="1005840"/>
          </a:xfrm>
          <a:prstGeom prst="rect">
            <a:avLst/>
          </a:prstGeom>
          <a:noFill/>
          <a:ln/>
        </p:spPr>
        <p:txBody>
          <a:bodyPr wrap="square" rtlCol="0" anchor="t"/>
          <a:lstStyle/>
          <a:p>
            <a:pPr marL="152400" indent="-152400">
              <a:lnSpc>
                <a:spcPct val="115000"/>
              </a:lnSpc>
              <a:buSzPct val="100000"/>
              <a:buChar char="•"/>
            </a:pPr>
            <a:r>
              <a:rPr lang="en-US" sz="1150" dirty="0">
                <a:solidFill>
                  <a:srgbClr val="333333"/>
                </a:solidFill>
                <a:latin typeface="Arial" pitchFamily="34" charset="0"/>
                <a:ea typeface="Arial" pitchFamily="34" charset="-122"/>
                <a:cs typeface="Arial" pitchFamily="34" charset="-120"/>
              </a:rPr>
              <a:t>Dịch dữ liệu thô → ngôn ngữ phụ huynh hiểu: "Con đang ở mức HIỂU (chưa tới VẬN DỤNG)… khớp học bạ ở trường." (mapping Bloom, chiều ngược).</a:t>
            </a:r>
            <a:endParaRPr lang="en-US" sz="1150" dirty="0"/>
          </a:p>
        </p:txBody>
      </p:sp>
      <p:sp>
        <p:nvSpPr>
          <p:cNvPr id="13" name="Text 11"/>
          <p:cNvSpPr/>
          <p:nvPr/>
        </p:nvSpPr>
        <p:spPr>
          <a:xfrm>
            <a:off x="795528" y="4709160"/>
            <a:ext cx="10545775" cy="1005840"/>
          </a:xfrm>
          <a:prstGeom prst="rect">
            <a:avLst/>
          </a:prstGeom>
          <a:noFill/>
          <a:ln/>
        </p:spPr>
        <p:txBody>
          <a:bodyPr wrap="square" rtlCol="0" anchor="t"/>
          <a:lstStyle/>
          <a:p>
            <a:pPr marL="152400" indent="-152400">
              <a:lnSpc>
                <a:spcPct val="115000"/>
              </a:lnSpc>
              <a:buSzPct val="100000"/>
              <a:buChar char="•"/>
            </a:pPr>
            <a:r>
              <a:rPr lang="en-US" sz="1150" b="1" dirty="0">
                <a:solidFill>
                  <a:srgbClr val="333333"/>
                </a:solidFill>
                <a:latin typeface="Arial" pitchFamily="34" charset="0"/>
                <a:ea typeface="Arial" pitchFamily="34" charset="-122"/>
                <a:cs typeface="Arial" pitchFamily="34" charset="-120"/>
              </a:rPr>
              <a:t>Tách bạch 2 loại tín hiệu: </a:t>
            </a:r>
            <a:pPr indent="0" marL="0">
              <a:lnSpc>
                <a:spcPct val="115000"/>
              </a:lnSpc>
              <a:buNone/>
            </a:pPr>
            <a:r>
              <a:rPr lang="en-US" sz="1150" dirty="0">
                <a:solidFill>
                  <a:srgbClr val="333333"/>
                </a:solidFill>
                <a:latin typeface="Arial" pitchFamily="34" charset="0"/>
                <a:ea typeface="Arial" pitchFamily="34" charset="-122"/>
                <a:cs typeface="Arial" pitchFamily="34" charset="-120"/>
              </a:rPr>
              <a:t>mastery hằng ngày (nhiễu) ≠ đánh giá 3–6 tháng chính thức (đề riêng, đáng tin) — nền tảng cho Khoá cải thiện gắn TLGH60.</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Edupia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Edupia AI Class Plus — Concept 1.2 (Adaptive Learning)</dc:title>
  <dc:subject>PptxGenJS Presentation</dc:subject>
  <dc:creator>Khối Sản phẩm &amp; Công nghệ — Edupia</dc:creator>
  <cp:lastModifiedBy>Khối Sản phẩm &amp; Công nghệ — Edupia</cp:lastModifiedBy>
  <cp:revision>1</cp:revision>
  <dcterms:created xsi:type="dcterms:W3CDTF">2026-08-27T08:44:44Z</dcterms:created>
  <dcterms:modified xsi:type="dcterms:W3CDTF">2026-08-27T08:44:44Z</dcterms:modified>
</cp:coreProperties>
</file>