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6858000" cx="12191675"/>
  <p:notesSz cx="6858000" cy="12191675"/>
  <p:embeddedFontLst>
    <p:embeddedFont>
      <p:font typeface="Noto Sans"/>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A87B15F-54B6-4826-A0DF-81480C40843C}">
  <a:tblStyle styleId="{6A87B15F-54B6-4826-A0DF-81480C40843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NotoSans-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NotoSans-italic.fntdata"/><Relationship Id="rId12" Type="http://schemas.openxmlformats.org/officeDocument/2006/relationships/slide" Target="slides/slide7.xml"/><Relationship Id="rId34" Type="http://schemas.openxmlformats.org/officeDocument/2006/relationships/font" Target="fonts/NotoSans-bold.fntdata"/><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NotoSans-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g3fb1d36ca10_1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g3fb1d36ca10_1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g3fb1d36ca10_1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g3fb1d36ca10_1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g3fb1d36ca10_1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 name="Google Shape;25;g3fb1d36ca10_1_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g3fb1d36ca10_1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 name="Google Shape;39;g3fb1d36ca10_1_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 name="Google Shape;40;g3fb1d36ca10_1_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g3fb1d36ca10_1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g3fb1d36ca10_1_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 name="Google Shape;48;g3fb1d36ca10_1_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fb1d36ca10_1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 name="Google Shape;64;g3fb1d36ca10_1_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 name="Google Shape;65;g3fb1d36ca10_1_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fb1d36ca10_1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g3fb1d36ca10_1_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 name="Google Shape;79;g3fb1d36ca10_1_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b1d36ca10_1_3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g3fb1d36ca10_1_3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g3fb1d36ca10_1_3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1d36ca10_1_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g3fb1d36ca10_1_1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g3fb1d36ca10_1_1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fb1d36ca10_1_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g3fb1d36ca10_1_1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g3fb1d36ca10_1_1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fb1d36ca10_1_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g3fb1d36ca10_1_1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g3fb1d36ca10_1_1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fb1d36ca10_1_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g3fb1d36ca10_1_1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g3fb1d36ca10_1_1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fb1d36ca10_1_1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g3fb1d36ca10_1_1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g3fb1d36ca10_1_1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fb1d36ca10_1_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g3fb1d36ca10_1_1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g3fb1d36ca10_1_1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fb1d36ca10_1_1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g3fb1d36ca10_1_1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g3fb1d36ca10_1_1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fb1d36ca10_1_1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g3fb1d36ca10_1_1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g3fb1d36ca10_1_1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fb1d36ca10_1_1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g3fb1d36ca10_1_1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g3fb1d36ca10_1_1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fb1d36ca10_1_2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g3fb1d36ca10_1_2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g3fb1d36ca10_1_20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fb1d36ca10_1_2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g3fb1d36ca10_1_2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g3fb1d36ca10_1_2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fb1d36ca10_1_2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g3fb1d36ca10_1_2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g3fb1d36ca10_1_2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fb1d36ca10_1_2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g3fb1d36ca10_1_2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g3fb1d36ca10_1_2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fb1d36ca10_1_2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g3fb1d36ca10_1_2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g3fb1d36ca10_1_2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fb1d36ca10_1_2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g3fb1d36ca10_1_2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g3fb1d36ca10_1_2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fb1d36ca10_1_2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g3fb1d36ca10_1_2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g3fb1d36ca10_1_2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fb1d36ca10_1_2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g3fb1d36ca10_1_2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g3fb1d36ca10_1_2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fb1d36ca10_1_3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g3fb1d36ca10_1_3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g3fb1d36ca10_1_3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fb1d36ca10_1_3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g3fb1d36ca10_1_3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g3fb1d36ca10_1_3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fb1d36ca10_1_3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g3fb1d36ca10_1_3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g3fb1d36ca10_1_3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4671"/>
        </a:solidFill>
      </p:bgPr>
    </p:bg>
    <p:spTree>
      <p:nvGrpSpPr>
        <p:cNvPr id="15" name="Shape 15"/>
        <p:cNvGrpSpPr/>
        <p:nvPr/>
      </p:nvGrpSpPr>
      <p:grpSpPr>
        <a:xfrm>
          <a:off x="0" y="0"/>
          <a:ext cx="0" cy="0"/>
          <a:chOff x="0" y="0"/>
          <a:chExt cx="0" cy="0"/>
        </a:xfrm>
      </p:grpSpPr>
      <p:sp>
        <p:nvSpPr>
          <p:cNvPr id="16" name="Google Shape;16;p3"/>
          <p:cNvSpPr/>
          <p:nvPr/>
        </p:nvSpPr>
        <p:spPr>
          <a:xfrm>
            <a:off x="0" y="0"/>
            <a:ext cx="12191700" cy="73200"/>
          </a:xfrm>
          <a:prstGeom prst="rect">
            <a:avLst/>
          </a:prstGeom>
          <a:solidFill>
            <a:srgbClr val="A5BE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548640" y="320040"/>
            <a:ext cx="73152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5BE00"/>
              </a:buClr>
              <a:buSzPts val="1300"/>
              <a:buFont typeface="Arial"/>
              <a:buNone/>
            </a:pPr>
            <a:r>
              <a:rPr b="1" i="0" lang="en-US" sz="1300" u="none" cap="none" strike="noStrike">
                <a:solidFill>
                  <a:srgbClr val="A5BE00"/>
                </a:solidFill>
                <a:latin typeface="Arial"/>
                <a:ea typeface="Arial"/>
                <a:cs typeface="Arial"/>
                <a:sym typeface="Arial"/>
              </a:rPr>
              <a:t>EDUPIA / AI TUTOR 1-1</a:t>
            </a:r>
            <a:endParaRPr b="0" i="0" sz="1300" u="none" cap="none" strike="noStrike">
              <a:solidFill>
                <a:schemeClr val="dk1"/>
              </a:solidFill>
              <a:latin typeface="Calibri"/>
              <a:ea typeface="Calibri"/>
              <a:cs typeface="Calibri"/>
              <a:sym typeface="Calibri"/>
            </a:endParaRPr>
          </a:p>
        </p:txBody>
      </p:sp>
      <p:sp>
        <p:nvSpPr>
          <p:cNvPr id="18" name="Google Shape;18;p3"/>
          <p:cNvSpPr/>
          <p:nvPr/>
        </p:nvSpPr>
        <p:spPr>
          <a:xfrm>
            <a:off x="548640" y="685800"/>
            <a:ext cx="91440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KHỐI SẢN PHẨM – CÔNG NGHỆ · CONCEPT 3 · PHIÊN BẢN BÁN HÀNG</a:t>
            </a:r>
            <a:endParaRPr b="0" i="0" sz="1300" u="none" cap="none" strike="noStrike">
              <a:solidFill>
                <a:schemeClr val="dk1"/>
              </a:solidFill>
              <a:latin typeface="Calibri"/>
              <a:ea typeface="Calibri"/>
              <a:cs typeface="Calibri"/>
              <a:sym typeface="Calibri"/>
            </a:endParaRPr>
          </a:p>
        </p:txBody>
      </p:sp>
      <p:sp>
        <p:nvSpPr>
          <p:cNvPr id="19" name="Google Shape;19;p3"/>
          <p:cNvSpPr/>
          <p:nvPr/>
        </p:nvSpPr>
        <p:spPr>
          <a:xfrm>
            <a:off x="548640" y="2468880"/>
            <a:ext cx="11094300" cy="1463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000"/>
              <a:buFont typeface="Arial"/>
              <a:buNone/>
            </a:pPr>
            <a:r>
              <a:rPr b="1" lang="en-US" sz="4000">
                <a:solidFill>
                  <a:srgbClr val="FFFFFF"/>
                </a:solidFill>
              </a:rPr>
              <a:t>Edupia AI Tutor</a:t>
            </a:r>
            <a:r>
              <a:rPr b="1" i="0" lang="en-US" sz="4000" u="none" cap="none" strike="noStrike">
                <a:solidFill>
                  <a:srgbClr val="FFFFFF"/>
                </a:solidFill>
                <a:latin typeface="Arial"/>
                <a:ea typeface="Arial"/>
                <a:cs typeface="Arial"/>
                <a:sym typeface="Arial"/>
              </a:rPr>
              <a:t> 1-1</a:t>
            </a:r>
            <a:endParaRPr b="0" i="0" sz="4000" u="none" cap="none" strike="noStrike">
              <a:solidFill>
                <a:schemeClr val="dk1"/>
              </a:solidFill>
              <a:latin typeface="Calibri"/>
              <a:ea typeface="Calibri"/>
              <a:cs typeface="Calibri"/>
              <a:sym typeface="Calibri"/>
            </a:endParaRPr>
          </a:p>
        </p:txBody>
      </p:sp>
      <p:sp>
        <p:nvSpPr>
          <p:cNvPr id="20" name="Google Shape;20;p3"/>
          <p:cNvSpPr/>
          <p:nvPr/>
        </p:nvSpPr>
        <p:spPr>
          <a:xfrm>
            <a:off x="548640" y="3977640"/>
            <a:ext cx="10179900" cy="1463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900"/>
              <a:buFont typeface="Arial"/>
              <a:buNone/>
            </a:pPr>
            <a:r>
              <a:rPr b="0" i="1" lang="en-US" sz="1900" u="none" cap="none" strike="noStrike">
                <a:solidFill>
                  <a:srgbClr val="FFFFFF"/>
                </a:solidFill>
                <a:latin typeface="Arial"/>
                <a:ea typeface="Arial"/>
                <a:cs typeface="Arial"/>
                <a:sym typeface="Arial"/>
              </a:rPr>
              <a:t>Học đúng chỗ con yếu — được sửa ngay — tiến bộ từng bước. Trải nghiệm được kèm riêng 1-1, nhưng với mức chi phí dễ tiếp cận hơn so với gia sư truyền thống.</a:t>
            </a:r>
            <a:endParaRPr b="0" i="0" sz="1900" u="none" cap="none" strike="noStrike">
              <a:solidFill>
                <a:schemeClr val="dk1"/>
              </a:solidFill>
              <a:latin typeface="Calibri"/>
              <a:ea typeface="Calibri"/>
              <a:cs typeface="Calibri"/>
              <a:sym typeface="Calibri"/>
            </a:endParaRPr>
          </a:p>
        </p:txBody>
      </p:sp>
      <p:sp>
        <p:nvSpPr>
          <p:cNvPr id="21" name="Google Shape;21;p3"/>
          <p:cNvSpPr/>
          <p:nvPr/>
        </p:nvSpPr>
        <p:spPr>
          <a:xfrm>
            <a:off x="548640" y="6217920"/>
            <a:ext cx="110943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FD2A0"/>
              </a:buClr>
              <a:buSzPts val="1100"/>
              <a:buFont typeface="Arial"/>
              <a:buNone/>
            </a:pPr>
            <a:r>
              <a:rPr b="0" i="0" lang="en-US" sz="1100" u="none" cap="none" strike="noStrike">
                <a:solidFill>
                  <a:srgbClr val="BFD2A0"/>
                </a:solidFill>
                <a:latin typeface="Arial"/>
                <a:ea typeface="Arial"/>
                <a:cs typeface="Arial"/>
                <a:sym typeface="Arial"/>
              </a:rPr>
              <a:t>2026-09-03</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 name="Shape 26"/>
        <p:cNvGrpSpPr/>
        <p:nvPr/>
      </p:nvGrpSpPr>
      <p:grpSpPr>
        <a:xfrm>
          <a:off x="0" y="0"/>
          <a:ext cx="0" cy="0"/>
          <a:chOff x="0" y="0"/>
          <a:chExt cx="0" cy="0"/>
        </a:xfrm>
      </p:grpSpPr>
      <p:sp>
        <p:nvSpPr>
          <p:cNvPr id="27" name="Google Shape;27;p4"/>
          <p:cNvSpPr/>
          <p:nvPr/>
        </p:nvSpPr>
        <p:spPr>
          <a:xfrm>
            <a:off x="0" y="0"/>
            <a:ext cx="12191700" cy="1281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a:off x="548640" y="502920"/>
            <a:ext cx="110943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800"/>
              <a:buFont typeface="Arial"/>
              <a:buNone/>
            </a:pPr>
            <a:r>
              <a:rPr b="1" i="0" lang="en-US" sz="2800" u="none" cap="none" strike="noStrike">
                <a:solidFill>
                  <a:srgbClr val="004671"/>
                </a:solidFill>
                <a:latin typeface="Arial"/>
                <a:ea typeface="Arial"/>
                <a:cs typeface="Arial"/>
                <a:sym typeface="Arial"/>
              </a:rPr>
              <a:t>MỤC LỤC</a:t>
            </a:r>
            <a:endParaRPr b="0" i="0" sz="2800" u="none" cap="none" strike="noStrike">
              <a:solidFill>
                <a:schemeClr val="dk1"/>
              </a:solidFill>
              <a:latin typeface="Calibri"/>
              <a:ea typeface="Calibri"/>
              <a:cs typeface="Calibri"/>
              <a:sym typeface="Calibri"/>
            </a:endParaRPr>
          </a:p>
        </p:txBody>
      </p:sp>
      <p:sp>
        <p:nvSpPr>
          <p:cNvPr id="29" name="Google Shape;29;p4"/>
          <p:cNvSpPr/>
          <p:nvPr/>
        </p:nvSpPr>
        <p:spPr>
          <a:xfrm>
            <a:off x="548640" y="1554480"/>
            <a:ext cx="6402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5BE00"/>
              </a:buClr>
              <a:buSzPts val="2800"/>
              <a:buFont typeface="Arial"/>
              <a:buNone/>
            </a:pPr>
            <a:r>
              <a:rPr b="1" i="0" lang="en-US" sz="2800" u="none" cap="none" strike="noStrike">
                <a:solidFill>
                  <a:srgbClr val="A5BE00"/>
                </a:solidFill>
                <a:latin typeface="Arial"/>
                <a:ea typeface="Arial"/>
                <a:cs typeface="Arial"/>
                <a:sym typeface="Arial"/>
              </a:rPr>
              <a:t>1</a:t>
            </a:r>
            <a:endParaRPr b="0" i="0" sz="2800" u="none" cap="none" strike="noStrike">
              <a:solidFill>
                <a:schemeClr val="dk1"/>
              </a:solidFill>
              <a:latin typeface="Calibri"/>
              <a:ea typeface="Calibri"/>
              <a:cs typeface="Calibri"/>
              <a:sym typeface="Calibri"/>
            </a:endParaRPr>
          </a:p>
        </p:txBody>
      </p:sp>
      <p:sp>
        <p:nvSpPr>
          <p:cNvPr id="30" name="Google Shape;30;p4"/>
          <p:cNvSpPr/>
          <p:nvPr/>
        </p:nvSpPr>
        <p:spPr>
          <a:xfrm>
            <a:off x="1371600" y="1600200"/>
            <a:ext cx="101799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A33"/>
              </a:buClr>
              <a:buSzPts val="2000"/>
              <a:buFont typeface="Arial"/>
              <a:buNone/>
            </a:pPr>
            <a:r>
              <a:rPr b="0" i="0" lang="en-US" sz="2000" u="none" cap="none" strike="noStrike">
                <a:solidFill>
                  <a:srgbClr val="1F2A33"/>
                </a:solidFill>
                <a:latin typeface="Arial"/>
                <a:ea typeface="Arial"/>
                <a:cs typeface="Arial"/>
                <a:sym typeface="Arial"/>
              </a:rPr>
              <a:t>Vì sao </a:t>
            </a:r>
            <a:r>
              <a:rPr lang="en-US" sz="2000">
                <a:solidFill>
                  <a:srgbClr val="1F2A33"/>
                </a:solidFill>
              </a:rPr>
              <a:t>là AI Tutor 1-1</a:t>
            </a:r>
            <a:endParaRPr b="0" i="0" sz="2000" u="none" cap="none" strike="noStrike">
              <a:solidFill>
                <a:schemeClr val="dk1"/>
              </a:solidFill>
              <a:latin typeface="Calibri"/>
              <a:ea typeface="Calibri"/>
              <a:cs typeface="Calibri"/>
              <a:sym typeface="Calibri"/>
            </a:endParaRPr>
          </a:p>
        </p:txBody>
      </p:sp>
      <p:sp>
        <p:nvSpPr>
          <p:cNvPr id="31" name="Google Shape;31;p4"/>
          <p:cNvSpPr/>
          <p:nvPr/>
        </p:nvSpPr>
        <p:spPr>
          <a:xfrm>
            <a:off x="548640" y="2514600"/>
            <a:ext cx="6402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5BE00"/>
              </a:buClr>
              <a:buSzPts val="2800"/>
              <a:buFont typeface="Arial"/>
              <a:buNone/>
            </a:pPr>
            <a:r>
              <a:rPr b="1" i="0" lang="en-US" sz="2800" u="none" cap="none" strike="noStrike">
                <a:solidFill>
                  <a:srgbClr val="A5BE00"/>
                </a:solidFill>
                <a:latin typeface="Arial"/>
                <a:ea typeface="Arial"/>
                <a:cs typeface="Arial"/>
                <a:sym typeface="Arial"/>
              </a:rPr>
              <a:t>2</a:t>
            </a:r>
            <a:endParaRPr b="0" i="0" sz="2800" u="none" cap="none" strike="noStrike">
              <a:solidFill>
                <a:schemeClr val="dk1"/>
              </a:solidFill>
              <a:latin typeface="Calibri"/>
              <a:ea typeface="Calibri"/>
              <a:cs typeface="Calibri"/>
              <a:sym typeface="Calibri"/>
            </a:endParaRPr>
          </a:p>
        </p:txBody>
      </p:sp>
      <p:sp>
        <p:nvSpPr>
          <p:cNvPr id="32" name="Google Shape;32;p4"/>
          <p:cNvSpPr/>
          <p:nvPr/>
        </p:nvSpPr>
        <p:spPr>
          <a:xfrm>
            <a:off x="1371600" y="2560320"/>
            <a:ext cx="101799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A33"/>
              </a:buClr>
              <a:buSzPts val="2000"/>
              <a:buFont typeface="Arial"/>
              <a:buNone/>
            </a:pPr>
            <a:r>
              <a:rPr b="0" i="0" lang="en-US" sz="2000" u="none" cap="none" strike="noStrike">
                <a:solidFill>
                  <a:srgbClr val="1F2A33"/>
                </a:solidFill>
                <a:latin typeface="Arial"/>
                <a:ea typeface="Arial"/>
                <a:cs typeface="Arial"/>
                <a:sym typeface="Arial"/>
              </a:rPr>
              <a:t>Phụ huynh nào sẽ thấy giá trị rõ nhất?</a:t>
            </a:r>
            <a:endParaRPr b="0" i="0" sz="2000" u="none" cap="none" strike="noStrike">
              <a:solidFill>
                <a:schemeClr val="dk1"/>
              </a:solidFill>
              <a:latin typeface="Calibri"/>
              <a:ea typeface="Calibri"/>
              <a:cs typeface="Calibri"/>
              <a:sym typeface="Calibri"/>
            </a:endParaRPr>
          </a:p>
        </p:txBody>
      </p:sp>
      <p:sp>
        <p:nvSpPr>
          <p:cNvPr id="33" name="Google Shape;33;p4"/>
          <p:cNvSpPr/>
          <p:nvPr/>
        </p:nvSpPr>
        <p:spPr>
          <a:xfrm>
            <a:off x="548640" y="3474720"/>
            <a:ext cx="6402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5BE00"/>
              </a:buClr>
              <a:buSzPts val="2800"/>
              <a:buFont typeface="Arial"/>
              <a:buNone/>
            </a:pPr>
            <a:r>
              <a:rPr b="1" i="0" lang="en-US" sz="2800" u="none" cap="none" strike="noStrike">
                <a:solidFill>
                  <a:srgbClr val="A5BE00"/>
                </a:solidFill>
                <a:latin typeface="Arial"/>
                <a:ea typeface="Arial"/>
                <a:cs typeface="Arial"/>
                <a:sym typeface="Arial"/>
              </a:rPr>
              <a:t>3</a:t>
            </a:r>
            <a:endParaRPr b="0" i="0" sz="2800" u="none" cap="none" strike="noStrike">
              <a:solidFill>
                <a:schemeClr val="dk1"/>
              </a:solidFill>
              <a:latin typeface="Calibri"/>
              <a:ea typeface="Calibri"/>
              <a:cs typeface="Calibri"/>
              <a:sym typeface="Calibri"/>
            </a:endParaRPr>
          </a:p>
        </p:txBody>
      </p:sp>
      <p:sp>
        <p:nvSpPr>
          <p:cNvPr id="34" name="Google Shape;34;p4"/>
          <p:cNvSpPr/>
          <p:nvPr/>
        </p:nvSpPr>
        <p:spPr>
          <a:xfrm>
            <a:off x="1371600" y="3520440"/>
            <a:ext cx="101799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A33"/>
              </a:buClr>
              <a:buSzPts val="2000"/>
              <a:buFont typeface="Arial"/>
              <a:buNone/>
            </a:pPr>
            <a:r>
              <a:rPr b="0" i="0" lang="en-US" sz="2000" u="none" cap="none" strike="noStrike">
                <a:solidFill>
                  <a:srgbClr val="1F2A33"/>
                </a:solidFill>
                <a:latin typeface="Arial"/>
                <a:ea typeface="Arial"/>
                <a:cs typeface="Arial"/>
                <a:sym typeface="Arial"/>
              </a:rPr>
              <a:t>Con và bố mẹ nhận được gì?</a:t>
            </a:r>
            <a:endParaRPr b="0" i="0" sz="2000" u="none" cap="none" strike="noStrike">
              <a:solidFill>
                <a:schemeClr val="dk1"/>
              </a:solidFill>
              <a:latin typeface="Calibri"/>
              <a:ea typeface="Calibri"/>
              <a:cs typeface="Calibri"/>
              <a:sym typeface="Calibri"/>
            </a:endParaRPr>
          </a:p>
        </p:txBody>
      </p:sp>
      <p:sp>
        <p:nvSpPr>
          <p:cNvPr id="35" name="Google Shape;35;p4"/>
          <p:cNvSpPr/>
          <p:nvPr/>
        </p:nvSpPr>
        <p:spPr>
          <a:xfrm>
            <a:off x="548640" y="4434840"/>
            <a:ext cx="6402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5BE00"/>
              </a:buClr>
              <a:buSzPts val="2800"/>
              <a:buFont typeface="Arial"/>
              <a:buNone/>
            </a:pPr>
            <a:r>
              <a:rPr b="1" i="0" lang="en-US" sz="2800" u="none" cap="none" strike="noStrike">
                <a:solidFill>
                  <a:srgbClr val="A5BE00"/>
                </a:solidFill>
                <a:latin typeface="Arial"/>
                <a:ea typeface="Arial"/>
                <a:cs typeface="Arial"/>
                <a:sym typeface="Arial"/>
              </a:rPr>
              <a:t>4</a:t>
            </a:r>
            <a:endParaRPr b="0" i="0" sz="2800" u="none" cap="none" strike="noStrike">
              <a:solidFill>
                <a:schemeClr val="dk1"/>
              </a:solidFill>
              <a:latin typeface="Calibri"/>
              <a:ea typeface="Calibri"/>
              <a:cs typeface="Calibri"/>
              <a:sym typeface="Calibri"/>
            </a:endParaRPr>
          </a:p>
        </p:txBody>
      </p:sp>
      <p:sp>
        <p:nvSpPr>
          <p:cNvPr id="36" name="Google Shape;36;p4"/>
          <p:cNvSpPr/>
          <p:nvPr/>
        </p:nvSpPr>
        <p:spPr>
          <a:xfrm>
            <a:off x="1371600" y="4480560"/>
            <a:ext cx="101799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A33"/>
              </a:buClr>
              <a:buSzPts val="2000"/>
              <a:buFont typeface="Arial"/>
              <a:buNone/>
            </a:pPr>
            <a:r>
              <a:rPr b="0" i="0" lang="en-US" sz="2000" u="none" cap="none" strike="noStrike">
                <a:solidFill>
                  <a:srgbClr val="1F2A33"/>
                </a:solidFill>
                <a:latin typeface="Arial"/>
                <a:ea typeface="Arial"/>
                <a:cs typeface="Arial"/>
                <a:sym typeface="Arial"/>
              </a:rPr>
              <a:t>Con sẽ học như thế nào?</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4671"/>
        </a:solidFill>
      </p:bgPr>
    </p:bg>
    <p:spTree>
      <p:nvGrpSpPr>
        <p:cNvPr id="41" name="Shape 41"/>
        <p:cNvGrpSpPr/>
        <p:nvPr/>
      </p:nvGrpSpPr>
      <p:grpSpPr>
        <a:xfrm>
          <a:off x="0" y="0"/>
          <a:ext cx="0" cy="0"/>
          <a:chOff x="0" y="0"/>
          <a:chExt cx="0" cy="0"/>
        </a:xfrm>
      </p:grpSpPr>
      <p:sp>
        <p:nvSpPr>
          <p:cNvPr id="42" name="Google Shape;42;p5"/>
          <p:cNvSpPr/>
          <p:nvPr/>
        </p:nvSpPr>
        <p:spPr>
          <a:xfrm>
            <a:off x="0" y="0"/>
            <a:ext cx="12191700" cy="73200"/>
          </a:xfrm>
          <a:prstGeom prst="rect">
            <a:avLst/>
          </a:prstGeom>
          <a:solidFill>
            <a:srgbClr val="A5BE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5"/>
          <p:cNvSpPr/>
          <p:nvPr/>
        </p:nvSpPr>
        <p:spPr>
          <a:xfrm>
            <a:off x="548640" y="23774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5BE00"/>
              </a:buClr>
              <a:buSzPts val="1600"/>
              <a:buFont typeface="Arial"/>
              <a:buNone/>
            </a:pPr>
            <a:r>
              <a:rPr b="1" i="0" lang="en-US" sz="1600" u="none" cap="none" strike="noStrike">
                <a:solidFill>
                  <a:srgbClr val="A5BE00"/>
                </a:solidFill>
                <a:latin typeface="Arial"/>
                <a:ea typeface="Arial"/>
                <a:cs typeface="Arial"/>
                <a:sym typeface="Arial"/>
              </a:rPr>
              <a:t>PHẦN 1</a:t>
            </a:r>
            <a:endParaRPr b="0" i="0" sz="1600" u="none" cap="none" strike="noStrike">
              <a:solidFill>
                <a:schemeClr val="dk1"/>
              </a:solidFill>
              <a:latin typeface="Calibri"/>
              <a:ea typeface="Calibri"/>
              <a:cs typeface="Calibri"/>
              <a:sym typeface="Calibri"/>
            </a:endParaRPr>
          </a:p>
        </p:txBody>
      </p:sp>
      <p:sp>
        <p:nvSpPr>
          <p:cNvPr id="44" name="Google Shape;44;p5"/>
          <p:cNvSpPr/>
          <p:nvPr/>
        </p:nvSpPr>
        <p:spPr>
          <a:xfrm>
            <a:off x="548640" y="2880360"/>
            <a:ext cx="11094300" cy="164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Arial"/>
              <a:buNone/>
            </a:pPr>
            <a:r>
              <a:rPr b="1" lang="en-US" sz="3400">
                <a:solidFill>
                  <a:srgbClr val="FFFFFF"/>
                </a:solidFill>
              </a:rPr>
              <a:t>Vì sao là AI Tutor 1-1</a:t>
            </a:r>
            <a:endParaRPr b="1" sz="3400">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 name="Shape 49"/>
        <p:cNvGrpSpPr/>
        <p:nvPr/>
      </p:nvGrpSpPr>
      <p:grpSpPr>
        <a:xfrm>
          <a:off x="0" y="0"/>
          <a:ext cx="0" cy="0"/>
          <a:chOff x="0" y="0"/>
          <a:chExt cx="0" cy="0"/>
        </a:xfrm>
      </p:grpSpPr>
      <p:sp>
        <p:nvSpPr>
          <p:cNvPr id="50" name="Google Shape;50;p6"/>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6"/>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Bố mẹ đang lo gì?</a:t>
            </a:r>
            <a:endParaRPr b="0" i="0" sz="2200" u="none" cap="none" strike="noStrike">
              <a:solidFill>
                <a:schemeClr val="dk1"/>
              </a:solidFill>
              <a:latin typeface="Calibri"/>
              <a:ea typeface="Calibri"/>
              <a:cs typeface="Calibri"/>
              <a:sym typeface="Calibri"/>
            </a:endParaRPr>
          </a:p>
        </p:txBody>
      </p:sp>
      <p:cxnSp>
        <p:nvCxnSpPr>
          <p:cNvPr id="52" name="Google Shape;52;p6"/>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sp>
        <p:nvSpPr>
          <p:cNvPr id="53" name="Google Shape;53;p6"/>
          <p:cNvSpPr/>
          <p:nvPr/>
        </p:nvSpPr>
        <p:spPr>
          <a:xfrm>
            <a:off x="548640" y="1371600"/>
            <a:ext cx="110943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Trong một lớp học có nhiều bạn:</a:t>
            </a:r>
            <a:endParaRPr b="0" i="0" sz="1600" u="none" cap="none" strike="noStrike">
              <a:solidFill>
                <a:schemeClr val="dk1"/>
              </a:solidFill>
              <a:latin typeface="Calibri"/>
              <a:ea typeface="Calibri"/>
              <a:cs typeface="Calibri"/>
              <a:sym typeface="Calibri"/>
            </a:endParaRPr>
          </a:p>
        </p:txBody>
      </p:sp>
      <p:sp>
        <p:nvSpPr>
          <p:cNvPr id="54" name="Google Shape;54;p6"/>
          <p:cNvSpPr/>
          <p:nvPr/>
        </p:nvSpPr>
        <p:spPr>
          <a:xfrm>
            <a:off x="548650" y="1792224"/>
            <a:ext cx="11094300" cy="747300"/>
          </a:xfrm>
          <a:prstGeom prst="rect">
            <a:avLst/>
          </a:prstGeom>
          <a:noFill/>
          <a:ln>
            <a:noFill/>
          </a:ln>
        </p:spPr>
        <p:txBody>
          <a:bodyPr anchorCtr="0" anchor="t" bIns="45700" lIns="91425" spcFirstLastPara="1" rIns="91425" wrap="square" tIns="45700">
            <a:noAutofit/>
          </a:bodyPr>
          <a:lstStyle/>
          <a:p>
            <a:pPr indent="-254000" lvl="0" marL="254000" marR="0" rtl="0" algn="l">
              <a:spcBef>
                <a:spcPts val="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Mỗi bạn có một điểm mạnh, điểm yếu khác nhau.</a:t>
            </a:r>
            <a:r>
              <a:rPr lang="en-US" sz="1600">
                <a:solidFill>
                  <a:schemeClr val="dk1"/>
                </a:solidFill>
                <a:latin typeface="Calibri"/>
                <a:ea typeface="Calibri"/>
                <a:cs typeface="Calibri"/>
                <a:sym typeface="Calibri"/>
              </a:rPr>
              <a:t> </a:t>
            </a:r>
            <a:r>
              <a:rPr b="0" i="0" lang="en-US" sz="1600" u="none" cap="none" strike="noStrike">
                <a:solidFill>
                  <a:srgbClr val="1F2A33"/>
                </a:solidFill>
                <a:latin typeface="Arial"/>
                <a:ea typeface="Arial"/>
                <a:cs typeface="Arial"/>
                <a:sym typeface="Arial"/>
              </a:rPr>
              <a:t>Có bạn hiểu bài nhanh, có bạn cần được giải thích thêm.</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Nhưng cả lớp vẫn phải học theo một tiến độ chung</a:t>
            </a:r>
            <a:r>
              <a:rPr lang="en-US" sz="1600">
                <a:solidFill>
                  <a:srgbClr val="1F2A33"/>
                </a:solidFill>
              </a:rPr>
              <a:t> &amp; </a:t>
            </a:r>
            <a:r>
              <a:rPr b="0" i="0" lang="en-US" sz="1600" u="none" cap="none" strike="noStrike">
                <a:solidFill>
                  <a:srgbClr val="1F2A33"/>
                </a:solidFill>
                <a:latin typeface="Arial"/>
                <a:ea typeface="Arial"/>
                <a:cs typeface="Arial"/>
                <a:sym typeface="Arial"/>
              </a:rPr>
              <a:t>Giáo viên khó có thể dành nhiều thời gian cho từng con.</a:t>
            </a:r>
            <a:endParaRPr b="0" i="0" sz="1600" u="none" cap="none" strike="noStrike">
              <a:solidFill>
                <a:schemeClr val="dk1"/>
              </a:solidFill>
              <a:latin typeface="Calibri"/>
              <a:ea typeface="Calibri"/>
              <a:cs typeface="Calibri"/>
              <a:sym typeface="Calibri"/>
            </a:endParaRPr>
          </a:p>
        </p:txBody>
      </p:sp>
      <p:sp>
        <p:nvSpPr>
          <p:cNvPr id="55" name="Google Shape;55;p6"/>
          <p:cNvSpPr/>
          <p:nvPr/>
        </p:nvSpPr>
        <p:spPr>
          <a:xfrm>
            <a:off x="548640" y="2651760"/>
            <a:ext cx="110943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Vì vậy, có những lúc:</a:t>
            </a:r>
            <a:endParaRPr b="0" i="0" sz="1600" u="none" cap="none" strike="noStrike">
              <a:solidFill>
                <a:schemeClr val="dk1"/>
              </a:solidFill>
              <a:latin typeface="Calibri"/>
              <a:ea typeface="Calibri"/>
              <a:cs typeface="Calibri"/>
              <a:sym typeface="Calibri"/>
            </a:endParaRPr>
          </a:p>
        </p:txBody>
      </p:sp>
      <p:sp>
        <p:nvSpPr>
          <p:cNvPr id="56" name="Google Shape;56;p6"/>
          <p:cNvSpPr/>
          <p:nvPr/>
        </p:nvSpPr>
        <p:spPr>
          <a:xfrm>
            <a:off x="548650" y="3072376"/>
            <a:ext cx="11094300" cy="747300"/>
          </a:xfrm>
          <a:prstGeom prst="rect">
            <a:avLst/>
          </a:prstGeom>
          <a:noFill/>
          <a:ln>
            <a:noFill/>
          </a:ln>
        </p:spPr>
        <p:txBody>
          <a:bodyPr anchorCtr="0" anchor="t" bIns="45700" lIns="91425" spcFirstLastPara="1" rIns="91425" wrap="square" tIns="45700">
            <a:noAutofit/>
          </a:bodyPr>
          <a:lstStyle/>
          <a:p>
            <a:pPr indent="-254000" lvl="0" marL="254000" marR="0" rtl="0" algn="l">
              <a:spcBef>
                <a:spcPts val="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Con vẫn đi học đều nhưng một vài phần chưa hiểu chắc.</a:t>
            </a:r>
            <a:r>
              <a:rPr lang="en-US" sz="1600">
                <a:solidFill>
                  <a:schemeClr val="dk1"/>
                </a:solidFill>
                <a:latin typeface="Calibri"/>
                <a:ea typeface="Calibri"/>
                <a:cs typeface="Calibri"/>
                <a:sym typeface="Calibri"/>
              </a:rPr>
              <a:t> </a:t>
            </a:r>
            <a:r>
              <a:rPr b="0" i="0" lang="en-US" sz="1600" u="none" cap="none" strike="noStrike">
                <a:solidFill>
                  <a:srgbClr val="1F2A33"/>
                </a:solidFill>
                <a:latin typeface="Arial"/>
                <a:ea typeface="Arial"/>
                <a:cs typeface="Arial"/>
                <a:sym typeface="Arial"/>
              </a:rPr>
              <a:t>Con ngại hỏi lại khi chưa hiểu.</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Phần chưa chắc hôm nay có thể trở thành </a:t>
            </a:r>
            <a:r>
              <a:rPr lang="en-US" sz="1600">
                <a:solidFill>
                  <a:srgbClr val="1F2A33"/>
                </a:solidFill>
              </a:rPr>
              <a:t>lỗ hổng</a:t>
            </a:r>
            <a:r>
              <a:rPr b="0" i="0" lang="en-US" sz="1600" u="none" cap="none" strike="noStrike">
                <a:solidFill>
                  <a:srgbClr val="1F2A33"/>
                </a:solidFill>
                <a:latin typeface="Arial"/>
                <a:ea typeface="Arial"/>
                <a:cs typeface="Arial"/>
                <a:sym typeface="Arial"/>
              </a:rPr>
              <a:t> sau này</a:t>
            </a:r>
            <a:r>
              <a:rPr lang="en-US" sz="1600">
                <a:solidFill>
                  <a:srgbClr val="1F2A33"/>
                </a:solidFill>
              </a:rPr>
              <a:t> nhưng b</a:t>
            </a:r>
            <a:r>
              <a:rPr b="0" i="0" lang="en-US" sz="1600" u="none" cap="none" strike="noStrike">
                <a:solidFill>
                  <a:srgbClr val="1F2A33"/>
                </a:solidFill>
                <a:latin typeface="Arial"/>
                <a:ea typeface="Arial"/>
                <a:cs typeface="Arial"/>
                <a:sym typeface="Arial"/>
              </a:rPr>
              <a:t>ố mẹ không biết con đang yếu ở đâu để hỗ trợ.</a:t>
            </a:r>
            <a:endParaRPr b="0" i="0" sz="1600" u="none" cap="none" strike="noStrike">
              <a:solidFill>
                <a:schemeClr val="dk1"/>
              </a:solidFill>
              <a:latin typeface="Calibri"/>
              <a:ea typeface="Calibri"/>
              <a:cs typeface="Calibri"/>
              <a:sym typeface="Calibri"/>
            </a:endParaRPr>
          </a:p>
        </p:txBody>
      </p:sp>
      <p:sp>
        <p:nvSpPr>
          <p:cNvPr id="57" name="Google Shape;57;p6"/>
          <p:cNvSpPr/>
          <p:nvPr/>
        </p:nvSpPr>
        <p:spPr>
          <a:xfrm>
            <a:off x="548640" y="3931920"/>
            <a:ext cx="110943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Trong khi đó:</a:t>
            </a:r>
            <a:endParaRPr b="0" i="0" sz="1600" u="none" cap="none" strike="noStrike">
              <a:solidFill>
                <a:schemeClr val="dk1"/>
              </a:solidFill>
              <a:latin typeface="Calibri"/>
              <a:ea typeface="Calibri"/>
              <a:cs typeface="Calibri"/>
              <a:sym typeface="Calibri"/>
            </a:endParaRPr>
          </a:p>
        </p:txBody>
      </p:sp>
      <p:sp>
        <p:nvSpPr>
          <p:cNvPr id="58" name="Google Shape;58;p6"/>
          <p:cNvSpPr/>
          <p:nvPr/>
        </p:nvSpPr>
        <p:spPr>
          <a:xfrm>
            <a:off x="548650" y="4267200"/>
            <a:ext cx="11094300" cy="1096500"/>
          </a:xfrm>
          <a:prstGeom prst="rect">
            <a:avLst/>
          </a:prstGeom>
          <a:noFill/>
          <a:ln>
            <a:noFill/>
          </a:ln>
        </p:spPr>
        <p:txBody>
          <a:bodyPr anchorCtr="0" anchor="t" bIns="45700" lIns="91425" spcFirstLastPara="1" rIns="91425" wrap="square" tIns="45700">
            <a:noAutofit/>
          </a:bodyPr>
          <a:lstStyle/>
          <a:p>
            <a:pPr indent="-254000" lvl="0" marL="254000" marR="0" rtl="0" algn="l">
              <a:spcBef>
                <a:spcPts val="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Gia sư 1-1 có thể theo sát từng con nhưng chi phí thường cao.</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Ứng dụng tự học có nhiều nội dung nhưng con phải tự học và tự duy trì động lực.</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Bố mẹ bận, hoặc không đủ tự tin để tự dạy con tiếng Anh.</a:t>
            </a:r>
            <a:endParaRPr b="0" i="0" sz="1600" u="none" cap="none" strike="noStrike">
              <a:solidFill>
                <a:schemeClr val="dk1"/>
              </a:solidFill>
              <a:latin typeface="Calibri"/>
              <a:ea typeface="Calibri"/>
              <a:cs typeface="Calibri"/>
              <a:sym typeface="Calibri"/>
            </a:endParaRPr>
          </a:p>
        </p:txBody>
      </p:sp>
      <p:sp>
        <p:nvSpPr>
          <p:cNvPr id="59" name="Google Shape;59;p6"/>
          <p:cNvSpPr/>
          <p:nvPr/>
        </p:nvSpPr>
        <p:spPr>
          <a:xfrm>
            <a:off x="548650" y="5568699"/>
            <a:ext cx="11094300" cy="1047600"/>
          </a:xfrm>
          <a:prstGeom prst="roundRect">
            <a:avLst>
              <a:gd fmla="val 3846" name="adj"/>
            </a:avLst>
          </a:prstGeom>
          <a:solidFill>
            <a:srgbClr val="EAF1DC"/>
          </a:solidFill>
          <a:ln cap="flat" cmpd="sng" w="12700">
            <a:solidFill>
              <a:srgbClr val="A5BE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6"/>
          <p:cNvSpPr/>
          <p:nvPr/>
        </p:nvSpPr>
        <p:spPr>
          <a:xfrm>
            <a:off x="731520" y="5678424"/>
            <a:ext cx="10728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D5A1F"/>
              </a:buClr>
              <a:buSzPts val="1100"/>
              <a:buFont typeface="Arial"/>
              <a:buNone/>
            </a:pPr>
            <a:r>
              <a:rPr b="1" i="0" lang="en-US" sz="1100" u="none" cap="none" strike="noStrike">
                <a:solidFill>
                  <a:srgbClr val="3D5A1F"/>
                </a:solidFill>
                <a:latin typeface="Arial"/>
                <a:ea typeface="Arial"/>
                <a:cs typeface="Arial"/>
                <a:sym typeface="Arial"/>
              </a:rPr>
              <a:t>CÁCH NÓI VỚI PHỤ HUYNH</a:t>
            </a:r>
            <a:endParaRPr b="0" i="0" sz="1100" u="none" cap="none" strike="noStrike">
              <a:solidFill>
                <a:schemeClr val="dk1"/>
              </a:solidFill>
              <a:latin typeface="Calibri"/>
              <a:ea typeface="Calibri"/>
              <a:cs typeface="Calibri"/>
              <a:sym typeface="Calibri"/>
            </a:endParaRPr>
          </a:p>
        </p:txBody>
      </p:sp>
      <p:sp>
        <p:nvSpPr>
          <p:cNvPr id="61" name="Google Shape;61;p6"/>
          <p:cNvSpPr/>
          <p:nvPr/>
        </p:nvSpPr>
        <p:spPr>
          <a:xfrm>
            <a:off x="731525" y="5952748"/>
            <a:ext cx="10728600" cy="663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3D0F"/>
              </a:buClr>
              <a:buSzPts val="1600"/>
              <a:buFont typeface="Arial"/>
              <a:buNone/>
            </a:pPr>
            <a:r>
              <a:rPr b="0" i="1" lang="en-US" sz="1600" u="none" cap="none" strike="noStrike">
                <a:solidFill>
                  <a:srgbClr val="1F3D0F"/>
                </a:solidFill>
                <a:latin typeface="Arial"/>
                <a:ea typeface="Arial"/>
                <a:cs typeface="Arial"/>
                <a:sym typeface="Arial"/>
              </a:rPr>
              <a:t>"Nhiều khi con không học kém đâu chị. Con chỉ đang hổng một vài chỗ thôi. Nhưng nếu học theo một tiến độ chung thì những chỗ đó rất dễ bị bỏ qua. Cái con cần là có người theo sát, biết con yếu đâu và kèm đúng chỗ đó."</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 name="Shape 66"/>
        <p:cNvGrpSpPr/>
        <p:nvPr/>
      </p:nvGrpSpPr>
      <p:grpSpPr>
        <a:xfrm>
          <a:off x="0" y="0"/>
          <a:ext cx="0" cy="0"/>
          <a:chOff x="0" y="0"/>
          <a:chExt cx="0" cy="0"/>
        </a:xfrm>
      </p:grpSpPr>
      <p:sp>
        <p:nvSpPr>
          <p:cNvPr id="67" name="Google Shape;67;p7"/>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7"/>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Cơ hội</a:t>
            </a:r>
            <a:endParaRPr b="0" i="0" sz="2200" u="none" cap="none" strike="noStrike">
              <a:solidFill>
                <a:schemeClr val="dk1"/>
              </a:solidFill>
              <a:latin typeface="Calibri"/>
              <a:ea typeface="Calibri"/>
              <a:cs typeface="Calibri"/>
              <a:sym typeface="Calibri"/>
            </a:endParaRPr>
          </a:p>
        </p:txBody>
      </p:sp>
      <p:cxnSp>
        <p:nvCxnSpPr>
          <p:cNvPr id="69" name="Google Shape;69;p7"/>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graphicFrame>
        <p:nvGraphicFramePr>
          <p:cNvPr id="70" name="Google Shape;70;p7"/>
          <p:cNvGraphicFramePr/>
          <p:nvPr/>
        </p:nvGraphicFramePr>
        <p:xfrm>
          <a:off x="548640" y="1371600"/>
          <a:ext cx="3000000" cy="3000000"/>
        </p:xfrm>
        <a:graphic>
          <a:graphicData uri="http://schemas.openxmlformats.org/drawingml/2006/table">
            <a:tbl>
              <a:tblPr>
                <a:noFill/>
                <a:tableStyleId>{6A87B15F-54B6-4826-A0DF-81480C40843C}</a:tableStyleId>
              </a:tblPr>
              <a:tblGrid>
                <a:gridCol w="4508000"/>
                <a:gridCol w="3291850"/>
                <a:gridCol w="3291850"/>
              </a:tblGrid>
              <a:tr h="184150">
                <a:tc>
                  <a:txBody>
                    <a:bodyPr/>
                    <a:lstStyle/>
                    <a:p>
                      <a:pPr indent="0" lvl="0" marL="0" marR="0" rtl="0" algn="l">
                        <a:spcBef>
                          <a:spcPts val="0"/>
                        </a:spcBef>
                        <a:spcAft>
                          <a:spcPts val="0"/>
                        </a:spcAft>
                        <a:buClr>
                          <a:schemeClr val="dk1"/>
                        </a:buClr>
                        <a:buSzPts val="1450"/>
                        <a:buFont typeface="Calibri"/>
                        <a:buNone/>
                      </a:pPr>
                      <a:r>
                        <a:t/>
                      </a:r>
                      <a:endParaRPr sz="1450" u="none" cap="none" strike="noStrike">
                        <a:latin typeface="Arial"/>
                        <a:ea typeface="Arial"/>
                        <a:cs typeface="Arial"/>
                        <a:sym typeface="Arial"/>
                      </a:endParaRPr>
                    </a:p>
                  </a:txBody>
                  <a:tcPr marT="45725" marB="45725" marR="91450" marL="91450" anchor="ctr">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004671"/>
                    </a:solidFill>
                  </a:tcPr>
                </a:tc>
                <a:tc>
                  <a:txBody>
                    <a:bodyPr/>
                    <a:lstStyle/>
                    <a:p>
                      <a:pPr indent="0" lvl="0" marL="0" marR="0" rtl="0" algn="l">
                        <a:spcBef>
                          <a:spcPts val="0"/>
                        </a:spcBef>
                        <a:spcAft>
                          <a:spcPts val="0"/>
                        </a:spcAft>
                        <a:buClr>
                          <a:srgbClr val="FFFFFF"/>
                        </a:buClr>
                        <a:buSzPts val="1450"/>
                        <a:buFont typeface="Arial"/>
                        <a:buNone/>
                      </a:pPr>
                      <a:r>
                        <a:rPr b="1" lang="en-US" sz="1450" u="none" cap="none" strike="noStrike">
                          <a:solidFill>
                            <a:srgbClr val="FFFFFF"/>
                          </a:solidFill>
                          <a:latin typeface="Arial"/>
                          <a:ea typeface="Arial"/>
                          <a:cs typeface="Arial"/>
                          <a:sym typeface="Arial"/>
                        </a:rPr>
                        <a:t>Gia sư 1-1</a:t>
                      </a:r>
                      <a:endParaRPr sz="1450" u="none" cap="none" strike="noStrike">
                        <a:latin typeface="Arial"/>
                        <a:ea typeface="Arial"/>
                        <a:cs typeface="Arial"/>
                        <a:sym typeface="Arial"/>
                      </a:endParaRPr>
                    </a:p>
                  </a:txBody>
                  <a:tcPr marT="45725" marB="45725" marR="91450" marL="91450" anchor="ctr">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004671"/>
                    </a:solidFill>
                  </a:tcPr>
                </a:tc>
                <a:tc>
                  <a:txBody>
                    <a:bodyPr/>
                    <a:lstStyle/>
                    <a:p>
                      <a:pPr indent="0" lvl="0" marL="0" marR="0" rtl="0" algn="l">
                        <a:spcBef>
                          <a:spcPts val="0"/>
                        </a:spcBef>
                        <a:spcAft>
                          <a:spcPts val="0"/>
                        </a:spcAft>
                        <a:buClr>
                          <a:srgbClr val="FFFFFF"/>
                        </a:buClr>
                        <a:buSzPts val="1450"/>
                        <a:buFont typeface="Arial"/>
                        <a:buNone/>
                      </a:pPr>
                      <a:r>
                        <a:rPr b="1" lang="en-US" sz="1450" u="none" cap="none" strike="noStrike">
                          <a:solidFill>
                            <a:srgbClr val="FFFFFF"/>
                          </a:solidFill>
                          <a:latin typeface="Arial"/>
                          <a:ea typeface="Arial"/>
                          <a:cs typeface="Arial"/>
                          <a:sym typeface="Arial"/>
                        </a:rPr>
                        <a:t>Ứng dụng tự học</a:t>
                      </a:r>
                      <a:endParaRPr sz="1450" u="none" cap="none" strike="noStrike">
                        <a:latin typeface="Arial"/>
                        <a:ea typeface="Arial"/>
                        <a:cs typeface="Arial"/>
                        <a:sym typeface="Arial"/>
                      </a:endParaRPr>
                    </a:p>
                  </a:txBody>
                  <a:tcPr marT="45725" marB="45725" marR="91450" marL="91450" anchor="ctr">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004671"/>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Được học riêng</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Được tập trung vào điểm yếu</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Một phần</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Có người hướng dẫn</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Một phần</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Được luyện nói</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Theo dõi quá trình học</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Tùy người</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Giáo viên chủ nhiệm đồng hành</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Tùy người</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Chi phí</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Cao</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Thấp hơn</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r>
            </a:tbl>
          </a:graphicData>
        </a:graphic>
      </p:graphicFrame>
      <p:sp>
        <p:nvSpPr>
          <p:cNvPr id="71" name="Google Shape;71;p7"/>
          <p:cNvSpPr/>
          <p:nvPr/>
        </p:nvSpPr>
        <p:spPr>
          <a:xfrm>
            <a:off x="548640" y="3998976"/>
            <a:ext cx="11094300" cy="69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Edupia mang đến một lựa chọn mới: </a:t>
            </a:r>
            <a:r>
              <a:rPr b="0" i="0" lang="en-US" sz="1600" u="none" cap="none" strike="noStrike">
                <a:solidFill>
                  <a:srgbClr val="1F2A33"/>
                </a:solidFill>
                <a:latin typeface="Arial"/>
                <a:ea typeface="Arial"/>
                <a:cs typeface="Arial"/>
                <a:sym typeface="Arial"/>
              </a:rPr>
              <a:t>Con được học 1-1 với AI Tutor + nội dung học được điều chỉnh theo trình độ và kết quả của con + giáo viên chủ nhiệm đồng hành + bố mẹ theo dõi được quá trình học.</a:t>
            </a:r>
            <a:endParaRPr b="0" i="0" sz="1600" u="none" cap="none" strike="noStrike">
              <a:solidFill>
                <a:schemeClr val="dk1"/>
              </a:solidFill>
              <a:latin typeface="Calibri"/>
              <a:ea typeface="Calibri"/>
              <a:cs typeface="Calibri"/>
              <a:sym typeface="Calibri"/>
            </a:endParaRPr>
          </a:p>
        </p:txBody>
      </p:sp>
      <p:sp>
        <p:nvSpPr>
          <p:cNvPr id="72" name="Google Shape;72;p7"/>
          <p:cNvSpPr/>
          <p:nvPr/>
        </p:nvSpPr>
        <p:spPr>
          <a:xfrm>
            <a:off x="548640" y="4800600"/>
            <a:ext cx="11094300" cy="42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Mức giá dự kiến khảo sát: </a:t>
            </a:r>
            <a:r>
              <a:rPr b="0" i="0" lang="en-US" sz="1600" u="none" cap="none" strike="noStrike">
                <a:solidFill>
                  <a:srgbClr val="1F2A33"/>
                </a:solidFill>
                <a:latin typeface="Arial"/>
                <a:ea typeface="Arial"/>
                <a:cs typeface="Arial"/>
                <a:sym typeface="Arial"/>
              </a:rPr>
              <a:t>390.000đ/tháng</a:t>
            </a:r>
            <a:endParaRPr b="0" i="0" sz="1600" u="none" cap="none" strike="noStrike">
              <a:solidFill>
                <a:schemeClr val="dk1"/>
              </a:solidFill>
              <a:latin typeface="Calibri"/>
              <a:ea typeface="Calibri"/>
              <a:cs typeface="Calibri"/>
              <a:sym typeface="Calibri"/>
            </a:endParaRPr>
          </a:p>
        </p:txBody>
      </p:sp>
      <p:sp>
        <p:nvSpPr>
          <p:cNvPr id="73" name="Google Shape;73;p7"/>
          <p:cNvSpPr/>
          <p:nvPr/>
        </p:nvSpPr>
        <p:spPr>
          <a:xfrm>
            <a:off x="548640" y="5251704"/>
            <a:ext cx="11094300" cy="1426500"/>
          </a:xfrm>
          <a:prstGeom prst="roundRect">
            <a:avLst>
              <a:gd fmla="val 3846" name="adj"/>
            </a:avLst>
          </a:prstGeom>
          <a:solidFill>
            <a:srgbClr val="EAF1DC"/>
          </a:solidFill>
          <a:ln cap="flat" cmpd="sng" w="12700">
            <a:solidFill>
              <a:srgbClr val="A5BE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p:nvPr/>
        </p:nvSpPr>
        <p:spPr>
          <a:xfrm>
            <a:off x="731520" y="5361432"/>
            <a:ext cx="10728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D5A1F"/>
              </a:buClr>
              <a:buSzPts val="1100"/>
              <a:buFont typeface="Arial"/>
              <a:buNone/>
            </a:pPr>
            <a:r>
              <a:rPr b="1" i="0" lang="en-US" sz="1100" u="none" cap="none" strike="noStrike">
                <a:solidFill>
                  <a:srgbClr val="3D5A1F"/>
                </a:solidFill>
                <a:latin typeface="Arial"/>
                <a:ea typeface="Arial"/>
                <a:cs typeface="Arial"/>
                <a:sym typeface="Arial"/>
              </a:rPr>
              <a:t>CÁCH NÓI VỚI PHỤ HUYNH</a:t>
            </a:r>
            <a:endParaRPr b="0" i="0" sz="1100" u="none" cap="none" strike="noStrike">
              <a:solidFill>
                <a:schemeClr val="dk1"/>
              </a:solidFill>
              <a:latin typeface="Calibri"/>
              <a:ea typeface="Calibri"/>
              <a:cs typeface="Calibri"/>
              <a:sym typeface="Calibri"/>
            </a:endParaRPr>
          </a:p>
        </p:txBody>
      </p:sp>
      <p:sp>
        <p:nvSpPr>
          <p:cNvPr id="75" name="Google Shape;75;p7"/>
          <p:cNvSpPr/>
          <p:nvPr/>
        </p:nvSpPr>
        <p:spPr>
          <a:xfrm>
            <a:off x="731520" y="5635752"/>
            <a:ext cx="10728600" cy="9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3D0F"/>
              </a:buClr>
              <a:buSzPts val="1600"/>
              <a:buFont typeface="Arial"/>
              <a:buNone/>
            </a:pPr>
            <a:r>
              <a:rPr b="0" i="1" lang="en-US" sz="1600" u="none" cap="none" strike="noStrike">
                <a:solidFill>
                  <a:srgbClr val="1F3D0F"/>
                </a:solidFill>
                <a:latin typeface="Arial"/>
                <a:ea typeface="Arial"/>
                <a:cs typeface="Arial"/>
                <a:sym typeface="Arial"/>
              </a:rPr>
              <a:t>"Nếu trước đây muốn con được kèm riêng thì bố mẹ thường phải thuê gia sư với chi phí khá cao, còn học app thì con lại phải tự học nhiều. Edupia muốn kết hợp hai điều này: con có trải nghiệm được kèm riêng 1-1 nhưng mức chi phí dễ tiếp cận hơn."</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4671"/>
        </a:solidFill>
      </p:bgPr>
    </p:bg>
    <p:spTree>
      <p:nvGrpSpPr>
        <p:cNvPr id="80" name="Shape 80"/>
        <p:cNvGrpSpPr/>
        <p:nvPr/>
      </p:nvGrpSpPr>
      <p:grpSpPr>
        <a:xfrm>
          <a:off x="0" y="0"/>
          <a:ext cx="0" cy="0"/>
          <a:chOff x="0" y="0"/>
          <a:chExt cx="0" cy="0"/>
        </a:xfrm>
      </p:grpSpPr>
      <p:sp>
        <p:nvSpPr>
          <p:cNvPr id="81" name="Google Shape;81;p8"/>
          <p:cNvSpPr/>
          <p:nvPr/>
        </p:nvSpPr>
        <p:spPr>
          <a:xfrm>
            <a:off x="0" y="0"/>
            <a:ext cx="12191700" cy="73200"/>
          </a:xfrm>
          <a:prstGeom prst="rect">
            <a:avLst/>
          </a:prstGeom>
          <a:solidFill>
            <a:srgbClr val="A5BE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548640" y="23774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5BE00"/>
              </a:buClr>
              <a:buSzPts val="1600"/>
              <a:buFont typeface="Arial"/>
              <a:buNone/>
            </a:pPr>
            <a:r>
              <a:rPr b="1" i="0" lang="en-US" sz="1600" u="none" cap="none" strike="noStrike">
                <a:solidFill>
                  <a:srgbClr val="A5BE00"/>
                </a:solidFill>
                <a:latin typeface="Arial"/>
                <a:ea typeface="Arial"/>
                <a:cs typeface="Arial"/>
                <a:sym typeface="Arial"/>
              </a:rPr>
              <a:t>PHẦN 2</a:t>
            </a:r>
            <a:endParaRPr b="0" i="0" sz="1600" u="none" cap="none" strike="noStrike">
              <a:solidFill>
                <a:schemeClr val="dk1"/>
              </a:solidFill>
              <a:latin typeface="Calibri"/>
              <a:ea typeface="Calibri"/>
              <a:cs typeface="Calibri"/>
              <a:sym typeface="Calibri"/>
            </a:endParaRPr>
          </a:p>
        </p:txBody>
      </p:sp>
      <p:sp>
        <p:nvSpPr>
          <p:cNvPr id="83" name="Google Shape;83;p8"/>
          <p:cNvSpPr/>
          <p:nvPr/>
        </p:nvSpPr>
        <p:spPr>
          <a:xfrm>
            <a:off x="548640" y="2880360"/>
            <a:ext cx="11094300" cy="164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Arial"/>
              <a:buNone/>
            </a:pPr>
            <a:r>
              <a:rPr b="1" i="0" lang="en-US" sz="3400" u="none" cap="none" strike="noStrike">
                <a:solidFill>
                  <a:srgbClr val="FFFFFF"/>
                </a:solidFill>
                <a:latin typeface="Arial"/>
                <a:ea typeface="Arial"/>
                <a:cs typeface="Arial"/>
                <a:sym typeface="Arial"/>
              </a:rPr>
              <a:t>Khách hàng mục tiêu</a:t>
            </a:r>
            <a:endParaRPr b="0" i="0" sz="34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 name="Shape 88"/>
        <p:cNvGrpSpPr/>
        <p:nvPr/>
      </p:nvGrpSpPr>
      <p:grpSpPr>
        <a:xfrm>
          <a:off x="0" y="0"/>
          <a:ext cx="0" cy="0"/>
          <a:chOff x="0" y="0"/>
          <a:chExt cx="0" cy="0"/>
        </a:xfrm>
      </p:grpSpPr>
      <p:sp>
        <p:nvSpPr>
          <p:cNvPr id="89" name="Google Shape;89;p9"/>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9"/>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Phụ huynh nào sẽ thấy giá trị rõ nhất?</a:t>
            </a:r>
            <a:endParaRPr b="0" i="0" sz="2200" u="none" cap="none" strike="noStrike">
              <a:solidFill>
                <a:schemeClr val="dk1"/>
              </a:solidFill>
              <a:latin typeface="Calibri"/>
              <a:ea typeface="Calibri"/>
              <a:cs typeface="Calibri"/>
              <a:sym typeface="Calibri"/>
            </a:endParaRPr>
          </a:p>
        </p:txBody>
      </p:sp>
      <p:cxnSp>
        <p:nvCxnSpPr>
          <p:cNvPr id="91" name="Google Shape;91;p9"/>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sp>
        <p:nvSpPr>
          <p:cNvPr id="92" name="Google Shape;92;p9"/>
          <p:cNvSpPr/>
          <p:nvPr/>
        </p:nvSpPr>
        <p:spPr>
          <a:xfrm>
            <a:off x="502920" y="1402080"/>
            <a:ext cx="73200" cy="2176200"/>
          </a:xfrm>
          <a:prstGeom prst="rect">
            <a:avLst/>
          </a:prstGeom>
          <a:solidFill>
            <a:srgbClr val="00467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9"/>
          <p:cNvSpPr/>
          <p:nvPr/>
        </p:nvSpPr>
        <p:spPr>
          <a:xfrm>
            <a:off x="731530" y="1402075"/>
            <a:ext cx="10911300" cy="2176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004671"/>
              </a:buClr>
              <a:buSzPts val="1250"/>
              <a:buFont typeface="Noto Sans"/>
              <a:buNone/>
            </a:pPr>
            <a:r>
              <a:rPr b="1" i="0" lang="en-US" sz="1800" u="none" cap="none" strike="noStrike">
                <a:solidFill>
                  <a:srgbClr val="004671"/>
                </a:solidFill>
                <a:latin typeface="Noto Sans"/>
                <a:ea typeface="Noto Sans"/>
                <a:cs typeface="Noto Sans"/>
                <a:sym typeface="Noto Sans"/>
              </a:rPr>
              <a:t>Nhân khẩu học</a:t>
            </a:r>
            <a:endParaRPr b="0" i="0" sz="1800" u="none" cap="none" strike="noStrike">
              <a:solidFill>
                <a:srgbClr val="22333F"/>
              </a:solidFill>
              <a:latin typeface="Noto Sans"/>
              <a:ea typeface="Noto Sans"/>
              <a:cs typeface="Noto Sans"/>
              <a:sym typeface="Noto Sans"/>
            </a:endParaRPr>
          </a:p>
          <a:p>
            <a:pPr indent="-330200" lvl="0" marL="457200" marR="0" rtl="0" algn="l">
              <a:lnSpc>
                <a:spcPct val="105000"/>
              </a:lnSpc>
              <a:spcBef>
                <a:spcPts val="300"/>
              </a:spcBef>
              <a:spcAft>
                <a:spcPts val="0"/>
              </a:spcAft>
              <a:buClr>
                <a:srgbClr val="22333F"/>
              </a:buClr>
              <a:buSzPts val="1600"/>
              <a:buFont typeface="Noto Sans"/>
              <a:buChar char="•"/>
            </a:pPr>
            <a:r>
              <a:rPr b="0" i="0" lang="en-US" sz="1600" u="none" cap="none" strike="noStrike">
                <a:solidFill>
                  <a:srgbClr val="22333F"/>
                </a:solidFill>
                <a:latin typeface="Noto Sans"/>
                <a:ea typeface="Noto Sans"/>
                <a:cs typeface="Noto Sans"/>
                <a:sym typeface="Noto Sans"/>
              </a:rPr>
              <a:t>Phụ huynh: 30–45 tuổi, đã dùng AI Class / Big Class, thu nhập khá – tốt trở lên</a:t>
            </a:r>
            <a:endParaRPr b="0" i="0" sz="1600" u="none" cap="none" strike="noStrike">
              <a:solidFill>
                <a:srgbClr val="22333F"/>
              </a:solidFill>
              <a:latin typeface="Noto Sans"/>
              <a:ea typeface="Noto Sans"/>
              <a:cs typeface="Noto Sans"/>
              <a:sym typeface="Noto Sans"/>
            </a:endParaRPr>
          </a:p>
          <a:p>
            <a:pPr indent="-330200" lvl="0" marL="457200" marR="0" rtl="0" algn="l">
              <a:lnSpc>
                <a:spcPct val="105000"/>
              </a:lnSpc>
              <a:spcBef>
                <a:spcPts val="300"/>
              </a:spcBef>
              <a:spcAft>
                <a:spcPts val="0"/>
              </a:spcAft>
              <a:buClr>
                <a:srgbClr val="22333F"/>
              </a:buClr>
              <a:buSzPts val="1600"/>
              <a:buFont typeface="Noto Sans"/>
              <a:buChar char="•"/>
            </a:pPr>
            <a:r>
              <a:rPr b="0" i="0" lang="en-US" sz="1600" u="none" cap="none" strike="noStrike">
                <a:solidFill>
                  <a:srgbClr val="22333F"/>
                </a:solidFill>
                <a:latin typeface="Noto Sans"/>
                <a:ea typeface="Noto Sans"/>
                <a:cs typeface="Noto Sans"/>
                <a:sym typeface="Noto Sans"/>
              </a:rPr>
              <a:t>Vị trí: Thành phố tỉnh, thị xã, nông thôn</a:t>
            </a:r>
            <a:endParaRPr b="0" i="0" sz="1600" u="none" cap="none" strike="noStrike">
              <a:solidFill>
                <a:srgbClr val="22333F"/>
              </a:solidFill>
              <a:latin typeface="Noto Sans"/>
              <a:ea typeface="Noto Sans"/>
              <a:cs typeface="Noto Sans"/>
              <a:sym typeface="Noto Sans"/>
            </a:endParaRPr>
          </a:p>
          <a:p>
            <a:pPr indent="-330200" lvl="0" marL="457200" marR="0" rtl="0" algn="l">
              <a:lnSpc>
                <a:spcPct val="105000"/>
              </a:lnSpc>
              <a:spcBef>
                <a:spcPts val="300"/>
              </a:spcBef>
              <a:spcAft>
                <a:spcPts val="0"/>
              </a:spcAft>
              <a:buClr>
                <a:srgbClr val="22333F"/>
              </a:buClr>
              <a:buSzPts val="1600"/>
              <a:buFont typeface="Noto Sans"/>
              <a:buChar char="•"/>
            </a:pPr>
            <a:r>
              <a:rPr b="0" i="0" lang="en-US" sz="1600" u="none" cap="none" strike="noStrike">
                <a:solidFill>
                  <a:srgbClr val="22333F"/>
                </a:solidFill>
                <a:latin typeface="Noto Sans"/>
                <a:ea typeface="Noto Sans"/>
                <a:cs typeface="Noto Sans"/>
                <a:sym typeface="Noto Sans"/>
              </a:rPr>
              <a:t>Nghề nghiệp: Văn phòng, kinh doanh nhỏ, lao động phổ thông — làm toàn thời gian (&gt;8h/ngày)</a:t>
            </a:r>
            <a:endParaRPr b="0" i="0" sz="1600" u="none" cap="none" strike="noStrike">
              <a:solidFill>
                <a:srgbClr val="22333F"/>
              </a:solidFill>
              <a:latin typeface="Noto Sans"/>
              <a:ea typeface="Noto Sans"/>
              <a:cs typeface="Noto Sans"/>
              <a:sym typeface="Noto Sans"/>
            </a:endParaRPr>
          </a:p>
          <a:p>
            <a:pPr indent="-330200" lvl="0" marL="457200" marR="0" rtl="0" algn="l">
              <a:lnSpc>
                <a:spcPct val="105000"/>
              </a:lnSpc>
              <a:spcBef>
                <a:spcPts val="300"/>
              </a:spcBef>
              <a:spcAft>
                <a:spcPts val="0"/>
              </a:spcAft>
              <a:buClr>
                <a:srgbClr val="22333F"/>
              </a:buClr>
              <a:buSzPts val="1600"/>
              <a:buFont typeface="Noto Sans"/>
              <a:buChar char="•"/>
            </a:pPr>
            <a:r>
              <a:rPr b="0" i="0" lang="en-US" sz="1600" u="none" cap="none" strike="noStrike">
                <a:solidFill>
                  <a:srgbClr val="22333F"/>
                </a:solidFill>
                <a:latin typeface="Noto Sans"/>
                <a:ea typeface="Noto Sans"/>
                <a:cs typeface="Noto Sans"/>
                <a:sym typeface="Noto Sans"/>
              </a:rPr>
              <a:t>Thu nhập hộ: 15–30 triệu/tháng (phân khúc "Good")</a:t>
            </a:r>
            <a:endParaRPr b="0" i="0" sz="1600" u="none" cap="none" strike="noStrike">
              <a:solidFill>
                <a:srgbClr val="000000"/>
              </a:solidFill>
              <a:latin typeface="Calibri"/>
              <a:ea typeface="Calibri"/>
              <a:cs typeface="Calibri"/>
              <a:sym typeface="Calibri"/>
            </a:endParaRPr>
          </a:p>
          <a:p>
            <a:pPr indent="-330200" lvl="0" marL="457200" marR="0" rtl="0" algn="l">
              <a:lnSpc>
                <a:spcPct val="105000"/>
              </a:lnSpc>
              <a:spcBef>
                <a:spcPts val="400"/>
              </a:spcBef>
              <a:spcAft>
                <a:spcPts val="0"/>
              </a:spcAft>
              <a:buClr>
                <a:srgbClr val="22333F"/>
              </a:buClr>
              <a:buSzPts val="1600"/>
              <a:buFont typeface="Noto Sans"/>
              <a:buChar char="•"/>
            </a:pPr>
            <a:r>
              <a:rPr b="0" i="0" lang="en-US" sz="1600" u="none" cap="none" strike="noStrike">
                <a:solidFill>
                  <a:srgbClr val="22333F"/>
                </a:solidFill>
                <a:latin typeface="Noto Sans"/>
                <a:ea typeface="Noto Sans"/>
                <a:cs typeface="Noto Sans"/>
                <a:sym typeface="Noto Sans"/>
              </a:rPr>
              <a:t>Trình độ tiếng Anh: Đa số không biết tiếng Anh — không tự kèm con được</a:t>
            </a:r>
            <a:endParaRPr b="0" i="0" sz="1600" u="none" cap="none" strike="noStrike">
              <a:solidFill>
                <a:srgbClr val="22333F"/>
              </a:solidFill>
              <a:latin typeface="Noto Sans"/>
              <a:ea typeface="Noto Sans"/>
              <a:cs typeface="Noto Sans"/>
              <a:sym typeface="Noto Sans"/>
            </a:endParaRPr>
          </a:p>
          <a:p>
            <a:pPr indent="-330200" lvl="0" marL="457200" marR="0" rtl="0" algn="l">
              <a:lnSpc>
                <a:spcPct val="105000"/>
              </a:lnSpc>
              <a:spcBef>
                <a:spcPts val="400"/>
              </a:spcBef>
              <a:spcAft>
                <a:spcPts val="0"/>
              </a:spcAft>
              <a:buClr>
                <a:srgbClr val="22333F"/>
              </a:buClr>
              <a:buSzPts val="1600"/>
              <a:buFont typeface="Noto Sans"/>
              <a:buChar char="•"/>
            </a:pPr>
            <a:r>
              <a:rPr b="0" i="0" lang="en-US" sz="1600" u="none" cap="none" strike="noStrike">
                <a:solidFill>
                  <a:srgbClr val="22333F"/>
                </a:solidFill>
                <a:latin typeface="Noto Sans"/>
                <a:ea typeface="Noto Sans"/>
                <a:cs typeface="Noto Sans"/>
                <a:sym typeface="Noto Sans"/>
              </a:rPr>
              <a:t>Bối cảnh: Con học TA ở trường; ~50% từng/đang học thêm nhà GV; đã thử vài sản phẩm TA online</a:t>
            </a:r>
            <a:endParaRPr b="0" i="0" sz="1600" u="none" cap="none" strike="noStrike">
              <a:solidFill>
                <a:srgbClr val="22333F"/>
              </a:solidFill>
              <a:latin typeface="Noto Sans"/>
              <a:ea typeface="Noto Sans"/>
              <a:cs typeface="Noto Sans"/>
              <a:sym typeface="Noto Sans"/>
            </a:endParaRPr>
          </a:p>
        </p:txBody>
      </p:sp>
      <p:sp>
        <p:nvSpPr>
          <p:cNvPr id="94" name="Google Shape;94;p9"/>
          <p:cNvSpPr/>
          <p:nvPr/>
        </p:nvSpPr>
        <p:spPr>
          <a:xfrm>
            <a:off x="502920" y="4087368"/>
            <a:ext cx="73200" cy="2176200"/>
          </a:xfrm>
          <a:prstGeom prst="rect">
            <a:avLst/>
          </a:prstGeom>
          <a:solidFill>
            <a:srgbClr val="3B81B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9"/>
          <p:cNvSpPr/>
          <p:nvPr/>
        </p:nvSpPr>
        <p:spPr>
          <a:xfrm>
            <a:off x="731530" y="4087369"/>
            <a:ext cx="10911300" cy="2176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004671"/>
              </a:buClr>
              <a:buSzPts val="1250"/>
              <a:buFont typeface="Noto Sans"/>
              <a:buNone/>
            </a:pPr>
            <a:r>
              <a:rPr b="1" i="0" lang="en-US" sz="1800" u="none" cap="none" strike="noStrike">
                <a:solidFill>
                  <a:srgbClr val="004671"/>
                </a:solidFill>
                <a:latin typeface="Noto Sans"/>
                <a:ea typeface="Noto Sans"/>
                <a:cs typeface="Noto Sans"/>
                <a:sym typeface="Noto Sans"/>
              </a:rPr>
              <a:t>Nỗi đau (Pain point)</a:t>
            </a:r>
            <a:endParaRPr b="0" i="0" sz="1800" u="none" cap="none" strike="noStrike">
              <a:solidFill>
                <a:srgbClr val="000000"/>
              </a:solidFill>
              <a:latin typeface="Calibri"/>
              <a:ea typeface="Calibri"/>
              <a:cs typeface="Calibri"/>
              <a:sym typeface="Calibri"/>
            </a:endParaRPr>
          </a:p>
          <a:p>
            <a:pPr indent="-204470" lvl="0" marL="165100" marR="0" rtl="0" algn="l">
              <a:lnSpc>
                <a:spcPct val="105000"/>
              </a:lnSpc>
              <a:spcBef>
                <a:spcPts val="300"/>
              </a:spcBef>
              <a:spcAft>
                <a:spcPts val="0"/>
              </a:spcAft>
              <a:buClr>
                <a:srgbClr val="22333F"/>
              </a:buClr>
              <a:buSzPts val="1600"/>
              <a:buFont typeface="Noto Sans"/>
              <a:buChar char="•"/>
            </a:pPr>
            <a:r>
              <a:rPr b="0" i="0" lang="en-US" sz="1600" u="none" cap="none" strike="noStrike">
                <a:solidFill>
                  <a:srgbClr val="22333F"/>
                </a:solidFill>
                <a:latin typeface="Noto Sans"/>
                <a:ea typeface="Noto Sans"/>
                <a:cs typeface="Noto Sans"/>
                <a:sym typeface="Noto Sans"/>
              </a:rPr>
              <a:t>Con học lớp đông, không biết chính xác con yếu chỗ nào để kèm riêng.</a:t>
            </a:r>
            <a:endParaRPr b="0" i="0" sz="1600" u="none" cap="none" strike="noStrike">
              <a:solidFill>
                <a:srgbClr val="000000"/>
              </a:solidFill>
              <a:latin typeface="Calibri"/>
              <a:ea typeface="Calibri"/>
              <a:cs typeface="Calibri"/>
              <a:sym typeface="Calibri"/>
            </a:endParaRPr>
          </a:p>
          <a:p>
            <a:pPr indent="-204470" lvl="0" marL="165100" marR="0" rtl="0" algn="l">
              <a:lnSpc>
                <a:spcPct val="105000"/>
              </a:lnSpc>
              <a:spcBef>
                <a:spcPts val="400"/>
              </a:spcBef>
              <a:spcAft>
                <a:spcPts val="0"/>
              </a:spcAft>
              <a:buClr>
                <a:srgbClr val="22333F"/>
              </a:buClr>
              <a:buSzPts val="1600"/>
              <a:buFont typeface="Noto Sans"/>
              <a:buChar char="•"/>
            </a:pPr>
            <a:r>
              <a:rPr b="0" i="0" lang="en-US" sz="1600" u="none" cap="none" strike="noStrike">
                <a:solidFill>
                  <a:srgbClr val="22333F"/>
                </a:solidFill>
                <a:latin typeface="Noto Sans"/>
                <a:ea typeface="Noto Sans"/>
                <a:cs typeface="Noto Sans"/>
                <a:sym typeface="Noto Sans"/>
              </a:rPr>
              <a:t>Đã thử app / gia sư nhưng không chắc học có đúng chỗ hổng không.</a:t>
            </a:r>
            <a:endParaRPr b="0" i="0" sz="1600" u="none" cap="none" strike="noStrike">
              <a:solidFill>
                <a:srgbClr val="000000"/>
              </a:solidFill>
              <a:latin typeface="Calibri"/>
              <a:ea typeface="Calibri"/>
              <a:cs typeface="Calibri"/>
              <a:sym typeface="Calibri"/>
            </a:endParaRPr>
          </a:p>
          <a:p>
            <a:pPr indent="-204470" lvl="0" marL="165100" marR="0" rtl="0" algn="l">
              <a:lnSpc>
                <a:spcPct val="105000"/>
              </a:lnSpc>
              <a:spcBef>
                <a:spcPts val="400"/>
              </a:spcBef>
              <a:spcAft>
                <a:spcPts val="0"/>
              </a:spcAft>
              <a:buClr>
                <a:srgbClr val="22333F"/>
              </a:buClr>
              <a:buSzPts val="1600"/>
              <a:buFont typeface="Noto Sans"/>
              <a:buChar char="•"/>
            </a:pPr>
            <a:r>
              <a:rPr b="0" i="0" lang="en-US" sz="1600" u="none" cap="none" strike="noStrike">
                <a:solidFill>
                  <a:srgbClr val="22333F"/>
                </a:solidFill>
                <a:latin typeface="Noto Sans"/>
                <a:ea typeface="Noto Sans"/>
                <a:cs typeface="Noto Sans"/>
                <a:sym typeface="Noto Sans"/>
              </a:rPr>
              <a:t>Sợ con thua thiệt nếu không có ai theo sát 1-1.</a:t>
            </a:r>
            <a:endParaRPr b="0" i="0" sz="1600" u="none" cap="none" strike="noStrike">
              <a:solidFill>
                <a:srgbClr val="000000"/>
              </a:solidFill>
              <a:latin typeface="Calibri"/>
              <a:ea typeface="Calibri"/>
              <a:cs typeface="Calibri"/>
              <a:sym typeface="Calibri"/>
            </a:endParaRPr>
          </a:p>
          <a:p>
            <a:pPr indent="-204470" lvl="0" marL="165100" marR="0" rtl="0" algn="l">
              <a:lnSpc>
                <a:spcPct val="105000"/>
              </a:lnSpc>
              <a:spcBef>
                <a:spcPts val="400"/>
              </a:spcBef>
              <a:spcAft>
                <a:spcPts val="0"/>
              </a:spcAft>
              <a:buClr>
                <a:srgbClr val="22333F"/>
              </a:buClr>
              <a:buSzPts val="1600"/>
              <a:buFont typeface="Noto Sans"/>
              <a:buChar char="•"/>
            </a:pPr>
            <a:r>
              <a:rPr b="0" i="0" lang="en-US" sz="1600" u="none" cap="none" strike="noStrike">
                <a:solidFill>
                  <a:srgbClr val="22333F"/>
                </a:solidFill>
                <a:latin typeface="Noto Sans"/>
                <a:ea typeface="Noto Sans"/>
                <a:cs typeface="Noto Sans"/>
                <a:sym typeface="Noto Sans"/>
              </a:rPr>
              <a:t>Muốn chăm sóc cao cấp nhưng gia sư con người quá đắt để duy trì đều.</a:t>
            </a:r>
            <a:endParaRPr b="0" i="0" sz="1600" u="none" cap="none" strike="noStrike">
              <a:solidFill>
                <a:srgbClr val="0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 name="Shape 100"/>
        <p:cNvGrpSpPr/>
        <p:nvPr/>
      </p:nvGrpSpPr>
      <p:grpSpPr>
        <a:xfrm>
          <a:off x="0" y="0"/>
          <a:ext cx="0" cy="0"/>
          <a:chOff x="0" y="0"/>
          <a:chExt cx="0" cy="0"/>
        </a:xfrm>
      </p:grpSpPr>
      <p:sp>
        <p:nvSpPr>
          <p:cNvPr id="101" name="Google Shape;101;p10"/>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Bố mẹ thực sự mong muốn gì?</a:t>
            </a:r>
            <a:endParaRPr b="0" i="0" sz="2200" u="none" cap="none" strike="noStrike">
              <a:solidFill>
                <a:schemeClr val="dk1"/>
              </a:solidFill>
              <a:latin typeface="Calibri"/>
              <a:ea typeface="Calibri"/>
              <a:cs typeface="Calibri"/>
              <a:sym typeface="Calibri"/>
            </a:endParaRPr>
          </a:p>
        </p:txBody>
      </p:sp>
      <p:cxnSp>
        <p:nvCxnSpPr>
          <p:cNvPr id="103" name="Google Shape;103;p10"/>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graphicFrame>
        <p:nvGraphicFramePr>
          <p:cNvPr id="104" name="Google Shape;104;p10"/>
          <p:cNvGraphicFramePr/>
          <p:nvPr/>
        </p:nvGraphicFramePr>
        <p:xfrm>
          <a:off x="548640" y="1371600"/>
          <a:ext cx="3000000" cy="3000000"/>
        </p:xfrm>
        <a:graphic>
          <a:graphicData uri="http://schemas.openxmlformats.org/drawingml/2006/table">
            <a:tbl>
              <a:tblPr>
                <a:noFill/>
                <a:tableStyleId>{6A87B15F-54B6-4826-A0DF-81480C40843C}</a:tableStyleId>
              </a:tblPr>
              <a:tblGrid>
                <a:gridCol w="5254075"/>
                <a:gridCol w="5893300"/>
              </a:tblGrid>
              <a:tr h="184150">
                <a:tc>
                  <a:txBody>
                    <a:bodyPr/>
                    <a:lstStyle/>
                    <a:p>
                      <a:pPr indent="0" lvl="0" marL="0" marR="0" rtl="0" algn="l">
                        <a:spcBef>
                          <a:spcPts val="0"/>
                        </a:spcBef>
                        <a:spcAft>
                          <a:spcPts val="0"/>
                        </a:spcAft>
                        <a:buClr>
                          <a:srgbClr val="FFFFFF"/>
                        </a:buClr>
                        <a:buSzPts val="1450"/>
                        <a:buFont typeface="Arial"/>
                        <a:buNone/>
                      </a:pPr>
                      <a:r>
                        <a:rPr b="1" lang="en-US" sz="1450" u="none" cap="none" strike="noStrike">
                          <a:solidFill>
                            <a:srgbClr val="FFFFFF"/>
                          </a:solidFill>
                          <a:latin typeface="Arial"/>
                          <a:ea typeface="Arial"/>
                          <a:cs typeface="Arial"/>
                          <a:sym typeface="Arial"/>
                        </a:rPr>
                        <a:t>Bố mẹ muốn</a:t>
                      </a:r>
                      <a:endParaRPr sz="1450" u="none" cap="none" strike="noStrike">
                        <a:latin typeface="Arial"/>
                        <a:ea typeface="Arial"/>
                        <a:cs typeface="Arial"/>
                        <a:sym typeface="Arial"/>
                      </a:endParaRPr>
                    </a:p>
                  </a:txBody>
                  <a:tcPr marT="45725" marB="45725" marR="91450" marL="91450" anchor="ctr">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004671"/>
                    </a:solidFill>
                  </a:tcPr>
                </a:tc>
                <a:tc>
                  <a:txBody>
                    <a:bodyPr/>
                    <a:lstStyle/>
                    <a:p>
                      <a:pPr indent="0" lvl="0" marL="0" marR="0" rtl="0" algn="l">
                        <a:spcBef>
                          <a:spcPts val="0"/>
                        </a:spcBef>
                        <a:spcAft>
                          <a:spcPts val="0"/>
                        </a:spcAft>
                        <a:buClr>
                          <a:srgbClr val="FFFFFF"/>
                        </a:buClr>
                        <a:buSzPts val="1450"/>
                        <a:buFont typeface="Arial"/>
                        <a:buNone/>
                      </a:pPr>
                      <a:r>
                        <a:rPr b="1" lang="en-US" sz="1450" u="none" cap="none" strike="noStrike">
                          <a:solidFill>
                            <a:srgbClr val="FFFFFF"/>
                          </a:solidFill>
                          <a:latin typeface="Arial"/>
                          <a:ea typeface="Arial"/>
                          <a:cs typeface="Arial"/>
                          <a:sym typeface="Arial"/>
                        </a:rPr>
                        <a:t>Nhưng đang lo</a:t>
                      </a:r>
                      <a:endParaRPr sz="1450" u="none" cap="none" strike="noStrike">
                        <a:latin typeface="Arial"/>
                        <a:ea typeface="Arial"/>
                        <a:cs typeface="Arial"/>
                        <a:sym typeface="Arial"/>
                      </a:endParaRPr>
                    </a:p>
                  </a:txBody>
                  <a:tcPr marT="45725" marB="45725" marR="91450" marL="91450" anchor="ctr">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004671"/>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Con học giỏi hơn</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Không biết chính xác con đang yếu ở đâu</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Con được học tr</a:t>
                      </a:r>
                      <a:r>
                        <a:rPr lang="en-US">
                          <a:solidFill>
                            <a:srgbClr val="1F2A33"/>
                          </a:solidFill>
                        </a:rPr>
                        <a:t>ực tiếp </a:t>
                      </a:r>
                      <a:r>
                        <a:rPr lang="en-US" sz="1400" u="none" cap="none" strike="noStrike">
                          <a:solidFill>
                            <a:srgbClr val="1F2A33"/>
                          </a:solidFill>
                          <a:latin typeface="Arial"/>
                          <a:ea typeface="Arial"/>
                          <a:cs typeface="Arial"/>
                          <a:sym typeface="Arial"/>
                        </a:rPr>
                        <a:t>với </a:t>
                      </a:r>
                      <a:r>
                        <a:rPr lang="en-US">
                          <a:solidFill>
                            <a:srgbClr val="1F2A33"/>
                          </a:solidFill>
                        </a:rPr>
                        <a:t>giáo viên </a:t>
                      </a:r>
                      <a:r>
                        <a:rPr lang="en-US" sz="1400" u="none" cap="none" strike="noStrike">
                          <a:solidFill>
                            <a:srgbClr val="1F2A33"/>
                          </a:solidFill>
                          <a:latin typeface="Arial"/>
                          <a:ea typeface="Arial"/>
                          <a:cs typeface="Arial"/>
                          <a:sym typeface="Arial"/>
                        </a:rPr>
                        <a:t>giỏi</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Học chung khó được theo sát riêng</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Con thích học hơn</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Gặp phần khó dễ nản</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Bố mẹ yên tâm giao phó con</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Không có thời gian theo sát việc học</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Con tự tin nói tiếng Anh</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Con ít cơ hội nói và còn ngại nói sai</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r>
            </a:tbl>
          </a:graphicData>
        </a:graphic>
      </p:graphicFrame>
      <p:sp>
        <p:nvSpPr>
          <p:cNvPr id="105" name="Google Shape;105;p10"/>
          <p:cNvSpPr/>
          <p:nvPr/>
        </p:nvSpPr>
        <p:spPr>
          <a:xfrm>
            <a:off x="548640" y="3523488"/>
            <a:ext cx="54900" cy="786300"/>
          </a:xfrm>
          <a:prstGeom prst="rect">
            <a:avLst/>
          </a:prstGeom>
          <a:solidFill>
            <a:srgbClr val="A5BE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777240" y="3523488"/>
            <a:ext cx="10865700" cy="786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0" i="1" lang="en-US" sz="1600" u="none" cap="none" strike="noStrike">
                <a:solidFill>
                  <a:srgbClr val="004671"/>
                </a:solidFill>
                <a:latin typeface="Arial"/>
                <a:ea typeface="Arial"/>
                <a:cs typeface="Arial"/>
                <a:sym typeface="Arial"/>
              </a:rPr>
              <a:t>Điều bố mẹ thực sự cần: có người hiểu con — biết con đang yếu ở đâu — hướng dẫn đúng cách — và theo sát con trong suốt quá trình học.</a:t>
            </a:r>
            <a:endParaRPr b="0" i="0" sz="1600" u="none" cap="none" strike="noStrike">
              <a:solidFill>
                <a:schemeClr val="dk1"/>
              </a:solidFill>
              <a:latin typeface="Calibri"/>
              <a:ea typeface="Calibri"/>
              <a:cs typeface="Calibri"/>
              <a:sym typeface="Calibri"/>
            </a:endParaRPr>
          </a:p>
        </p:txBody>
      </p:sp>
      <p:sp>
        <p:nvSpPr>
          <p:cNvPr id="107" name="Google Shape;107;p10"/>
          <p:cNvSpPr/>
          <p:nvPr/>
        </p:nvSpPr>
        <p:spPr>
          <a:xfrm>
            <a:off x="548640" y="4724400"/>
            <a:ext cx="11094300" cy="1134000"/>
          </a:xfrm>
          <a:prstGeom prst="roundRect">
            <a:avLst>
              <a:gd fmla="val 4839" name="adj"/>
            </a:avLst>
          </a:prstGeom>
          <a:solidFill>
            <a:srgbClr val="EAF1DC"/>
          </a:solidFill>
          <a:ln cap="flat" cmpd="sng" w="12700">
            <a:solidFill>
              <a:srgbClr val="A5BE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0"/>
          <p:cNvSpPr/>
          <p:nvPr/>
        </p:nvSpPr>
        <p:spPr>
          <a:xfrm>
            <a:off x="731520" y="4834128"/>
            <a:ext cx="10728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D5A1F"/>
              </a:buClr>
              <a:buSzPts val="1100"/>
              <a:buFont typeface="Arial"/>
              <a:buNone/>
            </a:pPr>
            <a:r>
              <a:rPr b="1" i="0" lang="en-US" sz="1100" u="none" cap="none" strike="noStrike">
                <a:solidFill>
                  <a:srgbClr val="3D5A1F"/>
                </a:solidFill>
                <a:latin typeface="Arial"/>
                <a:ea typeface="Arial"/>
                <a:cs typeface="Arial"/>
                <a:sym typeface="Arial"/>
              </a:rPr>
              <a:t>CÁCH NÓI VỚI PHỤ HUYNH</a:t>
            </a:r>
            <a:endParaRPr b="0" i="0" sz="1100" u="none" cap="none" strike="noStrike">
              <a:solidFill>
                <a:schemeClr val="dk1"/>
              </a:solidFill>
              <a:latin typeface="Calibri"/>
              <a:ea typeface="Calibri"/>
              <a:cs typeface="Calibri"/>
              <a:sym typeface="Calibri"/>
            </a:endParaRPr>
          </a:p>
        </p:txBody>
      </p:sp>
      <p:sp>
        <p:nvSpPr>
          <p:cNvPr id="109" name="Google Shape;109;p10"/>
          <p:cNvSpPr/>
          <p:nvPr/>
        </p:nvSpPr>
        <p:spPr>
          <a:xfrm>
            <a:off x="731520" y="5108448"/>
            <a:ext cx="10728600" cy="676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3D0F"/>
              </a:buClr>
              <a:buSzPts val="1600"/>
              <a:buFont typeface="Arial"/>
              <a:buNone/>
            </a:pPr>
            <a:r>
              <a:rPr b="0" i="1" lang="en-US" sz="1600" u="none" cap="none" strike="noStrike">
                <a:solidFill>
                  <a:srgbClr val="1F3D0F"/>
                </a:solidFill>
                <a:latin typeface="Arial"/>
                <a:ea typeface="Arial"/>
                <a:cs typeface="Arial"/>
                <a:sym typeface="Arial"/>
              </a:rPr>
              <a:t>"Bố mẹ không chỉ mua thêm một buổi học. Bố mẹ đang muốn có một người theo sát con hơn, để biết con yếu đâu, kèm đúng chỗ đó và giúp con tiến bộ từng bước."</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4671"/>
        </a:solidFill>
      </p:bgPr>
    </p:bg>
    <p:spTree>
      <p:nvGrpSpPr>
        <p:cNvPr id="114" name="Shape 114"/>
        <p:cNvGrpSpPr/>
        <p:nvPr/>
      </p:nvGrpSpPr>
      <p:grpSpPr>
        <a:xfrm>
          <a:off x="0" y="0"/>
          <a:ext cx="0" cy="0"/>
          <a:chOff x="0" y="0"/>
          <a:chExt cx="0" cy="0"/>
        </a:xfrm>
      </p:grpSpPr>
      <p:sp>
        <p:nvSpPr>
          <p:cNvPr id="115" name="Google Shape;115;p11"/>
          <p:cNvSpPr/>
          <p:nvPr/>
        </p:nvSpPr>
        <p:spPr>
          <a:xfrm>
            <a:off x="0" y="0"/>
            <a:ext cx="12191700" cy="73200"/>
          </a:xfrm>
          <a:prstGeom prst="rect">
            <a:avLst/>
          </a:prstGeom>
          <a:solidFill>
            <a:srgbClr val="A5BE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a:off x="548640" y="23774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5BE00"/>
              </a:buClr>
              <a:buSzPts val="1600"/>
              <a:buFont typeface="Arial"/>
              <a:buNone/>
            </a:pPr>
            <a:r>
              <a:rPr b="1" i="0" lang="en-US" sz="1600" u="none" cap="none" strike="noStrike">
                <a:solidFill>
                  <a:srgbClr val="A5BE00"/>
                </a:solidFill>
                <a:latin typeface="Arial"/>
                <a:ea typeface="Arial"/>
                <a:cs typeface="Arial"/>
                <a:sym typeface="Arial"/>
              </a:rPr>
              <a:t>PHẦN 3</a:t>
            </a:r>
            <a:endParaRPr b="0" i="0" sz="1600" u="none" cap="none" strike="noStrike">
              <a:solidFill>
                <a:schemeClr val="dk1"/>
              </a:solidFill>
              <a:latin typeface="Calibri"/>
              <a:ea typeface="Calibri"/>
              <a:cs typeface="Calibri"/>
              <a:sym typeface="Calibri"/>
            </a:endParaRPr>
          </a:p>
        </p:txBody>
      </p:sp>
      <p:sp>
        <p:nvSpPr>
          <p:cNvPr id="117" name="Google Shape;117;p11"/>
          <p:cNvSpPr/>
          <p:nvPr/>
        </p:nvSpPr>
        <p:spPr>
          <a:xfrm>
            <a:off x="548640" y="2880360"/>
            <a:ext cx="11094300" cy="164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Arial"/>
              <a:buNone/>
            </a:pPr>
            <a:r>
              <a:rPr b="1" i="0" lang="en-US" sz="3400" u="none" cap="none" strike="noStrike">
                <a:solidFill>
                  <a:srgbClr val="FFFFFF"/>
                </a:solidFill>
                <a:latin typeface="Arial"/>
                <a:ea typeface="Arial"/>
                <a:cs typeface="Arial"/>
                <a:sym typeface="Arial"/>
              </a:rPr>
              <a:t>Con và bố mẹ nhận được gì?</a:t>
            </a:r>
            <a:endParaRPr b="0" i="0" sz="34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2" name="Shape 122"/>
        <p:cNvGrpSpPr/>
        <p:nvPr/>
      </p:nvGrpSpPr>
      <p:grpSpPr>
        <a:xfrm>
          <a:off x="0" y="0"/>
          <a:ext cx="0" cy="0"/>
          <a:chOff x="0" y="0"/>
          <a:chExt cx="0" cy="0"/>
        </a:xfrm>
      </p:grpSpPr>
      <p:sp>
        <p:nvSpPr>
          <p:cNvPr id="123" name="Google Shape;123;p12"/>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2"/>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5 giá trị dành cho con và bố mẹ</a:t>
            </a:r>
            <a:endParaRPr b="0" i="0" sz="2200" u="none" cap="none" strike="noStrike">
              <a:solidFill>
                <a:schemeClr val="dk1"/>
              </a:solidFill>
              <a:latin typeface="Calibri"/>
              <a:ea typeface="Calibri"/>
              <a:cs typeface="Calibri"/>
              <a:sym typeface="Calibri"/>
            </a:endParaRPr>
          </a:p>
        </p:txBody>
      </p:sp>
      <p:cxnSp>
        <p:nvCxnSpPr>
          <p:cNvPr id="125" name="Google Shape;125;p12"/>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sp>
        <p:nvSpPr>
          <p:cNvPr id="126" name="Google Shape;126;p12"/>
          <p:cNvSpPr/>
          <p:nvPr/>
        </p:nvSpPr>
        <p:spPr>
          <a:xfrm>
            <a:off x="548640" y="1371600"/>
            <a:ext cx="11094300" cy="42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1. Con học giỏi hơn — con yếu đâu, được kèm đúng đó. </a:t>
            </a:r>
            <a:r>
              <a:rPr b="0" i="0" lang="en-US" sz="1600" u="none" cap="none" strike="noStrike">
                <a:solidFill>
                  <a:srgbClr val="1F2A33"/>
                </a:solidFill>
                <a:latin typeface="Arial"/>
                <a:ea typeface="Arial"/>
                <a:cs typeface="Arial"/>
                <a:sym typeface="Arial"/>
              </a:rPr>
              <a:t>Con không phải học lại tất cả.</a:t>
            </a:r>
            <a:endParaRPr b="0" i="0" sz="1600" u="none" cap="none" strike="noStrike">
              <a:solidFill>
                <a:schemeClr val="dk1"/>
              </a:solidFill>
              <a:latin typeface="Calibri"/>
              <a:ea typeface="Calibri"/>
              <a:cs typeface="Calibri"/>
              <a:sym typeface="Calibri"/>
            </a:endParaRPr>
          </a:p>
        </p:txBody>
      </p:sp>
      <p:sp>
        <p:nvSpPr>
          <p:cNvPr id="127" name="Google Shape;127;p12"/>
          <p:cNvSpPr/>
          <p:nvPr/>
        </p:nvSpPr>
        <p:spPr>
          <a:xfrm>
            <a:off x="548640" y="1975104"/>
            <a:ext cx="110943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Người kèm riêng theo dõi kết quả học để biết:</a:t>
            </a:r>
            <a:endParaRPr b="0" i="0" sz="1600" u="none" cap="none" strike="noStrike">
              <a:solidFill>
                <a:schemeClr val="dk1"/>
              </a:solidFill>
              <a:latin typeface="Calibri"/>
              <a:ea typeface="Calibri"/>
              <a:cs typeface="Calibri"/>
              <a:sym typeface="Calibri"/>
            </a:endParaRPr>
          </a:p>
        </p:txBody>
      </p:sp>
      <p:sp>
        <p:nvSpPr>
          <p:cNvPr id="128" name="Google Shape;128;p12"/>
          <p:cNvSpPr/>
          <p:nvPr/>
        </p:nvSpPr>
        <p:spPr>
          <a:xfrm>
            <a:off x="548640" y="2395728"/>
            <a:ext cx="11094300" cy="1225200"/>
          </a:xfrm>
          <a:prstGeom prst="rect">
            <a:avLst/>
          </a:prstGeom>
          <a:noFill/>
          <a:ln>
            <a:noFill/>
          </a:ln>
        </p:spPr>
        <p:txBody>
          <a:bodyPr anchorCtr="0" anchor="t" bIns="45700" lIns="91425" spcFirstLastPara="1" rIns="91425" wrap="square" tIns="45700">
            <a:noAutofit/>
          </a:bodyPr>
          <a:lstStyle/>
          <a:p>
            <a:pPr indent="-254000" lvl="0" marL="254000" marR="0" rtl="0" algn="l">
              <a:spcBef>
                <a:spcPts val="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Con đã chắc phần nào.</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Con còn chưa chắc phần nào.</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Con cần luyện thêm ở đâu.</a:t>
            </a:r>
            <a:endParaRPr b="0" i="0" sz="1600" u="none" cap="none" strike="noStrike">
              <a:solidFill>
                <a:schemeClr val="dk1"/>
              </a:solidFill>
              <a:latin typeface="Calibri"/>
              <a:ea typeface="Calibri"/>
              <a:cs typeface="Calibri"/>
              <a:sym typeface="Calibri"/>
            </a:endParaRPr>
          </a:p>
        </p:txBody>
      </p:sp>
      <p:sp>
        <p:nvSpPr>
          <p:cNvPr id="129" name="Google Shape;129;p12"/>
          <p:cNvSpPr/>
          <p:nvPr/>
        </p:nvSpPr>
        <p:spPr>
          <a:xfrm>
            <a:off x="548640" y="3803904"/>
            <a:ext cx="54900" cy="786300"/>
          </a:xfrm>
          <a:prstGeom prst="rect">
            <a:avLst/>
          </a:prstGeom>
          <a:solidFill>
            <a:srgbClr val="A5BE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2"/>
          <p:cNvSpPr/>
          <p:nvPr/>
        </p:nvSpPr>
        <p:spPr>
          <a:xfrm>
            <a:off x="777240" y="3803904"/>
            <a:ext cx="10865700" cy="786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0" i="1" lang="en-US" sz="1600" u="none" cap="none" strike="noStrike">
                <a:solidFill>
                  <a:srgbClr val="004671"/>
                </a:solidFill>
                <a:latin typeface="Arial"/>
                <a:ea typeface="Arial"/>
                <a:cs typeface="Arial"/>
                <a:sym typeface="Arial"/>
              </a:rPr>
              <a:t>Bố mẹ nhận được: biết thời gian học của con đang được tập trung vào những phần con thực sự cần.</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 name="Shape 135"/>
        <p:cNvGrpSpPr/>
        <p:nvPr/>
      </p:nvGrpSpPr>
      <p:grpSpPr>
        <a:xfrm>
          <a:off x="0" y="0"/>
          <a:ext cx="0" cy="0"/>
          <a:chOff x="0" y="0"/>
          <a:chExt cx="0" cy="0"/>
        </a:xfrm>
      </p:grpSpPr>
      <p:sp>
        <p:nvSpPr>
          <p:cNvPr id="136" name="Google Shape;136;p13"/>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3"/>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5 giá trị dành cho con và bố mẹ</a:t>
            </a:r>
            <a:endParaRPr b="0" i="0" sz="2200" u="none" cap="none" strike="noStrike">
              <a:solidFill>
                <a:schemeClr val="dk1"/>
              </a:solidFill>
              <a:latin typeface="Calibri"/>
              <a:ea typeface="Calibri"/>
              <a:cs typeface="Calibri"/>
              <a:sym typeface="Calibri"/>
            </a:endParaRPr>
          </a:p>
        </p:txBody>
      </p:sp>
      <p:cxnSp>
        <p:nvCxnSpPr>
          <p:cNvPr id="138" name="Google Shape;138;p13"/>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sp>
        <p:nvSpPr>
          <p:cNvPr id="139" name="Google Shape;139;p13"/>
          <p:cNvSpPr/>
          <p:nvPr/>
        </p:nvSpPr>
        <p:spPr>
          <a:xfrm>
            <a:off x="548640" y="1496568"/>
            <a:ext cx="11094300" cy="69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2. Con được học tr</a:t>
            </a:r>
            <a:r>
              <a:rPr b="1" lang="en-US" sz="1600">
                <a:solidFill>
                  <a:srgbClr val="004671"/>
                </a:solidFill>
              </a:rPr>
              <a:t>ực tiếp </a:t>
            </a:r>
            <a:r>
              <a:rPr b="1" i="0" lang="en-US" sz="1600" u="none" cap="none" strike="noStrike">
                <a:solidFill>
                  <a:srgbClr val="004671"/>
                </a:solidFill>
                <a:latin typeface="Arial"/>
                <a:ea typeface="Arial"/>
                <a:cs typeface="Arial"/>
                <a:sym typeface="Arial"/>
              </a:rPr>
              <a:t>với </a:t>
            </a:r>
            <a:r>
              <a:rPr b="1" lang="en-US" sz="1600">
                <a:solidFill>
                  <a:srgbClr val="004671"/>
                </a:solidFill>
              </a:rPr>
              <a:t>giáo viên giỏi</a:t>
            </a:r>
            <a:r>
              <a:rPr b="1" i="0" lang="en-US" sz="1600" u="none" cap="none" strike="noStrike">
                <a:solidFill>
                  <a:srgbClr val="004671"/>
                </a:solidFill>
                <a:latin typeface="Arial"/>
                <a:ea typeface="Arial"/>
                <a:cs typeface="Arial"/>
                <a:sym typeface="Arial"/>
              </a:rPr>
              <a:t> — </a:t>
            </a:r>
            <a:r>
              <a:rPr b="1" lang="en-US" sz="1600">
                <a:solidFill>
                  <a:srgbClr val="004671"/>
                </a:solidFill>
              </a:rPr>
              <a:t>phù hợp với con</a:t>
            </a:r>
            <a:r>
              <a:rPr b="1" i="0" lang="en-US" sz="1600" u="none" cap="none" strike="noStrike">
                <a:solidFill>
                  <a:srgbClr val="004671"/>
                </a:solidFill>
                <a:latin typeface="Arial"/>
                <a:ea typeface="Arial"/>
                <a:cs typeface="Arial"/>
                <a:sym typeface="Arial"/>
              </a:rPr>
              <a:t>. </a:t>
            </a:r>
            <a:r>
              <a:rPr b="0" i="0" lang="en-US" sz="1600" u="none" cap="none" strike="noStrike">
                <a:solidFill>
                  <a:srgbClr val="1F2A33"/>
                </a:solidFill>
                <a:latin typeface="Arial"/>
                <a:ea typeface="Arial"/>
                <a:cs typeface="Arial"/>
                <a:sym typeface="Arial"/>
              </a:rPr>
              <a:t>Ngay từ đầu, con được phân loại theo trình độ đầu vào để lựa chọn cách học và giáo viên AI phù hợp.</a:t>
            </a:r>
            <a:endParaRPr b="0" i="0" sz="1600" u="none" cap="none" strike="noStrike">
              <a:solidFill>
                <a:schemeClr val="dk1"/>
              </a:solidFill>
              <a:latin typeface="Calibri"/>
              <a:ea typeface="Calibri"/>
              <a:cs typeface="Calibri"/>
              <a:sym typeface="Calibri"/>
            </a:endParaRPr>
          </a:p>
        </p:txBody>
      </p:sp>
      <p:sp>
        <p:nvSpPr>
          <p:cNvPr id="140" name="Google Shape;140;p13"/>
          <p:cNvSpPr/>
          <p:nvPr/>
        </p:nvSpPr>
        <p:spPr>
          <a:xfrm>
            <a:off x="548640" y="2374392"/>
            <a:ext cx="11094300" cy="69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Con ở trình độ yếu/trung bình: </a:t>
            </a:r>
            <a:r>
              <a:rPr b="0" i="0" lang="en-US" sz="1600" u="none" cap="none" strike="noStrike">
                <a:solidFill>
                  <a:srgbClr val="1F2A33"/>
                </a:solidFill>
                <a:latin typeface="Arial"/>
                <a:ea typeface="Arial"/>
                <a:cs typeface="Arial"/>
                <a:sym typeface="Arial"/>
              </a:rPr>
              <a:t>học với giáo viên AI người Việt có cách hướng dẫn gần gũi, chi tiết, giúp con từng bước củng cố kiến thức.</a:t>
            </a:r>
            <a:endParaRPr b="0" i="0" sz="1600" u="none" cap="none" strike="noStrike">
              <a:solidFill>
                <a:schemeClr val="dk1"/>
              </a:solidFill>
              <a:latin typeface="Calibri"/>
              <a:ea typeface="Calibri"/>
              <a:cs typeface="Calibri"/>
              <a:sym typeface="Calibri"/>
            </a:endParaRPr>
          </a:p>
        </p:txBody>
      </p:sp>
      <p:sp>
        <p:nvSpPr>
          <p:cNvPr id="141" name="Google Shape;141;p13"/>
          <p:cNvSpPr/>
          <p:nvPr/>
        </p:nvSpPr>
        <p:spPr>
          <a:xfrm>
            <a:off x="548640" y="3200400"/>
            <a:ext cx="110943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Con ở trình độ khá/giỏi — kết hợp:</a:t>
            </a:r>
            <a:endParaRPr b="0" i="0" sz="1600" u="none" cap="none" strike="noStrike">
              <a:solidFill>
                <a:schemeClr val="dk1"/>
              </a:solidFill>
              <a:latin typeface="Calibri"/>
              <a:ea typeface="Calibri"/>
              <a:cs typeface="Calibri"/>
              <a:sym typeface="Calibri"/>
            </a:endParaRPr>
          </a:p>
        </p:txBody>
      </p:sp>
      <p:sp>
        <p:nvSpPr>
          <p:cNvPr id="142" name="Google Shape;142;p13"/>
          <p:cNvSpPr/>
          <p:nvPr/>
        </p:nvSpPr>
        <p:spPr>
          <a:xfrm>
            <a:off x="548640" y="3621024"/>
            <a:ext cx="11094300" cy="859500"/>
          </a:xfrm>
          <a:prstGeom prst="rect">
            <a:avLst/>
          </a:prstGeom>
          <a:noFill/>
          <a:ln>
            <a:noFill/>
          </a:ln>
        </p:spPr>
        <p:txBody>
          <a:bodyPr anchorCtr="0" anchor="t" bIns="45700" lIns="91425" spcFirstLastPara="1" rIns="91425" wrap="square" tIns="45700">
            <a:noAutofit/>
          </a:bodyPr>
          <a:lstStyle/>
          <a:p>
            <a:pPr indent="-254000" lvl="0" marL="254000" marR="0" rtl="0" algn="l">
              <a:spcBef>
                <a:spcPts val="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Giáo viên AI người Việt → tập trung vào kiến thức/ngữ pháp chuyên sâu.</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Giáo viên AI bản xứ Anh/Mỹ → tăng cơ hội luyện giao tiếp.</a:t>
            </a:r>
            <a:endParaRPr b="0" i="0" sz="1600" u="none" cap="none" strike="noStrike">
              <a:solidFill>
                <a:schemeClr val="dk1"/>
              </a:solidFill>
              <a:latin typeface="Calibri"/>
              <a:ea typeface="Calibri"/>
              <a:cs typeface="Calibri"/>
              <a:sym typeface="Calibri"/>
            </a:endParaRPr>
          </a:p>
        </p:txBody>
      </p:sp>
      <p:sp>
        <p:nvSpPr>
          <p:cNvPr id="143" name="Google Shape;143;p13"/>
          <p:cNvSpPr/>
          <p:nvPr/>
        </p:nvSpPr>
        <p:spPr>
          <a:xfrm>
            <a:off x="548640" y="4663440"/>
            <a:ext cx="11094300" cy="1426500"/>
          </a:xfrm>
          <a:prstGeom prst="roundRect">
            <a:avLst>
              <a:gd fmla="val 3846" name="adj"/>
            </a:avLst>
          </a:prstGeom>
          <a:solidFill>
            <a:srgbClr val="EAF1DC"/>
          </a:solidFill>
          <a:ln cap="flat" cmpd="sng" w="12700">
            <a:solidFill>
              <a:srgbClr val="A5BE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3"/>
          <p:cNvSpPr/>
          <p:nvPr/>
        </p:nvSpPr>
        <p:spPr>
          <a:xfrm>
            <a:off x="731520" y="4773168"/>
            <a:ext cx="10728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D5A1F"/>
              </a:buClr>
              <a:buSzPts val="1100"/>
              <a:buFont typeface="Arial"/>
              <a:buNone/>
            </a:pPr>
            <a:r>
              <a:rPr b="1" i="0" lang="en-US" sz="1100" u="none" cap="none" strike="noStrike">
                <a:solidFill>
                  <a:srgbClr val="3D5A1F"/>
                </a:solidFill>
                <a:latin typeface="Arial"/>
                <a:ea typeface="Arial"/>
                <a:cs typeface="Arial"/>
                <a:sym typeface="Arial"/>
              </a:rPr>
              <a:t>CÁCH NÓI VỚI PHỤ HUYNH</a:t>
            </a:r>
            <a:endParaRPr b="0" i="0" sz="1100" u="none" cap="none" strike="noStrike">
              <a:solidFill>
                <a:schemeClr val="dk1"/>
              </a:solidFill>
              <a:latin typeface="Calibri"/>
              <a:ea typeface="Calibri"/>
              <a:cs typeface="Calibri"/>
              <a:sym typeface="Calibri"/>
            </a:endParaRPr>
          </a:p>
        </p:txBody>
      </p:sp>
      <p:sp>
        <p:nvSpPr>
          <p:cNvPr id="145" name="Google Shape;145;p13"/>
          <p:cNvSpPr/>
          <p:nvPr/>
        </p:nvSpPr>
        <p:spPr>
          <a:xfrm>
            <a:off x="731520" y="5047488"/>
            <a:ext cx="10728600" cy="9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3D0F"/>
              </a:buClr>
              <a:buSzPts val="1600"/>
              <a:buFont typeface="Arial"/>
              <a:buNone/>
            </a:pPr>
            <a:r>
              <a:rPr b="0" i="1" lang="en-US" sz="1600" u="none" cap="none" strike="noStrike">
                <a:solidFill>
                  <a:srgbClr val="1F3D0F"/>
                </a:solidFill>
                <a:latin typeface="Arial"/>
                <a:ea typeface="Arial"/>
                <a:cs typeface="Arial"/>
                <a:sym typeface="Arial"/>
              </a:rPr>
              <a:t>"Không phải con nào cũng học cùng một cách. Ngay từ đầu Edupia sẽ xác định trình độ của con để lựa chọn cách học phù hợp. Con đang yếu thì được hướng dẫn kỹ hơn; con khá giỏi thì có thêm phần nâng cao và giao tiếp."</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 name="Shape 150"/>
        <p:cNvGrpSpPr/>
        <p:nvPr/>
      </p:nvGrpSpPr>
      <p:grpSpPr>
        <a:xfrm>
          <a:off x="0" y="0"/>
          <a:ext cx="0" cy="0"/>
          <a:chOff x="0" y="0"/>
          <a:chExt cx="0" cy="0"/>
        </a:xfrm>
      </p:grpSpPr>
      <p:sp>
        <p:nvSpPr>
          <p:cNvPr id="151" name="Google Shape;151;p14"/>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4"/>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5 giá trị dành cho con và bố mẹ (tiếp)</a:t>
            </a:r>
            <a:endParaRPr b="0" i="0" sz="2200" u="none" cap="none" strike="noStrike">
              <a:solidFill>
                <a:schemeClr val="dk1"/>
              </a:solidFill>
              <a:latin typeface="Calibri"/>
              <a:ea typeface="Calibri"/>
              <a:cs typeface="Calibri"/>
              <a:sym typeface="Calibri"/>
            </a:endParaRPr>
          </a:p>
        </p:txBody>
      </p:sp>
      <p:cxnSp>
        <p:nvCxnSpPr>
          <p:cNvPr id="153" name="Google Shape;153;p14"/>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sp>
        <p:nvSpPr>
          <p:cNvPr id="154" name="Google Shape;154;p14"/>
          <p:cNvSpPr/>
          <p:nvPr/>
        </p:nvSpPr>
        <p:spPr>
          <a:xfrm>
            <a:off x="548640" y="1472184"/>
            <a:ext cx="11094300" cy="9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3. Con thích học hơn — học vừa sức, làm được, thấy mình tiến bộ. </a:t>
            </a:r>
            <a:r>
              <a:rPr b="0" i="0" lang="en-US" sz="1600" u="none" cap="none" strike="noStrike">
                <a:solidFill>
                  <a:srgbClr val="1F2A33"/>
                </a:solidFill>
                <a:latin typeface="Arial"/>
                <a:ea typeface="Arial"/>
                <a:cs typeface="Arial"/>
                <a:sym typeface="Arial"/>
              </a:rPr>
              <a:t>Nếu bài quá khó, con dễ nản. Nếu bài quá dễ, con dễ chán. Nội dung học được điều chỉnh theo khả năng và kết quả của từng con. Trong buổi học, con còn được tham gia các hoạt động tương tác và trò chơi để việc luyện tập bớt khô khan.</a:t>
            </a:r>
            <a:endParaRPr b="0" i="0" sz="1600" u="none" cap="none" strike="noStrike">
              <a:solidFill>
                <a:schemeClr val="dk1"/>
              </a:solidFill>
              <a:latin typeface="Calibri"/>
              <a:ea typeface="Calibri"/>
              <a:cs typeface="Calibri"/>
              <a:sym typeface="Calibri"/>
            </a:endParaRPr>
          </a:p>
        </p:txBody>
      </p:sp>
      <p:sp>
        <p:nvSpPr>
          <p:cNvPr id="155" name="Google Shape;155;p14"/>
          <p:cNvSpPr/>
          <p:nvPr/>
        </p:nvSpPr>
        <p:spPr>
          <a:xfrm>
            <a:off x="548640" y="2624328"/>
            <a:ext cx="54900" cy="786300"/>
          </a:xfrm>
          <a:prstGeom prst="rect">
            <a:avLst/>
          </a:prstGeom>
          <a:solidFill>
            <a:srgbClr val="A5BE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4"/>
          <p:cNvSpPr/>
          <p:nvPr/>
        </p:nvSpPr>
        <p:spPr>
          <a:xfrm>
            <a:off x="777240" y="2624328"/>
            <a:ext cx="10865700" cy="786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0" i="1" lang="en-US" sz="1600" u="none" cap="none" strike="noStrike">
                <a:solidFill>
                  <a:srgbClr val="004671"/>
                </a:solidFill>
                <a:latin typeface="Arial"/>
                <a:ea typeface="Arial"/>
                <a:cs typeface="Arial"/>
                <a:sym typeface="Arial"/>
              </a:rPr>
              <a:t>Bố mẹ nhận được: con dễ có cảm giác "con làm được", từ đó có động lực học tiếp thay vì phải nhắc con liên tục.</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 name="Shape 161"/>
        <p:cNvGrpSpPr/>
        <p:nvPr/>
      </p:nvGrpSpPr>
      <p:grpSpPr>
        <a:xfrm>
          <a:off x="0" y="0"/>
          <a:ext cx="0" cy="0"/>
          <a:chOff x="0" y="0"/>
          <a:chExt cx="0" cy="0"/>
        </a:xfrm>
      </p:grpSpPr>
      <p:sp>
        <p:nvSpPr>
          <p:cNvPr id="162" name="Google Shape;162;p15"/>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5"/>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5 giá trị dành cho con và bố mẹ (tiếp)</a:t>
            </a:r>
            <a:endParaRPr b="0" i="0" sz="2200" u="none" cap="none" strike="noStrike">
              <a:solidFill>
                <a:schemeClr val="dk1"/>
              </a:solidFill>
              <a:latin typeface="Calibri"/>
              <a:ea typeface="Calibri"/>
              <a:cs typeface="Calibri"/>
              <a:sym typeface="Calibri"/>
            </a:endParaRPr>
          </a:p>
        </p:txBody>
      </p:sp>
      <p:cxnSp>
        <p:nvCxnSpPr>
          <p:cNvPr id="164" name="Google Shape;164;p15"/>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sp>
        <p:nvSpPr>
          <p:cNvPr id="165" name="Google Shape;165;p15"/>
          <p:cNvSpPr/>
          <p:nvPr/>
        </p:nvSpPr>
        <p:spPr>
          <a:xfrm>
            <a:off x="548640" y="1371600"/>
            <a:ext cx="11094300" cy="42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4. Bố mẹ yên tâm giao phó con — có người theo sát con, bố mẹ luôn biết con đang học thế nào. </a:t>
            </a:r>
            <a:endParaRPr b="0" i="0" sz="1600" u="none" cap="none" strike="noStrike">
              <a:solidFill>
                <a:schemeClr val="dk1"/>
              </a:solidFill>
              <a:latin typeface="Calibri"/>
              <a:ea typeface="Calibri"/>
              <a:cs typeface="Calibri"/>
              <a:sym typeface="Calibri"/>
            </a:endParaRPr>
          </a:p>
        </p:txBody>
      </p:sp>
      <p:sp>
        <p:nvSpPr>
          <p:cNvPr id="166" name="Google Shape;166;p15"/>
          <p:cNvSpPr/>
          <p:nvPr/>
        </p:nvSpPr>
        <p:spPr>
          <a:xfrm>
            <a:off x="548640" y="1822704"/>
            <a:ext cx="110943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Con có:</a:t>
            </a:r>
            <a:endParaRPr b="0" i="0" sz="1600" u="none" cap="none" strike="noStrike">
              <a:solidFill>
                <a:schemeClr val="dk1"/>
              </a:solidFill>
              <a:latin typeface="Calibri"/>
              <a:ea typeface="Calibri"/>
              <a:cs typeface="Calibri"/>
              <a:sym typeface="Calibri"/>
            </a:endParaRPr>
          </a:p>
        </p:txBody>
      </p:sp>
      <p:sp>
        <p:nvSpPr>
          <p:cNvPr id="167" name="Google Shape;167;p15"/>
          <p:cNvSpPr/>
          <p:nvPr/>
        </p:nvSpPr>
        <p:spPr>
          <a:xfrm>
            <a:off x="548640" y="2243328"/>
            <a:ext cx="11094300" cy="1591200"/>
          </a:xfrm>
          <a:prstGeom prst="rect">
            <a:avLst/>
          </a:prstGeom>
          <a:noFill/>
          <a:ln>
            <a:noFill/>
          </a:ln>
        </p:spPr>
        <p:txBody>
          <a:bodyPr anchorCtr="0" anchor="t" bIns="45700" lIns="91425" spcFirstLastPara="1" rIns="91425" wrap="square" tIns="45700">
            <a:noAutofit/>
          </a:bodyPr>
          <a:lstStyle/>
          <a:p>
            <a:pPr indent="-254000" lvl="0" marL="254000" marR="0" rtl="0" algn="l">
              <a:spcBef>
                <a:spcPts val="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Người kèm riêng 1-1.</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Giáo viên chủ nhiệm đồng hành.</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Người nhắc lịch và động viên.</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Người hỗ trợ khi con gặp khó khăn.</a:t>
            </a:r>
            <a:endParaRPr b="0" i="0" sz="1600" u="none" cap="none" strike="noStrike">
              <a:solidFill>
                <a:schemeClr val="dk1"/>
              </a:solidFill>
              <a:latin typeface="Calibri"/>
              <a:ea typeface="Calibri"/>
              <a:cs typeface="Calibri"/>
              <a:sym typeface="Calibri"/>
            </a:endParaRPr>
          </a:p>
        </p:txBody>
      </p:sp>
      <p:sp>
        <p:nvSpPr>
          <p:cNvPr id="168" name="Google Shape;168;p15"/>
          <p:cNvSpPr/>
          <p:nvPr/>
        </p:nvSpPr>
        <p:spPr>
          <a:xfrm>
            <a:off x="548640" y="3864864"/>
            <a:ext cx="110943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Bố mẹ có — sổ liên lạc điện tử, theo dõi được:</a:t>
            </a:r>
            <a:endParaRPr b="0" i="0" sz="1600" u="none" cap="none" strike="noStrike">
              <a:solidFill>
                <a:schemeClr val="dk1"/>
              </a:solidFill>
              <a:latin typeface="Calibri"/>
              <a:ea typeface="Calibri"/>
              <a:cs typeface="Calibri"/>
              <a:sym typeface="Calibri"/>
            </a:endParaRPr>
          </a:p>
        </p:txBody>
      </p:sp>
      <p:sp>
        <p:nvSpPr>
          <p:cNvPr id="169" name="Google Shape;169;p15"/>
          <p:cNvSpPr/>
          <p:nvPr/>
        </p:nvSpPr>
        <p:spPr>
          <a:xfrm>
            <a:off x="548650" y="4267200"/>
            <a:ext cx="11094300" cy="1404900"/>
          </a:xfrm>
          <a:prstGeom prst="rect">
            <a:avLst/>
          </a:prstGeom>
          <a:noFill/>
          <a:ln>
            <a:noFill/>
          </a:ln>
        </p:spPr>
        <p:txBody>
          <a:bodyPr anchorCtr="0" anchor="t" bIns="45700" lIns="91425" spcFirstLastPara="1" rIns="91425" wrap="square" tIns="45700">
            <a:noAutofit/>
          </a:bodyPr>
          <a:lstStyle/>
          <a:p>
            <a:pPr indent="-254000" lvl="0" marL="254000" marR="0" rtl="0" algn="l">
              <a:spcBef>
                <a:spcPts val="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Con đang học gì.</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Con mạnh ở đâu</a:t>
            </a:r>
            <a:r>
              <a:rPr lang="en-US" sz="1600">
                <a:solidFill>
                  <a:srgbClr val="1F2A33"/>
                </a:solidFill>
              </a:rPr>
              <a:t>, c</a:t>
            </a:r>
            <a:r>
              <a:rPr b="0" i="0" lang="en-US" sz="1600" u="none" cap="none" strike="noStrike">
                <a:solidFill>
                  <a:srgbClr val="1F2A33"/>
                </a:solidFill>
                <a:latin typeface="Arial"/>
                <a:ea typeface="Arial"/>
                <a:cs typeface="Arial"/>
                <a:sym typeface="Arial"/>
              </a:rPr>
              <a:t>on còn yếu ở đâu.</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Kết quả học tập.</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Mức độ tiến bộ</a:t>
            </a:r>
            <a:endParaRPr b="0" i="0" sz="1600" u="none" cap="none" strike="noStrike">
              <a:solidFill>
                <a:schemeClr val="dk1"/>
              </a:solidFill>
              <a:latin typeface="Calibri"/>
              <a:ea typeface="Calibri"/>
              <a:cs typeface="Calibri"/>
              <a:sym typeface="Calibri"/>
            </a:endParaRPr>
          </a:p>
        </p:txBody>
      </p:sp>
      <p:sp>
        <p:nvSpPr>
          <p:cNvPr id="170" name="Google Shape;170;p15"/>
          <p:cNvSpPr/>
          <p:nvPr/>
        </p:nvSpPr>
        <p:spPr>
          <a:xfrm>
            <a:off x="548640" y="5705856"/>
            <a:ext cx="54900" cy="786300"/>
          </a:xfrm>
          <a:prstGeom prst="rect">
            <a:avLst/>
          </a:prstGeom>
          <a:solidFill>
            <a:srgbClr val="A5BE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5"/>
          <p:cNvSpPr/>
          <p:nvPr/>
        </p:nvSpPr>
        <p:spPr>
          <a:xfrm>
            <a:off x="777240" y="5705856"/>
            <a:ext cx="10865700" cy="786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0" i="1" lang="en-US" sz="1600" u="none" cap="none" strike="noStrike">
                <a:solidFill>
                  <a:srgbClr val="004671"/>
                </a:solidFill>
                <a:latin typeface="Arial"/>
                <a:ea typeface="Arial"/>
                <a:cs typeface="Arial"/>
                <a:sym typeface="Arial"/>
              </a:rPr>
              <a:t>Bố mẹ nhận được: không cần ngồi cạnh con mỗi ngày nhưng vẫn biết con đang học thế nào.</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 name="Shape 176"/>
        <p:cNvGrpSpPr/>
        <p:nvPr/>
      </p:nvGrpSpPr>
      <p:grpSpPr>
        <a:xfrm>
          <a:off x="0" y="0"/>
          <a:ext cx="0" cy="0"/>
          <a:chOff x="0" y="0"/>
          <a:chExt cx="0" cy="0"/>
        </a:xfrm>
      </p:grpSpPr>
      <p:sp>
        <p:nvSpPr>
          <p:cNvPr id="177" name="Google Shape;177;p16"/>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6"/>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5 giá trị dành cho con và bố mẹ (tiếp)</a:t>
            </a:r>
            <a:endParaRPr b="0" i="0" sz="2200" u="none" cap="none" strike="noStrike">
              <a:solidFill>
                <a:schemeClr val="dk1"/>
              </a:solidFill>
              <a:latin typeface="Calibri"/>
              <a:ea typeface="Calibri"/>
              <a:cs typeface="Calibri"/>
              <a:sym typeface="Calibri"/>
            </a:endParaRPr>
          </a:p>
        </p:txBody>
      </p:sp>
      <p:cxnSp>
        <p:nvCxnSpPr>
          <p:cNvPr id="179" name="Google Shape;179;p16"/>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sp>
        <p:nvSpPr>
          <p:cNvPr id="180" name="Google Shape;180;p16"/>
          <p:cNvSpPr/>
          <p:nvPr/>
        </p:nvSpPr>
        <p:spPr>
          <a:xfrm>
            <a:off x="548640" y="1493520"/>
            <a:ext cx="11094300" cy="42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5. Con tự tin nói tiếng Anh — được nói nhiều, nói sai được sửa, nói dần sẽ tự tin. </a:t>
            </a:r>
            <a:endParaRPr b="0" i="0" sz="1600" u="none" cap="none" strike="noStrike">
              <a:solidFill>
                <a:schemeClr val="dk1"/>
              </a:solidFill>
              <a:latin typeface="Calibri"/>
              <a:ea typeface="Calibri"/>
              <a:cs typeface="Calibri"/>
              <a:sym typeface="Calibri"/>
            </a:endParaRPr>
          </a:p>
        </p:txBody>
      </p:sp>
      <p:sp>
        <p:nvSpPr>
          <p:cNvPr id="181" name="Google Shape;181;p16"/>
          <p:cNvSpPr/>
          <p:nvPr/>
        </p:nvSpPr>
        <p:spPr>
          <a:xfrm>
            <a:off x="548640" y="2020824"/>
            <a:ext cx="110943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Con được luyện nói thường xuyên thông qua:</a:t>
            </a:r>
            <a:endParaRPr b="0" i="0" sz="1600" u="none" cap="none" strike="noStrike">
              <a:solidFill>
                <a:schemeClr val="dk1"/>
              </a:solidFill>
              <a:latin typeface="Calibri"/>
              <a:ea typeface="Calibri"/>
              <a:cs typeface="Calibri"/>
              <a:sym typeface="Calibri"/>
            </a:endParaRPr>
          </a:p>
        </p:txBody>
      </p:sp>
      <p:sp>
        <p:nvSpPr>
          <p:cNvPr id="182" name="Google Shape;182;p16"/>
          <p:cNvSpPr/>
          <p:nvPr/>
        </p:nvSpPr>
        <p:spPr>
          <a:xfrm>
            <a:off x="548640" y="2438400"/>
            <a:ext cx="11094300" cy="2322600"/>
          </a:xfrm>
          <a:prstGeom prst="rect">
            <a:avLst/>
          </a:prstGeom>
          <a:noFill/>
          <a:ln>
            <a:noFill/>
          </a:ln>
        </p:spPr>
        <p:txBody>
          <a:bodyPr anchorCtr="0" anchor="t" bIns="45700" lIns="91425" spcFirstLastPara="1" rIns="91425" wrap="square" tIns="45700">
            <a:noAutofit/>
          </a:bodyPr>
          <a:lstStyle/>
          <a:p>
            <a:pPr indent="-254000" lvl="0" marL="254000" marR="0" rtl="0" algn="l">
              <a:spcBef>
                <a:spcPts val="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Hội thoại.</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Đóng vai.</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Tình huống thực tế.</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Gợi ý khi con chưa biết nói.</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Sửa phát âm.</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Luyện lại những câu con chưa nói tốt.</a:t>
            </a:r>
            <a:endParaRPr b="0" i="0" sz="1600" u="none" cap="none" strike="noStrike">
              <a:solidFill>
                <a:schemeClr val="dk1"/>
              </a:solidFill>
              <a:latin typeface="Calibri"/>
              <a:ea typeface="Calibri"/>
              <a:cs typeface="Calibri"/>
              <a:sym typeface="Calibri"/>
            </a:endParaRPr>
          </a:p>
        </p:txBody>
      </p:sp>
      <p:sp>
        <p:nvSpPr>
          <p:cNvPr id="183" name="Google Shape;183;p16"/>
          <p:cNvSpPr/>
          <p:nvPr/>
        </p:nvSpPr>
        <p:spPr>
          <a:xfrm>
            <a:off x="548650" y="4943851"/>
            <a:ext cx="11094300" cy="54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A33"/>
              </a:buClr>
              <a:buSzPts val="1600"/>
              <a:buFont typeface="Arial"/>
              <a:buNone/>
            </a:pPr>
            <a:r>
              <a:rPr b="0" i="0" lang="en-US" sz="1600" u="none" cap="none" strike="noStrike">
                <a:solidFill>
                  <a:srgbClr val="1F2A33"/>
                </a:solidFill>
                <a:latin typeface="Arial"/>
                <a:ea typeface="Arial"/>
                <a:cs typeface="Arial"/>
                <a:sym typeface="Arial"/>
              </a:rPr>
              <a:t>Với học sinh khá/giỏi, con còn có buổi học với giáo viên AI bản xứ Anh/Mỹ để tăng cơ hội luyện giao tiếp.</a:t>
            </a:r>
            <a:endParaRPr b="0" i="0" sz="1600" u="none" cap="none" strike="noStrike">
              <a:solidFill>
                <a:schemeClr val="dk1"/>
              </a:solidFill>
              <a:latin typeface="Calibri"/>
              <a:ea typeface="Calibri"/>
              <a:cs typeface="Calibri"/>
              <a:sym typeface="Calibri"/>
            </a:endParaRPr>
          </a:p>
        </p:txBody>
      </p:sp>
      <p:sp>
        <p:nvSpPr>
          <p:cNvPr id="184" name="Google Shape;184;p16"/>
          <p:cNvSpPr/>
          <p:nvPr/>
        </p:nvSpPr>
        <p:spPr>
          <a:xfrm>
            <a:off x="548640" y="5593080"/>
            <a:ext cx="54900" cy="786300"/>
          </a:xfrm>
          <a:prstGeom prst="rect">
            <a:avLst/>
          </a:prstGeom>
          <a:solidFill>
            <a:srgbClr val="A5BE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6"/>
          <p:cNvSpPr/>
          <p:nvPr/>
        </p:nvSpPr>
        <p:spPr>
          <a:xfrm>
            <a:off x="777240" y="5593080"/>
            <a:ext cx="10865700" cy="786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0" i="1" lang="en-US" sz="1600" u="none" cap="none" strike="noStrike">
                <a:solidFill>
                  <a:srgbClr val="004671"/>
                </a:solidFill>
                <a:latin typeface="Arial"/>
                <a:ea typeface="Arial"/>
                <a:cs typeface="Arial"/>
                <a:sym typeface="Arial"/>
              </a:rPr>
              <a:t>Bố mẹ nhận được: con không chỉ học để làm bài mà còn có cơ hội sử dụng tiếng Anh thường xuyên hơn.</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0" name="Shape 190"/>
        <p:cNvGrpSpPr/>
        <p:nvPr/>
      </p:nvGrpSpPr>
      <p:grpSpPr>
        <a:xfrm>
          <a:off x="0" y="0"/>
          <a:ext cx="0" cy="0"/>
          <a:chOff x="0" y="0"/>
          <a:chExt cx="0" cy="0"/>
        </a:xfrm>
      </p:grpSpPr>
      <p:sp>
        <p:nvSpPr>
          <p:cNvPr id="191" name="Google Shape;191;p17"/>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7"/>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Từ điều bố mẹ muốn → giá trị Edupia mang lại</a:t>
            </a:r>
            <a:endParaRPr b="0" i="0" sz="2200" u="none" cap="none" strike="noStrike">
              <a:solidFill>
                <a:schemeClr val="dk1"/>
              </a:solidFill>
              <a:latin typeface="Calibri"/>
              <a:ea typeface="Calibri"/>
              <a:cs typeface="Calibri"/>
              <a:sym typeface="Calibri"/>
            </a:endParaRPr>
          </a:p>
        </p:txBody>
      </p:sp>
      <p:cxnSp>
        <p:nvCxnSpPr>
          <p:cNvPr id="193" name="Google Shape;193;p17"/>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graphicFrame>
        <p:nvGraphicFramePr>
          <p:cNvPr id="194" name="Google Shape;194;p17"/>
          <p:cNvGraphicFramePr/>
          <p:nvPr/>
        </p:nvGraphicFramePr>
        <p:xfrm>
          <a:off x="548640" y="1371600"/>
          <a:ext cx="3000000" cy="3000000"/>
        </p:xfrm>
        <a:graphic>
          <a:graphicData uri="http://schemas.openxmlformats.org/drawingml/2006/table">
            <a:tbl>
              <a:tblPr>
                <a:noFill/>
                <a:tableStyleId>{6A87B15F-54B6-4826-A0DF-81480C40843C}</a:tableStyleId>
              </a:tblPr>
              <a:tblGrid>
                <a:gridCol w="5229050"/>
                <a:gridCol w="5865250"/>
              </a:tblGrid>
              <a:tr h="184150">
                <a:tc>
                  <a:txBody>
                    <a:bodyPr/>
                    <a:lstStyle/>
                    <a:p>
                      <a:pPr indent="0" lvl="0" marL="0" marR="0" rtl="0" algn="l">
                        <a:spcBef>
                          <a:spcPts val="0"/>
                        </a:spcBef>
                        <a:spcAft>
                          <a:spcPts val="0"/>
                        </a:spcAft>
                        <a:buClr>
                          <a:srgbClr val="FFFFFF"/>
                        </a:buClr>
                        <a:buSzPts val="1450"/>
                        <a:buFont typeface="Arial"/>
                        <a:buNone/>
                      </a:pPr>
                      <a:r>
                        <a:rPr b="1" lang="en-US" sz="1450" u="none" cap="none" strike="noStrike">
                          <a:solidFill>
                            <a:srgbClr val="FFFFFF"/>
                          </a:solidFill>
                          <a:latin typeface="Arial"/>
                          <a:ea typeface="Arial"/>
                          <a:cs typeface="Arial"/>
                          <a:sym typeface="Arial"/>
                        </a:rPr>
                        <a:t>Bố mẹ mong muốn</a:t>
                      </a:r>
                      <a:endParaRPr sz="1450" u="none" cap="none" strike="noStrike">
                        <a:latin typeface="Arial"/>
                        <a:ea typeface="Arial"/>
                        <a:cs typeface="Arial"/>
                        <a:sym typeface="Arial"/>
                      </a:endParaRPr>
                    </a:p>
                  </a:txBody>
                  <a:tcPr marT="45725" marB="45725" marR="91450" marL="91450" anchor="ctr">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004671"/>
                    </a:solidFill>
                  </a:tcPr>
                </a:tc>
                <a:tc>
                  <a:txBody>
                    <a:bodyPr/>
                    <a:lstStyle/>
                    <a:p>
                      <a:pPr indent="0" lvl="0" marL="0" marR="0" rtl="0" algn="l">
                        <a:spcBef>
                          <a:spcPts val="0"/>
                        </a:spcBef>
                        <a:spcAft>
                          <a:spcPts val="0"/>
                        </a:spcAft>
                        <a:buClr>
                          <a:srgbClr val="FFFFFF"/>
                        </a:buClr>
                        <a:buSzPts val="1450"/>
                        <a:buFont typeface="Arial"/>
                        <a:buNone/>
                      </a:pPr>
                      <a:r>
                        <a:rPr b="1" lang="en-US" sz="1450" u="none" cap="none" strike="noStrike">
                          <a:solidFill>
                            <a:srgbClr val="FFFFFF"/>
                          </a:solidFill>
                          <a:latin typeface="Arial"/>
                          <a:ea typeface="Arial"/>
                          <a:cs typeface="Arial"/>
                          <a:sym typeface="Arial"/>
                        </a:rPr>
                        <a:t>Edupia giúp con</a:t>
                      </a:r>
                      <a:endParaRPr sz="1450" u="none" cap="none" strike="noStrike">
                        <a:latin typeface="Arial"/>
                        <a:ea typeface="Arial"/>
                        <a:cs typeface="Arial"/>
                        <a:sym typeface="Arial"/>
                      </a:endParaRPr>
                    </a:p>
                  </a:txBody>
                  <a:tcPr marT="45725" marB="45725" marR="91450" marL="91450" anchor="ctr">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004671"/>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Con học giỏi hơn</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Con yếu đâu — được kèm đúng đó</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Con được học tr</a:t>
                      </a:r>
                      <a:r>
                        <a:rPr lang="en-US">
                          <a:solidFill>
                            <a:srgbClr val="1F2A33"/>
                          </a:solidFill>
                        </a:rPr>
                        <a:t>ực tiếp </a:t>
                      </a:r>
                      <a:r>
                        <a:rPr lang="en-US" sz="1400" u="none" cap="none" strike="noStrike">
                          <a:solidFill>
                            <a:srgbClr val="1F2A33"/>
                          </a:solidFill>
                          <a:latin typeface="Arial"/>
                          <a:ea typeface="Arial"/>
                          <a:cs typeface="Arial"/>
                          <a:sym typeface="Arial"/>
                        </a:rPr>
                        <a:t>với </a:t>
                      </a:r>
                      <a:r>
                        <a:rPr lang="en-US">
                          <a:solidFill>
                            <a:srgbClr val="1F2A33"/>
                          </a:solidFill>
                        </a:rPr>
                        <a:t>giáo viên</a:t>
                      </a:r>
                      <a:r>
                        <a:rPr lang="en-US" sz="1400" u="none" cap="none" strike="noStrike">
                          <a:solidFill>
                            <a:srgbClr val="1F2A33"/>
                          </a:solidFill>
                          <a:latin typeface="Arial"/>
                          <a:ea typeface="Arial"/>
                          <a:cs typeface="Arial"/>
                          <a:sym typeface="Arial"/>
                        </a:rPr>
                        <a:t> giỏi</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Được phân loại trình độ — học với </a:t>
                      </a:r>
                      <a:r>
                        <a:rPr lang="en-US">
                          <a:solidFill>
                            <a:srgbClr val="1F2A33"/>
                          </a:solidFill>
                        </a:rPr>
                        <a:t>giáo viên giỏi và </a:t>
                      </a:r>
                      <a:r>
                        <a:rPr lang="en-US" sz="1400" u="none" cap="none" strike="noStrike">
                          <a:solidFill>
                            <a:srgbClr val="1F2A33"/>
                          </a:solidFill>
                          <a:latin typeface="Arial"/>
                          <a:ea typeface="Arial"/>
                          <a:cs typeface="Arial"/>
                          <a:sym typeface="Arial"/>
                        </a:rPr>
                        <a:t>phù hợp v</a:t>
                      </a:r>
                      <a:r>
                        <a:rPr lang="en-US">
                          <a:solidFill>
                            <a:srgbClr val="1F2A33"/>
                          </a:solidFill>
                        </a:rPr>
                        <a:t>ới trình độ của con</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Con thích học hơn</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Học vừa sức — tương tác nhiều — thấy mình tiến bộ</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Bố mẹ yên tâm giao phó</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Có người theo sát — bố mẹ luôn biết con đang học thế nào</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Con tự tin nói tiếng Anh</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Được nói nhiều — được sửa — luyện thường xuyên</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r>
            </a:tbl>
          </a:graphicData>
        </a:graphic>
      </p:graphicFrame>
      <p:sp>
        <p:nvSpPr>
          <p:cNvPr id="195" name="Google Shape;195;p17"/>
          <p:cNvSpPr/>
          <p:nvPr/>
        </p:nvSpPr>
        <p:spPr>
          <a:xfrm>
            <a:off x="548640" y="4361688"/>
            <a:ext cx="54900" cy="786300"/>
          </a:xfrm>
          <a:prstGeom prst="rect">
            <a:avLst/>
          </a:prstGeom>
          <a:solidFill>
            <a:srgbClr val="A5BE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7"/>
          <p:cNvSpPr/>
          <p:nvPr/>
        </p:nvSpPr>
        <p:spPr>
          <a:xfrm>
            <a:off x="777240" y="4361688"/>
            <a:ext cx="10865700" cy="786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i="1" lang="en-US" sz="1600">
                <a:solidFill>
                  <a:srgbClr val="004671"/>
                </a:solidFill>
              </a:rPr>
              <a:t>C</a:t>
            </a:r>
            <a:r>
              <a:rPr b="0" i="1" lang="en-US" sz="1600" u="none" cap="none" strike="noStrike">
                <a:solidFill>
                  <a:srgbClr val="004671"/>
                </a:solidFill>
                <a:latin typeface="Arial"/>
                <a:ea typeface="Arial"/>
                <a:cs typeface="Arial"/>
                <a:sym typeface="Arial"/>
              </a:rPr>
              <a:t>on yếu đâu → được phát hiện → học/kèm đúng chỗ → luyện → sửa → theo dõi tiến bộ.</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 name="Shape 201"/>
        <p:cNvGrpSpPr/>
        <p:nvPr/>
      </p:nvGrpSpPr>
      <p:grpSpPr>
        <a:xfrm>
          <a:off x="0" y="0"/>
          <a:ext cx="0" cy="0"/>
          <a:chOff x="0" y="0"/>
          <a:chExt cx="0" cy="0"/>
        </a:xfrm>
      </p:grpSpPr>
      <p:sp>
        <p:nvSpPr>
          <p:cNvPr id="202" name="Google Shape;202;p18"/>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8"/>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So với những lựa chọn hiện tại</a:t>
            </a:r>
            <a:endParaRPr b="0" i="0" sz="2200" u="none" cap="none" strike="noStrike">
              <a:solidFill>
                <a:schemeClr val="dk1"/>
              </a:solidFill>
              <a:latin typeface="Calibri"/>
              <a:ea typeface="Calibri"/>
              <a:cs typeface="Calibri"/>
              <a:sym typeface="Calibri"/>
            </a:endParaRPr>
          </a:p>
        </p:txBody>
      </p:sp>
      <p:cxnSp>
        <p:nvCxnSpPr>
          <p:cNvPr id="204" name="Google Shape;204;p18"/>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graphicFrame>
        <p:nvGraphicFramePr>
          <p:cNvPr id="205" name="Google Shape;205;p18"/>
          <p:cNvGraphicFramePr/>
          <p:nvPr/>
        </p:nvGraphicFramePr>
        <p:xfrm>
          <a:off x="548640" y="1371600"/>
          <a:ext cx="3000000" cy="3000000"/>
        </p:xfrm>
        <a:graphic>
          <a:graphicData uri="http://schemas.openxmlformats.org/drawingml/2006/table">
            <a:tbl>
              <a:tblPr>
                <a:noFill/>
                <a:tableStyleId>{6A87B15F-54B6-4826-A0DF-81480C40843C}</a:tableStyleId>
              </a:tblPr>
              <a:tblGrid>
                <a:gridCol w="2862075"/>
                <a:gridCol w="2103125"/>
                <a:gridCol w="2103125"/>
                <a:gridCol w="2011675"/>
                <a:gridCol w="2011675"/>
              </a:tblGrid>
              <a:tr h="184150">
                <a:tc>
                  <a:txBody>
                    <a:bodyPr/>
                    <a:lstStyle/>
                    <a:p>
                      <a:pPr indent="0" lvl="0" marL="0" marR="0" rtl="0" algn="l">
                        <a:spcBef>
                          <a:spcPts val="0"/>
                        </a:spcBef>
                        <a:spcAft>
                          <a:spcPts val="0"/>
                        </a:spcAft>
                        <a:buClr>
                          <a:schemeClr val="dk1"/>
                        </a:buClr>
                        <a:buSzPts val="1450"/>
                        <a:buFont typeface="Calibri"/>
                        <a:buNone/>
                      </a:pPr>
                      <a:r>
                        <a:t/>
                      </a:r>
                      <a:endParaRPr sz="1450" u="none" cap="none" strike="noStrike">
                        <a:latin typeface="Arial"/>
                        <a:ea typeface="Arial"/>
                        <a:cs typeface="Arial"/>
                        <a:sym typeface="Arial"/>
                      </a:endParaRPr>
                    </a:p>
                  </a:txBody>
                  <a:tcPr marT="45725" marB="45725" marR="91450" marL="91450" anchor="ctr">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004671"/>
                    </a:solidFill>
                  </a:tcPr>
                </a:tc>
                <a:tc>
                  <a:txBody>
                    <a:bodyPr/>
                    <a:lstStyle/>
                    <a:p>
                      <a:pPr indent="0" lvl="0" marL="0" marR="0" rtl="0" algn="l">
                        <a:spcBef>
                          <a:spcPts val="0"/>
                        </a:spcBef>
                        <a:spcAft>
                          <a:spcPts val="0"/>
                        </a:spcAft>
                        <a:buClr>
                          <a:srgbClr val="FFFFFF"/>
                        </a:buClr>
                        <a:buSzPts val="1450"/>
                        <a:buFont typeface="Arial"/>
                        <a:buNone/>
                      </a:pPr>
                      <a:r>
                        <a:rPr b="1" lang="en-US" sz="1450" u="none" cap="none" strike="noStrike">
                          <a:solidFill>
                            <a:srgbClr val="FFFFFF"/>
                          </a:solidFill>
                          <a:latin typeface="Arial"/>
                          <a:ea typeface="Arial"/>
                          <a:cs typeface="Arial"/>
                          <a:sym typeface="Arial"/>
                        </a:rPr>
                        <a:t>Tự học trên App</a:t>
                      </a:r>
                      <a:endParaRPr sz="1450" u="none" cap="none" strike="noStrike">
                        <a:latin typeface="Arial"/>
                        <a:ea typeface="Arial"/>
                        <a:cs typeface="Arial"/>
                        <a:sym typeface="Arial"/>
                      </a:endParaRPr>
                    </a:p>
                  </a:txBody>
                  <a:tcPr marT="45725" marB="45725" marR="91450" marL="91450" anchor="ctr">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004671"/>
                    </a:solidFill>
                  </a:tcPr>
                </a:tc>
                <a:tc>
                  <a:txBody>
                    <a:bodyPr/>
                    <a:lstStyle/>
                    <a:p>
                      <a:pPr indent="0" lvl="0" marL="0" marR="0" rtl="0" algn="l">
                        <a:spcBef>
                          <a:spcPts val="0"/>
                        </a:spcBef>
                        <a:spcAft>
                          <a:spcPts val="0"/>
                        </a:spcAft>
                        <a:buClr>
                          <a:srgbClr val="FFFFFF"/>
                        </a:buClr>
                        <a:buSzPts val="1450"/>
                        <a:buFont typeface="Arial"/>
                        <a:buNone/>
                      </a:pPr>
                      <a:r>
                        <a:rPr b="1" lang="en-US" sz="1450" u="none" cap="none" strike="noStrike">
                          <a:solidFill>
                            <a:srgbClr val="FFFFFF"/>
                          </a:solidFill>
                          <a:latin typeface="Arial"/>
                          <a:ea typeface="Arial"/>
                          <a:cs typeface="Arial"/>
                          <a:sym typeface="Arial"/>
                        </a:rPr>
                        <a:t>Gia sư 1-1</a:t>
                      </a:r>
                      <a:endParaRPr sz="1450" u="none" cap="none" strike="noStrike">
                        <a:latin typeface="Arial"/>
                        <a:ea typeface="Arial"/>
                        <a:cs typeface="Arial"/>
                        <a:sym typeface="Arial"/>
                      </a:endParaRPr>
                    </a:p>
                  </a:txBody>
                  <a:tcPr marT="45725" marB="45725" marR="91450" marL="91450" anchor="ctr">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004671"/>
                    </a:solidFill>
                  </a:tcPr>
                </a:tc>
                <a:tc>
                  <a:txBody>
                    <a:bodyPr/>
                    <a:lstStyle/>
                    <a:p>
                      <a:pPr indent="0" lvl="0" marL="0" marR="0" rtl="0" algn="l">
                        <a:spcBef>
                          <a:spcPts val="0"/>
                        </a:spcBef>
                        <a:spcAft>
                          <a:spcPts val="0"/>
                        </a:spcAft>
                        <a:buClr>
                          <a:srgbClr val="FFFFFF"/>
                        </a:buClr>
                        <a:buSzPts val="1450"/>
                        <a:buFont typeface="Arial"/>
                        <a:buNone/>
                      </a:pPr>
                      <a:r>
                        <a:rPr b="1" lang="en-US" sz="1450" u="none" cap="none" strike="noStrike">
                          <a:solidFill>
                            <a:srgbClr val="FFFFFF"/>
                          </a:solidFill>
                          <a:latin typeface="Arial"/>
                          <a:ea typeface="Arial"/>
                          <a:cs typeface="Arial"/>
                          <a:sym typeface="Arial"/>
                        </a:rPr>
                        <a:t>Edupia AI Class hi</a:t>
                      </a:r>
                      <a:r>
                        <a:rPr b="1" lang="en-US" sz="1450">
                          <a:solidFill>
                            <a:srgbClr val="FFFFFF"/>
                          </a:solidFill>
                        </a:rPr>
                        <a:t>ện tại</a:t>
                      </a:r>
                      <a:endParaRPr sz="1450" u="none" cap="none" strike="noStrike">
                        <a:latin typeface="Arial"/>
                        <a:ea typeface="Arial"/>
                        <a:cs typeface="Arial"/>
                        <a:sym typeface="Arial"/>
                      </a:endParaRPr>
                    </a:p>
                  </a:txBody>
                  <a:tcPr marT="45725" marB="45725" marR="91450" marL="91450" anchor="ctr">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004671"/>
                    </a:solidFill>
                  </a:tcPr>
                </a:tc>
                <a:tc>
                  <a:txBody>
                    <a:bodyPr/>
                    <a:lstStyle/>
                    <a:p>
                      <a:pPr indent="0" lvl="0" marL="0" marR="0" rtl="0" algn="l">
                        <a:spcBef>
                          <a:spcPts val="0"/>
                        </a:spcBef>
                        <a:spcAft>
                          <a:spcPts val="0"/>
                        </a:spcAft>
                        <a:buClr>
                          <a:srgbClr val="FFFFFF"/>
                        </a:buClr>
                        <a:buSzPts val="1450"/>
                        <a:buFont typeface="Arial"/>
                        <a:buNone/>
                      </a:pPr>
                      <a:r>
                        <a:rPr b="1" lang="en-US" sz="1450" u="none" cap="none" strike="noStrike">
                          <a:solidFill>
                            <a:srgbClr val="FFFFFF"/>
                          </a:solidFill>
                          <a:latin typeface="Arial"/>
                          <a:ea typeface="Arial"/>
                          <a:cs typeface="Arial"/>
                          <a:sym typeface="Arial"/>
                        </a:rPr>
                        <a:t>Edupia AI Tutor 1-1</a:t>
                      </a:r>
                      <a:endParaRPr sz="1450" u="none" cap="none" strike="noStrike">
                        <a:latin typeface="Arial"/>
                        <a:ea typeface="Arial"/>
                        <a:cs typeface="Arial"/>
                        <a:sym typeface="Arial"/>
                      </a:endParaRPr>
                    </a:p>
                  </a:txBody>
                  <a:tcPr marT="45725" marB="45725" marR="91450" marL="91450" anchor="ctr">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004671"/>
                    </a:solidFill>
                  </a:tcPr>
                </a:tc>
              </a:tr>
              <a:tr h="152400">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Học 1-1</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rgbClr val="1F2A33"/>
                        </a:buClr>
                        <a:buSzPts val="1200"/>
                        <a:buFont typeface="Arial"/>
                        <a:buNone/>
                      </a:pPr>
                      <a:r>
                        <a:rPr lang="en-US" sz="1200">
                          <a:solidFill>
                            <a:srgbClr val="1F2A33"/>
                          </a:solidFill>
                        </a:rPr>
                        <a:t>—</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 xuyên suốt</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r>
              <a:tr h="152400">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Tập trung vào điểm yếu</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Một phần</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rtl="0" algn="l">
                        <a:spcBef>
                          <a:spcPts val="0"/>
                        </a:spcBef>
                        <a:spcAft>
                          <a:spcPts val="0"/>
                        </a:spcAft>
                        <a:buNone/>
                      </a:pPr>
                      <a:r>
                        <a:rPr lang="en-US" sz="1200">
                          <a:solidFill>
                            <a:srgbClr val="1F2A33"/>
                          </a:solidFill>
                        </a:rPr>
                        <a:t>—</a:t>
                      </a:r>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r>
              <a:tr h="152400">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Phân loại theo trình độ</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Một phần</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Tùy gia sư</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1200">
                          <a:solidFill>
                            <a:srgbClr val="1F2A33"/>
                          </a:solidFill>
                        </a:rPr>
                        <a:t>—</a:t>
                      </a:r>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 ngay từ đầu</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r>
              <a:tr h="152400">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Có người hướng dẫn</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Một phần</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rtl="0" algn="l">
                        <a:spcBef>
                          <a:spcPts val="0"/>
                        </a:spcBef>
                        <a:spcAft>
                          <a:spcPts val="0"/>
                        </a:spcAft>
                        <a:buClr>
                          <a:srgbClr val="1F2A33"/>
                        </a:buClr>
                        <a:buSzPts val="1200"/>
                        <a:buFont typeface="Arial"/>
                        <a:buNone/>
                      </a:pPr>
                      <a:r>
                        <a:rPr lang="en-US" sz="1200">
                          <a:solidFill>
                            <a:srgbClr val="1F2A33"/>
                          </a:solidFill>
                        </a:rPr>
                        <a:t>—</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r>
              <a:tr h="152400">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Luyện nói</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r>
              <a:tr h="152400">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Theo dõi tiến bộ</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Tùy gia sư</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rtl="0" algn="l">
                        <a:spcBef>
                          <a:spcPts val="0"/>
                        </a:spcBef>
                        <a:spcAft>
                          <a:spcPts val="0"/>
                        </a:spcAft>
                        <a:buClr>
                          <a:srgbClr val="1F2A33"/>
                        </a:buClr>
                        <a:buSzPts val="1200"/>
                        <a:buFont typeface="Arial"/>
                        <a:buNone/>
                      </a:pPr>
                      <a:r>
                        <a:rPr lang="en-US" sz="1200">
                          <a:solidFill>
                            <a:srgbClr val="1F2A33"/>
                          </a:solidFill>
                        </a:rPr>
                        <a:t>Một phần</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r>
              <a:tr h="152400">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Sổ liên lạc điện tử</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rgbClr val="1F2A33"/>
                        </a:buClr>
                        <a:buSzPts val="1200"/>
                        <a:buFont typeface="Arial"/>
                        <a:buNone/>
                      </a:pPr>
                      <a:r>
                        <a:rPr lang="en-US" sz="1200">
                          <a:solidFill>
                            <a:srgbClr val="1F2A33"/>
                          </a:solidFill>
                        </a:rPr>
                        <a:t>—</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r>
              <a:tr h="152400">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Giáo viên chủ nhiệm</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r>
              <a:tr h="152400">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Lịch học</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Tự học</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Thỏa thuận</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Khung cố định</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Khung giờ linh hoạt</a:t>
                      </a:r>
                      <a:endParaRPr sz="12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r>
              <a:tr h="152400">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Chi phí</a:t>
                      </a:r>
                      <a:endParaRPr sz="1200" u="none" cap="none" strike="noStrike">
                        <a:solidFill>
                          <a:srgbClr val="1F2A33"/>
                        </a:solidFill>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Thấp hơn</a:t>
                      </a:r>
                      <a:endParaRPr sz="1200" u="none" cap="none" strike="noStrike">
                        <a:solidFill>
                          <a:srgbClr val="1F2A33"/>
                        </a:solidFill>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Cao</a:t>
                      </a:r>
                      <a:endParaRPr sz="1200" u="none" cap="none" strike="noStrike">
                        <a:solidFill>
                          <a:srgbClr val="1F2A33"/>
                        </a:solidFill>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a:t>
                      </a:r>
                      <a:r>
                        <a:rPr lang="en-US" sz="1200">
                          <a:solidFill>
                            <a:srgbClr val="1F2A33"/>
                          </a:solidFill>
                        </a:rPr>
                        <a:t>250</a:t>
                      </a:r>
                      <a:r>
                        <a:rPr lang="en-US" sz="1200" u="none" cap="none" strike="noStrike">
                          <a:solidFill>
                            <a:srgbClr val="1F2A33"/>
                          </a:solidFill>
                          <a:latin typeface="Arial"/>
                          <a:ea typeface="Arial"/>
                          <a:cs typeface="Arial"/>
                          <a:sym typeface="Arial"/>
                        </a:rPr>
                        <a:t>k</a:t>
                      </a:r>
                      <a:endParaRPr sz="1200" u="none" cap="none" strike="noStrike">
                        <a:solidFill>
                          <a:srgbClr val="1F2A33"/>
                        </a:solidFill>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200"/>
                        <a:buFont typeface="Arial"/>
                        <a:buNone/>
                      </a:pPr>
                      <a:r>
                        <a:rPr lang="en-US" sz="1200" u="none" cap="none" strike="noStrike">
                          <a:solidFill>
                            <a:srgbClr val="1F2A33"/>
                          </a:solidFill>
                          <a:latin typeface="Arial"/>
                          <a:ea typeface="Arial"/>
                          <a:cs typeface="Arial"/>
                          <a:sym typeface="Arial"/>
                        </a:rPr>
                        <a:t>~390k</a:t>
                      </a:r>
                      <a:endParaRPr sz="1200" u="none" cap="none" strike="noStrike">
                        <a:solidFill>
                          <a:srgbClr val="1F2A33"/>
                        </a:solidFill>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r>
            </a:tbl>
          </a:graphicData>
        </a:graphic>
      </p:graphicFrame>
      <p:sp>
        <p:nvSpPr>
          <p:cNvPr id="206" name="Google Shape;206;p18"/>
          <p:cNvSpPr/>
          <p:nvPr/>
        </p:nvSpPr>
        <p:spPr>
          <a:xfrm>
            <a:off x="548640" y="4934712"/>
            <a:ext cx="11094300" cy="1426500"/>
          </a:xfrm>
          <a:prstGeom prst="roundRect">
            <a:avLst>
              <a:gd fmla="val 3846" name="adj"/>
            </a:avLst>
          </a:prstGeom>
          <a:solidFill>
            <a:srgbClr val="EAF1DC"/>
          </a:solidFill>
          <a:ln cap="flat" cmpd="sng" w="12700">
            <a:solidFill>
              <a:srgbClr val="A5BE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8"/>
          <p:cNvSpPr/>
          <p:nvPr/>
        </p:nvSpPr>
        <p:spPr>
          <a:xfrm>
            <a:off x="731520" y="5044440"/>
            <a:ext cx="10728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D5A1F"/>
              </a:buClr>
              <a:buSzPts val="1100"/>
              <a:buFont typeface="Arial"/>
              <a:buNone/>
            </a:pPr>
            <a:r>
              <a:rPr b="1" i="0" lang="en-US" sz="1100" u="none" cap="none" strike="noStrike">
                <a:solidFill>
                  <a:srgbClr val="3D5A1F"/>
                </a:solidFill>
                <a:latin typeface="Arial"/>
                <a:ea typeface="Arial"/>
                <a:cs typeface="Arial"/>
                <a:sym typeface="Arial"/>
              </a:rPr>
              <a:t>CÁCH NÓI VỚI PHỤ HUYNH</a:t>
            </a:r>
            <a:endParaRPr b="0" i="0" sz="1100" u="none" cap="none" strike="noStrike">
              <a:solidFill>
                <a:schemeClr val="dk1"/>
              </a:solidFill>
              <a:latin typeface="Calibri"/>
              <a:ea typeface="Calibri"/>
              <a:cs typeface="Calibri"/>
              <a:sym typeface="Calibri"/>
            </a:endParaRPr>
          </a:p>
        </p:txBody>
      </p:sp>
      <p:sp>
        <p:nvSpPr>
          <p:cNvPr id="208" name="Google Shape;208;p18"/>
          <p:cNvSpPr/>
          <p:nvPr/>
        </p:nvSpPr>
        <p:spPr>
          <a:xfrm>
            <a:off x="731520" y="5318760"/>
            <a:ext cx="10728600" cy="9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3D0F"/>
              </a:buClr>
              <a:buSzPts val="1600"/>
              <a:buFont typeface="Arial"/>
              <a:buNone/>
            </a:pPr>
            <a:r>
              <a:rPr b="0" i="1" lang="en-US" sz="1600" u="none" cap="none" strike="noStrike">
                <a:solidFill>
                  <a:srgbClr val="1F3D0F"/>
                </a:solidFill>
                <a:latin typeface="Arial"/>
                <a:ea typeface="Arial"/>
                <a:cs typeface="Arial"/>
                <a:sym typeface="Arial"/>
              </a:rPr>
              <a:t>"Nếu AI Class là con vẫn học lớp với cô và khi con yếu chỗ nào thì được hỗ trợ thêm, thì AI Tutor là mức độ chăm sát hơn: con có hẳn một người kèm riêng 1-1 xuyên suốt quá trình học."</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3" name="Shape 213"/>
        <p:cNvGrpSpPr/>
        <p:nvPr/>
      </p:nvGrpSpPr>
      <p:grpSpPr>
        <a:xfrm>
          <a:off x="0" y="0"/>
          <a:ext cx="0" cy="0"/>
          <a:chOff x="0" y="0"/>
          <a:chExt cx="0" cy="0"/>
        </a:xfrm>
      </p:grpSpPr>
      <p:sp>
        <p:nvSpPr>
          <p:cNvPr id="214" name="Google Shape;214;p19"/>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9"/>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Trước và sau</a:t>
            </a:r>
            <a:endParaRPr b="0" i="0" sz="2200" u="none" cap="none" strike="noStrike">
              <a:solidFill>
                <a:schemeClr val="dk1"/>
              </a:solidFill>
              <a:latin typeface="Calibri"/>
              <a:ea typeface="Calibri"/>
              <a:cs typeface="Calibri"/>
              <a:sym typeface="Calibri"/>
            </a:endParaRPr>
          </a:p>
        </p:txBody>
      </p:sp>
      <p:cxnSp>
        <p:nvCxnSpPr>
          <p:cNvPr id="216" name="Google Shape;216;p19"/>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sp>
        <p:nvSpPr>
          <p:cNvPr id="217" name="Google Shape;217;p19"/>
          <p:cNvSpPr/>
          <p:nvPr/>
        </p:nvSpPr>
        <p:spPr>
          <a:xfrm>
            <a:off x="548640" y="1371600"/>
            <a:ext cx="110943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TRƯỚC:</a:t>
            </a:r>
            <a:endParaRPr b="0" i="0" sz="1600" u="none" cap="none" strike="noStrike">
              <a:solidFill>
                <a:schemeClr val="dk1"/>
              </a:solidFill>
              <a:latin typeface="Calibri"/>
              <a:ea typeface="Calibri"/>
              <a:cs typeface="Calibri"/>
              <a:sym typeface="Calibri"/>
            </a:endParaRPr>
          </a:p>
        </p:txBody>
      </p:sp>
      <p:sp>
        <p:nvSpPr>
          <p:cNvPr id="218" name="Google Shape;218;p19"/>
          <p:cNvSpPr/>
          <p:nvPr/>
        </p:nvSpPr>
        <p:spPr>
          <a:xfrm>
            <a:off x="548644" y="1792225"/>
            <a:ext cx="4905600" cy="3054000"/>
          </a:xfrm>
          <a:prstGeom prst="rect">
            <a:avLst/>
          </a:prstGeom>
          <a:noFill/>
          <a:ln>
            <a:noFill/>
          </a:ln>
        </p:spPr>
        <p:txBody>
          <a:bodyPr anchorCtr="0" anchor="t" bIns="45700" lIns="91425" spcFirstLastPara="1" rIns="91425" wrap="square" tIns="45700">
            <a:noAutofit/>
          </a:bodyPr>
          <a:lstStyle/>
          <a:p>
            <a:pPr indent="-254000" lvl="0" marL="254000" marR="0" rtl="0" algn="l">
              <a:spcBef>
                <a:spcPts val="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Bố mẹ không rõ con yếu chính xác ở đâu.</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Con học theo một tiến độ chung.</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Gặp phần khó, con dễ bỏ qua.</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Muốn kèm riêng → phải thuê gia sư với chi phí cao.</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Con ít có cơ hội nói.</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Bố mẹ phải tự nhắc và theo sát.</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Lịch học khó thay đổi.</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Khó nhìn thấy quá trình tiến bộ rõ ràng.</a:t>
            </a:r>
            <a:endParaRPr b="0" i="0" sz="1600" u="none" cap="none" strike="noStrike">
              <a:solidFill>
                <a:schemeClr val="dk1"/>
              </a:solidFill>
              <a:latin typeface="Calibri"/>
              <a:ea typeface="Calibri"/>
              <a:cs typeface="Calibri"/>
              <a:sym typeface="Calibri"/>
            </a:endParaRPr>
          </a:p>
        </p:txBody>
      </p:sp>
      <p:sp>
        <p:nvSpPr>
          <p:cNvPr id="219" name="Google Shape;219;p19"/>
          <p:cNvSpPr/>
          <p:nvPr/>
        </p:nvSpPr>
        <p:spPr>
          <a:xfrm>
            <a:off x="6538670" y="1752600"/>
            <a:ext cx="5104200" cy="3420000"/>
          </a:xfrm>
          <a:prstGeom prst="rect">
            <a:avLst/>
          </a:prstGeom>
          <a:noFill/>
          <a:ln>
            <a:noFill/>
          </a:ln>
        </p:spPr>
        <p:txBody>
          <a:bodyPr anchorCtr="0" anchor="t" bIns="45700" lIns="91425" spcFirstLastPara="1" rIns="91425" wrap="square" tIns="45700">
            <a:noAutofit/>
          </a:bodyPr>
          <a:lstStyle/>
          <a:p>
            <a:pPr indent="-254000" lvl="0" marL="254000" marR="0" rtl="0" algn="l">
              <a:spcBef>
                <a:spcPts val="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Biết con đang cần tập trung vào phần nào.</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Con được phân loại theo trình độ ngay từ đầu.</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Có người kèm riêng 1-1 xuyên suốt.</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Nội dung được điều chỉnh theo khả năng và kết quả học.</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Có buổi chuyên sâu để củng cố hoặc nâng cao.</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Được luyện nói thường xuyên.</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Có nhiều khung giờ để lựa chọn.</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Giáo viên chủ nhiệm đồng hành.</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Bố mẹ theo dõi qua Sổ liên lạc điện tử.</a:t>
            </a:r>
            <a:endParaRPr b="0" i="0" sz="1600" u="none" cap="none" strike="noStrike">
              <a:solidFill>
                <a:schemeClr val="dk1"/>
              </a:solidFill>
              <a:latin typeface="Calibri"/>
              <a:ea typeface="Calibri"/>
              <a:cs typeface="Calibri"/>
              <a:sym typeface="Calibri"/>
            </a:endParaRPr>
          </a:p>
        </p:txBody>
      </p:sp>
      <p:sp>
        <p:nvSpPr>
          <p:cNvPr id="220" name="Google Shape;220;p19"/>
          <p:cNvSpPr/>
          <p:nvPr/>
        </p:nvSpPr>
        <p:spPr>
          <a:xfrm>
            <a:off x="6538670" y="1371600"/>
            <a:ext cx="51042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SAU:</a:t>
            </a:r>
            <a:endParaRPr b="0" i="0" sz="1600" u="none" cap="none" strike="noStrike">
              <a:solidFill>
                <a:schemeClr val="dk1"/>
              </a:solidFill>
              <a:latin typeface="Calibri"/>
              <a:ea typeface="Calibri"/>
              <a:cs typeface="Calibri"/>
              <a:sym typeface="Calibri"/>
            </a:endParaRPr>
          </a:p>
        </p:txBody>
      </p:sp>
      <p:sp>
        <p:nvSpPr>
          <p:cNvPr id="221" name="Google Shape;221;p19"/>
          <p:cNvSpPr/>
          <p:nvPr/>
        </p:nvSpPr>
        <p:spPr>
          <a:xfrm>
            <a:off x="5913120" y="1496568"/>
            <a:ext cx="73200" cy="2176200"/>
          </a:xfrm>
          <a:prstGeom prst="rect">
            <a:avLst/>
          </a:prstGeom>
          <a:solidFill>
            <a:srgbClr val="3B81B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4671"/>
        </a:solidFill>
      </p:bgPr>
    </p:bg>
    <p:spTree>
      <p:nvGrpSpPr>
        <p:cNvPr id="226" name="Shape 226"/>
        <p:cNvGrpSpPr/>
        <p:nvPr/>
      </p:nvGrpSpPr>
      <p:grpSpPr>
        <a:xfrm>
          <a:off x="0" y="0"/>
          <a:ext cx="0" cy="0"/>
          <a:chOff x="0" y="0"/>
          <a:chExt cx="0" cy="0"/>
        </a:xfrm>
      </p:grpSpPr>
      <p:sp>
        <p:nvSpPr>
          <p:cNvPr id="227" name="Google Shape;227;p20"/>
          <p:cNvSpPr/>
          <p:nvPr/>
        </p:nvSpPr>
        <p:spPr>
          <a:xfrm>
            <a:off x="0" y="0"/>
            <a:ext cx="12191700" cy="73200"/>
          </a:xfrm>
          <a:prstGeom prst="rect">
            <a:avLst/>
          </a:prstGeom>
          <a:solidFill>
            <a:srgbClr val="A5BE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0"/>
          <p:cNvSpPr/>
          <p:nvPr/>
        </p:nvSpPr>
        <p:spPr>
          <a:xfrm>
            <a:off x="548640" y="23774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5BE00"/>
              </a:buClr>
              <a:buSzPts val="1600"/>
              <a:buFont typeface="Arial"/>
              <a:buNone/>
            </a:pPr>
            <a:r>
              <a:rPr b="1" i="0" lang="en-US" sz="1600" u="none" cap="none" strike="noStrike">
                <a:solidFill>
                  <a:srgbClr val="A5BE00"/>
                </a:solidFill>
                <a:latin typeface="Arial"/>
                <a:ea typeface="Arial"/>
                <a:cs typeface="Arial"/>
                <a:sym typeface="Arial"/>
              </a:rPr>
              <a:t>PHẦN 4</a:t>
            </a:r>
            <a:endParaRPr b="0" i="0" sz="1600" u="none" cap="none" strike="noStrike">
              <a:solidFill>
                <a:schemeClr val="dk1"/>
              </a:solidFill>
              <a:latin typeface="Calibri"/>
              <a:ea typeface="Calibri"/>
              <a:cs typeface="Calibri"/>
              <a:sym typeface="Calibri"/>
            </a:endParaRPr>
          </a:p>
        </p:txBody>
      </p:sp>
      <p:sp>
        <p:nvSpPr>
          <p:cNvPr id="229" name="Google Shape;229;p20"/>
          <p:cNvSpPr/>
          <p:nvPr/>
        </p:nvSpPr>
        <p:spPr>
          <a:xfrm>
            <a:off x="548640" y="2880360"/>
            <a:ext cx="11094300" cy="164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Arial"/>
              <a:buNone/>
            </a:pPr>
            <a:r>
              <a:rPr b="1" i="0" lang="en-US" sz="3400" u="none" cap="none" strike="noStrike">
                <a:solidFill>
                  <a:srgbClr val="FFFFFF"/>
                </a:solidFill>
                <a:latin typeface="Arial"/>
                <a:ea typeface="Arial"/>
                <a:cs typeface="Arial"/>
                <a:sym typeface="Arial"/>
              </a:rPr>
              <a:t>Con sẽ học như thế nào?</a:t>
            </a:r>
            <a:endParaRPr b="0" i="0" sz="34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4" name="Shape 234"/>
        <p:cNvGrpSpPr/>
        <p:nvPr/>
      </p:nvGrpSpPr>
      <p:grpSpPr>
        <a:xfrm>
          <a:off x="0" y="0"/>
          <a:ext cx="0" cy="0"/>
          <a:chOff x="0" y="0"/>
          <a:chExt cx="0" cy="0"/>
        </a:xfrm>
      </p:grpSpPr>
      <p:sp>
        <p:nvSpPr>
          <p:cNvPr id="235" name="Google Shape;235;p21"/>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1"/>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Một tuần học của con</a:t>
            </a:r>
            <a:endParaRPr b="0" i="0" sz="2200" u="none" cap="none" strike="noStrike">
              <a:solidFill>
                <a:schemeClr val="dk1"/>
              </a:solidFill>
              <a:latin typeface="Calibri"/>
              <a:ea typeface="Calibri"/>
              <a:cs typeface="Calibri"/>
              <a:sym typeface="Calibri"/>
            </a:endParaRPr>
          </a:p>
        </p:txBody>
      </p:sp>
      <p:cxnSp>
        <p:nvCxnSpPr>
          <p:cNvPr id="237" name="Google Shape;237;p21"/>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graphicFrame>
        <p:nvGraphicFramePr>
          <p:cNvPr id="238" name="Google Shape;238;p21"/>
          <p:cNvGraphicFramePr/>
          <p:nvPr/>
        </p:nvGraphicFramePr>
        <p:xfrm>
          <a:off x="548640" y="1371600"/>
          <a:ext cx="3000000" cy="3000000"/>
        </p:xfrm>
        <a:graphic>
          <a:graphicData uri="http://schemas.openxmlformats.org/drawingml/2006/table">
            <a:tbl>
              <a:tblPr>
                <a:noFill/>
                <a:tableStyleId>{6A87B15F-54B6-4826-A0DF-81480C40843C}</a:tableStyleId>
              </a:tblPr>
              <a:tblGrid>
                <a:gridCol w="3486075"/>
                <a:gridCol w="7608325"/>
              </a:tblGrid>
              <a:tr h="184150">
                <a:tc>
                  <a:txBody>
                    <a:bodyPr/>
                    <a:lstStyle/>
                    <a:p>
                      <a:pPr indent="0" lvl="0" marL="0" marR="0" rtl="0" algn="l">
                        <a:spcBef>
                          <a:spcPts val="0"/>
                        </a:spcBef>
                        <a:spcAft>
                          <a:spcPts val="0"/>
                        </a:spcAft>
                        <a:buClr>
                          <a:srgbClr val="FFFFFF"/>
                        </a:buClr>
                        <a:buSzPts val="1450"/>
                        <a:buFont typeface="Arial"/>
                        <a:buNone/>
                      </a:pPr>
                      <a:r>
                        <a:rPr b="1" lang="en-US" sz="1450" u="none" cap="none" strike="noStrike">
                          <a:solidFill>
                            <a:srgbClr val="FFFFFF"/>
                          </a:solidFill>
                          <a:latin typeface="Arial"/>
                          <a:ea typeface="Arial"/>
                          <a:cs typeface="Arial"/>
                          <a:sym typeface="Arial"/>
                        </a:rPr>
                        <a:t>Khi nào</a:t>
                      </a:r>
                      <a:endParaRPr sz="1450" u="none" cap="none" strike="noStrike">
                        <a:latin typeface="Arial"/>
                        <a:ea typeface="Arial"/>
                        <a:cs typeface="Arial"/>
                        <a:sym typeface="Arial"/>
                      </a:endParaRPr>
                    </a:p>
                  </a:txBody>
                  <a:tcPr marT="45725" marB="45725" marR="91450" marL="91450" anchor="ctr">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004671"/>
                    </a:solidFill>
                  </a:tcPr>
                </a:tc>
                <a:tc>
                  <a:txBody>
                    <a:bodyPr/>
                    <a:lstStyle/>
                    <a:p>
                      <a:pPr indent="0" lvl="0" marL="0" marR="0" rtl="0" algn="l">
                        <a:spcBef>
                          <a:spcPts val="0"/>
                        </a:spcBef>
                        <a:spcAft>
                          <a:spcPts val="0"/>
                        </a:spcAft>
                        <a:buClr>
                          <a:srgbClr val="FFFFFF"/>
                        </a:buClr>
                        <a:buSzPts val="1450"/>
                        <a:buFont typeface="Arial"/>
                        <a:buNone/>
                      </a:pPr>
                      <a:r>
                        <a:rPr b="1" lang="en-US" sz="1450" u="none" cap="none" strike="noStrike">
                          <a:solidFill>
                            <a:srgbClr val="FFFFFF"/>
                          </a:solidFill>
                          <a:latin typeface="Arial"/>
                          <a:ea typeface="Arial"/>
                          <a:cs typeface="Arial"/>
                          <a:sym typeface="Arial"/>
                        </a:rPr>
                        <a:t>Con làm gì</a:t>
                      </a:r>
                      <a:endParaRPr sz="1450" u="none" cap="none" strike="noStrike">
                        <a:latin typeface="Arial"/>
                        <a:ea typeface="Arial"/>
                        <a:cs typeface="Arial"/>
                        <a:sym typeface="Arial"/>
                      </a:endParaRPr>
                    </a:p>
                  </a:txBody>
                  <a:tcPr marT="45725" marB="45725" marR="91450" marL="91450" anchor="ctr">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004671"/>
                    </a:solidFill>
                  </a:tcPr>
                </a:tc>
              </a:tr>
              <a:tr h="177800">
                <a:tc>
                  <a:txBody>
                    <a:bodyPr/>
                    <a:lstStyle/>
                    <a:p>
                      <a:pPr indent="0" lvl="0" marL="0" marR="0" rtl="0" algn="l">
                        <a:spcBef>
                          <a:spcPts val="0"/>
                        </a:spcBef>
                        <a:spcAft>
                          <a:spcPts val="0"/>
                        </a:spcAft>
                        <a:buClr>
                          <a:srgbClr val="1F2A33"/>
                        </a:buClr>
                        <a:buSzPts val="1400"/>
                        <a:buFont typeface="Arial"/>
                        <a:buNone/>
                      </a:pPr>
                      <a:r>
                        <a:rPr lang="en-US">
                          <a:solidFill>
                            <a:srgbClr val="1F2A33"/>
                          </a:solidFill>
                        </a:rPr>
                        <a:t>2</a:t>
                      </a:r>
                      <a:r>
                        <a:rPr lang="en-US" sz="1400" u="none" cap="none" strike="noStrike">
                          <a:solidFill>
                            <a:srgbClr val="1F2A33"/>
                          </a:solidFill>
                          <a:latin typeface="Arial"/>
                          <a:ea typeface="Arial"/>
                          <a:cs typeface="Arial"/>
                          <a:sym typeface="Arial"/>
                        </a:rPr>
                        <a:t> buổi/tuần — Học kiến thức chính khóa</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Nội dung bám sát chương trình học, giúp con xây dựng kiến thức nền tảng theo lộ trình.</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r>
              <a:tr h="177800">
                <a:tc>
                  <a:txBody>
                    <a:bodyPr/>
                    <a:lstStyle/>
                    <a:p>
                      <a:pPr indent="0" lvl="0" marL="0" marR="0" rtl="0" algn="l">
                        <a:spcBef>
                          <a:spcPts val="0"/>
                        </a:spcBef>
                        <a:spcAft>
                          <a:spcPts val="0"/>
                        </a:spcAft>
                        <a:buClr>
                          <a:srgbClr val="1F2A33"/>
                        </a:buClr>
                        <a:buSzPts val="1400"/>
                        <a:buFont typeface="Arial"/>
                        <a:buNone/>
                      </a:pPr>
                      <a:r>
                        <a:rPr lang="en-US">
                          <a:solidFill>
                            <a:srgbClr val="1F2A33"/>
                          </a:solidFill>
                        </a:rPr>
                        <a:t>Cứ sau mỗi 4 buổi chính khóa + </a:t>
                      </a:r>
                      <a:r>
                        <a:rPr lang="en-US" sz="1400" u="none" cap="none" strike="noStrike">
                          <a:solidFill>
                            <a:srgbClr val="1F2A33"/>
                          </a:solidFill>
                          <a:latin typeface="Arial"/>
                          <a:ea typeface="Arial"/>
                          <a:cs typeface="Arial"/>
                          <a:sym typeface="Arial"/>
                        </a:rPr>
                        <a:t>1 buổi</a:t>
                      </a:r>
                      <a:r>
                        <a:rPr lang="en-US">
                          <a:solidFill>
                            <a:srgbClr val="1F2A33"/>
                          </a:solidFill>
                        </a:rPr>
                        <a:t> </a:t>
                      </a:r>
                      <a:r>
                        <a:rPr lang="en-US" sz="1400" u="none" cap="none" strike="noStrike">
                          <a:solidFill>
                            <a:srgbClr val="1F2A33"/>
                          </a:solidFill>
                          <a:latin typeface="Arial"/>
                          <a:ea typeface="Arial"/>
                          <a:cs typeface="Arial"/>
                          <a:sym typeface="Arial"/>
                        </a:rPr>
                        <a:t>Chuyên sâu</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Con yếu: củng cố, vá lỗ hổng kiến thức. Con khá/giỏi: nâng cao, mở rộng kiến thức.</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Sau các buổi học — Luyện tập</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Con tiếp tục luyện những phần cần củng cố thông qua bài tập phù hợp với kết quả học.</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Hàng ngày — Luyện nói</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Con luyện hội thoại, phát âm và các tình huống sử dụng tiếng Anh.</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Hàng tháng — Club</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Học theo chủ đề, thử thách và hoạt động để duy trì hứng thú.</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Xuyên suốt — Giáo viên chủ nhiệm + Sổ liên lạc điện tử</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Theo dõi, nhắc nhở, hỗ trợ con và giúp bố mẹ biết con đang học thế nào.</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r>
            </a:tbl>
          </a:graphicData>
        </a:graphic>
      </p:graphicFrame>
      <p:sp>
        <p:nvSpPr>
          <p:cNvPr id="239" name="Google Shape;239;p21"/>
          <p:cNvSpPr/>
          <p:nvPr/>
        </p:nvSpPr>
        <p:spPr>
          <a:xfrm>
            <a:off x="548640" y="4495800"/>
            <a:ext cx="11094300" cy="1426500"/>
          </a:xfrm>
          <a:prstGeom prst="roundRect">
            <a:avLst>
              <a:gd fmla="val 3846" name="adj"/>
            </a:avLst>
          </a:prstGeom>
          <a:solidFill>
            <a:srgbClr val="EAF1DC"/>
          </a:solidFill>
          <a:ln cap="flat" cmpd="sng" w="12700">
            <a:solidFill>
              <a:srgbClr val="A5BE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1"/>
          <p:cNvSpPr/>
          <p:nvPr/>
        </p:nvSpPr>
        <p:spPr>
          <a:xfrm>
            <a:off x="731520" y="4605528"/>
            <a:ext cx="10728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D5A1F"/>
              </a:buClr>
              <a:buSzPts val="1100"/>
              <a:buFont typeface="Arial"/>
              <a:buNone/>
            </a:pPr>
            <a:r>
              <a:rPr b="1" i="0" lang="en-US" sz="1100" u="none" cap="none" strike="noStrike">
                <a:solidFill>
                  <a:srgbClr val="3D5A1F"/>
                </a:solidFill>
                <a:latin typeface="Arial"/>
                <a:ea typeface="Arial"/>
                <a:cs typeface="Arial"/>
                <a:sym typeface="Arial"/>
              </a:rPr>
              <a:t>CÁCH NÓI VỚI PHỤ HUYNH</a:t>
            </a:r>
            <a:endParaRPr b="0" i="0" sz="1100" u="none" cap="none" strike="noStrike">
              <a:solidFill>
                <a:schemeClr val="dk1"/>
              </a:solidFill>
              <a:latin typeface="Calibri"/>
              <a:ea typeface="Calibri"/>
              <a:cs typeface="Calibri"/>
              <a:sym typeface="Calibri"/>
            </a:endParaRPr>
          </a:p>
        </p:txBody>
      </p:sp>
      <p:sp>
        <p:nvSpPr>
          <p:cNvPr id="241" name="Google Shape;241;p21"/>
          <p:cNvSpPr/>
          <p:nvPr/>
        </p:nvSpPr>
        <p:spPr>
          <a:xfrm>
            <a:off x="731520" y="4879848"/>
            <a:ext cx="10728600" cy="9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3D0F"/>
              </a:buClr>
              <a:buSzPts val="1600"/>
              <a:buFont typeface="Arial"/>
              <a:buNone/>
            </a:pPr>
            <a:r>
              <a:rPr b="0" i="1" lang="en-US" sz="1600" u="none" cap="none" strike="noStrike">
                <a:solidFill>
                  <a:srgbClr val="1F3D0F"/>
                </a:solidFill>
                <a:latin typeface="Arial"/>
                <a:ea typeface="Arial"/>
                <a:cs typeface="Arial"/>
                <a:sym typeface="Arial"/>
              </a:rPr>
              <a:t>"Một tuần của con không chỉ có những buổi học chính. Cứ 4 buổi học kiến thức sẽ có thêm 1 buổi chuyên sâu để xử lý đúng nhu cầu của con — con yếu thì củng cố, con khá giỏi thì học nâng cao."</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6" name="Shape 246"/>
        <p:cNvGrpSpPr/>
        <p:nvPr/>
      </p:nvGrpSpPr>
      <p:grpSpPr>
        <a:xfrm>
          <a:off x="0" y="0"/>
          <a:ext cx="0" cy="0"/>
          <a:chOff x="0" y="0"/>
          <a:chExt cx="0" cy="0"/>
        </a:xfrm>
      </p:grpSpPr>
      <p:sp>
        <p:nvSpPr>
          <p:cNvPr id="247" name="Google Shape;247;p22"/>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2"/>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Khung lịch học linh hoạt</a:t>
            </a:r>
            <a:endParaRPr b="0" i="0" sz="2200" u="none" cap="none" strike="noStrike">
              <a:solidFill>
                <a:schemeClr val="dk1"/>
              </a:solidFill>
              <a:latin typeface="Calibri"/>
              <a:ea typeface="Calibri"/>
              <a:cs typeface="Calibri"/>
              <a:sym typeface="Calibri"/>
            </a:endParaRPr>
          </a:p>
        </p:txBody>
      </p:sp>
      <p:cxnSp>
        <p:nvCxnSpPr>
          <p:cNvPr id="249" name="Google Shape;249;p22"/>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sp>
        <p:nvSpPr>
          <p:cNvPr id="250" name="Google Shape;250;p22"/>
          <p:cNvSpPr/>
          <p:nvPr/>
        </p:nvSpPr>
        <p:spPr>
          <a:xfrm>
            <a:off x="548640" y="1371600"/>
            <a:ext cx="11094300" cy="69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Nhiều khung giờ để lựa chọn: </a:t>
            </a:r>
            <a:r>
              <a:rPr b="0" i="0" lang="en-US" sz="1600" u="none" cap="none" strike="noStrike">
                <a:solidFill>
                  <a:srgbClr val="1F2A33"/>
                </a:solidFill>
                <a:latin typeface="Arial"/>
                <a:ea typeface="Arial"/>
                <a:cs typeface="Arial"/>
                <a:sym typeface="Arial"/>
              </a:rPr>
              <a:t>Ví dụ 18:30 — 19:00 — 19:30 — 20:00 — 20:30... Bố mẹ có thể lựa chọn khung giờ phù hợp với lịch sinh hoạt của gia đình.</a:t>
            </a:r>
            <a:endParaRPr b="0" i="0" sz="1600" u="none" cap="none" strike="noStrike">
              <a:solidFill>
                <a:schemeClr val="dk1"/>
              </a:solidFill>
              <a:latin typeface="Calibri"/>
              <a:ea typeface="Calibri"/>
              <a:cs typeface="Calibri"/>
              <a:sym typeface="Calibri"/>
            </a:endParaRPr>
          </a:p>
        </p:txBody>
      </p:sp>
      <p:sp>
        <p:nvSpPr>
          <p:cNvPr id="251" name="Google Shape;251;p22"/>
          <p:cNvSpPr/>
          <p:nvPr/>
        </p:nvSpPr>
        <p:spPr>
          <a:xfrm>
            <a:off x="548640" y="2249424"/>
            <a:ext cx="11094300" cy="42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Nếu có việc đột xuất: </a:t>
            </a:r>
            <a:r>
              <a:rPr b="0" i="0" lang="en-US" sz="1600" u="none" cap="none" strike="noStrike">
                <a:solidFill>
                  <a:srgbClr val="1F2A33"/>
                </a:solidFill>
                <a:latin typeface="Arial"/>
                <a:ea typeface="Arial"/>
                <a:cs typeface="Arial"/>
                <a:sym typeface="Arial"/>
              </a:rPr>
              <a:t>có thể linh hoạt đổi sang khung giờ khác phù hợp hơn.</a:t>
            </a:r>
            <a:endParaRPr b="0" i="0" sz="1600" u="none" cap="none" strike="noStrike">
              <a:solidFill>
                <a:schemeClr val="dk1"/>
              </a:solidFill>
              <a:latin typeface="Calibri"/>
              <a:ea typeface="Calibri"/>
              <a:cs typeface="Calibri"/>
              <a:sym typeface="Calibri"/>
            </a:endParaRPr>
          </a:p>
        </p:txBody>
      </p:sp>
      <p:sp>
        <p:nvSpPr>
          <p:cNvPr id="252" name="Google Shape;252;p22"/>
          <p:cNvSpPr/>
          <p:nvPr/>
        </p:nvSpPr>
        <p:spPr>
          <a:xfrm>
            <a:off x="548640" y="2852928"/>
            <a:ext cx="54900" cy="786300"/>
          </a:xfrm>
          <a:prstGeom prst="rect">
            <a:avLst/>
          </a:prstGeom>
          <a:solidFill>
            <a:srgbClr val="A5BE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2"/>
          <p:cNvSpPr/>
          <p:nvPr/>
        </p:nvSpPr>
        <p:spPr>
          <a:xfrm>
            <a:off x="777240" y="2852928"/>
            <a:ext cx="10865700" cy="786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0" i="1" lang="en-US" sz="1600" u="none" cap="none" strike="noStrike">
                <a:solidFill>
                  <a:srgbClr val="004671"/>
                </a:solidFill>
                <a:latin typeface="Arial"/>
                <a:ea typeface="Arial"/>
                <a:cs typeface="Arial"/>
                <a:sym typeface="Arial"/>
              </a:rPr>
              <a:t>Mục tiêu: con vẫn có lịch học đều đặn như một lớp học thực sự, nhưng gia đình không bị bó vào một khung giờ duy nhất.</a:t>
            </a:r>
            <a:endParaRPr b="0" i="0" sz="1600" u="none" cap="none" strike="noStrike">
              <a:solidFill>
                <a:schemeClr val="dk1"/>
              </a:solidFill>
              <a:latin typeface="Calibri"/>
              <a:ea typeface="Calibri"/>
              <a:cs typeface="Calibri"/>
              <a:sym typeface="Calibri"/>
            </a:endParaRPr>
          </a:p>
        </p:txBody>
      </p:sp>
      <p:sp>
        <p:nvSpPr>
          <p:cNvPr id="254" name="Google Shape;254;p22"/>
          <p:cNvSpPr/>
          <p:nvPr/>
        </p:nvSpPr>
        <p:spPr>
          <a:xfrm>
            <a:off x="548640" y="4050792"/>
            <a:ext cx="11094300" cy="1134000"/>
          </a:xfrm>
          <a:prstGeom prst="roundRect">
            <a:avLst>
              <a:gd fmla="val 4839" name="adj"/>
            </a:avLst>
          </a:prstGeom>
          <a:solidFill>
            <a:srgbClr val="EAF1DC"/>
          </a:solidFill>
          <a:ln cap="flat" cmpd="sng" w="12700">
            <a:solidFill>
              <a:srgbClr val="A5BE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2"/>
          <p:cNvSpPr/>
          <p:nvPr/>
        </p:nvSpPr>
        <p:spPr>
          <a:xfrm>
            <a:off x="731520" y="4160520"/>
            <a:ext cx="10728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D5A1F"/>
              </a:buClr>
              <a:buSzPts val="1100"/>
              <a:buFont typeface="Arial"/>
              <a:buNone/>
            </a:pPr>
            <a:r>
              <a:rPr b="1" i="0" lang="en-US" sz="1100" u="none" cap="none" strike="noStrike">
                <a:solidFill>
                  <a:srgbClr val="3D5A1F"/>
                </a:solidFill>
                <a:latin typeface="Arial"/>
                <a:ea typeface="Arial"/>
                <a:cs typeface="Arial"/>
                <a:sym typeface="Arial"/>
              </a:rPr>
              <a:t>CÁCH NÓI VỚI PHỤ HUYNH</a:t>
            </a:r>
            <a:endParaRPr b="0" i="0" sz="1100" u="none" cap="none" strike="noStrike">
              <a:solidFill>
                <a:schemeClr val="dk1"/>
              </a:solidFill>
              <a:latin typeface="Calibri"/>
              <a:ea typeface="Calibri"/>
              <a:cs typeface="Calibri"/>
              <a:sym typeface="Calibri"/>
            </a:endParaRPr>
          </a:p>
        </p:txBody>
      </p:sp>
      <p:sp>
        <p:nvSpPr>
          <p:cNvPr id="256" name="Google Shape;256;p22"/>
          <p:cNvSpPr/>
          <p:nvPr/>
        </p:nvSpPr>
        <p:spPr>
          <a:xfrm>
            <a:off x="731520" y="4434840"/>
            <a:ext cx="10728600" cy="676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3D0F"/>
              </a:buClr>
              <a:buSzPts val="1600"/>
              <a:buFont typeface="Arial"/>
              <a:buNone/>
            </a:pPr>
            <a:r>
              <a:rPr b="0" i="1" lang="en-US" sz="1600" u="none" cap="none" strike="noStrike">
                <a:solidFill>
                  <a:srgbClr val="1F3D0F"/>
                </a:solidFill>
                <a:latin typeface="Arial"/>
                <a:ea typeface="Arial"/>
                <a:cs typeface="Arial"/>
                <a:sym typeface="Arial"/>
              </a:rPr>
              <a:t>"Điểm tiện của mô hình này là bố mẹ có nhiều khung giờ để chọn. Nếu hôm nay gia đình có việc hoặc con có lịch khác thì có thể linh hoạt đổi sang ca phù hợp hơn."</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1" name="Shape 261"/>
        <p:cNvGrpSpPr/>
        <p:nvPr/>
      </p:nvGrpSpPr>
      <p:grpSpPr>
        <a:xfrm>
          <a:off x="0" y="0"/>
          <a:ext cx="0" cy="0"/>
          <a:chOff x="0" y="0"/>
          <a:chExt cx="0" cy="0"/>
        </a:xfrm>
      </p:grpSpPr>
      <p:sp>
        <p:nvSpPr>
          <p:cNvPr id="262" name="Google Shape;262;p23"/>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3"/>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lang="en-US" sz="2200">
                <a:solidFill>
                  <a:srgbClr val="004671"/>
                </a:solidFill>
              </a:rPr>
              <a:t>Mỗi</a:t>
            </a:r>
            <a:r>
              <a:rPr b="1" i="0" lang="en-US" sz="2200" u="none" cap="none" strike="noStrike">
                <a:solidFill>
                  <a:srgbClr val="004671"/>
                </a:solidFill>
                <a:latin typeface="Arial"/>
                <a:ea typeface="Arial"/>
                <a:cs typeface="Arial"/>
                <a:sym typeface="Arial"/>
              </a:rPr>
              <a:t> buổi kèm riêng 1-1</a:t>
            </a:r>
            <a:endParaRPr b="0" i="0" sz="2200" u="none" cap="none" strike="noStrike">
              <a:solidFill>
                <a:schemeClr val="dk1"/>
              </a:solidFill>
              <a:latin typeface="Calibri"/>
              <a:ea typeface="Calibri"/>
              <a:cs typeface="Calibri"/>
              <a:sym typeface="Calibri"/>
            </a:endParaRPr>
          </a:p>
        </p:txBody>
      </p:sp>
      <p:cxnSp>
        <p:nvCxnSpPr>
          <p:cNvPr id="264" name="Google Shape;264;p23"/>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graphicFrame>
        <p:nvGraphicFramePr>
          <p:cNvPr id="265" name="Google Shape;265;p23"/>
          <p:cNvGraphicFramePr/>
          <p:nvPr/>
        </p:nvGraphicFramePr>
        <p:xfrm>
          <a:off x="548640" y="1371600"/>
          <a:ext cx="3000000" cy="3000000"/>
        </p:xfrm>
        <a:graphic>
          <a:graphicData uri="http://schemas.openxmlformats.org/drawingml/2006/table">
            <a:tbl>
              <a:tblPr>
                <a:noFill/>
                <a:tableStyleId>{6A87B15F-54B6-4826-A0DF-81480C40843C}</a:tableStyleId>
              </a:tblPr>
              <a:tblGrid>
                <a:gridCol w="3050300"/>
                <a:gridCol w="8044100"/>
              </a:tblGrid>
              <a:tr h="184150">
                <a:tc>
                  <a:txBody>
                    <a:bodyPr/>
                    <a:lstStyle/>
                    <a:p>
                      <a:pPr indent="0" lvl="0" marL="0" marR="0" rtl="0" algn="l">
                        <a:spcBef>
                          <a:spcPts val="0"/>
                        </a:spcBef>
                        <a:spcAft>
                          <a:spcPts val="0"/>
                        </a:spcAft>
                        <a:buClr>
                          <a:srgbClr val="FFFFFF"/>
                        </a:buClr>
                        <a:buSzPts val="1450"/>
                        <a:buFont typeface="Arial"/>
                        <a:buNone/>
                      </a:pPr>
                      <a:r>
                        <a:rPr b="1" lang="en-US" sz="1450" u="none" cap="none" strike="noStrike">
                          <a:solidFill>
                            <a:srgbClr val="FFFFFF"/>
                          </a:solidFill>
                          <a:latin typeface="Arial"/>
                          <a:ea typeface="Arial"/>
                          <a:cs typeface="Arial"/>
                          <a:sym typeface="Arial"/>
                        </a:rPr>
                        <a:t>Thời lượng</a:t>
                      </a:r>
                      <a:endParaRPr sz="1450" u="none" cap="none" strike="noStrike">
                        <a:latin typeface="Arial"/>
                        <a:ea typeface="Arial"/>
                        <a:cs typeface="Arial"/>
                        <a:sym typeface="Arial"/>
                      </a:endParaRPr>
                    </a:p>
                  </a:txBody>
                  <a:tcPr marT="45725" marB="45725" marR="91450" marL="91450" anchor="ctr">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004671"/>
                    </a:solidFill>
                  </a:tcPr>
                </a:tc>
                <a:tc>
                  <a:txBody>
                    <a:bodyPr/>
                    <a:lstStyle/>
                    <a:p>
                      <a:pPr indent="0" lvl="0" marL="0" marR="0" rtl="0" algn="l">
                        <a:spcBef>
                          <a:spcPts val="0"/>
                        </a:spcBef>
                        <a:spcAft>
                          <a:spcPts val="0"/>
                        </a:spcAft>
                        <a:buClr>
                          <a:srgbClr val="FFFFFF"/>
                        </a:buClr>
                        <a:buSzPts val="1450"/>
                        <a:buFont typeface="Arial"/>
                        <a:buNone/>
                      </a:pPr>
                      <a:r>
                        <a:rPr b="1" lang="en-US" sz="1450" u="none" cap="none" strike="noStrike">
                          <a:solidFill>
                            <a:srgbClr val="FFFFFF"/>
                          </a:solidFill>
                          <a:latin typeface="Arial"/>
                          <a:ea typeface="Arial"/>
                          <a:cs typeface="Arial"/>
                          <a:sym typeface="Arial"/>
                        </a:rPr>
                        <a:t>Nội dung</a:t>
                      </a:r>
                      <a:endParaRPr sz="1450" u="none" cap="none" strike="noStrike">
                        <a:latin typeface="Arial"/>
                        <a:ea typeface="Arial"/>
                        <a:cs typeface="Arial"/>
                        <a:sym typeface="Arial"/>
                      </a:endParaRPr>
                    </a:p>
                  </a:txBody>
                  <a:tcPr marT="45725" marB="45725" marR="91450" marL="91450" anchor="ctr">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004671"/>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20 phút — Học kiến thức mới</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Con học thông qua hình ảnh, video, tình huống, hoạt động tương tác, trò chơi.</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20 phút — Luyện tập, hỏi đáp, sửa</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Con tương tác trực tiếp với người kèm riêng: hỏi đáp, trả lời, luyện tập, sửa lỗi, giải thích lại phần chưa hiểu.</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5F7F2"/>
                    </a:solidFill>
                  </a:tcPr>
                </a:tc>
              </a:tr>
              <a:tr h="177800">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5 phút — Nhận xét, giao bài</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A33"/>
                        </a:buClr>
                        <a:buSzPts val="1400"/>
                        <a:buFont typeface="Arial"/>
                        <a:buNone/>
                      </a:pPr>
                      <a:r>
                        <a:rPr lang="en-US" sz="1400" u="none" cap="none" strike="noStrike">
                          <a:solidFill>
                            <a:srgbClr val="1F2A33"/>
                          </a:solidFill>
                          <a:latin typeface="Arial"/>
                          <a:ea typeface="Arial"/>
                          <a:cs typeface="Arial"/>
                          <a:sym typeface="Arial"/>
                        </a:rPr>
                        <a:t>Con biết mình đã làm tốt điều gì, cần cải thiện điều gì, sau buổi học cần luyện thêm gì.</a:t>
                      </a:r>
                      <a:endParaRPr sz="1400" u="none" cap="none" strike="noStrike">
                        <a:latin typeface="Arial"/>
                        <a:ea typeface="Arial"/>
                        <a:cs typeface="Arial"/>
                        <a:sym typeface="Arial"/>
                      </a:endParaRPr>
                    </a:p>
                  </a:txBody>
                  <a:tcPr marT="45725" marB="45725" marR="91450" marL="91450">
                    <a:lnL cap="flat" cmpd="sng" w="9525">
                      <a:solidFill>
                        <a:srgbClr val="DDE3D8"/>
                      </a:solidFill>
                      <a:prstDash val="solid"/>
                      <a:round/>
                      <a:headEnd len="sm" w="sm" type="none"/>
                      <a:tailEnd len="sm" w="sm" type="none"/>
                    </a:lnL>
                    <a:lnR cap="flat" cmpd="sng" w="9525">
                      <a:solidFill>
                        <a:srgbClr val="DDE3D8"/>
                      </a:solidFill>
                      <a:prstDash val="solid"/>
                      <a:round/>
                      <a:headEnd len="sm" w="sm" type="none"/>
                      <a:tailEnd len="sm" w="sm" type="none"/>
                    </a:lnR>
                    <a:lnT cap="flat" cmpd="sng" w="9525">
                      <a:solidFill>
                        <a:srgbClr val="DDE3D8"/>
                      </a:solidFill>
                      <a:prstDash val="solid"/>
                      <a:round/>
                      <a:headEnd len="sm" w="sm" type="none"/>
                      <a:tailEnd len="sm" w="sm" type="none"/>
                    </a:lnT>
                    <a:lnB cap="flat" cmpd="sng" w="9525">
                      <a:solidFill>
                        <a:srgbClr val="DDE3D8"/>
                      </a:solidFill>
                      <a:prstDash val="solid"/>
                      <a:round/>
                      <a:headEnd len="sm" w="sm" type="none"/>
                      <a:tailEnd len="sm" w="sm" type="none"/>
                    </a:lnB>
                    <a:solidFill>
                      <a:srgbClr val="FFFFFF"/>
                    </a:solidFill>
                  </a:tcPr>
                </a:tc>
              </a:tr>
            </a:tbl>
          </a:graphicData>
        </a:graphic>
      </p:graphicFrame>
      <p:sp>
        <p:nvSpPr>
          <p:cNvPr id="266" name="Google Shape;266;p23"/>
          <p:cNvSpPr/>
          <p:nvPr/>
        </p:nvSpPr>
        <p:spPr>
          <a:xfrm>
            <a:off x="548640" y="3160776"/>
            <a:ext cx="54900" cy="786300"/>
          </a:xfrm>
          <a:prstGeom prst="rect">
            <a:avLst/>
          </a:prstGeom>
          <a:solidFill>
            <a:srgbClr val="A5BE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3"/>
          <p:cNvSpPr/>
          <p:nvPr/>
        </p:nvSpPr>
        <p:spPr>
          <a:xfrm>
            <a:off x="777240" y="3160776"/>
            <a:ext cx="10865700" cy="786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0" i="1" lang="en-US" sz="1600" u="none" cap="none" strike="noStrike">
                <a:solidFill>
                  <a:srgbClr val="004671"/>
                </a:solidFill>
                <a:latin typeface="Arial"/>
                <a:ea typeface="Arial"/>
                <a:cs typeface="Arial"/>
                <a:sym typeface="Arial"/>
              </a:rPr>
              <a:t>Điểm quan trọng: không phải tất cả các con đều học giống nhau. Cách hướng dẫn và nội dung luyện tập được điều chỉnh dựa trên trình độ và kết quả học của chính con.</a:t>
            </a:r>
            <a:endParaRPr b="0" i="0" sz="1600" u="none" cap="none" strike="noStrike">
              <a:solidFill>
                <a:schemeClr val="dk1"/>
              </a:solidFill>
              <a:latin typeface="Calibri"/>
              <a:ea typeface="Calibri"/>
              <a:cs typeface="Calibri"/>
              <a:sym typeface="Calibri"/>
            </a:endParaRPr>
          </a:p>
        </p:txBody>
      </p:sp>
      <p:sp>
        <p:nvSpPr>
          <p:cNvPr id="268" name="Google Shape;268;p23"/>
          <p:cNvSpPr/>
          <p:nvPr/>
        </p:nvSpPr>
        <p:spPr>
          <a:xfrm>
            <a:off x="548640" y="4282440"/>
            <a:ext cx="11094300" cy="1426500"/>
          </a:xfrm>
          <a:prstGeom prst="roundRect">
            <a:avLst>
              <a:gd fmla="val 3846" name="adj"/>
            </a:avLst>
          </a:prstGeom>
          <a:solidFill>
            <a:srgbClr val="EAF1DC"/>
          </a:solidFill>
          <a:ln cap="flat" cmpd="sng" w="12700">
            <a:solidFill>
              <a:srgbClr val="A5BE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3"/>
          <p:cNvSpPr/>
          <p:nvPr/>
        </p:nvSpPr>
        <p:spPr>
          <a:xfrm>
            <a:off x="731520" y="4392168"/>
            <a:ext cx="10728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D5A1F"/>
              </a:buClr>
              <a:buSzPts val="1100"/>
              <a:buFont typeface="Arial"/>
              <a:buNone/>
            </a:pPr>
            <a:r>
              <a:rPr b="1" i="0" lang="en-US" sz="1100" u="none" cap="none" strike="noStrike">
                <a:solidFill>
                  <a:srgbClr val="3D5A1F"/>
                </a:solidFill>
                <a:latin typeface="Arial"/>
                <a:ea typeface="Arial"/>
                <a:cs typeface="Arial"/>
                <a:sym typeface="Arial"/>
              </a:rPr>
              <a:t>CÁCH NÓI VỚI PHỤ HUYNH</a:t>
            </a:r>
            <a:endParaRPr b="0" i="0" sz="1100" u="none" cap="none" strike="noStrike">
              <a:solidFill>
                <a:schemeClr val="dk1"/>
              </a:solidFill>
              <a:latin typeface="Calibri"/>
              <a:ea typeface="Calibri"/>
              <a:cs typeface="Calibri"/>
              <a:sym typeface="Calibri"/>
            </a:endParaRPr>
          </a:p>
        </p:txBody>
      </p:sp>
      <p:sp>
        <p:nvSpPr>
          <p:cNvPr id="270" name="Google Shape;270;p23"/>
          <p:cNvSpPr/>
          <p:nvPr/>
        </p:nvSpPr>
        <p:spPr>
          <a:xfrm>
            <a:off x="731520" y="4666488"/>
            <a:ext cx="10728600" cy="9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3D0F"/>
              </a:buClr>
              <a:buSzPts val="1600"/>
              <a:buFont typeface="Arial"/>
              <a:buNone/>
            </a:pPr>
            <a:r>
              <a:rPr b="0" i="1" lang="en-US" sz="1600" u="none" cap="none" strike="noStrike">
                <a:solidFill>
                  <a:srgbClr val="1F3D0F"/>
                </a:solidFill>
                <a:latin typeface="Arial"/>
                <a:ea typeface="Arial"/>
                <a:cs typeface="Arial"/>
                <a:sym typeface="Arial"/>
              </a:rPr>
              <a:t>"Đây là buổi học riêng của con. Người kèm biết con đang ở mức nào và trong buổi học sẽ tập trung vào những gì con cần, chứ không phải tất cả các bạn đều học giống nhau."</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5" name="Shape 275"/>
        <p:cNvGrpSpPr/>
        <p:nvPr/>
      </p:nvGrpSpPr>
      <p:grpSpPr>
        <a:xfrm>
          <a:off x="0" y="0"/>
          <a:ext cx="0" cy="0"/>
          <a:chOff x="0" y="0"/>
          <a:chExt cx="0" cy="0"/>
        </a:xfrm>
      </p:grpSpPr>
      <p:sp>
        <p:nvSpPr>
          <p:cNvPr id="276" name="Google Shape;276;p24"/>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4"/>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Người kèm riêng phù hợp với từng con</a:t>
            </a:r>
            <a:endParaRPr b="0" i="0" sz="2200" u="none" cap="none" strike="noStrike">
              <a:solidFill>
                <a:schemeClr val="dk1"/>
              </a:solidFill>
              <a:latin typeface="Calibri"/>
              <a:ea typeface="Calibri"/>
              <a:cs typeface="Calibri"/>
              <a:sym typeface="Calibri"/>
            </a:endParaRPr>
          </a:p>
        </p:txBody>
      </p:sp>
      <p:cxnSp>
        <p:nvCxnSpPr>
          <p:cNvPr id="278" name="Google Shape;278;p24"/>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sp>
        <p:nvSpPr>
          <p:cNvPr id="279" name="Google Shape;279;p24"/>
          <p:cNvSpPr/>
          <p:nvPr/>
        </p:nvSpPr>
        <p:spPr>
          <a:xfrm>
            <a:off x="548640" y="1371600"/>
            <a:ext cx="11094300" cy="42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Bước 1 — Xác định trình độ đầu vào: </a:t>
            </a:r>
            <a:r>
              <a:rPr b="0" i="0" lang="en-US" sz="1600" u="none" cap="none" strike="noStrike">
                <a:solidFill>
                  <a:srgbClr val="1F2A33"/>
                </a:solidFill>
                <a:latin typeface="Arial"/>
                <a:ea typeface="Arial"/>
                <a:cs typeface="Arial"/>
                <a:sym typeface="Arial"/>
              </a:rPr>
              <a:t>biết con đang ở đâu trước khi bắt đầu lộ trình.</a:t>
            </a:r>
            <a:endParaRPr b="0" i="0" sz="1600" u="none" cap="none" strike="noStrike">
              <a:solidFill>
                <a:schemeClr val="dk1"/>
              </a:solidFill>
              <a:latin typeface="Calibri"/>
              <a:ea typeface="Calibri"/>
              <a:cs typeface="Calibri"/>
              <a:sym typeface="Calibri"/>
            </a:endParaRPr>
          </a:p>
        </p:txBody>
      </p:sp>
      <p:sp>
        <p:nvSpPr>
          <p:cNvPr id="280" name="Google Shape;280;p24"/>
          <p:cNvSpPr/>
          <p:nvPr/>
        </p:nvSpPr>
        <p:spPr>
          <a:xfrm>
            <a:off x="548640" y="1975104"/>
            <a:ext cx="110943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Bước 2 — Level </a:t>
            </a:r>
            <a:r>
              <a:rPr b="1" lang="en-US" sz="1600">
                <a:solidFill>
                  <a:srgbClr val="004671"/>
                </a:solidFill>
              </a:rPr>
              <a:t>A</a:t>
            </a:r>
            <a:r>
              <a:rPr b="1" i="0" lang="en-US" sz="1600" u="none" cap="none" strike="noStrike">
                <a:solidFill>
                  <a:srgbClr val="004671"/>
                </a:solidFill>
                <a:latin typeface="Arial"/>
                <a:ea typeface="Arial"/>
                <a:cs typeface="Arial"/>
                <a:sym typeface="Arial"/>
              </a:rPr>
              <a:t> (h</a:t>
            </a:r>
            <a:r>
              <a:rPr b="1" lang="en-US" sz="1600">
                <a:solidFill>
                  <a:srgbClr val="004671"/>
                </a:solidFill>
              </a:rPr>
              <a:t>ọc lực </a:t>
            </a:r>
            <a:r>
              <a:rPr b="1" i="0" lang="en-US" sz="1600" u="none" cap="none" strike="noStrike">
                <a:solidFill>
                  <a:srgbClr val="004671"/>
                </a:solidFill>
                <a:latin typeface="Arial"/>
                <a:ea typeface="Arial"/>
                <a:cs typeface="Arial"/>
                <a:sym typeface="Arial"/>
              </a:rPr>
              <a:t>yếu/trung bình): h</a:t>
            </a:r>
            <a:r>
              <a:rPr b="1" lang="en-US" sz="1600">
                <a:solidFill>
                  <a:srgbClr val="004671"/>
                </a:solidFill>
              </a:rPr>
              <a:t>ọc với </a:t>
            </a:r>
            <a:r>
              <a:rPr b="1" i="0" lang="en-US" sz="1600" u="none" cap="none" strike="noStrike">
                <a:solidFill>
                  <a:srgbClr val="004671"/>
                </a:solidFill>
                <a:latin typeface="Arial"/>
                <a:ea typeface="Arial"/>
                <a:cs typeface="Arial"/>
                <a:sym typeface="Arial"/>
              </a:rPr>
              <a:t>giáo viên AI người Việt</a:t>
            </a:r>
            <a:endParaRPr b="0" i="0" sz="1600" u="none" cap="none" strike="noStrike">
              <a:solidFill>
                <a:schemeClr val="dk1"/>
              </a:solidFill>
              <a:latin typeface="Calibri"/>
              <a:ea typeface="Calibri"/>
              <a:cs typeface="Calibri"/>
              <a:sym typeface="Calibri"/>
            </a:endParaRPr>
          </a:p>
        </p:txBody>
      </p:sp>
      <p:sp>
        <p:nvSpPr>
          <p:cNvPr id="281" name="Google Shape;281;p24"/>
          <p:cNvSpPr/>
          <p:nvPr/>
        </p:nvSpPr>
        <p:spPr>
          <a:xfrm>
            <a:off x="548640" y="2395728"/>
            <a:ext cx="11094300" cy="1225200"/>
          </a:xfrm>
          <a:prstGeom prst="rect">
            <a:avLst/>
          </a:prstGeom>
          <a:noFill/>
          <a:ln>
            <a:noFill/>
          </a:ln>
        </p:spPr>
        <p:txBody>
          <a:bodyPr anchorCtr="0" anchor="t" bIns="45700" lIns="91425" spcFirstLastPara="1" rIns="91425" wrap="square" tIns="45700">
            <a:noAutofit/>
          </a:bodyPr>
          <a:lstStyle/>
          <a:p>
            <a:pPr indent="-254000" lvl="0" marL="254000" marR="0" rtl="0" algn="l">
              <a:spcBef>
                <a:spcPts val="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Hướng dẫn chi tiết.</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Củng cố kiến thức.</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Tập trung xử lý những phần con còn yếu.</a:t>
            </a:r>
            <a:endParaRPr b="0" i="0" sz="1600" u="none" cap="none" strike="noStrike">
              <a:solidFill>
                <a:schemeClr val="dk1"/>
              </a:solidFill>
              <a:latin typeface="Calibri"/>
              <a:ea typeface="Calibri"/>
              <a:cs typeface="Calibri"/>
              <a:sym typeface="Calibri"/>
            </a:endParaRPr>
          </a:p>
        </p:txBody>
      </p:sp>
      <p:sp>
        <p:nvSpPr>
          <p:cNvPr id="282" name="Google Shape;282;p24"/>
          <p:cNvSpPr/>
          <p:nvPr/>
        </p:nvSpPr>
        <p:spPr>
          <a:xfrm>
            <a:off x="548640" y="3575304"/>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Level </a:t>
            </a:r>
            <a:r>
              <a:rPr b="1" lang="en-US" sz="1600">
                <a:solidFill>
                  <a:srgbClr val="004671"/>
                </a:solidFill>
              </a:rPr>
              <a:t>B</a:t>
            </a:r>
            <a:r>
              <a:rPr b="1" i="0" lang="en-US" sz="1600" u="none" cap="none" strike="noStrike">
                <a:solidFill>
                  <a:srgbClr val="004671"/>
                </a:solidFill>
                <a:latin typeface="Arial"/>
                <a:ea typeface="Arial"/>
                <a:cs typeface="Arial"/>
                <a:sym typeface="Arial"/>
              </a:rPr>
              <a:t> ( h</a:t>
            </a:r>
            <a:r>
              <a:rPr b="1" lang="en-US" sz="1600">
                <a:solidFill>
                  <a:srgbClr val="004671"/>
                </a:solidFill>
              </a:rPr>
              <a:t>ọc lực </a:t>
            </a:r>
            <a:r>
              <a:rPr b="1" i="0" lang="en-US" sz="1600" u="none" cap="none" strike="noStrike">
                <a:solidFill>
                  <a:srgbClr val="004671"/>
                </a:solidFill>
                <a:latin typeface="Arial"/>
                <a:ea typeface="Arial"/>
                <a:cs typeface="Arial"/>
                <a:sym typeface="Arial"/>
              </a:rPr>
              <a:t>khá/giỏi): h</a:t>
            </a:r>
            <a:r>
              <a:rPr b="1" lang="en-US" sz="1600">
                <a:solidFill>
                  <a:srgbClr val="004671"/>
                </a:solidFill>
              </a:rPr>
              <a:t>ọc 1 buổi với </a:t>
            </a:r>
            <a:r>
              <a:rPr b="1" i="0" lang="en-US" sz="1600" u="none" cap="none" strike="noStrike">
                <a:solidFill>
                  <a:srgbClr val="004671"/>
                </a:solidFill>
                <a:latin typeface="Arial"/>
                <a:ea typeface="Arial"/>
                <a:cs typeface="Arial"/>
                <a:sym typeface="Arial"/>
              </a:rPr>
              <a:t>giáo viên AI người Việt + 1 bu</a:t>
            </a:r>
            <a:r>
              <a:rPr b="1" lang="en-US" sz="1600">
                <a:solidFill>
                  <a:srgbClr val="004671"/>
                </a:solidFill>
              </a:rPr>
              <a:t>ổi với </a:t>
            </a:r>
            <a:r>
              <a:rPr b="1" i="0" lang="en-US" sz="1600" u="none" cap="none" strike="noStrike">
                <a:solidFill>
                  <a:srgbClr val="004671"/>
                </a:solidFill>
                <a:latin typeface="Arial"/>
                <a:ea typeface="Arial"/>
                <a:cs typeface="Arial"/>
                <a:sym typeface="Arial"/>
              </a:rPr>
              <a:t>giáo viên AI bản xứ Anh/Mỹ</a:t>
            </a:r>
            <a:endParaRPr b="0" i="0" sz="1600" u="none" cap="none" strike="noStrike">
              <a:solidFill>
                <a:schemeClr val="dk1"/>
              </a:solidFill>
              <a:latin typeface="Calibri"/>
              <a:ea typeface="Calibri"/>
              <a:cs typeface="Calibri"/>
              <a:sym typeface="Calibri"/>
            </a:endParaRPr>
          </a:p>
        </p:txBody>
      </p:sp>
      <p:sp>
        <p:nvSpPr>
          <p:cNvPr id="283" name="Google Shape;283;p24"/>
          <p:cNvSpPr/>
          <p:nvPr/>
        </p:nvSpPr>
        <p:spPr>
          <a:xfrm>
            <a:off x="548650" y="4175747"/>
            <a:ext cx="11094300" cy="676800"/>
          </a:xfrm>
          <a:prstGeom prst="rect">
            <a:avLst/>
          </a:prstGeom>
          <a:noFill/>
          <a:ln>
            <a:noFill/>
          </a:ln>
        </p:spPr>
        <p:txBody>
          <a:bodyPr anchorCtr="0" anchor="t" bIns="45700" lIns="91425" spcFirstLastPara="1" rIns="91425" wrap="square" tIns="45700">
            <a:noAutofit/>
          </a:bodyPr>
          <a:lstStyle/>
          <a:p>
            <a:pPr indent="-254000" lvl="0" marL="254000" marR="0" rtl="0" algn="l">
              <a:spcBef>
                <a:spcPts val="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Luyện giao tiếp và sử dụng tiếng Anh.</a:t>
            </a:r>
            <a:endParaRPr b="0" i="0" sz="1600" u="none" cap="none" strike="noStrike">
              <a:solidFill>
                <a:srgbClr val="1F2A33"/>
              </a:solidFill>
              <a:latin typeface="Arial"/>
              <a:ea typeface="Arial"/>
              <a:cs typeface="Arial"/>
              <a:sym typeface="Arial"/>
            </a:endParaRPr>
          </a:p>
          <a:p>
            <a:pPr indent="-254000" lvl="0" marL="254000" marR="0" rtl="0" algn="l">
              <a:spcBef>
                <a:spcPts val="0"/>
              </a:spcBef>
              <a:spcAft>
                <a:spcPts val="0"/>
              </a:spcAft>
              <a:buClr>
                <a:srgbClr val="1F2A33"/>
              </a:buClr>
              <a:buSzPts val="1600"/>
              <a:buChar char="•"/>
            </a:pPr>
            <a:r>
              <a:rPr lang="en-US" sz="1600">
                <a:solidFill>
                  <a:srgbClr val="1F2A33"/>
                </a:solidFill>
              </a:rPr>
              <a:t>Kiến thức, ngữ pháp chuyên sâu</a:t>
            </a:r>
            <a:endParaRPr sz="1600">
              <a:solidFill>
                <a:srgbClr val="1F2A33"/>
              </a:solidFill>
            </a:endParaRPr>
          </a:p>
        </p:txBody>
      </p:sp>
      <p:sp>
        <p:nvSpPr>
          <p:cNvPr id="284" name="Google Shape;284;p24"/>
          <p:cNvSpPr/>
          <p:nvPr/>
        </p:nvSpPr>
        <p:spPr>
          <a:xfrm>
            <a:off x="548640" y="4928616"/>
            <a:ext cx="11094300" cy="42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Bước 3 — Theo sát và điều chỉnh: </a:t>
            </a:r>
            <a:r>
              <a:rPr b="0" i="0" lang="en-US" sz="1600" u="none" cap="none" strike="noStrike">
                <a:solidFill>
                  <a:srgbClr val="1F2A33"/>
                </a:solidFill>
                <a:latin typeface="Arial"/>
                <a:ea typeface="Arial"/>
                <a:cs typeface="Arial"/>
                <a:sym typeface="Arial"/>
              </a:rPr>
              <a:t>trong quá trình học, nội dung tiếp tục được điều chỉnh theo kết quả thực tế của con.</a:t>
            </a:r>
            <a:endParaRPr b="0" i="0" sz="1600" u="none" cap="none" strike="noStrike">
              <a:solidFill>
                <a:schemeClr val="dk1"/>
              </a:solidFill>
              <a:latin typeface="Calibri"/>
              <a:ea typeface="Calibri"/>
              <a:cs typeface="Calibri"/>
              <a:sym typeface="Calibri"/>
            </a:endParaRPr>
          </a:p>
        </p:txBody>
      </p:sp>
      <p:sp>
        <p:nvSpPr>
          <p:cNvPr id="285" name="Google Shape;285;p24"/>
          <p:cNvSpPr/>
          <p:nvPr/>
        </p:nvSpPr>
        <p:spPr>
          <a:xfrm>
            <a:off x="548640" y="5410200"/>
            <a:ext cx="11094300" cy="1134000"/>
          </a:xfrm>
          <a:prstGeom prst="roundRect">
            <a:avLst>
              <a:gd fmla="val 4839" name="adj"/>
            </a:avLst>
          </a:prstGeom>
          <a:solidFill>
            <a:srgbClr val="EAF1DC"/>
          </a:solidFill>
          <a:ln cap="flat" cmpd="sng" w="12700">
            <a:solidFill>
              <a:srgbClr val="A5BE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4"/>
          <p:cNvSpPr/>
          <p:nvPr/>
        </p:nvSpPr>
        <p:spPr>
          <a:xfrm>
            <a:off x="731520" y="5519928"/>
            <a:ext cx="10728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D5A1F"/>
              </a:buClr>
              <a:buSzPts val="1100"/>
              <a:buFont typeface="Arial"/>
              <a:buNone/>
            </a:pPr>
            <a:r>
              <a:rPr b="1" i="0" lang="en-US" sz="1100" u="none" cap="none" strike="noStrike">
                <a:solidFill>
                  <a:srgbClr val="3D5A1F"/>
                </a:solidFill>
                <a:latin typeface="Arial"/>
                <a:ea typeface="Arial"/>
                <a:cs typeface="Arial"/>
                <a:sym typeface="Arial"/>
              </a:rPr>
              <a:t>CÁCH NÓI VỚI PHỤ HUYNH</a:t>
            </a:r>
            <a:endParaRPr b="0" i="0" sz="1100" u="none" cap="none" strike="noStrike">
              <a:solidFill>
                <a:schemeClr val="dk1"/>
              </a:solidFill>
              <a:latin typeface="Calibri"/>
              <a:ea typeface="Calibri"/>
              <a:cs typeface="Calibri"/>
              <a:sym typeface="Calibri"/>
            </a:endParaRPr>
          </a:p>
        </p:txBody>
      </p:sp>
      <p:sp>
        <p:nvSpPr>
          <p:cNvPr id="287" name="Google Shape;287;p24"/>
          <p:cNvSpPr/>
          <p:nvPr/>
        </p:nvSpPr>
        <p:spPr>
          <a:xfrm>
            <a:off x="731520" y="5794248"/>
            <a:ext cx="10728600" cy="676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3D0F"/>
              </a:buClr>
              <a:buSzPts val="1600"/>
              <a:buFont typeface="Arial"/>
              <a:buNone/>
            </a:pPr>
            <a:r>
              <a:rPr b="0" i="1" lang="en-US" sz="1600" u="none" cap="none" strike="noStrike">
                <a:solidFill>
                  <a:srgbClr val="1F3D0F"/>
                </a:solidFill>
                <a:latin typeface="Arial"/>
                <a:ea typeface="Arial"/>
                <a:cs typeface="Arial"/>
                <a:sym typeface="Arial"/>
              </a:rPr>
              <a:t>"Điểm khác biệt là Edupia không mặc định tất cả các con đều học giống nhau. Con được xác định trình độ ngay từ đầu để có cách học phù hợp hơn."</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2" name="Shape 292"/>
        <p:cNvGrpSpPr/>
        <p:nvPr/>
      </p:nvGrpSpPr>
      <p:grpSpPr>
        <a:xfrm>
          <a:off x="0" y="0"/>
          <a:ext cx="0" cy="0"/>
          <a:chOff x="0" y="0"/>
          <a:chExt cx="0" cy="0"/>
        </a:xfrm>
      </p:grpSpPr>
      <p:sp>
        <p:nvSpPr>
          <p:cNvPr id="293" name="Google Shape;293;p25"/>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5"/>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Luyện nói</a:t>
            </a:r>
            <a:endParaRPr b="0" i="0" sz="2200" u="none" cap="none" strike="noStrike">
              <a:solidFill>
                <a:schemeClr val="dk1"/>
              </a:solidFill>
              <a:latin typeface="Calibri"/>
              <a:ea typeface="Calibri"/>
              <a:cs typeface="Calibri"/>
              <a:sym typeface="Calibri"/>
            </a:endParaRPr>
          </a:p>
        </p:txBody>
      </p:sp>
      <p:cxnSp>
        <p:nvCxnSpPr>
          <p:cNvPr id="295" name="Google Shape;295;p25"/>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sp>
        <p:nvSpPr>
          <p:cNvPr id="296" name="Google Shape;296;p25"/>
          <p:cNvSpPr/>
          <p:nvPr/>
        </p:nvSpPr>
        <p:spPr>
          <a:xfrm>
            <a:off x="548640" y="1371600"/>
            <a:ext cx="11094300" cy="42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Con học theo từng bước: </a:t>
            </a:r>
            <a:r>
              <a:rPr b="0" i="0" lang="en-US" sz="1600" u="none" cap="none" strike="noStrike">
                <a:solidFill>
                  <a:srgbClr val="1F2A33"/>
                </a:solidFill>
                <a:latin typeface="Arial"/>
                <a:ea typeface="Arial"/>
                <a:cs typeface="Arial"/>
                <a:sym typeface="Arial"/>
              </a:rPr>
              <a:t>Từ vựng → Câu đơn giản → Hội thoại → Đóng vai → Tình huống thực tế.</a:t>
            </a:r>
            <a:endParaRPr b="0" i="0" sz="1600" u="none" cap="none" strike="noStrike">
              <a:solidFill>
                <a:schemeClr val="dk1"/>
              </a:solidFill>
              <a:latin typeface="Calibri"/>
              <a:ea typeface="Calibri"/>
              <a:cs typeface="Calibri"/>
              <a:sym typeface="Calibri"/>
            </a:endParaRPr>
          </a:p>
        </p:txBody>
      </p:sp>
      <p:sp>
        <p:nvSpPr>
          <p:cNvPr id="297" name="Google Shape;297;p25"/>
          <p:cNvSpPr/>
          <p:nvPr/>
        </p:nvSpPr>
        <p:spPr>
          <a:xfrm>
            <a:off x="548640" y="1975104"/>
            <a:ext cx="110943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Khi con chưa biết nói:</a:t>
            </a:r>
            <a:endParaRPr b="0" i="0" sz="1600" u="none" cap="none" strike="noStrike">
              <a:solidFill>
                <a:schemeClr val="dk1"/>
              </a:solidFill>
              <a:latin typeface="Calibri"/>
              <a:ea typeface="Calibri"/>
              <a:cs typeface="Calibri"/>
              <a:sym typeface="Calibri"/>
            </a:endParaRPr>
          </a:p>
        </p:txBody>
      </p:sp>
      <p:sp>
        <p:nvSpPr>
          <p:cNvPr id="298" name="Google Shape;298;p25"/>
          <p:cNvSpPr/>
          <p:nvPr/>
        </p:nvSpPr>
        <p:spPr>
          <a:xfrm>
            <a:off x="548640" y="2395728"/>
            <a:ext cx="11094300" cy="2322600"/>
          </a:xfrm>
          <a:prstGeom prst="rect">
            <a:avLst/>
          </a:prstGeom>
          <a:noFill/>
          <a:ln>
            <a:noFill/>
          </a:ln>
        </p:spPr>
        <p:txBody>
          <a:bodyPr anchorCtr="0" anchor="t" bIns="45700" lIns="91425" spcFirstLastPara="1" rIns="91425" wrap="square" tIns="45700">
            <a:noAutofit/>
          </a:bodyPr>
          <a:lstStyle/>
          <a:p>
            <a:pPr indent="-254000" lvl="0" marL="254000" marR="0" rtl="0" algn="l">
              <a:spcBef>
                <a:spcPts val="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Được gợi ý.</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Được hướng dẫn cách diễn đạt.</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Được sửa lỗi.</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Được sửa phát âm.</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Được nói lại.</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Được luyện nhiều lần.</a:t>
            </a:r>
            <a:endParaRPr b="0" i="0" sz="1600" u="none" cap="none" strike="noStrike">
              <a:solidFill>
                <a:schemeClr val="dk1"/>
              </a:solidFill>
              <a:latin typeface="Calibri"/>
              <a:ea typeface="Calibri"/>
              <a:cs typeface="Calibri"/>
              <a:sym typeface="Calibri"/>
            </a:endParaRPr>
          </a:p>
        </p:txBody>
      </p:sp>
      <p:sp>
        <p:nvSpPr>
          <p:cNvPr id="299" name="Google Shape;299;p25"/>
          <p:cNvSpPr/>
          <p:nvPr/>
        </p:nvSpPr>
        <p:spPr>
          <a:xfrm>
            <a:off x="548640" y="4901184"/>
            <a:ext cx="11094300" cy="42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A33"/>
              </a:buClr>
              <a:buSzPts val="1600"/>
              <a:buFont typeface="Arial"/>
              <a:buNone/>
            </a:pPr>
            <a:r>
              <a:rPr b="0" i="0" lang="en-US" sz="1600" u="none" cap="none" strike="noStrike">
                <a:solidFill>
                  <a:srgbClr val="1F2A33"/>
                </a:solidFill>
                <a:latin typeface="Arial"/>
                <a:ea typeface="Arial"/>
                <a:cs typeface="Arial"/>
                <a:sym typeface="Arial"/>
              </a:rPr>
              <a:t>Với học sinh khá/giỏi: có thêm cơ hội luyện giao tiếp với giáo viên AI bản xứ Anh/Mỹ.</a:t>
            </a:r>
            <a:endParaRPr b="0" i="0" sz="1600" u="none" cap="none" strike="noStrike">
              <a:solidFill>
                <a:schemeClr val="dk1"/>
              </a:solidFill>
              <a:latin typeface="Calibri"/>
              <a:ea typeface="Calibri"/>
              <a:cs typeface="Calibri"/>
              <a:sym typeface="Calibri"/>
            </a:endParaRPr>
          </a:p>
        </p:txBody>
      </p:sp>
      <p:sp>
        <p:nvSpPr>
          <p:cNvPr id="300" name="Google Shape;300;p25"/>
          <p:cNvSpPr/>
          <p:nvPr/>
        </p:nvSpPr>
        <p:spPr>
          <a:xfrm>
            <a:off x="548640" y="5504688"/>
            <a:ext cx="54900" cy="493800"/>
          </a:xfrm>
          <a:prstGeom prst="rect">
            <a:avLst/>
          </a:prstGeom>
          <a:solidFill>
            <a:srgbClr val="A5BE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5"/>
          <p:cNvSpPr/>
          <p:nvPr/>
        </p:nvSpPr>
        <p:spPr>
          <a:xfrm>
            <a:off x="777240" y="5504688"/>
            <a:ext cx="10865700" cy="493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0" i="1" lang="en-US" sz="1600" u="none" cap="none" strike="noStrike">
                <a:solidFill>
                  <a:srgbClr val="004671"/>
                </a:solidFill>
                <a:latin typeface="Arial"/>
                <a:ea typeface="Arial"/>
                <a:cs typeface="Arial"/>
                <a:sym typeface="Arial"/>
              </a:rPr>
              <a:t>Mục tiêu: không sợ nói sai → dám nói → nói được → nói tự nhiên hơn.</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6" name="Shape 306"/>
        <p:cNvGrpSpPr/>
        <p:nvPr/>
      </p:nvGrpSpPr>
      <p:grpSpPr>
        <a:xfrm>
          <a:off x="0" y="0"/>
          <a:ext cx="0" cy="0"/>
          <a:chOff x="0" y="0"/>
          <a:chExt cx="0" cy="0"/>
        </a:xfrm>
      </p:grpSpPr>
      <p:sp>
        <p:nvSpPr>
          <p:cNvPr id="307" name="Google Shape;307;p26"/>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6"/>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Bài tập</a:t>
            </a:r>
            <a:endParaRPr b="0" i="0" sz="2200" u="none" cap="none" strike="noStrike">
              <a:solidFill>
                <a:schemeClr val="dk1"/>
              </a:solidFill>
              <a:latin typeface="Calibri"/>
              <a:ea typeface="Calibri"/>
              <a:cs typeface="Calibri"/>
              <a:sym typeface="Calibri"/>
            </a:endParaRPr>
          </a:p>
        </p:txBody>
      </p:sp>
      <p:cxnSp>
        <p:nvCxnSpPr>
          <p:cNvPr id="309" name="Google Shape;309;p26"/>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sp>
        <p:nvSpPr>
          <p:cNvPr id="310" name="Google Shape;310;p26"/>
          <p:cNvSpPr/>
          <p:nvPr/>
        </p:nvSpPr>
        <p:spPr>
          <a:xfrm>
            <a:off x="548640" y="1371600"/>
            <a:ext cx="11094300" cy="42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2A33"/>
              </a:buClr>
              <a:buSzPts val="1600"/>
              <a:buFont typeface="Arial"/>
              <a:buNone/>
            </a:pPr>
            <a:r>
              <a:rPr b="0" i="0" lang="en-US" sz="1600" u="none" cap="none" strike="noStrike">
                <a:solidFill>
                  <a:srgbClr val="1F2A33"/>
                </a:solidFill>
                <a:latin typeface="Arial"/>
                <a:ea typeface="Arial"/>
                <a:cs typeface="Arial"/>
                <a:sym typeface="Arial"/>
              </a:rPr>
              <a:t>Sau các buổi học, con được luyện tập dựa trên kết quả của mình.</a:t>
            </a:r>
            <a:endParaRPr b="0" i="0" sz="1600" u="none" cap="none" strike="noStrike">
              <a:solidFill>
                <a:schemeClr val="dk1"/>
              </a:solidFill>
              <a:latin typeface="Calibri"/>
              <a:ea typeface="Calibri"/>
              <a:cs typeface="Calibri"/>
              <a:sym typeface="Calibri"/>
            </a:endParaRPr>
          </a:p>
        </p:txBody>
      </p:sp>
      <p:sp>
        <p:nvSpPr>
          <p:cNvPr id="311" name="Google Shape;311;p26"/>
          <p:cNvSpPr/>
          <p:nvPr/>
        </p:nvSpPr>
        <p:spPr>
          <a:xfrm>
            <a:off x="548640" y="1975104"/>
            <a:ext cx="110943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Con có thể được giao:</a:t>
            </a:r>
            <a:endParaRPr b="0" i="0" sz="1600" u="none" cap="none" strike="noStrike">
              <a:solidFill>
                <a:schemeClr val="dk1"/>
              </a:solidFill>
              <a:latin typeface="Calibri"/>
              <a:ea typeface="Calibri"/>
              <a:cs typeface="Calibri"/>
              <a:sym typeface="Calibri"/>
            </a:endParaRPr>
          </a:p>
        </p:txBody>
      </p:sp>
      <p:sp>
        <p:nvSpPr>
          <p:cNvPr id="312" name="Google Shape;312;p26"/>
          <p:cNvSpPr/>
          <p:nvPr/>
        </p:nvSpPr>
        <p:spPr>
          <a:xfrm>
            <a:off x="548640" y="2395728"/>
            <a:ext cx="11094300" cy="1591200"/>
          </a:xfrm>
          <a:prstGeom prst="rect">
            <a:avLst/>
          </a:prstGeom>
          <a:noFill/>
          <a:ln>
            <a:noFill/>
          </a:ln>
        </p:spPr>
        <p:txBody>
          <a:bodyPr anchorCtr="0" anchor="t" bIns="45700" lIns="91425" spcFirstLastPara="1" rIns="91425" wrap="square" tIns="45700">
            <a:noAutofit/>
          </a:bodyPr>
          <a:lstStyle/>
          <a:p>
            <a:pPr indent="-254000" lvl="0" marL="254000" marR="0" rtl="0" algn="l">
              <a:spcBef>
                <a:spcPts val="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Bài tập củng cố phần còn yếu.</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Bài tập kiến thức mới.</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Bài tập ôn lại kiến thức cũ.</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Bài có độ khó phù hợp.</a:t>
            </a:r>
            <a:endParaRPr b="0" i="0" sz="1600" u="none" cap="none" strike="noStrike">
              <a:solidFill>
                <a:schemeClr val="dk1"/>
              </a:solidFill>
              <a:latin typeface="Calibri"/>
              <a:ea typeface="Calibri"/>
              <a:cs typeface="Calibri"/>
              <a:sym typeface="Calibri"/>
            </a:endParaRPr>
          </a:p>
        </p:txBody>
      </p:sp>
      <p:sp>
        <p:nvSpPr>
          <p:cNvPr id="313" name="Google Shape;313;p26"/>
          <p:cNvSpPr/>
          <p:nvPr/>
        </p:nvSpPr>
        <p:spPr>
          <a:xfrm>
            <a:off x="548640" y="3941064"/>
            <a:ext cx="11094300" cy="42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Khi con làm sai: </a:t>
            </a:r>
            <a:r>
              <a:rPr b="0" i="0" lang="en-US" sz="1600" u="none" cap="none" strike="noStrike">
                <a:solidFill>
                  <a:srgbClr val="1F2A33"/>
                </a:solidFill>
                <a:latin typeface="Arial"/>
                <a:ea typeface="Arial"/>
                <a:cs typeface="Arial"/>
                <a:sym typeface="Arial"/>
              </a:rPr>
              <a:t>Làm sai → Biết mình sai ở đâu → Được giải thích → Làm lại → Củng cố kiến thức.</a:t>
            </a:r>
            <a:endParaRPr b="0" i="0" sz="1600" u="none" cap="none" strike="noStrike">
              <a:solidFill>
                <a:schemeClr val="dk1"/>
              </a:solidFill>
              <a:latin typeface="Calibri"/>
              <a:ea typeface="Calibri"/>
              <a:cs typeface="Calibri"/>
              <a:sym typeface="Calibri"/>
            </a:endParaRPr>
          </a:p>
        </p:txBody>
      </p:sp>
      <p:sp>
        <p:nvSpPr>
          <p:cNvPr id="314" name="Google Shape;314;p26"/>
          <p:cNvSpPr/>
          <p:nvPr/>
        </p:nvSpPr>
        <p:spPr>
          <a:xfrm>
            <a:off x="548640" y="4544568"/>
            <a:ext cx="54900" cy="493800"/>
          </a:xfrm>
          <a:prstGeom prst="rect">
            <a:avLst/>
          </a:prstGeom>
          <a:solidFill>
            <a:srgbClr val="A5BE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6"/>
          <p:cNvSpPr/>
          <p:nvPr/>
        </p:nvSpPr>
        <p:spPr>
          <a:xfrm>
            <a:off x="777240" y="4544568"/>
            <a:ext cx="10865700" cy="493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0" i="1" lang="en-US" sz="1600" u="none" cap="none" strike="noStrike">
                <a:solidFill>
                  <a:srgbClr val="004671"/>
                </a:solidFill>
                <a:latin typeface="Arial"/>
                <a:ea typeface="Arial"/>
                <a:cs typeface="Arial"/>
                <a:sym typeface="Arial"/>
              </a:rPr>
              <a:t>Mục tiêu: không để con làm thật nhiều bài nhưng vẫn không hiểu.</a:t>
            </a:r>
            <a:endParaRPr b="0" i="0" sz="1600" u="none" cap="none" strike="noStrike">
              <a:solidFill>
                <a:schemeClr val="dk1"/>
              </a:solidFill>
              <a:latin typeface="Calibri"/>
              <a:ea typeface="Calibri"/>
              <a:cs typeface="Calibri"/>
              <a:sym typeface="Calibri"/>
            </a:endParaRPr>
          </a:p>
        </p:txBody>
      </p:sp>
      <p:sp>
        <p:nvSpPr>
          <p:cNvPr id="316" name="Google Shape;316;p26"/>
          <p:cNvSpPr/>
          <p:nvPr/>
        </p:nvSpPr>
        <p:spPr>
          <a:xfrm>
            <a:off x="548640" y="5334000"/>
            <a:ext cx="11094300" cy="1134000"/>
          </a:xfrm>
          <a:prstGeom prst="roundRect">
            <a:avLst>
              <a:gd fmla="val 4839" name="adj"/>
            </a:avLst>
          </a:prstGeom>
          <a:solidFill>
            <a:srgbClr val="EAF1DC"/>
          </a:solidFill>
          <a:ln cap="flat" cmpd="sng" w="12700">
            <a:solidFill>
              <a:srgbClr val="A5BE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6"/>
          <p:cNvSpPr/>
          <p:nvPr/>
        </p:nvSpPr>
        <p:spPr>
          <a:xfrm>
            <a:off x="731520" y="5443728"/>
            <a:ext cx="10728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D5A1F"/>
              </a:buClr>
              <a:buSzPts val="1100"/>
              <a:buFont typeface="Arial"/>
              <a:buNone/>
            </a:pPr>
            <a:r>
              <a:rPr b="1" i="0" lang="en-US" sz="1100" u="none" cap="none" strike="noStrike">
                <a:solidFill>
                  <a:srgbClr val="3D5A1F"/>
                </a:solidFill>
                <a:latin typeface="Arial"/>
                <a:ea typeface="Arial"/>
                <a:cs typeface="Arial"/>
                <a:sym typeface="Arial"/>
              </a:rPr>
              <a:t>CÁCH NÓI VỚI PHỤ HUYNH</a:t>
            </a:r>
            <a:endParaRPr b="0" i="0" sz="1100" u="none" cap="none" strike="noStrike">
              <a:solidFill>
                <a:schemeClr val="dk1"/>
              </a:solidFill>
              <a:latin typeface="Calibri"/>
              <a:ea typeface="Calibri"/>
              <a:cs typeface="Calibri"/>
              <a:sym typeface="Calibri"/>
            </a:endParaRPr>
          </a:p>
        </p:txBody>
      </p:sp>
      <p:sp>
        <p:nvSpPr>
          <p:cNvPr id="318" name="Google Shape;318;p26"/>
          <p:cNvSpPr/>
          <p:nvPr/>
        </p:nvSpPr>
        <p:spPr>
          <a:xfrm>
            <a:off x="731520" y="5718048"/>
            <a:ext cx="10728600" cy="676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3D0F"/>
              </a:buClr>
              <a:buSzPts val="1600"/>
              <a:buFont typeface="Arial"/>
              <a:buNone/>
            </a:pPr>
            <a:r>
              <a:rPr b="0" i="1" lang="en-US" sz="1600" u="none" cap="none" strike="noStrike">
                <a:solidFill>
                  <a:srgbClr val="1F3D0F"/>
                </a:solidFill>
                <a:latin typeface="Arial"/>
                <a:ea typeface="Arial"/>
                <a:cs typeface="Arial"/>
                <a:sym typeface="Arial"/>
              </a:rPr>
              <a:t>"Bài tập không phải để làm cho nhiều. Quan trọng là con đang cần luyện gì thì được tập trung luyện đúng phần đó."</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3" name="Shape 323"/>
        <p:cNvGrpSpPr/>
        <p:nvPr/>
      </p:nvGrpSpPr>
      <p:grpSpPr>
        <a:xfrm>
          <a:off x="0" y="0"/>
          <a:ext cx="0" cy="0"/>
          <a:chOff x="0" y="0"/>
          <a:chExt cx="0" cy="0"/>
        </a:xfrm>
      </p:grpSpPr>
      <p:sp>
        <p:nvSpPr>
          <p:cNvPr id="324" name="Google Shape;324;p27"/>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7"/>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lang="en-US" sz="2200">
                <a:solidFill>
                  <a:srgbClr val="004671"/>
                </a:solidFill>
              </a:rPr>
              <a:t>Edupia </a:t>
            </a:r>
            <a:r>
              <a:rPr b="1" i="0" lang="en-US" sz="2200" u="none" cap="none" strike="noStrike">
                <a:solidFill>
                  <a:srgbClr val="004671"/>
                </a:solidFill>
                <a:latin typeface="Arial"/>
                <a:ea typeface="Arial"/>
                <a:cs typeface="Arial"/>
                <a:sym typeface="Arial"/>
              </a:rPr>
              <a:t>Club</a:t>
            </a:r>
            <a:endParaRPr b="0" i="0" sz="2200" u="none" cap="none" strike="noStrike">
              <a:solidFill>
                <a:schemeClr val="dk1"/>
              </a:solidFill>
              <a:latin typeface="Calibri"/>
              <a:ea typeface="Calibri"/>
              <a:cs typeface="Calibri"/>
              <a:sym typeface="Calibri"/>
            </a:endParaRPr>
          </a:p>
        </p:txBody>
      </p:sp>
      <p:cxnSp>
        <p:nvCxnSpPr>
          <p:cNvPr id="326" name="Google Shape;326;p27"/>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sp>
        <p:nvSpPr>
          <p:cNvPr id="327" name="Google Shape;327;p27"/>
          <p:cNvSpPr/>
          <p:nvPr/>
        </p:nvSpPr>
        <p:spPr>
          <a:xfrm>
            <a:off x="548640" y="1371600"/>
            <a:ext cx="110943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Ngoài việc học và luyện tập, con có các hoạt động Edupia Club để:</a:t>
            </a:r>
            <a:endParaRPr b="0" i="0" sz="1600" u="none" cap="none" strike="noStrike">
              <a:solidFill>
                <a:schemeClr val="dk1"/>
              </a:solidFill>
              <a:latin typeface="Calibri"/>
              <a:ea typeface="Calibri"/>
              <a:cs typeface="Calibri"/>
              <a:sym typeface="Calibri"/>
            </a:endParaRPr>
          </a:p>
        </p:txBody>
      </p:sp>
      <p:sp>
        <p:nvSpPr>
          <p:cNvPr id="328" name="Google Shape;328;p27"/>
          <p:cNvSpPr/>
          <p:nvPr/>
        </p:nvSpPr>
        <p:spPr>
          <a:xfrm>
            <a:off x="548640" y="1792224"/>
            <a:ext cx="11094300" cy="1956900"/>
          </a:xfrm>
          <a:prstGeom prst="rect">
            <a:avLst/>
          </a:prstGeom>
          <a:noFill/>
          <a:ln>
            <a:noFill/>
          </a:ln>
        </p:spPr>
        <p:txBody>
          <a:bodyPr anchorCtr="0" anchor="t" bIns="45700" lIns="91425" spcFirstLastPara="1" rIns="91425" wrap="square" tIns="45700">
            <a:noAutofit/>
          </a:bodyPr>
          <a:lstStyle/>
          <a:p>
            <a:pPr indent="-254000" lvl="0" marL="254000" marR="0" rtl="0" algn="l">
              <a:spcBef>
                <a:spcPts val="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Có thêm động lực học.</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Được giao lưu.</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Được sử dụng tiếng Anh.</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Thử thách bản thân.</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Duy trì thói quen học.</a:t>
            </a:r>
            <a:endParaRPr b="0" i="0" sz="1600" u="none" cap="none" strike="noStrike">
              <a:solidFill>
                <a:schemeClr val="dk1"/>
              </a:solidFill>
              <a:latin typeface="Calibri"/>
              <a:ea typeface="Calibri"/>
              <a:cs typeface="Calibri"/>
              <a:sym typeface="Calibri"/>
            </a:endParaRPr>
          </a:p>
        </p:txBody>
      </p:sp>
      <p:sp>
        <p:nvSpPr>
          <p:cNvPr id="329" name="Google Shape;329;p27"/>
          <p:cNvSpPr/>
          <p:nvPr/>
        </p:nvSpPr>
        <p:spPr>
          <a:xfrm>
            <a:off x="548640" y="3703320"/>
            <a:ext cx="110943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Hoạt động:</a:t>
            </a:r>
            <a:endParaRPr b="0" i="0" sz="1600" u="none" cap="none" strike="noStrike">
              <a:solidFill>
                <a:schemeClr val="dk1"/>
              </a:solidFill>
              <a:latin typeface="Calibri"/>
              <a:ea typeface="Calibri"/>
              <a:cs typeface="Calibri"/>
              <a:sym typeface="Calibri"/>
            </a:endParaRPr>
          </a:p>
        </p:txBody>
      </p:sp>
      <p:sp>
        <p:nvSpPr>
          <p:cNvPr id="330" name="Google Shape;330;p27"/>
          <p:cNvSpPr/>
          <p:nvPr/>
        </p:nvSpPr>
        <p:spPr>
          <a:xfrm>
            <a:off x="548640" y="4123944"/>
            <a:ext cx="11094300" cy="1956900"/>
          </a:xfrm>
          <a:prstGeom prst="rect">
            <a:avLst/>
          </a:prstGeom>
          <a:noFill/>
          <a:ln>
            <a:noFill/>
          </a:ln>
        </p:spPr>
        <p:txBody>
          <a:bodyPr anchorCtr="0" anchor="t" bIns="45700" lIns="91425" spcFirstLastPara="1" rIns="91425" wrap="square" tIns="45700">
            <a:noAutofit/>
          </a:bodyPr>
          <a:lstStyle/>
          <a:p>
            <a:pPr indent="-254000" lvl="0" marL="254000" marR="0" rtl="0" algn="l">
              <a:spcBef>
                <a:spcPts val="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Chủ đề theo tháng.</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Nhiệm vụ hàng tuần.</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Thử thách từ vựng.</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Hoạt động/sự kiện hàng tháng.</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Điểm và thành tích.</a:t>
            </a:r>
            <a:endParaRPr b="0" i="0" sz="1600" u="none" cap="none" strike="noStrike">
              <a:solidFill>
                <a:schemeClr val="dk1"/>
              </a:solidFill>
              <a:latin typeface="Calibri"/>
              <a:ea typeface="Calibri"/>
              <a:cs typeface="Calibri"/>
              <a:sym typeface="Calibri"/>
            </a:endParaRPr>
          </a:p>
        </p:txBody>
      </p:sp>
      <p:sp>
        <p:nvSpPr>
          <p:cNvPr id="331" name="Google Shape;331;p27"/>
          <p:cNvSpPr/>
          <p:nvPr/>
        </p:nvSpPr>
        <p:spPr>
          <a:xfrm>
            <a:off x="548640" y="6019800"/>
            <a:ext cx="54900" cy="493800"/>
          </a:xfrm>
          <a:prstGeom prst="rect">
            <a:avLst/>
          </a:prstGeom>
          <a:solidFill>
            <a:srgbClr val="A5BE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7"/>
          <p:cNvSpPr/>
          <p:nvPr/>
        </p:nvSpPr>
        <p:spPr>
          <a:xfrm>
            <a:off x="777240" y="6019800"/>
            <a:ext cx="10865700" cy="493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0" i="1" lang="en-US" sz="1600" u="none" cap="none" strike="noStrike">
                <a:solidFill>
                  <a:srgbClr val="004671"/>
                </a:solidFill>
                <a:latin typeface="Arial"/>
                <a:ea typeface="Arial"/>
                <a:cs typeface="Arial"/>
                <a:sym typeface="Arial"/>
              </a:rPr>
              <a:t>Mục tiêu: biến việc học thành một hành trình mà con muốn tiếp tục tham gia.</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7" name="Shape 337"/>
        <p:cNvGrpSpPr/>
        <p:nvPr/>
      </p:nvGrpSpPr>
      <p:grpSpPr>
        <a:xfrm>
          <a:off x="0" y="0"/>
          <a:ext cx="0" cy="0"/>
          <a:chOff x="0" y="0"/>
          <a:chExt cx="0" cy="0"/>
        </a:xfrm>
      </p:grpSpPr>
      <p:sp>
        <p:nvSpPr>
          <p:cNvPr id="338" name="Google Shape;338;p28"/>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8"/>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Giáo viên chủ nhiệm + Sổ liên lạc điện tử</a:t>
            </a:r>
            <a:endParaRPr b="0" i="0" sz="2200" u="none" cap="none" strike="noStrike">
              <a:solidFill>
                <a:schemeClr val="dk1"/>
              </a:solidFill>
              <a:latin typeface="Calibri"/>
              <a:ea typeface="Calibri"/>
              <a:cs typeface="Calibri"/>
              <a:sym typeface="Calibri"/>
            </a:endParaRPr>
          </a:p>
        </p:txBody>
      </p:sp>
      <p:cxnSp>
        <p:nvCxnSpPr>
          <p:cNvPr id="340" name="Google Shape;340;p28"/>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sp>
        <p:nvSpPr>
          <p:cNvPr id="341" name="Google Shape;341;p28"/>
          <p:cNvSpPr/>
          <p:nvPr/>
        </p:nvSpPr>
        <p:spPr>
          <a:xfrm>
            <a:off x="548640" y="1371600"/>
            <a:ext cx="110943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Giáo viên chủ nhiệm:</a:t>
            </a:r>
            <a:endParaRPr b="0" i="0" sz="1600" u="none" cap="none" strike="noStrike">
              <a:solidFill>
                <a:schemeClr val="dk1"/>
              </a:solidFill>
              <a:latin typeface="Calibri"/>
              <a:ea typeface="Calibri"/>
              <a:cs typeface="Calibri"/>
              <a:sym typeface="Calibri"/>
            </a:endParaRPr>
          </a:p>
        </p:txBody>
      </p:sp>
      <p:sp>
        <p:nvSpPr>
          <p:cNvPr id="342" name="Google Shape;342;p28"/>
          <p:cNvSpPr/>
          <p:nvPr/>
        </p:nvSpPr>
        <p:spPr>
          <a:xfrm>
            <a:off x="548640" y="1792224"/>
            <a:ext cx="11094300" cy="2322600"/>
          </a:xfrm>
          <a:prstGeom prst="rect">
            <a:avLst/>
          </a:prstGeom>
          <a:noFill/>
          <a:ln>
            <a:noFill/>
          </a:ln>
        </p:spPr>
        <p:txBody>
          <a:bodyPr anchorCtr="0" anchor="t" bIns="45700" lIns="91425" spcFirstLastPara="1" rIns="91425" wrap="square" tIns="45700">
            <a:noAutofit/>
          </a:bodyPr>
          <a:lstStyle/>
          <a:p>
            <a:pPr indent="-254000" lvl="0" marL="254000" marR="0" rtl="0" algn="l">
              <a:spcBef>
                <a:spcPts val="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Theo dõi việc học.</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Nhắc lịch.</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Động viên con.</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Hỗ trợ khi con gặp khó khăn.</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Theo dõi tiến bộ.</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Trao đổi với bố mẹ khi cần.</a:t>
            </a:r>
            <a:endParaRPr b="0" i="0" sz="1600" u="none" cap="none" strike="noStrike">
              <a:solidFill>
                <a:schemeClr val="dk1"/>
              </a:solidFill>
              <a:latin typeface="Calibri"/>
              <a:ea typeface="Calibri"/>
              <a:cs typeface="Calibri"/>
              <a:sym typeface="Calibri"/>
            </a:endParaRPr>
          </a:p>
        </p:txBody>
      </p:sp>
      <p:sp>
        <p:nvSpPr>
          <p:cNvPr id="343" name="Google Shape;343;p28"/>
          <p:cNvSpPr/>
          <p:nvPr/>
        </p:nvSpPr>
        <p:spPr>
          <a:xfrm>
            <a:off x="548640" y="4297680"/>
            <a:ext cx="110943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1" i="0" lang="en-US" sz="1600" u="none" cap="none" strike="noStrike">
                <a:solidFill>
                  <a:srgbClr val="004671"/>
                </a:solidFill>
                <a:latin typeface="Arial"/>
                <a:ea typeface="Arial"/>
                <a:cs typeface="Arial"/>
                <a:sym typeface="Arial"/>
              </a:rPr>
              <a:t>Sổ liên lạc điện tử — bố mẹ có thể theo dõi:</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8" name="Shape 348"/>
        <p:cNvGrpSpPr/>
        <p:nvPr/>
      </p:nvGrpSpPr>
      <p:grpSpPr>
        <a:xfrm>
          <a:off x="0" y="0"/>
          <a:ext cx="0" cy="0"/>
          <a:chOff x="0" y="0"/>
          <a:chExt cx="0" cy="0"/>
        </a:xfrm>
      </p:grpSpPr>
      <p:sp>
        <p:nvSpPr>
          <p:cNvPr id="349" name="Google Shape;349;p29"/>
          <p:cNvSpPr/>
          <p:nvPr/>
        </p:nvSpPr>
        <p:spPr>
          <a:xfrm>
            <a:off x="0" y="0"/>
            <a:ext cx="12191700" cy="109800"/>
          </a:xfrm>
          <a:prstGeom prst="rect">
            <a:avLst/>
          </a:prstGeom>
          <a:solidFill>
            <a:srgbClr val="0046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9"/>
          <p:cNvSpPr/>
          <p:nvPr/>
        </p:nvSpPr>
        <p:spPr>
          <a:xfrm>
            <a:off x="548640" y="548640"/>
            <a:ext cx="110943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2200"/>
              <a:buFont typeface="Arial"/>
              <a:buNone/>
            </a:pPr>
            <a:r>
              <a:rPr b="1" i="0" lang="en-US" sz="2200" u="none" cap="none" strike="noStrike">
                <a:solidFill>
                  <a:srgbClr val="004671"/>
                </a:solidFill>
                <a:latin typeface="Arial"/>
                <a:ea typeface="Arial"/>
                <a:cs typeface="Arial"/>
                <a:sym typeface="Arial"/>
              </a:rPr>
              <a:t>Giáo viên chủ nhiệm + Sổ liên lạc điện tử (tiếp)</a:t>
            </a:r>
            <a:endParaRPr b="0" i="0" sz="2200" u="none" cap="none" strike="noStrike">
              <a:solidFill>
                <a:schemeClr val="dk1"/>
              </a:solidFill>
              <a:latin typeface="Calibri"/>
              <a:ea typeface="Calibri"/>
              <a:cs typeface="Calibri"/>
              <a:sym typeface="Calibri"/>
            </a:endParaRPr>
          </a:p>
        </p:txBody>
      </p:sp>
      <p:cxnSp>
        <p:nvCxnSpPr>
          <p:cNvPr id="351" name="Google Shape;351;p29"/>
          <p:cNvCxnSpPr/>
          <p:nvPr/>
        </p:nvCxnSpPr>
        <p:spPr>
          <a:xfrm>
            <a:off x="548640" y="1170432"/>
            <a:ext cx="11094300" cy="0"/>
          </a:xfrm>
          <a:prstGeom prst="straightConnector1">
            <a:avLst/>
          </a:prstGeom>
          <a:noFill/>
          <a:ln cap="flat" cmpd="sng" w="12700">
            <a:solidFill>
              <a:srgbClr val="DDE3D8"/>
            </a:solidFill>
            <a:prstDash val="solid"/>
            <a:round/>
            <a:headEnd len="sm" w="sm" type="none"/>
            <a:tailEnd len="sm" w="sm" type="none"/>
          </a:ln>
        </p:spPr>
      </p:cxnSp>
      <p:sp>
        <p:nvSpPr>
          <p:cNvPr id="352" name="Google Shape;352;p29"/>
          <p:cNvSpPr/>
          <p:nvPr/>
        </p:nvSpPr>
        <p:spPr>
          <a:xfrm>
            <a:off x="548640" y="1371600"/>
            <a:ext cx="11094300" cy="2322600"/>
          </a:xfrm>
          <a:prstGeom prst="rect">
            <a:avLst/>
          </a:prstGeom>
          <a:noFill/>
          <a:ln>
            <a:noFill/>
          </a:ln>
        </p:spPr>
        <p:txBody>
          <a:bodyPr anchorCtr="0" anchor="t" bIns="45700" lIns="91425" spcFirstLastPara="1" rIns="91425" wrap="square" tIns="45700">
            <a:noAutofit/>
          </a:bodyPr>
          <a:lstStyle/>
          <a:p>
            <a:pPr indent="-254000" lvl="0" marL="254000" marR="0" rtl="0" algn="l">
              <a:spcBef>
                <a:spcPts val="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Con đang học gì.</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Con mạnh ở đâu.</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Con còn yếu ở đâu.</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Kết quả học tập.</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Quá trình tiến bộ.</a:t>
            </a:r>
            <a:endParaRPr b="0" i="0" sz="1600" u="none" cap="none" strike="noStrike">
              <a:solidFill>
                <a:schemeClr val="dk1"/>
              </a:solidFill>
              <a:latin typeface="Calibri"/>
              <a:ea typeface="Calibri"/>
              <a:cs typeface="Calibri"/>
              <a:sym typeface="Calibri"/>
            </a:endParaRPr>
          </a:p>
          <a:p>
            <a:pPr indent="-254000" lvl="0" marL="254000" marR="0" rtl="0" algn="l">
              <a:spcBef>
                <a:spcPts val="800"/>
              </a:spcBef>
              <a:spcAft>
                <a:spcPts val="0"/>
              </a:spcAft>
              <a:buClr>
                <a:srgbClr val="1F2A33"/>
              </a:buClr>
              <a:buSzPts val="1600"/>
              <a:buFont typeface="Arial"/>
              <a:buChar char="•"/>
            </a:pPr>
            <a:r>
              <a:rPr b="0" i="0" lang="en-US" sz="1600" u="none" cap="none" strike="noStrike">
                <a:solidFill>
                  <a:srgbClr val="1F2A33"/>
                </a:solidFill>
                <a:latin typeface="Arial"/>
                <a:ea typeface="Arial"/>
                <a:cs typeface="Arial"/>
                <a:sym typeface="Arial"/>
              </a:rPr>
              <a:t>Các hoạt động học tập của con.</a:t>
            </a:r>
            <a:endParaRPr b="0" i="0" sz="1600" u="none" cap="none" strike="noStrike">
              <a:solidFill>
                <a:schemeClr val="dk1"/>
              </a:solidFill>
              <a:latin typeface="Calibri"/>
              <a:ea typeface="Calibri"/>
              <a:cs typeface="Calibri"/>
              <a:sym typeface="Calibri"/>
            </a:endParaRPr>
          </a:p>
        </p:txBody>
      </p:sp>
      <p:sp>
        <p:nvSpPr>
          <p:cNvPr id="353" name="Google Shape;353;p29"/>
          <p:cNvSpPr/>
          <p:nvPr/>
        </p:nvSpPr>
        <p:spPr>
          <a:xfrm>
            <a:off x="548640" y="3877056"/>
            <a:ext cx="54900" cy="786300"/>
          </a:xfrm>
          <a:prstGeom prst="rect">
            <a:avLst/>
          </a:prstGeom>
          <a:solidFill>
            <a:srgbClr val="A5BE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9"/>
          <p:cNvSpPr/>
          <p:nvPr/>
        </p:nvSpPr>
        <p:spPr>
          <a:xfrm>
            <a:off x="777240" y="3877056"/>
            <a:ext cx="10865700" cy="786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4671"/>
              </a:buClr>
              <a:buSzPts val="1600"/>
              <a:buFont typeface="Arial"/>
              <a:buNone/>
            </a:pPr>
            <a:r>
              <a:rPr b="0" i="1" lang="en-US" sz="1600" u="none" cap="none" strike="noStrike">
                <a:solidFill>
                  <a:srgbClr val="004671"/>
                </a:solidFill>
                <a:latin typeface="Arial"/>
                <a:ea typeface="Arial"/>
                <a:cs typeface="Arial"/>
                <a:sym typeface="Arial"/>
              </a:rPr>
              <a:t>Điều quan trọng: con có người đồng hành trong việc học. Bố mẹ không cần ngồi cạnh con mỗi ngày nhưng vẫn biết con đang học thế nào.</a:t>
            </a:r>
            <a:endParaRPr b="0" i="0" sz="1600" u="none" cap="none" strike="noStrike">
              <a:solidFill>
                <a:schemeClr val="dk1"/>
              </a:solidFill>
              <a:latin typeface="Calibri"/>
              <a:ea typeface="Calibri"/>
              <a:cs typeface="Calibri"/>
              <a:sym typeface="Calibri"/>
            </a:endParaRPr>
          </a:p>
        </p:txBody>
      </p:sp>
      <p:sp>
        <p:nvSpPr>
          <p:cNvPr id="355" name="Google Shape;355;p29"/>
          <p:cNvSpPr/>
          <p:nvPr/>
        </p:nvSpPr>
        <p:spPr>
          <a:xfrm>
            <a:off x="548640" y="4846320"/>
            <a:ext cx="11094300" cy="1134000"/>
          </a:xfrm>
          <a:prstGeom prst="roundRect">
            <a:avLst>
              <a:gd fmla="val 4839" name="adj"/>
            </a:avLst>
          </a:prstGeom>
          <a:solidFill>
            <a:srgbClr val="EAF1DC"/>
          </a:solidFill>
          <a:ln cap="flat" cmpd="sng" w="12700">
            <a:solidFill>
              <a:srgbClr val="A5BE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9"/>
          <p:cNvSpPr/>
          <p:nvPr/>
        </p:nvSpPr>
        <p:spPr>
          <a:xfrm>
            <a:off x="731520" y="4956048"/>
            <a:ext cx="10728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D5A1F"/>
              </a:buClr>
              <a:buSzPts val="1100"/>
              <a:buFont typeface="Arial"/>
              <a:buNone/>
            </a:pPr>
            <a:r>
              <a:rPr b="1" i="0" lang="en-US" sz="1100" u="none" cap="none" strike="noStrike">
                <a:solidFill>
                  <a:srgbClr val="3D5A1F"/>
                </a:solidFill>
                <a:latin typeface="Arial"/>
                <a:ea typeface="Arial"/>
                <a:cs typeface="Arial"/>
                <a:sym typeface="Arial"/>
              </a:rPr>
              <a:t>CÁCH NÓI VỚI PHỤ HUYNH</a:t>
            </a:r>
            <a:endParaRPr b="0" i="0" sz="1100" u="none" cap="none" strike="noStrike">
              <a:solidFill>
                <a:schemeClr val="dk1"/>
              </a:solidFill>
              <a:latin typeface="Calibri"/>
              <a:ea typeface="Calibri"/>
              <a:cs typeface="Calibri"/>
              <a:sym typeface="Calibri"/>
            </a:endParaRPr>
          </a:p>
        </p:txBody>
      </p:sp>
      <p:sp>
        <p:nvSpPr>
          <p:cNvPr id="357" name="Google Shape;357;p29"/>
          <p:cNvSpPr/>
          <p:nvPr/>
        </p:nvSpPr>
        <p:spPr>
          <a:xfrm>
            <a:off x="731520" y="5230368"/>
            <a:ext cx="10728600" cy="676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3D0F"/>
              </a:buClr>
              <a:buSzPts val="1600"/>
              <a:buFont typeface="Arial"/>
              <a:buNone/>
            </a:pPr>
            <a:r>
              <a:rPr b="0" i="1" lang="en-US" sz="1600" u="none" cap="none" strike="noStrike">
                <a:solidFill>
                  <a:srgbClr val="1F3D0F"/>
                </a:solidFill>
                <a:latin typeface="Arial"/>
                <a:ea typeface="Arial"/>
                <a:cs typeface="Arial"/>
                <a:sym typeface="Arial"/>
              </a:rPr>
              <a:t>"Bố mẹ có thể yên tâm giao việc học cho Edupia hơn, vì con có người kèm riêng, có giáo viên chủ nhiệm theo sát, còn bố mẹ vẫn nhìn được quá trình học của con."</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