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1675"/>
  <p:notesSz cx="6858000" cy="12191675"/>
  <p:embeddedFontLst>
    <p:embeddedFont>
      <p:font typeface="No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+T88gJN5+SBBfQAZJt6gBprqx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6430FF-1EA4-43DA-9281-7FA02B2C65B5}">
  <a:tblStyle styleId="{D06430FF-1EA4-43DA-9281-7FA02B2C65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otoSans-bold.fntdata"/><Relationship Id="rId25" Type="http://schemas.openxmlformats.org/officeDocument/2006/relationships/font" Target="fonts/NotoSans-regular.fntdata"/><Relationship Id="rId28" Type="http://schemas.openxmlformats.org/officeDocument/2006/relationships/font" Target="fonts/NotoSans-boldItalic.fntdata"/><Relationship Id="rId27" Type="http://schemas.openxmlformats.org/officeDocument/2006/relationships/font" Target="fonts/No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fc70924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9fc70924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f9fc70924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fc70924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f9fc70924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g3f9fc709246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fc709246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9fc709246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3f9fc709246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fc70924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9fc70924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f9fc70924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fc709246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f9fc709246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f9fc709246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fc709246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9fc709246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f9fc709246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fc709246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9fc709246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f9fc709246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fc709246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fc709246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f9fc709246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fc709246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9fc709246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f9fc709246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fc709246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fc709246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f9fc709246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fc709246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fc709246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f9fc709246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fc709246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f9fc709246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f9fc709246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fc709246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9fc709246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f9fc709246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9fc709246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f9fc709246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f9fc709246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9fc709246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9fc709246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f9fc709246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fc709246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9fc709246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fc709246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9fc709246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f9fc709246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9fc709246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f9fc709246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f9fc709246_0_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9fc709246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f9fc709246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f9fc709246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fc709246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04671"/>
          </a:solidFill>
          <a:ln cap="flat" cmpd="sng" w="12700">
            <a:solidFill>
              <a:srgbClr val="0046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9fc709246_0_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3A5C"/>
          </a:solidFill>
          <a:ln cap="flat" cmpd="sng" w="12700">
            <a:solidFill>
              <a:srgbClr val="00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f9fc709246_0_0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landa\AppData\Local\Temp\claude\c--Users-landa--Personal--D---n-AI-Class-new\6170762a-1bf0-4689-a8af-98b9345ac979\scratchpad\pptxbuild\logo-white.png" id="19" name="Google Shape;19;g3f9fc70924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731520"/>
            <a:ext cx="1828802" cy="155448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f9fc709246_0_0"/>
          <p:cNvSpPr/>
          <p:nvPr/>
        </p:nvSpPr>
        <p:spPr>
          <a:xfrm>
            <a:off x="731520" y="21945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8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E8A0"/>
                </a:solidFill>
                <a:latin typeface="Arial"/>
                <a:ea typeface="Arial"/>
                <a:cs typeface="Arial"/>
                <a:sym typeface="Arial"/>
              </a:rPr>
              <a:t>KHỐI SẢN PHẨM – CÔNG NGHỆ  ·  CONCEPT 1.2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f9fc709246_0_0"/>
          <p:cNvSpPr/>
          <p:nvPr/>
        </p:nvSpPr>
        <p:spPr>
          <a:xfrm>
            <a:off x="713232" y="2606040"/>
            <a:ext cx="10789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 AI CLASS PLUS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f9fc709246_0_0"/>
          <p:cNvSpPr/>
          <p:nvPr/>
        </p:nvSpPr>
        <p:spPr>
          <a:xfrm>
            <a:off x="749808" y="3703320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FE0EC"/>
                </a:solidFill>
                <a:latin typeface="Arial"/>
                <a:ea typeface="Arial"/>
                <a:cs typeface="Arial"/>
                <a:sym typeface="Arial"/>
              </a:rPr>
              <a:t>Đầu tư tầng công nghệ AI — Adaptive Learning Ecosystem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f9fc709246_0_0"/>
          <p:cNvSpPr/>
          <p:nvPr/>
        </p:nvSpPr>
        <p:spPr>
          <a:xfrm>
            <a:off x="749808" y="4114800"/>
            <a:ext cx="1060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FC4D8"/>
                </a:solidFill>
                <a:latin typeface="Arial"/>
                <a:ea typeface="Arial"/>
                <a:cs typeface="Arial"/>
                <a:sym typeface="Arial"/>
              </a:rPr>
              <a:t>Từ nghiên cứu 30+ EdTech hàng đầu thế giới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9fc709246_0_0"/>
          <p:cNvSpPr/>
          <p:nvPr/>
        </p:nvSpPr>
        <p:spPr>
          <a:xfrm>
            <a:off x="713232" y="59436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9fc709246_0_13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9fc709246_0_13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9fc709246_0_13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Mục lục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g3f9fc709246_0_13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g3f9fc709246_0_13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9fc709246_0_13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9fc709246_0_13"/>
          <p:cNvSpPr/>
          <p:nvPr/>
        </p:nvSpPr>
        <p:spPr>
          <a:xfrm>
            <a:off x="502920" y="1402080"/>
            <a:ext cx="11185800" cy="8412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9fc709246_0_13"/>
          <p:cNvSpPr/>
          <p:nvPr/>
        </p:nvSpPr>
        <p:spPr>
          <a:xfrm>
            <a:off x="502920" y="1402080"/>
            <a:ext cx="82200" cy="8412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9fc709246_0_13"/>
          <p:cNvSpPr/>
          <p:nvPr/>
        </p:nvSpPr>
        <p:spPr>
          <a:xfrm>
            <a:off x="822960" y="1402080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9fc709246_0_13"/>
          <p:cNvSpPr/>
          <p:nvPr/>
        </p:nvSpPr>
        <p:spPr>
          <a:xfrm>
            <a:off x="1920240" y="1664208"/>
            <a:ext cx="935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Bối cảnh và cơ hội thị trường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9fc709246_0_13"/>
          <p:cNvSpPr/>
          <p:nvPr/>
        </p:nvSpPr>
        <p:spPr>
          <a:xfrm>
            <a:off x="502920" y="2426208"/>
            <a:ext cx="11185800" cy="841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9fc709246_0_13"/>
          <p:cNvSpPr/>
          <p:nvPr/>
        </p:nvSpPr>
        <p:spPr>
          <a:xfrm>
            <a:off x="502920" y="2426208"/>
            <a:ext cx="82200" cy="8412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9fc709246_0_13"/>
          <p:cNvSpPr/>
          <p:nvPr/>
        </p:nvSpPr>
        <p:spPr>
          <a:xfrm>
            <a:off x="822960" y="2426208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9fc709246_0_13"/>
          <p:cNvSpPr/>
          <p:nvPr/>
        </p:nvSpPr>
        <p:spPr>
          <a:xfrm>
            <a:off x="1920240" y="2688336"/>
            <a:ext cx="935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Khách hàng mục tiêu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9fc709246_0_13"/>
          <p:cNvSpPr/>
          <p:nvPr/>
        </p:nvSpPr>
        <p:spPr>
          <a:xfrm>
            <a:off x="502920" y="3450336"/>
            <a:ext cx="11185800" cy="8412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9fc709246_0_13"/>
          <p:cNvSpPr/>
          <p:nvPr/>
        </p:nvSpPr>
        <p:spPr>
          <a:xfrm>
            <a:off x="502920" y="3450336"/>
            <a:ext cx="82200" cy="8412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9fc709246_0_13"/>
          <p:cNvSpPr/>
          <p:nvPr/>
        </p:nvSpPr>
        <p:spPr>
          <a:xfrm>
            <a:off x="822960" y="3450336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9fc709246_0_13"/>
          <p:cNvSpPr/>
          <p:nvPr/>
        </p:nvSpPr>
        <p:spPr>
          <a:xfrm>
            <a:off x="1920240" y="3712464"/>
            <a:ext cx="935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Giải pháp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9fc709246_0_13"/>
          <p:cNvSpPr/>
          <p:nvPr/>
        </p:nvSpPr>
        <p:spPr>
          <a:xfrm>
            <a:off x="502920" y="4474464"/>
            <a:ext cx="11185800" cy="841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9fc709246_0_13"/>
          <p:cNvSpPr/>
          <p:nvPr/>
        </p:nvSpPr>
        <p:spPr>
          <a:xfrm>
            <a:off x="502920" y="4474464"/>
            <a:ext cx="82200" cy="8412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9fc709246_0_13"/>
          <p:cNvSpPr/>
          <p:nvPr/>
        </p:nvSpPr>
        <p:spPr>
          <a:xfrm>
            <a:off x="822960" y="4474464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9fc709246_0_13"/>
          <p:cNvSpPr/>
          <p:nvPr/>
        </p:nvSpPr>
        <p:spPr>
          <a:xfrm>
            <a:off x="1920240" y="4736592"/>
            <a:ext cx="935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Cấu trúc sản phẩm và mô tả tính năng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fc709246_0_39"/>
          <p:cNvSpPr/>
          <p:nvPr/>
        </p:nvSpPr>
        <p:spPr>
          <a:xfrm>
            <a:off x="0" y="0"/>
            <a:ext cx="4480500" cy="6858000"/>
          </a:xfrm>
          <a:prstGeom prst="rect">
            <a:avLst/>
          </a:prstGeom>
          <a:solidFill>
            <a:srgbClr val="003A5C"/>
          </a:solidFill>
          <a:ln cap="flat" cmpd="sng" w="12700">
            <a:solidFill>
              <a:srgbClr val="00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9fc709246_0_39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9fc709246_0_39"/>
          <p:cNvSpPr/>
          <p:nvPr/>
        </p:nvSpPr>
        <p:spPr>
          <a:xfrm>
            <a:off x="640080" y="228600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5BE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9fc709246_0_39"/>
          <p:cNvSpPr/>
          <p:nvPr/>
        </p:nvSpPr>
        <p:spPr>
          <a:xfrm>
            <a:off x="640080" y="3063240"/>
            <a:ext cx="10607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BỐI CẢNH VÀ CƠ HỘI THỊ TRƯỜNG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9fc709246_0_39"/>
          <p:cNvSpPr/>
          <p:nvPr/>
        </p:nvSpPr>
        <p:spPr>
          <a:xfrm>
            <a:off x="640080" y="58064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9fc709246_0_39"/>
          <p:cNvSpPr/>
          <p:nvPr/>
        </p:nvSpPr>
        <p:spPr>
          <a:xfrm>
            <a:off x="640080" y="60899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08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7E08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fc709246_0_49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9fc709246_0_49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9fc709246_0_49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Bối cảnh: Vì sao cần Adaptive Learning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g3f9fc709246_0_49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g3f9fc709246_0_49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9fc709246_0_49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g3f9fc709246_0_49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{D06430FF-1EA4-43DA-9281-7FA02B2C65B5}</a:tableStyleId>
              </a:tblPr>
              <a:tblGrid>
                <a:gridCol w="3355750"/>
                <a:gridCol w="783010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Vấn đề hiện tại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Diễn giải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 nhân hoá còn hời hợt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Big Class dạy đại trà; học sinh yếu ở điểm khác nhau nhưng nhận cùng nội dung, cùng tốc độ.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đo được lỗ hổng thật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GV đánh giá cảm tính qua điểm tổng — không biết chính xác học sinh yếu ở đâu.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TLGH phụ thuộc niềm tin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Phụ huynh cần bằng chứng tiến bộ cụ thể, đo lường được để gia hạn.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Đối thủ toàn cầu đã đi trước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Squirrel AI, Riiid, atama+, Alef Education đã chứng minh mô hình chẩn đoán chi tiết hiệu quả.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g3f9fc709246_0_49"/>
          <p:cNvSpPr/>
          <p:nvPr/>
        </p:nvSpPr>
        <p:spPr>
          <a:xfrm>
            <a:off x="502920" y="4983480"/>
            <a:ext cx="11185800" cy="1005900"/>
          </a:xfrm>
          <a:prstGeom prst="rect">
            <a:avLst/>
          </a:prstGeom>
          <a:solidFill>
            <a:srgbClr val="F1F5DE"/>
          </a:solidFill>
          <a:ln cap="flat" cmpd="sng" w="12700">
            <a:solidFill>
              <a:srgbClr val="F1F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9fc709246_0_49"/>
          <p:cNvSpPr/>
          <p:nvPr/>
        </p:nvSpPr>
        <p:spPr>
          <a:xfrm>
            <a:off x="502920" y="4983480"/>
            <a:ext cx="82200" cy="10059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9fc709246_0_49"/>
          <p:cNvSpPr/>
          <p:nvPr/>
        </p:nvSpPr>
        <p:spPr>
          <a:xfrm>
            <a:off x="777240" y="5056632"/>
            <a:ext cx="10683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Cơ hội cho Edupia AI Class Plus: đầu tư tầng AI để lấp đúng khoảng trống "cá nhân hoá + giá đại trà (~390–400k)" — chưa đối thủ VN nào đứng ở đó.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fc709246_0_63"/>
          <p:cNvSpPr/>
          <p:nvPr/>
        </p:nvSpPr>
        <p:spPr>
          <a:xfrm>
            <a:off x="0" y="0"/>
            <a:ext cx="4480500" cy="6858000"/>
          </a:xfrm>
          <a:prstGeom prst="rect">
            <a:avLst/>
          </a:prstGeom>
          <a:solidFill>
            <a:srgbClr val="003A5C"/>
          </a:solidFill>
          <a:ln cap="flat" cmpd="sng" w="12700">
            <a:solidFill>
              <a:srgbClr val="00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9fc709246_0_63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9fc709246_0_63"/>
          <p:cNvSpPr/>
          <p:nvPr/>
        </p:nvSpPr>
        <p:spPr>
          <a:xfrm>
            <a:off x="640080" y="228600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5BE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9fc709246_0_63"/>
          <p:cNvSpPr/>
          <p:nvPr/>
        </p:nvSpPr>
        <p:spPr>
          <a:xfrm>
            <a:off x="640080" y="3063240"/>
            <a:ext cx="10607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KHÁCH HÀNG MỤC TIÊU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9fc709246_0_63"/>
          <p:cNvSpPr/>
          <p:nvPr/>
        </p:nvSpPr>
        <p:spPr>
          <a:xfrm>
            <a:off x="640080" y="58064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9fc709246_0_63"/>
          <p:cNvSpPr/>
          <p:nvPr/>
        </p:nvSpPr>
        <p:spPr>
          <a:xfrm>
            <a:off x="640080" y="60899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08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7E08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fc709246_0_73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9fc709246_0_73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9fc709246_0_73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Chân dung khách hàng mục tiêu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g3f9fc709246_0_73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g3f9fc709246_0_73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9fc709246_0_73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g3f9fc709246_0_73"/>
          <p:cNvGraphicFramePr/>
          <p:nvPr/>
        </p:nvGraphicFramePr>
        <p:xfrm>
          <a:off x="5029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{D06430FF-1EA4-43DA-9281-7FA02B2C65B5}</a:tableStyleId>
              </a:tblPr>
              <a:tblGrid>
                <a:gridCol w="2460900"/>
                <a:gridCol w="87249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Chiều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ra quyết định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Mẹ, 30–45 tuổi, có con lớp 1–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Vị trí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Thành phố tỉnh, thị xã, nông thôn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Nghề nghiệp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Văn phòng, kinh doanh nhỏ, lao động phổ thông — làm toàn thời gian (&gt;8h/ngày)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Thu nhập hộ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5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3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triệu/tháng (phân khúc "Good")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Trình độ tiếng Anh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Đa số không biết tiếng Anh — không tự kèm con được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Bối cảnh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 học TA ở trường; ~50% từng/đang học thêm nhà GV; đã thử vài sản phẩm TA online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g3f9fc709246_0_73"/>
          <p:cNvSpPr/>
          <p:nvPr/>
        </p:nvSpPr>
        <p:spPr>
          <a:xfrm>
            <a:off x="502920" y="4343400"/>
            <a:ext cx="111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Trigger tìm giải pháp: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họp phụ huynh thấy con điểm kém · thấy "con nhà người ta" nói TA trôi chảy · thấy con nhà người ta học chỗ khác hiệu quả.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9fc709246_0_73"/>
          <p:cNvSpPr/>
          <p:nvPr/>
        </p:nvSpPr>
        <p:spPr>
          <a:xfrm>
            <a:off x="502920" y="4892040"/>
            <a:ext cx="1118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Tiếng nói của khách hàng: </a:t>
            </a:r>
            <a:endParaRPr b="0" i="1" sz="1200" u="none" cap="none" strike="noStrike">
              <a:solidFill>
                <a:srgbClr val="3B81B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950"/>
              <a:buFont typeface="Arial"/>
              <a:buNone/>
            </a:pPr>
            <a:r>
              <a:rPr b="0" i="1" lang="en-US" sz="1200" u="none" cap="none" strike="noStrike">
                <a:solidFill>
                  <a:srgbClr val="3B81B1"/>
                </a:solidFill>
                <a:latin typeface="Arial"/>
                <a:ea typeface="Arial"/>
                <a:cs typeface="Arial"/>
                <a:sym typeface="Arial"/>
              </a:rPr>
              <a:t>"Dù khó khăn, tôi cố gắng để đầu tư vào học tập cho con"  ,  "Tôi sợ mình không có điều kiện nên không thể lo cho con được học bằng bạn bằng bè" ,  "Tôi muốn đầu tư cho con học tiếng Anh để đời con không khổ như bố mẹ"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fc709246_0_86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9fc709246_0_86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9fc709246_0_86"/>
          <p:cNvSpPr/>
          <p:nvPr/>
        </p:nvSpPr>
        <p:spPr>
          <a:xfrm>
            <a:off x="502925" y="365754"/>
            <a:ext cx="80925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Pain point &amp; JTBD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f9fc709246_0_86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g3f9fc709246_0_86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9fc709246_0_86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9fc709246_0_86"/>
          <p:cNvSpPr/>
          <p:nvPr/>
        </p:nvSpPr>
        <p:spPr>
          <a:xfrm>
            <a:off x="622155" y="995717"/>
            <a:ext cx="487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Các JTBD của khách hàng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9fc709246_0_86"/>
          <p:cNvSpPr/>
          <p:nvPr/>
        </p:nvSpPr>
        <p:spPr>
          <a:xfrm>
            <a:off x="622155" y="1306613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1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Số trong ngoặc = % khách hàng có mong muốn này (theo kết quả khảo sát)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9fc709246_0_86"/>
          <p:cNvSpPr/>
          <p:nvPr/>
        </p:nvSpPr>
        <p:spPr>
          <a:xfrm>
            <a:off x="622155" y="1608365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giỏi tiếng Anh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9fc709246_0_86"/>
          <p:cNvSpPr/>
          <p:nvPr/>
        </p:nvSpPr>
        <p:spPr>
          <a:xfrm>
            <a:off x="622155" y="1919261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9fc709246_0_86"/>
          <p:cNvSpPr/>
          <p:nvPr/>
        </p:nvSpPr>
        <p:spPr>
          <a:xfrm>
            <a:off x="622155" y="1919261"/>
            <a:ext cx="37716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9fc709246_0_86"/>
          <p:cNvSpPr/>
          <p:nvPr/>
        </p:nvSpPr>
        <p:spPr>
          <a:xfrm>
            <a:off x="4886002" y="1882685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9fc709246_0_86"/>
          <p:cNvSpPr/>
          <p:nvPr/>
        </p:nvSpPr>
        <p:spPr>
          <a:xfrm>
            <a:off x="622155" y="2449613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với Giáo viên giỏi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9fc709246_0_86"/>
          <p:cNvSpPr/>
          <p:nvPr/>
        </p:nvSpPr>
        <p:spPr>
          <a:xfrm>
            <a:off x="622155" y="2760509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9fc709246_0_86"/>
          <p:cNvSpPr/>
          <p:nvPr/>
        </p:nvSpPr>
        <p:spPr>
          <a:xfrm>
            <a:off x="622155" y="2760509"/>
            <a:ext cx="33525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9fc709246_0_86"/>
          <p:cNvSpPr/>
          <p:nvPr/>
        </p:nvSpPr>
        <p:spPr>
          <a:xfrm>
            <a:off x="4886002" y="2723933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80%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9fc709246_0_86"/>
          <p:cNvSpPr/>
          <p:nvPr/>
        </p:nvSpPr>
        <p:spPr>
          <a:xfrm>
            <a:off x="622155" y="3290861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thích học, tự giác học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9fc709246_0_86"/>
          <p:cNvSpPr/>
          <p:nvPr/>
        </p:nvSpPr>
        <p:spPr>
          <a:xfrm>
            <a:off x="622155" y="3601757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9fc709246_0_86"/>
          <p:cNvSpPr/>
          <p:nvPr/>
        </p:nvSpPr>
        <p:spPr>
          <a:xfrm>
            <a:off x="622155" y="3601757"/>
            <a:ext cx="29334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9fc709246_0_86"/>
          <p:cNvSpPr/>
          <p:nvPr/>
        </p:nvSpPr>
        <p:spPr>
          <a:xfrm>
            <a:off x="4886002" y="3565181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70%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9fc709246_0_86"/>
          <p:cNvSpPr/>
          <p:nvPr/>
        </p:nvSpPr>
        <p:spPr>
          <a:xfrm>
            <a:off x="622155" y="4132109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yên tâm giao phó con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9fc709246_0_86"/>
          <p:cNvSpPr/>
          <p:nvPr/>
        </p:nvSpPr>
        <p:spPr>
          <a:xfrm>
            <a:off x="622155" y="4443005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9fc709246_0_86"/>
          <p:cNvSpPr/>
          <p:nvPr/>
        </p:nvSpPr>
        <p:spPr>
          <a:xfrm>
            <a:off x="622155" y="4443005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9fc709246_0_86"/>
          <p:cNvSpPr/>
          <p:nvPr/>
        </p:nvSpPr>
        <p:spPr>
          <a:xfrm>
            <a:off x="4886002" y="4406429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9fc709246_0_86"/>
          <p:cNvSpPr/>
          <p:nvPr/>
        </p:nvSpPr>
        <p:spPr>
          <a:xfrm>
            <a:off x="622155" y="4973357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tự tin giao tiếp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9fc709246_0_86"/>
          <p:cNvSpPr/>
          <p:nvPr/>
        </p:nvSpPr>
        <p:spPr>
          <a:xfrm>
            <a:off x="622155" y="5284253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9fc709246_0_86"/>
          <p:cNvSpPr/>
          <p:nvPr/>
        </p:nvSpPr>
        <p:spPr>
          <a:xfrm>
            <a:off x="622155" y="5284253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9fc709246_0_86"/>
          <p:cNvSpPr/>
          <p:nvPr/>
        </p:nvSpPr>
        <p:spPr>
          <a:xfrm>
            <a:off x="4886002" y="5247677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9fc709246_0_86"/>
          <p:cNvSpPr/>
          <p:nvPr/>
        </p:nvSpPr>
        <p:spPr>
          <a:xfrm>
            <a:off x="5788020" y="1114643"/>
            <a:ext cx="73200" cy="2176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9fc709246_0_86"/>
          <p:cNvSpPr/>
          <p:nvPr/>
        </p:nvSpPr>
        <p:spPr>
          <a:xfrm>
            <a:off x="6016620" y="1114643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Nỗi đau (Pain point)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200"/>
              <a:buFont typeface="Noto Sans"/>
              <a:buChar char="•"/>
            </a:pPr>
            <a:r>
              <a:rPr b="0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biết chính xác con yếu chỗ nào và cần bổ sung gì tiếp theo.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200"/>
              <a:buFont typeface="Noto Sans"/>
              <a:buChar char="•"/>
            </a:pPr>
            <a:r>
              <a:rPr b="0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Đã thử app / gia sư nhưng không chắc học có đúng chỗ hổng không.</a:t>
            </a:r>
            <a:endParaRPr b="0" i="0" sz="120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200"/>
              <a:buFont typeface="Noto Sans"/>
              <a:buChar char="•"/>
            </a:pPr>
            <a:r>
              <a:rPr b="0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Phụ huynh chưa nhìn thấy được sự tiến bộ rõ rệt của con.</a:t>
            </a:r>
            <a:endParaRPr b="0" i="0" sz="120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fc709246_0_120"/>
          <p:cNvSpPr/>
          <p:nvPr/>
        </p:nvSpPr>
        <p:spPr>
          <a:xfrm>
            <a:off x="0" y="0"/>
            <a:ext cx="4480500" cy="6858000"/>
          </a:xfrm>
          <a:prstGeom prst="rect">
            <a:avLst/>
          </a:prstGeom>
          <a:solidFill>
            <a:srgbClr val="003A5C"/>
          </a:solidFill>
          <a:ln cap="flat" cmpd="sng" w="12700">
            <a:solidFill>
              <a:srgbClr val="00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9fc709246_0_120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9fc709246_0_120"/>
          <p:cNvSpPr/>
          <p:nvPr/>
        </p:nvSpPr>
        <p:spPr>
          <a:xfrm>
            <a:off x="640080" y="228600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5BE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9fc709246_0_120"/>
          <p:cNvSpPr/>
          <p:nvPr/>
        </p:nvSpPr>
        <p:spPr>
          <a:xfrm>
            <a:off x="640080" y="3063240"/>
            <a:ext cx="10607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GIẢI PHÁP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9fc709246_0_120"/>
          <p:cNvSpPr/>
          <p:nvPr/>
        </p:nvSpPr>
        <p:spPr>
          <a:xfrm>
            <a:off x="640080" y="58064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9fc709246_0_120"/>
          <p:cNvSpPr/>
          <p:nvPr/>
        </p:nvSpPr>
        <p:spPr>
          <a:xfrm>
            <a:off x="640080" y="60899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08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7E08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fc709246_0_130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9fc709246_0_130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9fc709246_0_130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Selling Point:  SA → SB → 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f9fc709246_0_130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g3f9fc709246_0_130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9fc709246_0_130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5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g3f9fc709246_0_130"/>
          <p:cNvGraphicFramePr/>
          <p:nvPr/>
        </p:nvGraphicFramePr>
        <p:xfrm>
          <a:off x="502920" y="108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{D06430FF-1EA4-43DA-9281-7FA02B2C65B5}</a:tableStyleId>
              </a:tblPr>
              <a:tblGrid>
                <a:gridCol w="3728625"/>
                <a:gridCol w="3728625"/>
                <a:gridCol w="3728625"/>
              </a:tblGrid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 — Ưu điểm sản phẩm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SB — Lợi ích cảm nhận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— Cảm xúc phụ huynh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</a:tr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Adaptive Learning chẩn đoán &amp; vá lỗ hổng theo 1.473 NLO (Gap Detection + Routing Engine)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 học đến đâu chắc đến đấy; lỗ hổng phát hiện sớm thay vì đợi tới kỳ thi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Nhẹ nhõm vì hết cảnh mù mờ không biết con học tới đâu, hổng chỗ nào</a:t>
                      </a:r>
                      <a:endParaRPr sz="1200" u="none" cap="none" strike="noStrike">
                        <a:solidFill>
                          <a:srgbClr val="333333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Mastery Profile duy nhất xuyên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suốt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Big Class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AI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Practice /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AI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Speak /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Edupia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Club</a:t>
                      </a:r>
                      <a:endParaRPr b="1" sz="1200" u="none" cap="none" strike="noStrike">
                        <a:solidFill>
                          <a:srgbClr val="00467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phải theo dõi 4 hệ thống rời rạc; mọi tín hiệu dồn về 1 báo cáo</a:t>
                      </a:r>
                      <a:endParaRPr sz="12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Nâng cấp kho đề Practice + AI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Mock Test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tăng độ chính xác chấm phát âm AI Speak</a:t>
                      </a:r>
                      <a:endParaRPr b="1" sz="1200" u="none" cap="none" strike="noStrike">
                        <a:solidFill>
                          <a:srgbClr val="00467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Luyện tập và luyện nói bám cùng lỗ hổng đang học — không rời rạc</a:t>
                      </a:r>
                      <a:endParaRPr sz="12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 vMerge="1"/>
              </a:tr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BTVN Adaptive — Staircase Difficulty: độ khó câu tự điều chỉnh theo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năng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lực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của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 làm bài "vừa sức" — không nản vì quá khó, không chán vì quá dễ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Vui vẻ: khi thấy con không bị chán nản khi làm bài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Parent Mode — Mastery Map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Phụ huynh nhìn thấy tiến bộ cụ thể, đo được, đối chiếu với điểm ở trường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Tự hào khi thấy con tiến bộ rõ ràng qua từng tuần — có cái để khoe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g3f9fc709246_0_130"/>
          <p:cNvSpPr txBox="1"/>
          <p:nvPr/>
        </p:nvSpPr>
        <p:spPr>
          <a:xfrm>
            <a:off x="502925" y="5057375"/>
            <a:ext cx="1118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USP</a:t>
            </a:r>
            <a:r>
              <a:rPr b="0" i="1" lang="en-US" sz="14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 "Chương trình tiếng Anh trực tuyến có giáo viên thật, cộng thêm gia sư AI kèm riêng 30 phút sau mỗi buổi — vá lỗ hổng hoặc nâng cao mở rộng tuỳ năng lực của con — theo 1.473 đơn vị kiến thức, và một bản đồ tiến bộ phụ huynh đọc được, khớp chuẩn nhà trường."</a:t>
            </a:r>
            <a:endParaRPr b="0" i="1" sz="1400" u="none" cap="none" strike="noStrike">
              <a:solidFill>
                <a:srgbClr val="0046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fc709246_0_142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9fc709246_0_142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9fc709246_0_142"/>
          <p:cNvSpPr/>
          <p:nvPr/>
        </p:nvSpPr>
        <p:spPr>
          <a:xfrm>
            <a:off x="502925" y="365754"/>
            <a:ext cx="80925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So sánh giải pháp trên thị trường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g3f9fc709246_0_142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f9fc709246_0_142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9fc709246_0_142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6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g3f9fc709246_0_142"/>
          <p:cNvGraphicFramePr/>
          <p:nvPr/>
        </p:nvGraphicFramePr>
        <p:xfrm>
          <a:off x="5029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{D06430FF-1EA4-43DA-9281-7FA02B2C65B5}</a:tableStyleId>
              </a:tblPr>
              <a:tblGrid>
                <a:gridCol w="2460900"/>
                <a:gridCol w="1677875"/>
                <a:gridCol w="2125300"/>
                <a:gridCol w="2237175"/>
                <a:gridCol w="26846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Mong muốn của phụ huynh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tự học (60–200k)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Edupia AI Class hi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ện tại</a:t>
                      </a: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(250k)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Gia sư người thật (vài triệu)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Edupia AI Class Plus (~390k)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 giáo viên thật dạy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 (Big Class)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Có (Big Class Plus)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Vá đúng lỗ hổng cá nhân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Theo lớp, chưa tới từng NLO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Tuỳ gia sư, không có dữ liệu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Routing Engine theo NLO cá nhân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Báo cáo tiến bộ đo được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Hiếm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Chung chung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có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Mastery Map theo NLO 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thông qua Parent Mode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Phụ huynh không phải tự kèm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Một phần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 (A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daptive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GVCN)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Chi phí/tháng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60–200k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~250k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Vài triệu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~390k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fc709246_0_153"/>
          <p:cNvSpPr/>
          <p:nvPr/>
        </p:nvSpPr>
        <p:spPr>
          <a:xfrm>
            <a:off x="0" y="0"/>
            <a:ext cx="4480500" cy="6858000"/>
          </a:xfrm>
          <a:prstGeom prst="rect">
            <a:avLst/>
          </a:prstGeom>
          <a:solidFill>
            <a:srgbClr val="003A5C"/>
          </a:solidFill>
          <a:ln cap="flat" cmpd="sng" w="12700">
            <a:solidFill>
              <a:srgbClr val="00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9fc709246_0_153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9fc709246_0_153"/>
          <p:cNvSpPr/>
          <p:nvPr/>
        </p:nvSpPr>
        <p:spPr>
          <a:xfrm>
            <a:off x="640080" y="228600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5BE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9fc709246_0_153"/>
          <p:cNvSpPr/>
          <p:nvPr/>
        </p:nvSpPr>
        <p:spPr>
          <a:xfrm>
            <a:off x="640080" y="3063240"/>
            <a:ext cx="10607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CẤU TRÚC SẢN PHẨM VÀ MÔ TẢ TÍNH NĂNG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9fc709246_0_153"/>
          <p:cNvSpPr/>
          <p:nvPr/>
        </p:nvSpPr>
        <p:spPr>
          <a:xfrm>
            <a:off x="640080" y="58064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9fc709246_0_153"/>
          <p:cNvSpPr/>
          <p:nvPr/>
        </p:nvSpPr>
        <p:spPr>
          <a:xfrm>
            <a:off x="640080" y="6089904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08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7E08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9fc709246_0_163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9fc709246_0_163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9fc709246_0_163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Cấu trúc sản phẩm Edupia AI Class Plus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f9fc709246_0_163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f9fc709246_0_163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9fc709246_0_163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7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9fc709246_0_163"/>
          <p:cNvSpPr/>
          <p:nvPr/>
        </p:nvSpPr>
        <p:spPr>
          <a:xfrm>
            <a:off x="502925" y="1287125"/>
            <a:ext cx="11185800" cy="6558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9fc709246_0_163"/>
          <p:cNvSpPr/>
          <p:nvPr/>
        </p:nvSpPr>
        <p:spPr>
          <a:xfrm>
            <a:off x="731520" y="1295400"/>
            <a:ext cx="10728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D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— Nội dung: </a:t>
            </a:r>
            <a:r>
              <a:rPr b="0" i="0" lang="en-US" sz="12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cá nhân hoá theo 1.473 đơn vị kiến thức (NLO Taxonomy), bám sát SGK Global Success.  </a:t>
            </a:r>
            <a:endParaRPr b="0" i="0" sz="1200" u="none" cap="none" strike="noStrike">
              <a:solidFill>
                <a:srgbClr val="2E3D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D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— Mastery Profile: </a:t>
            </a:r>
            <a:r>
              <a:rPr b="0" i="0" lang="en-US" sz="1200" u="none" cap="none" strike="noStrike">
                <a:solidFill>
                  <a:srgbClr val="3B4A0A"/>
                </a:solidFill>
                <a:latin typeface="Arial"/>
                <a:ea typeface="Arial"/>
                <a:cs typeface="Arial"/>
                <a:sym typeface="Arial"/>
              </a:rPr>
              <a:t>Tầng Adaptive Learning (Gap Detection → Routing Engine) chọn đúng lỗ hổng cho mọi thành phần.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g3f9fc709246_0_163"/>
          <p:cNvGraphicFramePr/>
          <p:nvPr/>
        </p:nvGraphicFramePr>
        <p:xfrm>
          <a:off x="502920" y="2529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{D06430FF-1EA4-43DA-9281-7FA02B2C65B5}</a:tableStyleId>
              </a:tblPr>
              <a:tblGrid>
                <a:gridCol w="3020175"/>
                <a:gridCol w="2460900"/>
                <a:gridCol w="570477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Thành phần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Tần suất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Vai trò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67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Big Class </a:t>
                      </a: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</a:rPr>
                        <a:t>Plus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buổi/tuần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Giáo viên 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Star 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dạy live bám SGK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: gọi tên con, động viên và tương tác với con . G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án NLO cho từng học sinh 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để phát hiện lỗ hổng kiến thức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AI Tutor (kèm riêng 30 phút sau mỗi buổi)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phút sau mỗi buổi Big Class Plus — mặc định cho mọi học sinh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Gia sư AI kèm 1-1, phân theo chân dung: Khá giỏi → nâng cao, mở rộng kiến thức; Trung bình/yếu → vá lỗ hổng NLO vừa phát hiện, củng cố kiến thức vừa học. Trợ giảng AI tổng kết buổi và giao BTVN Adaptive tương ứng.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BTVN Adaptive / AI Practice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Bài tập ôn luyện sau mỗi buổi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Staircase Difficulty; trộn 40% NLO yếu / 40% mới / 20% ôn chống quên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AI Speak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Mỗi ngày (tối đa 1h)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Luyện nói tình huống thật — chủ đề theo NLO yếu. </a:t>
                      </a:r>
                      <a:r>
                        <a:rPr b="1" lang="en-US" sz="1200" u="none" cap="none" strike="noStrike">
                          <a:solidFill>
                            <a:srgbClr val="333333"/>
                          </a:solidFill>
                        </a:rPr>
                        <a:t>Chấm điểm và chữa</a:t>
                      </a: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</a:rPr>
                        <a:t> phát âm cho học sinh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9F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67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46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Edupia Club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Hoạt động ngoại khoá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Rèn tự tin &amp; kỹ năng xã hội — thử thách bám đúng NLO đang học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g3f9fc709246_0_163"/>
          <p:cNvSpPr/>
          <p:nvPr/>
        </p:nvSpPr>
        <p:spPr>
          <a:xfrm>
            <a:off x="502925" y="5675376"/>
            <a:ext cx="11185800" cy="512100"/>
          </a:xfrm>
          <a:prstGeom prst="rect">
            <a:avLst/>
          </a:prstGeom>
          <a:solidFill>
            <a:srgbClr val="004671"/>
          </a:solidFill>
          <a:ln cap="flat" cmpd="sng" w="12700">
            <a:solidFill>
              <a:srgbClr val="0046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9fc709246_0_163"/>
          <p:cNvSpPr/>
          <p:nvPr/>
        </p:nvSpPr>
        <p:spPr>
          <a:xfrm>
            <a:off x="731520" y="5675365"/>
            <a:ext cx="10728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 Giáo viên chủ nhiệm &amp; Parent Mode: đồng hành, theo dõi, báo cáo toàn bộ quá trình; Mastery Map hiển thị cho phụ huynh.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9fc709246_0_163"/>
          <p:cNvSpPr txBox="1"/>
          <p:nvPr/>
        </p:nvSpPr>
        <p:spPr>
          <a:xfrm>
            <a:off x="502925" y="2066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Layer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9fc709246_0_163"/>
          <p:cNvSpPr txBox="1"/>
          <p:nvPr/>
        </p:nvSpPr>
        <p:spPr>
          <a:xfrm>
            <a:off x="502925" y="850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Layer 1: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9fc709246_0_163"/>
          <p:cNvSpPr txBox="1"/>
          <p:nvPr/>
        </p:nvSpPr>
        <p:spPr>
          <a:xfrm>
            <a:off x="502925" y="5249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3D00"/>
                </a:solidFill>
                <a:latin typeface="Arial"/>
                <a:ea typeface="Arial"/>
                <a:cs typeface="Arial"/>
                <a:sym typeface="Arial"/>
              </a:rPr>
              <a:t>Layer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fc709246_0_181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9fc709246_0_181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9fc709246_0_181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Nền tảng chung: NLO &amp; Mastery Profile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f9fc709246_0_181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g3f9fc709246_0_181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9fc709246_0_181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8 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9fc709246_0_181"/>
          <p:cNvSpPr/>
          <p:nvPr/>
        </p:nvSpPr>
        <p:spPr>
          <a:xfrm>
            <a:off x="502920" y="1402080"/>
            <a:ext cx="11185800" cy="12345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9fc709246_0_181"/>
          <p:cNvSpPr/>
          <p:nvPr/>
        </p:nvSpPr>
        <p:spPr>
          <a:xfrm>
            <a:off x="502920" y="1402080"/>
            <a:ext cx="82200" cy="12345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9fc709246_0_181"/>
          <p:cNvSpPr/>
          <p:nvPr/>
        </p:nvSpPr>
        <p:spPr>
          <a:xfrm>
            <a:off x="777240" y="1511808"/>
            <a:ext cx="1063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NLO (Nano Learning Objective)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9fc709246_0_181"/>
          <p:cNvSpPr/>
          <p:nvPr/>
        </p:nvSpPr>
        <p:spPr>
          <a:xfrm>
            <a:off x="777240" y="1859280"/>
            <a:ext cx="10637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Đơn vị kiến thức/kỹ năng nhỏ nhất, đo lường độc lập. Edupia đã có 1.473 NLO cho Tiếng Anh Lớp 1–8.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9fc709246_0_181"/>
          <p:cNvSpPr/>
          <p:nvPr/>
        </p:nvSpPr>
        <p:spPr>
          <a:xfrm>
            <a:off x="502920" y="2819400"/>
            <a:ext cx="11185800" cy="12345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9fc709246_0_181"/>
          <p:cNvSpPr/>
          <p:nvPr/>
        </p:nvSpPr>
        <p:spPr>
          <a:xfrm>
            <a:off x="502920" y="2819400"/>
            <a:ext cx="82200" cy="12345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9fc709246_0_181"/>
          <p:cNvSpPr/>
          <p:nvPr/>
        </p:nvSpPr>
        <p:spPr>
          <a:xfrm>
            <a:off x="777240" y="2929128"/>
            <a:ext cx="1063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Mastery Profile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9fc709246_0_181"/>
          <p:cNvSpPr/>
          <p:nvPr/>
        </p:nvSpPr>
        <p:spPr>
          <a:xfrm>
            <a:off x="777240" y="3276600"/>
            <a:ext cx="10637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Hồ sơ năng lực của học sinh theo từng NLO — cập nhật real-time. Mọi thành phần đọc/ghi vào cùng 1 Mastery Profile → không rời rạc, không phải ghép thủ công.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9fc709246_0_181"/>
          <p:cNvSpPr/>
          <p:nvPr/>
        </p:nvSpPr>
        <p:spPr>
          <a:xfrm>
            <a:off x="502920" y="4236720"/>
            <a:ext cx="11185800" cy="12345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9fc709246_0_181"/>
          <p:cNvSpPr/>
          <p:nvPr/>
        </p:nvSpPr>
        <p:spPr>
          <a:xfrm>
            <a:off x="502920" y="4236720"/>
            <a:ext cx="82200" cy="12345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9fc709246_0_181"/>
          <p:cNvSpPr/>
          <p:nvPr/>
        </p:nvSpPr>
        <p:spPr>
          <a:xfrm>
            <a:off x="777240" y="4346448"/>
            <a:ext cx="1063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Adaptive Learning — "bộ não"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9fc709246_0_181"/>
          <p:cNvSpPr/>
          <p:nvPr/>
        </p:nvSpPr>
        <p:spPr>
          <a:xfrm>
            <a:off x="777240" y="4693920"/>
            <a:ext cx="10637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Phát hiện lỗ hổng (Gap Detection) → chọn đúng NLO cần vá cho từng thành phần (Routing Engine).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fc709246_0_203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9fc709246_0_203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9fc709246_0_203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1: Big Class Plus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3f9fc709246_0_203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g3f9fc709246_0_203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9fc709246_0_203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9fc709246_0_203"/>
          <p:cNvSpPr/>
          <p:nvPr/>
        </p:nvSpPr>
        <p:spPr>
          <a:xfrm>
            <a:off x="502925" y="1691645"/>
            <a:ext cx="11185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Là gì: 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Buổi học trực tuyến nhóm, giáo viên Star dạy live, 2 buổi/tuần, bám sát SGK Global Success, trong đó nâng cấp các tương tác của giáo viên: gọi tên con, động viên và tương tác với con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9fc709246_0_203"/>
          <p:cNvSpPr/>
          <p:nvPr/>
        </p:nvSpPr>
        <p:spPr>
          <a:xfrm>
            <a:off x="502925" y="2453651"/>
            <a:ext cx="11185800" cy="20949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9fc709246_0_203"/>
          <p:cNvSpPr/>
          <p:nvPr/>
        </p:nvSpPr>
        <p:spPr>
          <a:xfrm>
            <a:off x="502925" y="2453647"/>
            <a:ext cx="82200" cy="17229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9fc709246_0_203"/>
          <p:cNvSpPr/>
          <p:nvPr/>
        </p:nvSpPr>
        <p:spPr>
          <a:xfrm>
            <a:off x="777240" y="25816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9fc709246_0_203"/>
          <p:cNvSpPr/>
          <p:nvPr/>
        </p:nvSpPr>
        <p:spPr>
          <a:xfrm>
            <a:off x="795525" y="2987051"/>
            <a:ext cx="10545900" cy="1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GV Star giảng bài theo chương trình, tổ chức tương tác lớp.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Gán NLO cho từng học sinh dựa trên dữ liệu từ buổi học → sinh tín hiệu cho Gap Detection.</a:t>
            </a:r>
            <a:endParaRPr b="0" i="0" sz="12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Là điểm khởi đầu của vòng lặp: Big Class phát hiện lỗ hổng → Adaptive vá ngay sau đó.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fc709246_0_218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9fc709246_0_218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9fc709246_0_218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2: BTVN Adaptive &amp; AI Practice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g3f9fc709246_0_218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f9fc709246_0_218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9fc709246_0_218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10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9fc709246_0_218"/>
          <p:cNvSpPr/>
          <p:nvPr/>
        </p:nvSpPr>
        <p:spPr>
          <a:xfrm>
            <a:off x="502925" y="1463045"/>
            <a:ext cx="11185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Là gì: 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Hệ thống bài tập ôn luyện sau mỗi buổi + kho đề chuẩn theo SGK (Global Success, I Learn Smart Start, Family and Friends…) + kho đề thi (tháng, giữa kỳ, cuối kỳ).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9fc709246_0_218"/>
          <p:cNvSpPr/>
          <p:nvPr/>
        </p:nvSpPr>
        <p:spPr>
          <a:xfrm>
            <a:off x="502925" y="2225047"/>
            <a:ext cx="11185800" cy="19827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9fc709246_0_218"/>
          <p:cNvSpPr/>
          <p:nvPr/>
        </p:nvSpPr>
        <p:spPr>
          <a:xfrm>
            <a:off x="502925" y="2225047"/>
            <a:ext cx="82200" cy="19827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9fc709246_0_218"/>
          <p:cNvSpPr/>
          <p:nvPr/>
        </p:nvSpPr>
        <p:spPr>
          <a:xfrm>
            <a:off x="777240" y="23530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9fc709246_0_218"/>
          <p:cNvSpPr/>
          <p:nvPr/>
        </p:nvSpPr>
        <p:spPr>
          <a:xfrm>
            <a:off x="795525" y="2682246"/>
            <a:ext cx="105459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 chấm — chữa — giải thích lỗi ngay sau khi nộp; cho làm lại nhiều lần.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Staircase Difficulty: độ khó câu tự điều chỉnh trong lúc làm (E→M→H; đúng 2 câu liên tiếp tăng bậc, sai 1 câu giảm ngay).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Trộn NLO mỗi phiên: 40% NLO đang yếu · 40% NLO mới học · 20% NLO cũ (ôn chống quên).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Nâng cấp kho đề Practice + AI Mock test.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9fc709246_0_233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9fc709246_0_233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9fc709246_0_233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3: Kèm riêng 30 phút sau buổi học (AI Tutor)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g3f9fc709246_0_233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g3f9fc709246_0_233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9fc709246_0_233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11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9fc709246_0_233"/>
          <p:cNvSpPr/>
          <p:nvPr/>
        </p:nvSpPr>
        <p:spPr>
          <a:xfrm>
            <a:off x="502925" y="1463045"/>
            <a:ext cx="11185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Là gì: 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Gia sư AI kèm 1-1 trong 30 phút sau mỗi buổi Big Class Plus — mặc định cho mọi học sinh, chia theo chân dung: nâng cao cho học sinh khá giỏi, vá lỗ hổng cho học sinh trung bình/yếu; đồng thời trợ giảng AI tổng kết buổi và giao bài tập về nhà.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9fc709246_0_233"/>
          <p:cNvSpPr/>
          <p:nvPr/>
        </p:nvSpPr>
        <p:spPr>
          <a:xfrm>
            <a:off x="502925" y="2225047"/>
            <a:ext cx="11185800" cy="19827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9fc709246_0_233"/>
          <p:cNvSpPr/>
          <p:nvPr/>
        </p:nvSpPr>
        <p:spPr>
          <a:xfrm>
            <a:off x="502925" y="2225047"/>
            <a:ext cx="82200" cy="19827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9fc709246_0_233"/>
          <p:cNvSpPr/>
          <p:nvPr/>
        </p:nvSpPr>
        <p:spPr>
          <a:xfrm>
            <a:off x="777240" y="23530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9fc709246_0_233"/>
          <p:cNvSpPr/>
          <p:nvPr/>
        </p:nvSpPr>
        <p:spPr>
          <a:xfrm>
            <a:off x="795525" y="2682246"/>
            <a:ext cx="105459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Mặc định diễn ra sau mỗi buổi Big Class Plus cho toàn bộ học sinh — không phải tính năng chỉ kích hoạt khi có lỗ hổng.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Phân luồng theo chân dung học sinh: Khá giỏi → nâng cao, mở rộng kiến thức ngoài nội dung vừa học; Trung bình/yếu → tập trung đúng NLO vừa hổng để củng cố, không dạy lại toàn bộ nội dung buổi học.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Trợ giảng AI nhận xét kết quả học tập cuối buổi và nhắc bài tập về nhà (BTVN Adaptive) tương ứng.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Dữ liệu ghi thẳng vào Mastery Profile — nối tiếp vòng lặp Big Class → Adaptive.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fc709246_0_247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9fc709246_0_247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9fc709246_0_247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</a:t>
            </a:r>
            <a:r>
              <a:rPr b="1" lang="en-US" sz="2200">
                <a:solidFill>
                  <a:srgbClr val="004671"/>
                </a:solidFill>
              </a:rPr>
              <a:t>4</a:t>
            </a: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: AI Speak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g3f9fc709246_0_247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f9fc709246_0_247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9fc709246_0_247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9fc709246_0_247"/>
          <p:cNvSpPr/>
          <p:nvPr/>
        </p:nvSpPr>
        <p:spPr>
          <a:xfrm>
            <a:off x="502925" y="1463043"/>
            <a:ext cx="11185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Là gì: 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Phòng luyện nói với nhân vật ảo AI, mỗi ngày tối đa 1 giờ; học sinh nhập vai tình huống thực tế (mua sắm, du lịch, thể thao…).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9fc709246_0_247"/>
          <p:cNvSpPr/>
          <p:nvPr/>
        </p:nvSpPr>
        <p:spPr>
          <a:xfrm>
            <a:off x="502925" y="2072646"/>
            <a:ext cx="11185800" cy="16746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9fc709246_0_247"/>
          <p:cNvSpPr/>
          <p:nvPr/>
        </p:nvSpPr>
        <p:spPr>
          <a:xfrm>
            <a:off x="502925" y="2072646"/>
            <a:ext cx="82200" cy="16746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9fc709246_0_247"/>
          <p:cNvSpPr/>
          <p:nvPr/>
        </p:nvSpPr>
        <p:spPr>
          <a:xfrm>
            <a:off x="777240" y="22006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9fc709246_0_247"/>
          <p:cNvSpPr/>
          <p:nvPr/>
        </p:nvSpPr>
        <p:spPr>
          <a:xfrm>
            <a:off x="795525" y="2529845"/>
            <a:ext cx="105459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Gợi ý câu trả lời theo từng câu hỏi — giúp học sinh chưa tự tin vẫn bắt đầu nói được.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Chấm và chữa phát âm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— nâng độ chính xác của AI chấm điểm.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Chủ đề hội thoại do Routing Engine chọn theo đúng NLO đang yếu nhất — không ngẫu nhiên; số lượt nói ghi vào Mastery Profile như tín hiệu phụ.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9fc709246_0_262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9fc709246_0_262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fc709246_0_262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</a:t>
            </a:r>
            <a:r>
              <a:rPr b="1" lang="en-US" sz="2200">
                <a:solidFill>
                  <a:srgbClr val="004671"/>
                </a:solidFill>
              </a:rPr>
              <a:t>5</a:t>
            </a: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: Edupia Club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g3f9fc709246_0_262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g3f9fc709246_0_262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9fc709246_0_262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9fc709246_0_262"/>
          <p:cNvSpPr/>
          <p:nvPr/>
        </p:nvSpPr>
        <p:spPr>
          <a:xfrm>
            <a:off x="502925" y="1463044"/>
            <a:ext cx="11185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Là gì: 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Câu lạc bộ hoạt động ngoại khoá trực tuyến theo mô hình CLB trường quốc tế — không phải hoạt động "cho vui" tách biệt.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9fc709246_0_262"/>
          <p:cNvSpPr/>
          <p:nvPr/>
        </p:nvSpPr>
        <p:spPr>
          <a:xfrm>
            <a:off x="502925" y="2072646"/>
            <a:ext cx="11185800" cy="17583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9fc709246_0_262"/>
          <p:cNvSpPr/>
          <p:nvPr/>
        </p:nvSpPr>
        <p:spPr>
          <a:xfrm>
            <a:off x="502925" y="2072646"/>
            <a:ext cx="82200" cy="17583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9fc709246_0_262"/>
          <p:cNvSpPr/>
          <p:nvPr/>
        </p:nvSpPr>
        <p:spPr>
          <a:xfrm>
            <a:off x="777240" y="22006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9fc709246_0_262"/>
          <p:cNvSpPr/>
          <p:nvPr/>
        </p:nvSpPr>
        <p:spPr>
          <a:xfrm>
            <a:off x="795525" y="2529845"/>
            <a:ext cx="105459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Chủ đề tháng: kỹ năng sống, STEM, công nghệ AI, khám phá thế giới… triển khai qua nhiệm vụ tuần, thử thách tích điểm, livestream.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Thử thách từ vựng bám đúng NLO đang học ở Big Class tuần đó.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Điểm cộng chung 1 bảng xếp hạng; cùng ghi tín hiệu vào Mastery Profile.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9fc709246_0_277"/>
          <p:cNvSpPr/>
          <p:nvPr/>
        </p:nvSpPr>
        <p:spPr>
          <a:xfrm>
            <a:off x="8778240" y="301752"/>
            <a:ext cx="290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EDUPIA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9fc709246_0_277"/>
          <p:cNvSpPr/>
          <p:nvPr/>
        </p:nvSpPr>
        <p:spPr>
          <a:xfrm>
            <a:off x="8778240" y="576072"/>
            <a:ext cx="290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20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1720A"/>
                </a:solidFill>
                <a:latin typeface="Arial"/>
                <a:ea typeface="Arial"/>
                <a:cs typeface="Arial"/>
                <a:sym typeface="Arial"/>
              </a:rPr>
              <a:t>AI CLASS PLUS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9fc709246_0_277"/>
          <p:cNvSpPr/>
          <p:nvPr/>
        </p:nvSpPr>
        <p:spPr>
          <a:xfrm>
            <a:off x="502920" y="365760"/>
            <a:ext cx="809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100"/>
              <a:buFont typeface="Arial"/>
              <a:buNone/>
            </a:pP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Thành phần </a:t>
            </a:r>
            <a:r>
              <a:rPr b="1" lang="en-US" sz="2200">
                <a:solidFill>
                  <a:srgbClr val="004671"/>
                </a:solidFill>
              </a:rPr>
              <a:t>6</a:t>
            </a:r>
            <a:r>
              <a:rPr b="1" i="0" lang="en-US" sz="220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: Giáo viên chủ nhiệm &amp; Parent Mode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g3f9fc709246_0_277"/>
          <p:cNvCxnSpPr/>
          <p:nvPr/>
        </p:nvCxnSpPr>
        <p:spPr>
          <a:xfrm>
            <a:off x="502920" y="6437376"/>
            <a:ext cx="11185800" cy="0"/>
          </a:xfrm>
          <a:prstGeom prst="straightConnector1">
            <a:avLst/>
          </a:prstGeom>
          <a:noFill/>
          <a:ln cap="flat" cmpd="sng" w="1905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g3f9fc709246_0_277"/>
          <p:cNvSpPr/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Edupia AI Class Plus · Concept 1.2 — Adaptive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9fc709246_0_277"/>
          <p:cNvSpPr/>
          <p:nvPr/>
        </p:nvSpPr>
        <p:spPr>
          <a:xfrm>
            <a:off x="9859975" y="64922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14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9fc709246_0_277"/>
          <p:cNvSpPr/>
          <p:nvPr/>
        </p:nvSpPr>
        <p:spPr>
          <a:xfrm>
            <a:off x="502925" y="1417322"/>
            <a:ext cx="11185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Giáo viên chủ nhiệm (GVCN):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đồng hành, theo dõi tiến độ, hỗ trợ, nhắc lịch, gọi điện báo kết quả — dùng cùng bộ số với báo cáo phụ huynh.</a:t>
            </a:r>
            <a:b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004671"/>
                </a:solidFill>
                <a:latin typeface="Arial"/>
                <a:ea typeface="Arial"/>
                <a:cs typeface="Arial"/>
                <a:sym typeface="Arial"/>
              </a:rPr>
              <a:t>Parent Mode — Mastery Map: </a:t>
            </a: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giao diện cho phụ huynh theo dõi tiến bộ của con theo các đơn vị kiến thức NLO.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9fc709246_0_277"/>
          <p:cNvSpPr/>
          <p:nvPr/>
        </p:nvSpPr>
        <p:spPr>
          <a:xfrm>
            <a:off x="502925" y="2225047"/>
            <a:ext cx="11185800" cy="2304900"/>
          </a:xfrm>
          <a:prstGeom prst="rect">
            <a:avLst/>
          </a:prstGeom>
          <a:solidFill>
            <a:srgbClr val="F4F9FC"/>
          </a:solidFill>
          <a:ln cap="flat" cmpd="sng" w="12700">
            <a:solidFill>
              <a:srgbClr val="D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9fc709246_0_277"/>
          <p:cNvSpPr/>
          <p:nvPr/>
        </p:nvSpPr>
        <p:spPr>
          <a:xfrm>
            <a:off x="502925" y="2225047"/>
            <a:ext cx="82200" cy="2304900"/>
          </a:xfrm>
          <a:prstGeom prst="rect">
            <a:avLst/>
          </a:prstGeom>
          <a:solidFill>
            <a:srgbClr val="A5BE00"/>
          </a:solidFill>
          <a:ln cap="flat" cmpd="sng" w="12700">
            <a:solidFill>
              <a:srgbClr val="A5B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9fc709246_0_277"/>
          <p:cNvSpPr/>
          <p:nvPr/>
        </p:nvSpPr>
        <p:spPr>
          <a:xfrm>
            <a:off x="777240" y="2353056"/>
            <a:ext cx="106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Arial"/>
              <a:buNone/>
            </a:pPr>
            <a:r>
              <a:rPr b="1" i="0" lang="en-US" sz="1400" u="none" cap="none" strike="noStrike">
                <a:solidFill>
                  <a:srgbClr val="518E0D"/>
                </a:solidFill>
                <a:latin typeface="Arial"/>
                <a:ea typeface="Arial"/>
                <a:cs typeface="Arial"/>
                <a:sym typeface="Arial"/>
              </a:rPr>
              <a:t>CHỨC NĂNG CHÍNH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9fc709246_0_277"/>
          <p:cNvSpPr/>
          <p:nvPr/>
        </p:nvSpPr>
        <p:spPr>
          <a:xfrm>
            <a:off x="795525" y="2727955"/>
            <a:ext cx="10545900" cy="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Dịch dữ liệu thô → ngôn ngữ phụ huynh hiểu: "Con đang ở mức HIỂU (chưa tới VẬN DỤNG)… khớp học bạ ở trường." (mapping Bloom, chiều ngược).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9fc709246_0_277"/>
          <p:cNvSpPr/>
          <p:nvPr/>
        </p:nvSpPr>
        <p:spPr>
          <a:xfrm>
            <a:off x="795525" y="3368045"/>
            <a:ext cx="105459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Tách bạch 2 loại tín hiệu: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mastery hằng ngày (nhiễu) ≠ đánh giá 3–6 tháng chính thức (đề riêng, đáng tin) — nền tảng cho Khoá cải thiện gắn TLGH60.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Điểm danh đầu &amp; cuối buổi: hệ thống ghi nhận học sinh tham gia buổi học Big Class Plus, gửi thông báo tới điện thoại phụ huynh khi con vào lớp và khi kết thúc buổi.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2026-08-27T04:31:13Z</dcterms:created>
  <dc:creator>Khối Sản phẩm &amp; Công nghệ — Edupia</dc:creator>
</cp:coreProperties>
</file>