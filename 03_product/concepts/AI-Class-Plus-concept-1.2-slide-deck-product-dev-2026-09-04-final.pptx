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6858000" cx="12191675"/>
  <p:notesSz cx="6858000" cy="12191675"/>
  <p:embeddedFontLst>
    <p:embeddedFont>
      <p:font typeface="Noto Sans"/>
      <p:regular r:id="rId25"/>
      <p:bold r:id="rId26"/>
      <p:italic r:id="rId27"/>
      <p:boldItalic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9" roundtripDataSignature="AMtx7mh+T88gJN5+SBBfQAZJt6gBprqxC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06430FF-1EA4-43DA-9281-7FA02B2C65B5}">
  <a:tblStyle styleId="{D06430FF-1EA4-43DA-9281-7FA02B2C65B5}"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NotoSans-bold.fntdata"/><Relationship Id="rId25" Type="http://schemas.openxmlformats.org/officeDocument/2006/relationships/font" Target="fonts/NotoSans-regular.fntdata"/><Relationship Id="rId28" Type="http://schemas.openxmlformats.org/officeDocument/2006/relationships/font" Target="fonts/NotoSans-boldItalic.fntdata"/><Relationship Id="rId27" Type="http://schemas.openxmlformats.org/officeDocument/2006/relationships/font" Target="fonts/NotoSans-italic.fntdata"/><Relationship Id="rId5" Type="http://schemas.openxmlformats.org/officeDocument/2006/relationships/notesMaster" Target="notesMasters/notesMaster1.xml"/><Relationship Id="rId6" Type="http://schemas.openxmlformats.org/officeDocument/2006/relationships/slide" Target="slides/slide1.xml"/><Relationship Id="rId29" Type="http://customschemas.google.com/relationships/presentationmetadata" Target="metadata"/><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g3f9fc709246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g3f9fc709246_0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 name="Google Shape;14;g3f9fc709246_0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 name="Shape 25"/>
        <p:cNvGrpSpPr/>
        <p:nvPr/>
      </p:nvGrpSpPr>
      <p:grpSpPr>
        <a:xfrm>
          <a:off x="0" y="0"/>
          <a:ext cx="0" cy="0"/>
          <a:chOff x="0" y="0"/>
          <a:chExt cx="0" cy="0"/>
        </a:xfrm>
      </p:grpSpPr>
      <p:sp>
        <p:nvSpPr>
          <p:cNvPr id="26" name="Google Shape;26;g3f9fc709246_0_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 name="Google Shape;27;g3f9fc709246_0_1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 name="Google Shape;28;g3f9fc709246_0_1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 name="Shape 52"/>
        <p:cNvGrpSpPr/>
        <p:nvPr/>
      </p:nvGrpSpPr>
      <p:grpSpPr>
        <a:xfrm>
          <a:off x="0" y="0"/>
          <a:ext cx="0" cy="0"/>
          <a:chOff x="0" y="0"/>
          <a:chExt cx="0" cy="0"/>
        </a:xfrm>
      </p:grpSpPr>
      <p:sp>
        <p:nvSpPr>
          <p:cNvPr id="53" name="Google Shape;53;g3f9fc709246_0_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 name="Google Shape;54;g3f9fc709246_0_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 name="Google Shape;55;g3f9fc709246_0_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f9fc709246_0_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 name="Google Shape;65;g3f9fc709246_0_4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 name="Google Shape;66;g3f9fc709246_0_4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 name="Shape 78"/>
        <p:cNvGrpSpPr/>
        <p:nvPr/>
      </p:nvGrpSpPr>
      <p:grpSpPr>
        <a:xfrm>
          <a:off x="0" y="0"/>
          <a:ext cx="0" cy="0"/>
          <a:chOff x="0" y="0"/>
          <a:chExt cx="0" cy="0"/>
        </a:xfrm>
      </p:grpSpPr>
      <p:sp>
        <p:nvSpPr>
          <p:cNvPr id="79" name="Google Shape;79;g3f9fc709246_0_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 name="Google Shape;80;g3f9fc709246_0_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 name="Google Shape;81;g3f9fc709246_0_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g3f9fc709246_0_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 name="Google Shape;91;g3f9fc709246_0_7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 name="Google Shape;92;g3f9fc709246_0_7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g3f9fc709246_0_8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 name="Google Shape;105;g3f9fc709246_0_8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 name="Google Shape;106;g3f9fc709246_0_8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g3f9fc709246_0_1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 name="Google Shape;140;g3f9fc709246_0_12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 name="Google Shape;141;g3f9fc709246_0_12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f9fc709246_0_1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g3f9fc709246_0_1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2" name="Google Shape;152;g3f9fc709246_0_1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f9fc709246_0_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 name="Google Shape;164;g3f9fc709246_0_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5" name="Google Shape;165;g3f9fc709246_0_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f9fc709246_0_1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 name="Google Shape;176;g3f9fc709246_0_15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7" name="Google Shape;177;g3f9fc709246_0_15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f9fc709246_0_1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7" name="Google Shape;187;g3f9fc709246_0_16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8" name="Google Shape;188;g3f9fc709246_0_16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f9fc709246_0_1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6" name="Google Shape;206;g3f9fc709246_0_1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7" name="Google Shape;207;g3f9fc709246_0_1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g3f9fc709246_0_2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g3f9fc709246_0_2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0" name="Google Shape;230;g3f9fc709246_0_2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3f9fc709246_0_2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5" name="Google Shape;245;g3f9fc709246_0_21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6" name="Google Shape;246;g3f9fc709246_0_21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3f9fc709246_0_233: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61" name="Google Shape;261;g3f9fc709246_0_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3f9fc709246_0_2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6" name="Google Shape;276;g3f9fc709246_0_2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7" name="Google Shape;277;g3f9fc709246_0_2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0" name="Shape 290"/>
        <p:cNvGrpSpPr/>
        <p:nvPr/>
      </p:nvGrpSpPr>
      <p:grpSpPr>
        <a:xfrm>
          <a:off x="0" y="0"/>
          <a:ext cx="0" cy="0"/>
          <a:chOff x="0" y="0"/>
          <a:chExt cx="0" cy="0"/>
        </a:xfrm>
      </p:grpSpPr>
      <p:sp>
        <p:nvSpPr>
          <p:cNvPr id="291" name="Google Shape;291;g3f9fc709246_0_2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2" name="Google Shape;292;g3f9fc709246_0_26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3" name="Google Shape;293;g3f9fc709246_0_26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f9fc709246_0_2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8" name="Google Shape;308;g3f9fc709246_0_27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9" name="Google Shape;309;g3f9fc709246_0_27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4671"/>
        </a:solidFill>
      </p:bgPr>
    </p:bg>
    <p:spTree>
      <p:nvGrpSpPr>
        <p:cNvPr id="15" name="Shape 15"/>
        <p:cNvGrpSpPr/>
        <p:nvPr/>
      </p:nvGrpSpPr>
      <p:grpSpPr>
        <a:xfrm>
          <a:off x="0" y="0"/>
          <a:ext cx="0" cy="0"/>
          <a:chOff x="0" y="0"/>
          <a:chExt cx="0" cy="0"/>
        </a:xfrm>
      </p:grpSpPr>
      <p:sp>
        <p:nvSpPr>
          <p:cNvPr id="16" name="Google Shape;16;g3f9fc709246_0_0"/>
          <p:cNvSpPr/>
          <p:nvPr/>
        </p:nvSpPr>
        <p:spPr>
          <a:xfrm>
            <a:off x="0" y="0"/>
            <a:ext cx="12191700" cy="6858000"/>
          </a:xfrm>
          <a:prstGeom prst="rect">
            <a:avLst/>
          </a:prstGeom>
          <a:solidFill>
            <a:srgbClr val="004671"/>
          </a:solidFill>
          <a:ln cap="flat" cmpd="sng" w="12700">
            <a:solidFill>
              <a:srgbClr val="00467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g3f9fc709246_0_0"/>
          <p:cNvSpPr/>
          <p:nvPr/>
        </p:nvSpPr>
        <p:spPr>
          <a:xfrm>
            <a:off x="0" y="0"/>
            <a:ext cx="4572000" cy="6858000"/>
          </a:xfrm>
          <a:prstGeom prst="rect">
            <a:avLst/>
          </a:prstGeom>
          <a:solidFill>
            <a:srgbClr val="003A5C"/>
          </a:solidFill>
          <a:ln cap="flat" cmpd="sng" w="12700">
            <a:solidFill>
              <a:srgbClr val="003A5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 name="Google Shape;18;g3f9fc709246_0_0"/>
          <p:cNvSpPr/>
          <p:nvPr/>
        </p:nvSpPr>
        <p:spPr>
          <a:xfrm>
            <a:off x="0" y="0"/>
            <a:ext cx="12191700" cy="1188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C:\Users\landa\AppData\Local\Temp\claude\c--Users-landa--Personal--D---n-AI-Class-new\6170762a-1bf0-4689-a8af-98b9345ac979\scratchpad\pptxbuild\logo-white.png" id="19" name="Google Shape;19;g3f9fc709246_0_0"/>
          <p:cNvPicPr preferRelativeResize="0"/>
          <p:nvPr/>
        </p:nvPicPr>
        <p:blipFill rotWithShape="1">
          <a:blip r:embed="rId3">
            <a:alphaModFix/>
          </a:blip>
          <a:srcRect b="0" l="0" r="0" t="0"/>
          <a:stretch/>
        </p:blipFill>
        <p:spPr>
          <a:xfrm>
            <a:off x="685800" y="731520"/>
            <a:ext cx="1828802" cy="1554481"/>
          </a:xfrm>
          <a:prstGeom prst="rect">
            <a:avLst/>
          </a:prstGeom>
          <a:noFill/>
          <a:ln>
            <a:noFill/>
          </a:ln>
        </p:spPr>
      </p:pic>
      <p:sp>
        <p:nvSpPr>
          <p:cNvPr id="20" name="Google Shape;20;g3f9fc709246_0_0"/>
          <p:cNvSpPr/>
          <p:nvPr/>
        </p:nvSpPr>
        <p:spPr>
          <a:xfrm>
            <a:off x="731520" y="2194560"/>
            <a:ext cx="100584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D9E8A0"/>
              </a:buClr>
              <a:buSzPts val="1200"/>
              <a:buFont typeface="Arial"/>
              <a:buNone/>
            </a:pPr>
            <a:r>
              <a:rPr b="1" i="0" lang="en-US" sz="1200" u="none" cap="none" strike="noStrike">
                <a:solidFill>
                  <a:srgbClr val="D9E8A0"/>
                </a:solidFill>
                <a:latin typeface="Arial"/>
                <a:ea typeface="Arial"/>
                <a:cs typeface="Arial"/>
                <a:sym typeface="Arial"/>
              </a:rPr>
              <a:t>KHỐI SẢN PHẨM – CÔNG NGHỆ  ·  CONCEPT 1.2</a:t>
            </a:r>
            <a:endParaRPr b="0" i="0" sz="1200" u="none" cap="none" strike="noStrike">
              <a:solidFill>
                <a:schemeClr val="dk1"/>
              </a:solidFill>
              <a:latin typeface="Calibri"/>
              <a:ea typeface="Calibri"/>
              <a:cs typeface="Calibri"/>
              <a:sym typeface="Calibri"/>
            </a:endParaRPr>
          </a:p>
        </p:txBody>
      </p:sp>
      <p:sp>
        <p:nvSpPr>
          <p:cNvPr id="21" name="Google Shape;21;g3f9fc709246_0_0"/>
          <p:cNvSpPr/>
          <p:nvPr/>
        </p:nvSpPr>
        <p:spPr>
          <a:xfrm>
            <a:off x="713232" y="2606040"/>
            <a:ext cx="10789800" cy="1097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4200"/>
              <a:buFont typeface="Arial"/>
              <a:buNone/>
            </a:pPr>
            <a:r>
              <a:rPr b="1" i="0" lang="en-US" sz="4200" u="none" cap="none" strike="noStrike">
                <a:solidFill>
                  <a:srgbClr val="FFFFFF"/>
                </a:solidFill>
                <a:latin typeface="Arial"/>
                <a:ea typeface="Arial"/>
                <a:cs typeface="Arial"/>
                <a:sym typeface="Arial"/>
              </a:rPr>
              <a:t>EDUPIA AI CLASS PLUS</a:t>
            </a:r>
            <a:endParaRPr b="0" i="0" sz="4200" u="none" cap="none" strike="noStrike">
              <a:solidFill>
                <a:schemeClr val="dk1"/>
              </a:solidFill>
              <a:latin typeface="Calibri"/>
              <a:ea typeface="Calibri"/>
              <a:cs typeface="Calibri"/>
              <a:sym typeface="Calibri"/>
            </a:endParaRPr>
          </a:p>
        </p:txBody>
      </p:sp>
      <p:sp>
        <p:nvSpPr>
          <p:cNvPr id="22" name="Google Shape;22;g3f9fc709246_0_0"/>
          <p:cNvSpPr/>
          <p:nvPr/>
        </p:nvSpPr>
        <p:spPr>
          <a:xfrm>
            <a:off x="749808" y="3703320"/>
            <a:ext cx="106071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CFE0EC"/>
              </a:buClr>
              <a:buSzPts val="1500"/>
              <a:buFont typeface="Arial"/>
              <a:buNone/>
            </a:pPr>
            <a:r>
              <a:rPr b="0" i="0" lang="en-US" sz="1500" u="none" cap="none" strike="noStrike">
                <a:solidFill>
                  <a:srgbClr val="CFE0EC"/>
                </a:solidFill>
                <a:latin typeface="Arial"/>
                <a:ea typeface="Arial"/>
                <a:cs typeface="Arial"/>
                <a:sym typeface="Arial"/>
              </a:rPr>
              <a:t>Đầu tư tầng công nghệ AI — Adaptive Learning Ecosystem</a:t>
            </a:r>
            <a:endParaRPr b="0" i="0" sz="1500" u="none" cap="none" strike="noStrike">
              <a:solidFill>
                <a:schemeClr val="dk1"/>
              </a:solidFill>
              <a:latin typeface="Calibri"/>
              <a:ea typeface="Calibri"/>
              <a:cs typeface="Calibri"/>
              <a:sym typeface="Calibri"/>
            </a:endParaRPr>
          </a:p>
        </p:txBody>
      </p:sp>
      <p:sp>
        <p:nvSpPr>
          <p:cNvPr id="23" name="Google Shape;23;g3f9fc709246_0_0"/>
          <p:cNvSpPr/>
          <p:nvPr/>
        </p:nvSpPr>
        <p:spPr>
          <a:xfrm>
            <a:off x="749808" y="4114800"/>
            <a:ext cx="10607100" cy="4116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9FC4D8"/>
              </a:buClr>
              <a:buSzPts val="1100"/>
              <a:buFont typeface="Arial"/>
              <a:buNone/>
            </a:pPr>
            <a:r>
              <a:rPr b="0" i="1" lang="en-US" sz="1100" u="none" cap="none" strike="noStrike">
                <a:solidFill>
                  <a:srgbClr val="9FC4D8"/>
                </a:solidFill>
                <a:latin typeface="Arial"/>
                <a:ea typeface="Arial"/>
                <a:cs typeface="Arial"/>
                <a:sym typeface="Arial"/>
              </a:rPr>
              <a:t>Từ nghiên cứu 30+ EdTech hàng đầu thế giới</a:t>
            </a:r>
            <a:endParaRPr b="0" i="0" sz="1100" u="none" cap="none" strike="noStrike">
              <a:solidFill>
                <a:schemeClr val="dk1"/>
              </a:solidFill>
              <a:latin typeface="Calibri"/>
              <a:ea typeface="Calibri"/>
              <a:cs typeface="Calibri"/>
              <a:sym typeface="Calibri"/>
            </a:endParaRPr>
          </a:p>
        </p:txBody>
      </p:sp>
      <p:sp>
        <p:nvSpPr>
          <p:cNvPr id="24" name="Google Shape;24;g3f9fc709246_0_0"/>
          <p:cNvSpPr/>
          <p:nvPr/>
        </p:nvSpPr>
        <p:spPr>
          <a:xfrm>
            <a:off x="713232" y="5943600"/>
            <a:ext cx="2743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300"/>
              <a:buFont typeface="Arial"/>
              <a:buNone/>
            </a:pPr>
            <a:r>
              <a:rPr b="1" i="0" lang="en-US" sz="1300" u="none" cap="none" strike="noStrike">
                <a:solidFill>
                  <a:srgbClr val="FFFFFF"/>
                </a:solidFill>
                <a:latin typeface="Arial"/>
                <a:ea typeface="Arial"/>
                <a:cs typeface="Arial"/>
                <a:sym typeface="Arial"/>
              </a:rPr>
              <a:t>EDUPIA</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 name="Shape 29"/>
        <p:cNvGrpSpPr/>
        <p:nvPr/>
      </p:nvGrpSpPr>
      <p:grpSpPr>
        <a:xfrm>
          <a:off x="0" y="0"/>
          <a:ext cx="0" cy="0"/>
          <a:chOff x="0" y="0"/>
          <a:chExt cx="0" cy="0"/>
        </a:xfrm>
      </p:grpSpPr>
      <p:sp>
        <p:nvSpPr>
          <p:cNvPr id="30" name="Google Shape;30;g3f9fc709246_0_13"/>
          <p:cNvSpPr/>
          <p:nvPr/>
        </p:nvSpPr>
        <p:spPr>
          <a:xfrm>
            <a:off x="8778240" y="301752"/>
            <a:ext cx="29079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EDUPIA</a:t>
            </a:r>
            <a:endParaRPr b="0" i="0" sz="1300" u="none" cap="none" strike="noStrike">
              <a:solidFill>
                <a:schemeClr val="dk1"/>
              </a:solidFill>
              <a:latin typeface="Calibri"/>
              <a:ea typeface="Calibri"/>
              <a:cs typeface="Calibri"/>
              <a:sym typeface="Calibri"/>
            </a:endParaRPr>
          </a:p>
        </p:txBody>
      </p:sp>
      <p:sp>
        <p:nvSpPr>
          <p:cNvPr id="31" name="Google Shape;31;g3f9fc709246_0_13"/>
          <p:cNvSpPr/>
          <p:nvPr/>
        </p:nvSpPr>
        <p:spPr>
          <a:xfrm>
            <a:off x="8778240" y="576072"/>
            <a:ext cx="2907900" cy="1830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1720A"/>
              </a:buClr>
              <a:buSzPts val="750"/>
              <a:buFont typeface="Arial"/>
              <a:buNone/>
            </a:pPr>
            <a:r>
              <a:rPr b="1" i="0" lang="en-US" sz="750" u="none" cap="none" strike="noStrike">
                <a:solidFill>
                  <a:srgbClr val="51720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
        <p:nvSpPr>
          <p:cNvPr id="32" name="Google Shape;32;g3f9fc709246_0_13"/>
          <p:cNvSpPr/>
          <p:nvPr/>
        </p:nvSpPr>
        <p:spPr>
          <a:xfrm>
            <a:off x="502920" y="365760"/>
            <a:ext cx="80925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2300"/>
              <a:buFont typeface="Arial"/>
              <a:buNone/>
            </a:pPr>
            <a:r>
              <a:rPr b="1" i="0" lang="en-US" sz="2300" u="none" cap="none" strike="noStrike">
                <a:solidFill>
                  <a:srgbClr val="004671"/>
                </a:solidFill>
                <a:latin typeface="Arial"/>
                <a:ea typeface="Arial"/>
                <a:cs typeface="Arial"/>
                <a:sym typeface="Arial"/>
              </a:rPr>
              <a:t>Mục lục</a:t>
            </a:r>
            <a:endParaRPr b="0" i="0" sz="2300" u="none" cap="none" strike="noStrike">
              <a:solidFill>
                <a:schemeClr val="dk1"/>
              </a:solidFill>
              <a:latin typeface="Calibri"/>
              <a:ea typeface="Calibri"/>
              <a:cs typeface="Calibri"/>
              <a:sym typeface="Calibri"/>
            </a:endParaRPr>
          </a:p>
        </p:txBody>
      </p:sp>
      <p:cxnSp>
        <p:nvCxnSpPr>
          <p:cNvPr id="33" name="Google Shape;33;g3f9fc709246_0_13"/>
          <p:cNvCxnSpPr/>
          <p:nvPr/>
        </p:nvCxnSpPr>
        <p:spPr>
          <a:xfrm>
            <a:off x="502920" y="6437376"/>
            <a:ext cx="11185800" cy="0"/>
          </a:xfrm>
          <a:prstGeom prst="straightConnector1">
            <a:avLst/>
          </a:prstGeom>
          <a:noFill/>
          <a:ln cap="flat" cmpd="sng" w="19050">
            <a:solidFill>
              <a:srgbClr val="A5BE00"/>
            </a:solidFill>
            <a:prstDash val="solid"/>
            <a:round/>
            <a:headEnd len="sm" w="sm" type="none"/>
            <a:tailEnd len="sm" w="sm" type="none"/>
          </a:ln>
        </p:spPr>
      </p:cxnSp>
      <p:sp>
        <p:nvSpPr>
          <p:cNvPr id="34" name="Google Shape;34;g3f9fc709246_0_13"/>
          <p:cNvSpPr/>
          <p:nvPr/>
        </p:nvSpPr>
        <p:spPr>
          <a:xfrm>
            <a:off x="502920" y="6492240"/>
            <a:ext cx="7315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Edupia AI Class Plus · Concept 1.2 — Adaptive Learning</a:t>
            </a:r>
            <a:endParaRPr b="0" i="0" sz="800" u="none" cap="none" strike="noStrike">
              <a:solidFill>
                <a:schemeClr val="dk1"/>
              </a:solidFill>
              <a:latin typeface="Calibri"/>
              <a:ea typeface="Calibri"/>
              <a:cs typeface="Calibri"/>
              <a:sym typeface="Calibri"/>
            </a:endParaRPr>
          </a:p>
        </p:txBody>
      </p:sp>
      <p:sp>
        <p:nvSpPr>
          <p:cNvPr id="35" name="Google Shape;35;g3f9fc709246_0_13"/>
          <p:cNvSpPr/>
          <p:nvPr/>
        </p:nvSpPr>
        <p:spPr>
          <a:xfrm>
            <a:off x="9859975" y="6492240"/>
            <a:ext cx="1828800" cy="274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1 / 13</a:t>
            </a:r>
            <a:endParaRPr b="0" i="0" sz="800" u="none" cap="none" strike="noStrike">
              <a:solidFill>
                <a:schemeClr val="dk1"/>
              </a:solidFill>
              <a:latin typeface="Calibri"/>
              <a:ea typeface="Calibri"/>
              <a:cs typeface="Calibri"/>
              <a:sym typeface="Calibri"/>
            </a:endParaRPr>
          </a:p>
        </p:txBody>
      </p:sp>
      <p:sp>
        <p:nvSpPr>
          <p:cNvPr id="36" name="Google Shape;36;g3f9fc709246_0_13"/>
          <p:cNvSpPr/>
          <p:nvPr/>
        </p:nvSpPr>
        <p:spPr>
          <a:xfrm>
            <a:off x="502920" y="1402080"/>
            <a:ext cx="11185800" cy="841200"/>
          </a:xfrm>
          <a:prstGeom prst="rect">
            <a:avLst/>
          </a:prstGeom>
          <a:solidFill>
            <a:srgbClr val="F4F9FC"/>
          </a:solidFill>
          <a:ln cap="flat" cmpd="sng" w="12700">
            <a:solidFill>
              <a:srgbClr val="DCE8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g3f9fc709246_0_13"/>
          <p:cNvSpPr/>
          <p:nvPr/>
        </p:nvSpPr>
        <p:spPr>
          <a:xfrm>
            <a:off x="502920" y="1402080"/>
            <a:ext cx="82200" cy="8412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 name="Google Shape;38;g3f9fc709246_0_13"/>
          <p:cNvSpPr/>
          <p:nvPr/>
        </p:nvSpPr>
        <p:spPr>
          <a:xfrm>
            <a:off x="822960" y="1402080"/>
            <a:ext cx="914400" cy="841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1720A"/>
              </a:buClr>
              <a:buSzPts val="2400"/>
              <a:buFont typeface="Arial"/>
              <a:buNone/>
            </a:pPr>
            <a:r>
              <a:rPr b="1" i="0" lang="en-US" sz="2400" u="none" cap="none" strike="noStrike">
                <a:solidFill>
                  <a:srgbClr val="51720A"/>
                </a:solidFill>
                <a:latin typeface="Arial"/>
                <a:ea typeface="Arial"/>
                <a:cs typeface="Arial"/>
                <a:sym typeface="Arial"/>
              </a:rPr>
              <a:t>01</a:t>
            </a:r>
            <a:endParaRPr b="0" i="0" sz="2400" u="none" cap="none" strike="noStrike">
              <a:solidFill>
                <a:schemeClr val="dk1"/>
              </a:solidFill>
              <a:latin typeface="Calibri"/>
              <a:ea typeface="Calibri"/>
              <a:cs typeface="Calibri"/>
              <a:sym typeface="Calibri"/>
            </a:endParaRPr>
          </a:p>
        </p:txBody>
      </p:sp>
      <p:sp>
        <p:nvSpPr>
          <p:cNvPr id="39" name="Google Shape;39;g3f9fc709246_0_13"/>
          <p:cNvSpPr/>
          <p:nvPr/>
        </p:nvSpPr>
        <p:spPr>
          <a:xfrm>
            <a:off x="1920240" y="1664208"/>
            <a:ext cx="93570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4671"/>
              </a:buClr>
              <a:buSzPts val="1500"/>
              <a:buFont typeface="Arial"/>
              <a:buNone/>
            </a:pPr>
            <a:r>
              <a:rPr b="1" i="0" lang="en-US" sz="1500" u="none" cap="none" strike="noStrike">
                <a:solidFill>
                  <a:srgbClr val="004671"/>
                </a:solidFill>
                <a:latin typeface="Arial"/>
                <a:ea typeface="Arial"/>
                <a:cs typeface="Arial"/>
                <a:sym typeface="Arial"/>
              </a:rPr>
              <a:t>Bối cảnh và cơ hội thị trường</a:t>
            </a:r>
            <a:endParaRPr b="0" i="0" sz="1500" u="none" cap="none" strike="noStrike">
              <a:solidFill>
                <a:schemeClr val="dk1"/>
              </a:solidFill>
              <a:latin typeface="Calibri"/>
              <a:ea typeface="Calibri"/>
              <a:cs typeface="Calibri"/>
              <a:sym typeface="Calibri"/>
            </a:endParaRPr>
          </a:p>
        </p:txBody>
      </p:sp>
      <p:sp>
        <p:nvSpPr>
          <p:cNvPr id="40" name="Google Shape;40;g3f9fc709246_0_13"/>
          <p:cNvSpPr/>
          <p:nvPr/>
        </p:nvSpPr>
        <p:spPr>
          <a:xfrm>
            <a:off x="502920" y="2426208"/>
            <a:ext cx="11185800" cy="841200"/>
          </a:xfrm>
          <a:prstGeom prst="rect">
            <a:avLst/>
          </a:prstGeom>
          <a:solidFill>
            <a:srgbClr val="FFFFFF"/>
          </a:solidFill>
          <a:ln cap="flat" cmpd="sng" w="12700">
            <a:solidFill>
              <a:srgbClr val="DCE8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g3f9fc709246_0_13"/>
          <p:cNvSpPr/>
          <p:nvPr/>
        </p:nvSpPr>
        <p:spPr>
          <a:xfrm>
            <a:off x="502920" y="2426208"/>
            <a:ext cx="82200" cy="8412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g3f9fc709246_0_13"/>
          <p:cNvSpPr/>
          <p:nvPr/>
        </p:nvSpPr>
        <p:spPr>
          <a:xfrm>
            <a:off x="822960" y="2426208"/>
            <a:ext cx="914400" cy="841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1720A"/>
              </a:buClr>
              <a:buSzPts val="2400"/>
              <a:buFont typeface="Arial"/>
              <a:buNone/>
            </a:pPr>
            <a:r>
              <a:rPr b="1" i="0" lang="en-US" sz="2400" u="none" cap="none" strike="noStrike">
                <a:solidFill>
                  <a:srgbClr val="51720A"/>
                </a:solidFill>
                <a:latin typeface="Arial"/>
                <a:ea typeface="Arial"/>
                <a:cs typeface="Arial"/>
                <a:sym typeface="Arial"/>
              </a:rPr>
              <a:t>02</a:t>
            </a:r>
            <a:endParaRPr b="0" i="0" sz="2400" u="none" cap="none" strike="noStrike">
              <a:solidFill>
                <a:schemeClr val="dk1"/>
              </a:solidFill>
              <a:latin typeface="Calibri"/>
              <a:ea typeface="Calibri"/>
              <a:cs typeface="Calibri"/>
              <a:sym typeface="Calibri"/>
            </a:endParaRPr>
          </a:p>
        </p:txBody>
      </p:sp>
      <p:sp>
        <p:nvSpPr>
          <p:cNvPr id="43" name="Google Shape;43;g3f9fc709246_0_13"/>
          <p:cNvSpPr/>
          <p:nvPr/>
        </p:nvSpPr>
        <p:spPr>
          <a:xfrm>
            <a:off x="1920240" y="2688336"/>
            <a:ext cx="93570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4671"/>
              </a:buClr>
              <a:buSzPts val="1500"/>
              <a:buFont typeface="Arial"/>
              <a:buNone/>
            </a:pPr>
            <a:r>
              <a:rPr b="1" i="0" lang="en-US" sz="1500" u="none" cap="none" strike="noStrike">
                <a:solidFill>
                  <a:srgbClr val="004671"/>
                </a:solidFill>
                <a:latin typeface="Arial"/>
                <a:ea typeface="Arial"/>
                <a:cs typeface="Arial"/>
                <a:sym typeface="Arial"/>
              </a:rPr>
              <a:t>Khách hàng mục tiêu</a:t>
            </a:r>
            <a:endParaRPr b="0" i="0" sz="1500" u="none" cap="none" strike="noStrike">
              <a:solidFill>
                <a:schemeClr val="dk1"/>
              </a:solidFill>
              <a:latin typeface="Calibri"/>
              <a:ea typeface="Calibri"/>
              <a:cs typeface="Calibri"/>
              <a:sym typeface="Calibri"/>
            </a:endParaRPr>
          </a:p>
        </p:txBody>
      </p:sp>
      <p:sp>
        <p:nvSpPr>
          <p:cNvPr id="44" name="Google Shape;44;g3f9fc709246_0_13"/>
          <p:cNvSpPr/>
          <p:nvPr/>
        </p:nvSpPr>
        <p:spPr>
          <a:xfrm>
            <a:off x="502920" y="3450336"/>
            <a:ext cx="11185800" cy="841200"/>
          </a:xfrm>
          <a:prstGeom prst="rect">
            <a:avLst/>
          </a:prstGeom>
          <a:solidFill>
            <a:srgbClr val="F4F9FC"/>
          </a:solidFill>
          <a:ln cap="flat" cmpd="sng" w="12700">
            <a:solidFill>
              <a:srgbClr val="DCE8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g3f9fc709246_0_13"/>
          <p:cNvSpPr/>
          <p:nvPr/>
        </p:nvSpPr>
        <p:spPr>
          <a:xfrm>
            <a:off x="502920" y="3450336"/>
            <a:ext cx="82200" cy="8412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 name="Google Shape;46;g3f9fc709246_0_13"/>
          <p:cNvSpPr/>
          <p:nvPr/>
        </p:nvSpPr>
        <p:spPr>
          <a:xfrm>
            <a:off x="822960" y="3450336"/>
            <a:ext cx="914400" cy="841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1720A"/>
              </a:buClr>
              <a:buSzPts val="2400"/>
              <a:buFont typeface="Arial"/>
              <a:buNone/>
            </a:pPr>
            <a:r>
              <a:rPr b="1" i="0" lang="en-US" sz="2400" u="none" cap="none" strike="noStrike">
                <a:solidFill>
                  <a:srgbClr val="51720A"/>
                </a:solidFill>
                <a:latin typeface="Arial"/>
                <a:ea typeface="Arial"/>
                <a:cs typeface="Arial"/>
                <a:sym typeface="Arial"/>
              </a:rPr>
              <a:t>03</a:t>
            </a:r>
            <a:endParaRPr b="0" i="0" sz="2400" u="none" cap="none" strike="noStrike">
              <a:solidFill>
                <a:schemeClr val="dk1"/>
              </a:solidFill>
              <a:latin typeface="Calibri"/>
              <a:ea typeface="Calibri"/>
              <a:cs typeface="Calibri"/>
              <a:sym typeface="Calibri"/>
            </a:endParaRPr>
          </a:p>
        </p:txBody>
      </p:sp>
      <p:sp>
        <p:nvSpPr>
          <p:cNvPr id="47" name="Google Shape;47;g3f9fc709246_0_13"/>
          <p:cNvSpPr/>
          <p:nvPr/>
        </p:nvSpPr>
        <p:spPr>
          <a:xfrm>
            <a:off x="1920240" y="3712464"/>
            <a:ext cx="93570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4671"/>
              </a:buClr>
              <a:buSzPts val="1500"/>
              <a:buFont typeface="Arial"/>
              <a:buNone/>
            </a:pPr>
            <a:r>
              <a:rPr b="1" i="0" lang="en-US" sz="1500" u="none" cap="none" strike="noStrike">
                <a:solidFill>
                  <a:srgbClr val="004671"/>
                </a:solidFill>
                <a:latin typeface="Arial"/>
                <a:ea typeface="Arial"/>
                <a:cs typeface="Arial"/>
                <a:sym typeface="Arial"/>
              </a:rPr>
              <a:t>Giải pháp</a:t>
            </a:r>
            <a:endParaRPr b="0" i="0" sz="1500" u="none" cap="none" strike="noStrike">
              <a:solidFill>
                <a:schemeClr val="dk1"/>
              </a:solidFill>
              <a:latin typeface="Calibri"/>
              <a:ea typeface="Calibri"/>
              <a:cs typeface="Calibri"/>
              <a:sym typeface="Calibri"/>
            </a:endParaRPr>
          </a:p>
        </p:txBody>
      </p:sp>
      <p:sp>
        <p:nvSpPr>
          <p:cNvPr id="48" name="Google Shape;48;g3f9fc709246_0_13"/>
          <p:cNvSpPr/>
          <p:nvPr/>
        </p:nvSpPr>
        <p:spPr>
          <a:xfrm>
            <a:off x="502920" y="4474464"/>
            <a:ext cx="11185800" cy="841200"/>
          </a:xfrm>
          <a:prstGeom prst="rect">
            <a:avLst/>
          </a:prstGeom>
          <a:solidFill>
            <a:srgbClr val="FFFFFF"/>
          </a:solidFill>
          <a:ln cap="flat" cmpd="sng" w="12700">
            <a:solidFill>
              <a:srgbClr val="DCE8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 name="Google Shape;49;g3f9fc709246_0_13"/>
          <p:cNvSpPr/>
          <p:nvPr/>
        </p:nvSpPr>
        <p:spPr>
          <a:xfrm>
            <a:off x="502920" y="4474464"/>
            <a:ext cx="82200" cy="8412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 name="Google Shape;50;g3f9fc709246_0_13"/>
          <p:cNvSpPr/>
          <p:nvPr/>
        </p:nvSpPr>
        <p:spPr>
          <a:xfrm>
            <a:off x="822960" y="4474464"/>
            <a:ext cx="914400" cy="841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1720A"/>
              </a:buClr>
              <a:buSzPts val="2400"/>
              <a:buFont typeface="Arial"/>
              <a:buNone/>
            </a:pPr>
            <a:r>
              <a:rPr b="1" i="0" lang="en-US" sz="2400" u="none" cap="none" strike="noStrike">
                <a:solidFill>
                  <a:srgbClr val="51720A"/>
                </a:solidFill>
                <a:latin typeface="Arial"/>
                <a:ea typeface="Arial"/>
                <a:cs typeface="Arial"/>
                <a:sym typeface="Arial"/>
              </a:rPr>
              <a:t>04</a:t>
            </a:r>
            <a:endParaRPr b="0" i="0" sz="2400" u="none" cap="none" strike="noStrike">
              <a:solidFill>
                <a:schemeClr val="dk1"/>
              </a:solidFill>
              <a:latin typeface="Calibri"/>
              <a:ea typeface="Calibri"/>
              <a:cs typeface="Calibri"/>
              <a:sym typeface="Calibri"/>
            </a:endParaRPr>
          </a:p>
        </p:txBody>
      </p:sp>
      <p:sp>
        <p:nvSpPr>
          <p:cNvPr id="51" name="Google Shape;51;g3f9fc709246_0_13"/>
          <p:cNvSpPr/>
          <p:nvPr/>
        </p:nvSpPr>
        <p:spPr>
          <a:xfrm>
            <a:off x="1920240" y="4736592"/>
            <a:ext cx="9357000" cy="365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4671"/>
              </a:buClr>
              <a:buSzPts val="1500"/>
              <a:buFont typeface="Arial"/>
              <a:buNone/>
            </a:pPr>
            <a:r>
              <a:rPr b="1" i="0" lang="en-US" sz="1500" u="none" cap="none" strike="noStrike">
                <a:solidFill>
                  <a:srgbClr val="004671"/>
                </a:solidFill>
                <a:latin typeface="Arial"/>
                <a:ea typeface="Arial"/>
                <a:cs typeface="Arial"/>
                <a:sym typeface="Arial"/>
              </a:rPr>
              <a:t>Cấu trúc sản phẩm và mô tả tính năng</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4671"/>
        </a:solidFill>
      </p:bgPr>
    </p:bg>
    <p:spTree>
      <p:nvGrpSpPr>
        <p:cNvPr id="56" name="Shape 56"/>
        <p:cNvGrpSpPr/>
        <p:nvPr/>
      </p:nvGrpSpPr>
      <p:grpSpPr>
        <a:xfrm>
          <a:off x="0" y="0"/>
          <a:ext cx="0" cy="0"/>
          <a:chOff x="0" y="0"/>
          <a:chExt cx="0" cy="0"/>
        </a:xfrm>
      </p:grpSpPr>
      <p:sp>
        <p:nvSpPr>
          <p:cNvPr id="57" name="Google Shape;57;g3f9fc709246_0_39"/>
          <p:cNvSpPr/>
          <p:nvPr/>
        </p:nvSpPr>
        <p:spPr>
          <a:xfrm>
            <a:off x="0" y="0"/>
            <a:ext cx="4480500" cy="6858000"/>
          </a:xfrm>
          <a:prstGeom prst="rect">
            <a:avLst/>
          </a:prstGeom>
          <a:solidFill>
            <a:srgbClr val="003A5C"/>
          </a:solidFill>
          <a:ln cap="flat" cmpd="sng" w="12700">
            <a:solidFill>
              <a:srgbClr val="003A5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g3f9fc709246_0_39"/>
          <p:cNvSpPr/>
          <p:nvPr/>
        </p:nvSpPr>
        <p:spPr>
          <a:xfrm>
            <a:off x="0" y="0"/>
            <a:ext cx="12191700" cy="1188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g3f9fc709246_0_39"/>
          <p:cNvSpPr/>
          <p:nvPr/>
        </p:nvSpPr>
        <p:spPr>
          <a:xfrm>
            <a:off x="640080" y="2286000"/>
            <a:ext cx="2743200" cy="1005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A5BE00"/>
              </a:buClr>
              <a:buSzPts val="4000"/>
              <a:buFont typeface="Arial"/>
              <a:buNone/>
            </a:pPr>
            <a:r>
              <a:rPr b="1" i="0" lang="en-US" sz="4000" u="none" cap="none" strike="noStrike">
                <a:solidFill>
                  <a:srgbClr val="A5BE00"/>
                </a:solidFill>
                <a:latin typeface="Arial"/>
                <a:ea typeface="Arial"/>
                <a:cs typeface="Arial"/>
                <a:sym typeface="Arial"/>
              </a:rPr>
              <a:t>01</a:t>
            </a:r>
            <a:endParaRPr b="0" i="0" sz="4000" u="none" cap="none" strike="noStrike">
              <a:solidFill>
                <a:schemeClr val="dk1"/>
              </a:solidFill>
              <a:latin typeface="Calibri"/>
              <a:ea typeface="Calibri"/>
              <a:cs typeface="Calibri"/>
              <a:sym typeface="Calibri"/>
            </a:endParaRPr>
          </a:p>
        </p:txBody>
      </p:sp>
      <p:sp>
        <p:nvSpPr>
          <p:cNvPr id="60" name="Google Shape;60;g3f9fc709246_0_39"/>
          <p:cNvSpPr/>
          <p:nvPr/>
        </p:nvSpPr>
        <p:spPr>
          <a:xfrm>
            <a:off x="640080" y="3063240"/>
            <a:ext cx="10607100" cy="128010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3000"/>
              <a:buFont typeface="Arial"/>
              <a:buNone/>
            </a:pPr>
            <a:r>
              <a:rPr b="1" i="0" lang="en-US" sz="3000" u="none" cap="none" strike="noStrike">
                <a:solidFill>
                  <a:srgbClr val="FFFFFF"/>
                </a:solidFill>
                <a:latin typeface="Arial"/>
                <a:ea typeface="Arial"/>
                <a:cs typeface="Arial"/>
                <a:sym typeface="Arial"/>
              </a:rPr>
              <a:t>BỐI CẢNH VÀ CƠ HỘI THỊ TRƯỜNG</a:t>
            </a:r>
            <a:endParaRPr b="0" i="0" sz="3000" u="none" cap="none" strike="noStrike">
              <a:solidFill>
                <a:schemeClr val="dk1"/>
              </a:solidFill>
              <a:latin typeface="Calibri"/>
              <a:ea typeface="Calibri"/>
              <a:cs typeface="Calibri"/>
              <a:sym typeface="Calibri"/>
            </a:endParaRPr>
          </a:p>
        </p:txBody>
      </p:sp>
      <p:sp>
        <p:nvSpPr>
          <p:cNvPr id="61" name="Google Shape;61;g3f9fc709246_0_39"/>
          <p:cNvSpPr/>
          <p:nvPr/>
        </p:nvSpPr>
        <p:spPr>
          <a:xfrm>
            <a:off x="640080" y="5806440"/>
            <a:ext cx="2743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200"/>
              <a:buFont typeface="Arial"/>
              <a:buNone/>
            </a:pPr>
            <a:r>
              <a:rPr b="1" i="0" lang="en-US" sz="1200" u="none" cap="none" strike="noStrike">
                <a:solidFill>
                  <a:srgbClr val="FFFFFF"/>
                </a:solidFill>
                <a:latin typeface="Arial"/>
                <a:ea typeface="Arial"/>
                <a:cs typeface="Arial"/>
                <a:sym typeface="Arial"/>
              </a:rPr>
              <a:t>EDUPIA</a:t>
            </a:r>
            <a:endParaRPr b="0" i="0" sz="1200" u="none" cap="none" strike="noStrike">
              <a:solidFill>
                <a:schemeClr val="dk1"/>
              </a:solidFill>
              <a:latin typeface="Calibri"/>
              <a:ea typeface="Calibri"/>
              <a:cs typeface="Calibri"/>
              <a:sym typeface="Calibri"/>
            </a:endParaRPr>
          </a:p>
        </p:txBody>
      </p:sp>
      <p:sp>
        <p:nvSpPr>
          <p:cNvPr id="62" name="Google Shape;62;g3f9fc709246_0_39"/>
          <p:cNvSpPr/>
          <p:nvPr/>
        </p:nvSpPr>
        <p:spPr>
          <a:xfrm>
            <a:off x="640080" y="6089904"/>
            <a:ext cx="2743200" cy="201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C7E08A"/>
              </a:buClr>
              <a:buSzPts val="750"/>
              <a:buFont typeface="Arial"/>
              <a:buNone/>
            </a:pPr>
            <a:r>
              <a:rPr b="1" i="0" lang="en-US" sz="750" u="none" cap="none" strike="noStrike">
                <a:solidFill>
                  <a:srgbClr val="C7E08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 name="Shape 67"/>
        <p:cNvGrpSpPr/>
        <p:nvPr/>
      </p:nvGrpSpPr>
      <p:grpSpPr>
        <a:xfrm>
          <a:off x="0" y="0"/>
          <a:ext cx="0" cy="0"/>
          <a:chOff x="0" y="0"/>
          <a:chExt cx="0" cy="0"/>
        </a:xfrm>
      </p:grpSpPr>
      <p:sp>
        <p:nvSpPr>
          <p:cNvPr id="68" name="Google Shape;68;g3f9fc709246_0_49"/>
          <p:cNvSpPr/>
          <p:nvPr/>
        </p:nvSpPr>
        <p:spPr>
          <a:xfrm>
            <a:off x="8778240" y="301752"/>
            <a:ext cx="29079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EDUPIA</a:t>
            </a:r>
            <a:endParaRPr b="0" i="0" sz="1300" u="none" cap="none" strike="noStrike">
              <a:solidFill>
                <a:schemeClr val="dk1"/>
              </a:solidFill>
              <a:latin typeface="Calibri"/>
              <a:ea typeface="Calibri"/>
              <a:cs typeface="Calibri"/>
              <a:sym typeface="Calibri"/>
            </a:endParaRPr>
          </a:p>
        </p:txBody>
      </p:sp>
      <p:sp>
        <p:nvSpPr>
          <p:cNvPr id="69" name="Google Shape;69;g3f9fc709246_0_49"/>
          <p:cNvSpPr/>
          <p:nvPr/>
        </p:nvSpPr>
        <p:spPr>
          <a:xfrm>
            <a:off x="8778240" y="576072"/>
            <a:ext cx="2907900" cy="1830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1720A"/>
              </a:buClr>
              <a:buSzPts val="750"/>
              <a:buFont typeface="Arial"/>
              <a:buNone/>
            </a:pPr>
            <a:r>
              <a:rPr b="1" i="0" lang="en-US" sz="750" u="none" cap="none" strike="noStrike">
                <a:solidFill>
                  <a:srgbClr val="51720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
        <p:nvSpPr>
          <p:cNvPr id="70" name="Google Shape;70;g3f9fc709246_0_49"/>
          <p:cNvSpPr/>
          <p:nvPr/>
        </p:nvSpPr>
        <p:spPr>
          <a:xfrm>
            <a:off x="502920" y="365760"/>
            <a:ext cx="80925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2300"/>
              <a:buFont typeface="Arial"/>
              <a:buNone/>
            </a:pPr>
            <a:r>
              <a:rPr b="1" i="0" lang="en-US" sz="2300" u="none" cap="none" strike="noStrike">
                <a:solidFill>
                  <a:srgbClr val="004671"/>
                </a:solidFill>
                <a:latin typeface="Arial"/>
                <a:ea typeface="Arial"/>
                <a:cs typeface="Arial"/>
                <a:sym typeface="Arial"/>
              </a:rPr>
              <a:t>Bối cảnh: Vì sao cần Adaptive Learning</a:t>
            </a:r>
            <a:endParaRPr b="0" i="0" sz="2300" u="none" cap="none" strike="noStrike">
              <a:solidFill>
                <a:schemeClr val="dk1"/>
              </a:solidFill>
              <a:latin typeface="Calibri"/>
              <a:ea typeface="Calibri"/>
              <a:cs typeface="Calibri"/>
              <a:sym typeface="Calibri"/>
            </a:endParaRPr>
          </a:p>
        </p:txBody>
      </p:sp>
      <p:cxnSp>
        <p:nvCxnSpPr>
          <p:cNvPr id="71" name="Google Shape;71;g3f9fc709246_0_49"/>
          <p:cNvCxnSpPr/>
          <p:nvPr/>
        </p:nvCxnSpPr>
        <p:spPr>
          <a:xfrm>
            <a:off x="502920" y="6437376"/>
            <a:ext cx="11185800" cy="0"/>
          </a:xfrm>
          <a:prstGeom prst="straightConnector1">
            <a:avLst/>
          </a:prstGeom>
          <a:noFill/>
          <a:ln cap="flat" cmpd="sng" w="19050">
            <a:solidFill>
              <a:srgbClr val="A5BE00"/>
            </a:solidFill>
            <a:prstDash val="solid"/>
            <a:round/>
            <a:headEnd len="sm" w="sm" type="none"/>
            <a:tailEnd len="sm" w="sm" type="none"/>
          </a:ln>
        </p:spPr>
      </p:cxnSp>
      <p:sp>
        <p:nvSpPr>
          <p:cNvPr id="72" name="Google Shape;72;g3f9fc709246_0_49"/>
          <p:cNvSpPr/>
          <p:nvPr/>
        </p:nvSpPr>
        <p:spPr>
          <a:xfrm>
            <a:off x="502920" y="6492240"/>
            <a:ext cx="7315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Edupia AI Class Plus · Concept 1.2 — Adaptive Learning</a:t>
            </a:r>
            <a:endParaRPr b="0" i="0" sz="800" u="none" cap="none" strike="noStrike">
              <a:solidFill>
                <a:schemeClr val="dk1"/>
              </a:solidFill>
              <a:latin typeface="Calibri"/>
              <a:ea typeface="Calibri"/>
              <a:cs typeface="Calibri"/>
              <a:sym typeface="Calibri"/>
            </a:endParaRPr>
          </a:p>
        </p:txBody>
      </p:sp>
      <p:sp>
        <p:nvSpPr>
          <p:cNvPr id="73" name="Google Shape;73;g3f9fc709246_0_49"/>
          <p:cNvSpPr/>
          <p:nvPr/>
        </p:nvSpPr>
        <p:spPr>
          <a:xfrm>
            <a:off x="9859975" y="6492240"/>
            <a:ext cx="1828800" cy="274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2 / 14</a:t>
            </a:r>
            <a:endParaRPr b="0" i="0" sz="800" u="none" cap="none" strike="noStrike">
              <a:solidFill>
                <a:schemeClr val="dk1"/>
              </a:solidFill>
              <a:latin typeface="Calibri"/>
              <a:ea typeface="Calibri"/>
              <a:cs typeface="Calibri"/>
              <a:sym typeface="Calibri"/>
            </a:endParaRPr>
          </a:p>
        </p:txBody>
      </p:sp>
      <p:graphicFrame>
        <p:nvGraphicFramePr>
          <p:cNvPr id="74" name="Google Shape;74;g3f9fc709246_0_49"/>
          <p:cNvGraphicFramePr/>
          <p:nvPr/>
        </p:nvGraphicFramePr>
        <p:xfrm>
          <a:off x="502920" y="1371600"/>
          <a:ext cx="3000000" cy="3000000"/>
        </p:xfrm>
        <a:graphic>
          <a:graphicData uri="http://schemas.openxmlformats.org/drawingml/2006/table">
            <a:tbl>
              <a:tblPr>
                <a:noFill/>
                <a:tableStyleId>{D06430FF-1EA4-43DA-9281-7FA02B2C65B5}</a:tableStyleId>
              </a:tblPr>
              <a:tblGrid>
                <a:gridCol w="3355750"/>
                <a:gridCol w="7830100"/>
              </a:tblGrid>
              <a:tr h="658375">
                <a:tc>
                  <a:txBody>
                    <a:bodyPr/>
                    <a:lstStyle/>
                    <a:p>
                      <a:pPr indent="0" lvl="0" marL="0" marR="0" rtl="0" algn="l">
                        <a:lnSpc>
                          <a:spcPct val="100000"/>
                        </a:lnSpc>
                        <a:spcBef>
                          <a:spcPts val="0"/>
                        </a:spcBef>
                        <a:spcAft>
                          <a:spcPts val="0"/>
                        </a:spcAft>
                        <a:buClr>
                          <a:srgbClr val="FFFFFF"/>
                        </a:buClr>
                        <a:buSzPts val="1100"/>
                        <a:buFont typeface="Arial"/>
                        <a:buNone/>
                      </a:pPr>
                      <a:r>
                        <a:rPr b="1" lang="en-US" sz="1200" u="none" cap="none" strike="noStrike">
                          <a:solidFill>
                            <a:srgbClr val="FFFFFF"/>
                          </a:solidFill>
                          <a:latin typeface="Arial"/>
                          <a:ea typeface="Arial"/>
                          <a:cs typeface="Arial"/>
                          <a:sym typeface="Arial"/>
                        </a:rPr>
                        <a:t>Vấn đề hiện tại</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004671"/>
                    </a:solidFill>
                  </a:tcPr>
                </a:tc>
                <a:tc>
                  <a:txBody>
                    <a:bodyPr/>
                    <a:lstStyle/>
                    <a:p>
                      <a:pPr indent="0" lvl="0" marL="0" marR="0" rtl="0" algn="l">
                        <a:lnSpc>
                          <a:spcPct val="100000"/>
                        </a:lnSpc>
                        <a:spcBef>
                          <a:spcPts val="0"/>
                        </a:spcBef>
                        <a:spcAft>
                          <a:spcPts val="0"/>
                        </a:spcAft>
                        <a:buClr>
                          <a:srgbClr val="FFFFFF"/>
                        </a:buClr>
                        <a:buSzPts val="1100"/>
                        <a:buFont typeface="Arial"/>
                        <a:buNone/>
                      </a:pPr>
                      <a:r>
                        <a:rPr b="1" lang="en-US" sz="1200" u="none" cap="none" strike="noStrike">
                          <a:solidFill>
                            <a:srgbClr val="FFFFFF"/>
                          </a:solidFill>
                          <a:latin typeface="Arial"/>
                          <a:ea typeface="Arial"/>
                          <a:cs typeface="Arial"/>
                          <a:sym typeface="Arial"/>
                        </a:rPr>
                        <a:t>Diễn giải</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004671"/>
                    </a:solidFill>
                  </a:tcPr>
                </a:tc>
              </a:tr>
              <a:tr h="658375">
                <a:tc>
                  <a:txBody>
                    <a:bodyPr/>
                    <a:lstStyle/>
                    <a:p>
                      <a:pPr indent="0" lvl="0" marL="0" marR="0" rtl="0" algn="l">
                        <a:lnSpc>
                          <a:spcPct val="100000"/>
                        </a:lnSpc>
                        <a:spcBef>
                          <a:spcPts val="0"/>
                        </a:spcBef>
                        <a:spcAft>
                          <a:spcPts val="0"/>
                        </a:spcAft>
                        <a:buClr>
                          <a:srgbClr val="004671"/>
                        </a:buClr>
                        <a:buSzPts val="1050"/>
                        <a:buFont typeface="Arial"/>
                        <a:buNone/>
                      </a:pPr>
                      <a:r>
                        <a:rPr b="1" lang="en-US" sz="1200" u="none" cap="none" strike="noStrike">
                          <a:solidFill>
                            <a:srgbClr val="004671"/>
                          </a:solidFill>
                          <a:latin typeface="Arial"/>
                          <a:ea typeface="Arial"/>
                          <a:cs typeface="Arial"/>
                          <a:sym typeface="Arial"/>
                        </a:rPr>
                        <a:t>Cá nhân hoá còn hời hợt</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1050"/>
                        <a:buFont typeface="Arial"/>
                        <a:buNone/>
                      </a:pPr>
                      <a:r>
                        <a:rPr lang="en-US" sz="1200" u="none" cap="none" strike="noStrike">
                          <a:solidFill>
                            <a:srgbClr val="333333"/>
                          </a:solidFill>
                          <a:latin typeface="Arial"/>
                          <a:ea typeface="Arial"/>
                          <a:cs typeface="Arial"/>
                          <a:sym typeface="Arial"/>
                        </a:rPr>
                        <a:t>Big Class dạy đại trà; học sinh yếu ở điểm khác nhau nhưng nhận cùng nội dung, cùng tốc độ.</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r>
              <a:tr h="658375">
                <a:tc>
                  <a:txBody>
                    <a:bodyPr/>
                    <a:lstStyle/>
                    <a:p>
                      <a:pPr indent="0" lvl="0" marL="0" marR="0" rtl="0" algn="l">
                        <a:lnSpc>
                          <a:spcPct val="100000"/>
                        </a:lnSpc>
                        <a:spcBef>
                          <a:spcPts val="0"/>
                        </a:spcBef>
                        <a:spcAft>
                          <a:spcPts val="0"/>
                        </a:spcAft>
                        <a:buClr>
                          <a:srgbClr val="004671"/>
                        </a:buClr>
                        <a:buSzPts val="1050"/>
                        <a:buFont typeface="Arial"/>
                        <a:buNone/>
                      </a:pPr>
                      <a:r>
                        <a:rPr b="1" lang="en-US" sz="1200" u="none" cap="none" strike="noStrike">
                          <a:solidFill>
                            <a:srgbClr val="004671"/>
                          </a:solidFill>
                          <a:latin typeface="Arial"/>
                          <a:ea typeface="Arial"/>
                          <a:cs typeface="Arial"/>
                          <a:sym typeface="Arial"/>
                        </a:rPr>
                        <a:t>Không đo được lỗ hổng thật</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1050"/>
                        <a:buFont typeface="Arial"/>
                        <a:buNone/>
                      </a:pPr>
                      <a:r>
                        <a:rPr lang="en-US" sz="1200" u="none" cap="none" strike="noStrike">
                          <a:solidFill>
                            <a:srgbClr val="333333"/>
                          </a:solidFill>
                          <a:latin typeface="Arial"/>
                          <a:ea typeface="Arial"/>
                          <a:cs typeface="Arial"/>
                          <a:sym typeface="Arial"/>
                        </a:rPr>
                        <a:t>GV đánh giá cảm tính qua điểm tổng — không biết chính xác học sinh yếu ở đâu.</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r>
              <a:tr h="658375">
                <a:tc>
                  <a:txBody>
                    <a:bodyPr/>
                    <a:lstStyle/>
                    <a:p>
                      <a:pPr indent="0" lvl="0" marL="0" marR="0" rtl="0" algn="l">
                        <a:lnSpc>
                          <a:spcPct val="100000"/>
                        </a:lnSpc>
                        <a:spcBef>
                          <a:spcPts val="0"/>
                        </a:spcBef>
                        <a:spcAft>
                          <a:spcPts val="0"/>
                        </a:spcAft>
                        <a:buClr>
                          <a:srgbClr val="004671"/>
                        </a:buClr>
                        <a:buSzPts val="1050"/>
                        <a:buFont typeface="Arial"/>
                        <a:buNone/>
                      </a:pPr>
                      <a:r>
                        <a:rPr b="1" lang="en-US" sz="1200" u="none" cap="none" strike="noStrike">
                          <a:solidFill>
                            <a:srgbClr val="004671"/>
                          </a:solidFill>
                          <a:latin typeface="Arial"/>
                          <a:ea typeface="Arial"/>
                          <a:cs typeface="Arial"/>
                          <a:sym typeface="Arial"/>
                        </a:rPr>
                        <a:t>TLGH phụ thuộc niềm tin</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1050"/>
                        <a:buFont typeface="Arial"/>
                        <a:buNone/>
                      </a:pPr>
                      <a:r>
                        <a:rPr lang="en-US" sz="1200" u="none" cap="none" strike="noStrike">
                          <a:solidFill>
                            <a:srgbClr val="333333"/>
                          </a:solidFill>
                          <a:latin typeface="Arial"/>
                          <a:ea typeface="Arial"/>
                          <a:cs typeface="Arial"/>
                          <a:sym typeface="Arial"/>
                        </a:rPr>
                        <a:t>Phụ huynh cần bằng chứng tiến bộ cụ thể, đo lường được để gia hạn.</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r>
              <a:tr h="658375">
                <a:tc>
                  <a:txBody>
                    <a:bodyPr/>
                    <a:lstStyle/>
                    <a:p>
                      <a:pPr indent="0" lvl="0" marL="0" marR="0" rtl="0" algn="l">
                        <a:lnSpc>
                          <a:spcPct val="100000"/>
                        </a:lnSpc>
                        <a:spcBef>
                          <a:spcPts val="0"/>
                        </a:spcBef>
                        <a:spcAft>
                          <a:spcPts val="0"/>
                        </a:spcAft>
                        <a:buClr>
                          <a:srgbClr val="004671"/>
                        </a:buClr>
                        <a:buSzPts val="1050"/>
                        <a:buFont typeface="Arial"/>
                        <a:buNone/>
                      </a:pPr>
                      <a:r>
                        <a:rPr b="1" lang="en-US" sz="1200" u="none" cap="none" strike="noStrike">
                          <a:solidFill>
                            <a:srgbClr val="004671"/>
                          </a:solidFill>
                          <a:latin typeface="Arial"/>
                          <a:ea typeface="Arial"/>
                          <a:cs typeface="Arial"/>
                          <a:sym typeface="Arial"/>
                        </a:rPr>
                        <a:t>Đối thủ toàn cầu đã đi trước</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1050"/>
                        <a:buFont typeface="Arial"/>
                        <a:buNone/>
                      </a:pPr>
                      <a:r>
                        <a:rPr lang="en-US" sz="1200" u="none" cap="none" strike="noStrike">
                          <a:solidFill>
                            <a:srgbClr val="333333"/>
                          </a:solidFill>
                          <a:latin typeface="Arial"/>
                          <a:ea typeface="Arial"/>
                          <a:cs typeface="Arial"/>
                          <a:sym typeface="Arial"/>
                        </a:rPr>
                        <a:t>Squirrel AI, Riiid, atama+, Alef Education đã chứng minh mô hình chẩn đoán chi tiết hiệu quả.</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r>
            </a:tbl>
          </a:graphicData>
        </a:graphic>
      </p:graphicFrame>
      <p:sp>
        <p:nvSpPr>
          <p:cNvPr id="75" name="Google Shape;75;g3f9fc709246_0_49"/>
          <p:cNvSpPr/>
          <p:nvPr/>
        </p:nvSpPr>
        <p:spPr>
          <a:xfrm>
            <a:off x="502920" y="4983480"/>
            <a:ext cx="11185800" cy="1005900"/>
          </a:xfrm>
          <a:prstGeom prst="rect">
            <a:avLst/>
          </a:prstGeom>
          <a:solidFill>
            <a:srgbClr val="F1F5DE"/>
          </a:solidFill>
          <a:ln cap="flat" cmpd="sng" w="12700">
            <a:solidFill>
              <a:srgbClr val="F1F5D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g3f9fc709246_0_49"/>
          <p:cNvSpPr/>
          <p:nvPr/>
        </p:nvSpPr>
        <p:spPr>
          <a:xfrm>
            <a:off x="502920" y="4983480"/>
            <a:ext cx="82200" cy="10059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g3f9fc709246_0_49"/>
          <p:cNvSpPr/>
          <p:nvPr/>
        </p:nvSpPr>
        <p:spPr>
          <a:xfrm>
            <a:off x="777240" y="5056632"/>
            <a:ext cx="10683000" cy="859500"/>
          </a:xfrm>
          <a:prstGeom prst="rect">
            <a:avLst/>
          </a:prstGeom>
          <a:noFill/>
          <a:ln>
            <a:noFill/>
          </a:ln>
        </p:spPr>
        <p:txBody>
          <a:bodyPr anchorCtr="0" anchor="ctr" bIns="45700" lIns="91425" spcFirstLastPara="1" rIns="91425" wrap="square" tIns="45700">
            <a:noAutofit/>
          </a:bodyPr>
          <a:lstStyle/>
          <a:p>
            <a:pPr indent="0" lvl="0" marL="0" marR="0" rtl="0" algn="l">
              <a:lnSpc>
                <a:spcPct val="110000"/>
              </a:lnSpc>
              <a:spcBef>
                <a:spcPts val="0"/>
              </a:spcBef>
              <a:spcAft>
                <a:spcPts val="0"/>
              </a:spcAft>
              <a:buClr>
                <a:srgbClr val="004671"/>
              </a:buClr>
              <a:buSzPts val="1200"/>
              <a:buFont typeface="Arial"/>
              <a:buNone/>
            </a:pPr>
            <a:r>
              <a:rPr b="1" i="0" lang="en-US" sz="1200" u="none" cap="none" strike="noStrike">
                <a:solidFill>
                  <a:srgbClr val="004671"/>
                </a:solidFill>
                <a:latin typeface="Arial"/>
                <a:ea typeface="Arial"/>
                <a:cs typeface="Arial"/>
                <a:sym typeface="Arial"/>
              </a:rPr>
              <a:t>Cơ hội cho Edupia AI Class Plus: đầu tư tầng AI để lấp đúng khoảng trống "cá nhân hoá + giá đại trà (~390–400k)" — chưa đối thủ VN nào đứng ở đó.</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4671"/>
        </a:solidFill>
      </p:bgPr>
    </p:bg>
    <p:spTree>
      <p:nvGrpSpPr>
        <p:cNvPr id="82" name="Shape 82"/>
        <p:cNvGrpSpPr/>
        <p:nvPr/>
      </p:nvGrpSpPr>
      <p:grpSpPr>
        <a:xfrm>
          <a:off x="0" y="0"/>
          <a:ext cx="0" cy="0"/>
          <a:chOff x="0" y="0"/>
          <a:chExt cx="0" cy="0"/>
        </a:xfrm>
      </p:grpSpPr>
      <p:sp>
        <p:nvSpPr>
          <p:cNvPr id="83" name="Google Shape;83;g3f9fc709246_0_63"/>
          <p:cNvSpPr/>
          <p:nvPr/>
        </p:nvSpPr>
        <p:spPr>
          <a:xfrm>
            <a:off x="0" y="0"/>
            <a:ext cx="4480500" cy="6858000"/>
          </a:xfrm>
          <a:prstGeom prst="rect">
            <a:avLst/>
          </a:prstGeom>
          <a:solidFill>
            <a:srgbClr val="003A5C"/>
          </a:solidFill>
          <a:ln cap="flat" cmpd="sng" w="12700">
            <a:solidFill>
              <a:srgbClr val="003A5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 name="Google Shape;84;g3f9fc709246_0_63"/>
          <p:cNvSpPr/>
          <p:nvPr/>
        </p:nvSpPr>
        <p:spPr>
          <a:xfrm>
            <a:off x="0" y="0"/>
            <a:ext cx="12191700" cy="1188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g3f9fc709246_0_63"/>
          <p:cNvSpPr/>
          <p:nvPr/>
        </p:nvSpPr>
        <p:spPr>
          <a:xfrm>
            <a:off x="640080" y="2286000"/>
            <a:ext cx="2743200" cy="1005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A5BE00"/>
              </a:buClr>
              <a:buSzPts val="4000"/>
              <a:buFont typeface="Arial"/>
              <a:buNone/>
            </a:pPr>
            <a:r>
              <a:rPr b="1" i="0" lang="en-US" sz="4000" u="none" cap="none" strike="noStrike">
                <a:solidFill>
                  <a:srgbClr val="A5BE00"/>
                </a:solidFill>
                <a:latin typeface="Arial"/>
                <a:ea typeface="Arial"/>
                <a:cs typeface="Arial"/>
                <a:sym typeface="Arial"/>
              </a:rPr>
              <a:t>02</a:t>
            </a:r>
            <a:endParaRPr b="0" i="0" sz="4000" u="none" cap="none" strike="noStrike">
              <a:solidFill>
                <a:schemeClr val="dk1"/>
              </a:solidFill>
              <a:latin typeface="Calibri"/>
              <a:ea typeface="Calibri"/>
              <a:cs typeface="Calibri"/>
              <a:sym typeface="Calibri"/>
            </a:endParaRPr>
          </a:p>
        </p:txBody>
      </p:sp>
      <p:sp>
        <p:nvSpPr>
          <p:cNvPr id="86" name="Google Shape;86;g3f9fc709246_0_63"/>
          <p:cNvSpPr/>
          <p:nvPr/>
        </p:nvSpPr>
        <p:spPr>
          <a:xfrm>
            <a:off x="640080" y="3063240"/>
            <a:ext cx="10607100" cy="128010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3000"/>
              <a:buFont typeface="Arial"/>
              <a:buNone/>
            </a:pPr>
            <a:r>
              <a:rPr b="1" i="0" lang="en-US" sz="3000" u="none" cap="none" strike="noStrike">
                <a:solidFill>
                  <a:srgbClr val="FFFFFF"/>
                </a:solidFill>
                <a:latin typeface="Arial"/>
                <a:ea typeface="Arial"/>
                <a:cs typeface="Arial"/>
                <a:sym typeface="Arial"/>
              </a:rPr>
              <a:t>KHÁCH HÀNG MỤC TIÊU</a:t>
            </a:r>
            <a:endParaRPr b="0" i="0" sz="3000" u="none" cap="none" strike="noStrike">
              <a:solidFill>
                <a:schemeClr val="dk1"/>
              </a:solidFill>
              <a:latin typeface="Calibri"/>
              <a:ea typeface="Calibri"/>
              <a:cs typeface="Calibri"/>
              <a:sym typeface="Calibri"/>
            </a:endParaRPr>
          </a:p>
        </p:txBody>
      </p:sp>
      <p:sp>
        <p:nvSpPr>
          <p:cNvPr id="87" name="Google Shape;87;g3f9fc709246_0_63"/>
          <p:cNvSpPr/>
          <p:nvPr/>
        </p:nvSpPr>
        <p:spPr>
          <a:xfrm>
            <a:off x="640080" y="5806440"/>
            <a:ext cx="2743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200"/>
              <a:buFont typeface="Arial"/>
              <a:buNone/>
            </a:pPr>
            <a:r>
              <a:rPr b="1" i="0" lang="en-US" sz="1200" u="none" cap="none" strike="noStrike">
                <a:solidFill>
                  <a:srgbClr val="FFFFFF"/>
                </a:solidFill>
                <a:latin typeface="Arial"/>
                <a:ea typeface="Arial"/>
                <a:cs typeface="Arial"/>
                <a:sym typeface="Arial"/>
              </a:rPr>
              <a:t>EDUPIA</a:t>
            </a:r>
            <a:endParaRPr b="0" i="0" sz="1200" u="none" cap="none" strike="noStrike">
              <a:solidFill>
                <a:schemeClr val="dk1"/>
              </a:solidFill>
              <a:latin typeface="Calibri"/>
              <a:ea typeface="Calibri"/>
              <a:cs typeface="Calibri"/>
              <a:sym typeface="Calibri"/>
            </a:endParaRPr>
          </a:p>
        </p:txBody>
      </p:sp>
      <p:sp>
        <p:nvSpPr>
          <p:cNvPr id="88" name="Google Shape;88;g3f9fc709246_0_63"/>
          <p:cNvSpPr/>
          <p:nvPr/>
        </p:nvSpPr>
        <p:spPr>
          <a:xfrm>
            <a:off x="640080" y="6089904"/>
            <a:ext cx="2743200" cy="201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C7E08A"/>
              </a:buClr>
              <a:buSzPts val="750"/>
              <a:buFont typeface="Arial"/>
              <a:buNone/>
            </a:pPr>
            <a:r>
              <a:rPr b="1" i="0" lang="en-US" sz="750" u="none" cap="none" strike="noStrike">
                <a:solidFill>
                  <a:srgbClr val="C7E08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3" name="Shape 93"/>
        <p:cNvGrpSpPr/>
        <p:nvPr/>
      </p:nvGrpSpPr>
      <p:grpSpPr>
        <a:xfrm>
          <a:off x="0" y="0"/>
          <a:ext cx="0" cy="0"/>
          <a:chOff x="0" y="0"/>
          <a:chExt cx="0" cy="0"/>
        </a:xfrm>
      </p:grpSpPr>
      <p:sp>
        <p:nvSpPr>
          <p:cNvPr id="94" name="Google Shape;94;g3f9fc709246_0_73"/>
          <p:cNvSpPr/>
          <p:nvPr/>
        </p:nvSpPr>
        <p:spPr>
          <a:xfrm>
            <a:off x="8778240" y="301752"/>
            <a:ext cx="29079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EDUPIA</a:t>
            </a:r>
            <a:endParaRPr b="0" i="0" sz="1300" u="none" cap="none" strike="noStrike">
              <a:solidFill>
                <a:schemeClr val="dk1"/>
              </a:solidFill>
              <a:latin typeface="Calibri"/>
              <a:ea typeface="Calibri"/>
              <a:cs typeface="Calibri"/>
              <a:sym typeface="Calibri"/>
            </a:endParaRPr>
          </a:p>
        </p:txBody>
      </p:sp>
      <p:sp>
        <p:nvSpPr>
          <p:cNvPr id="95" name="Google Shape;95;g3f9fc709246_0_73"/>
          <p:cNvSpPr/>
          <p:nvPr/>
        </p:nvSpPr>
        <p:spPr>
          <a:xfrm>
            <a:off x="8778240" y="576072"/>
            <a:ext cx="2907900" cy="1830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1720A"/>
              </a:buClr>
              <a:buSzPts val="750"/>
              <a:buFont typeface="Arial"/>
              <a:buNone/>
            </a:pPr>
            <a:r>
              <a:rPr b="1" i="0" lang="en-US" sz="750" u="none" cap="none" strike="noStrike">
                <a:solidFill>
                  <a:srgbClr val="51720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
        <p:nvSpPr>
          <p:cNvPr id="96" name="Google Shape;96;g3f9fc709246_0_73"/>
          <p:cNvSpPr/>
          <p:nvPr/>
        </p:nvSpPr>
        <p:spPr>
          <a:xfrm>
            <a:off x="502920" y="365760"/>
            <a:ext cx="80925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2000"/>
              <a:buFont typeface="Arial"/>
              <a:buNone/>
            </a:pPr>
            <a:r>
              <a:rPr b="1" i="0" lang="en-US" sz="2000" u="none" cap="none" strike="noStrike">
                <a:solidFill>
                  <a:srgbClr val="004671"/>
                </a:solidFill>
                <a:latin typeface="Arial"/>
                <a:ea typeface="Arial"/>
                <a:cs typeface="Arial"/>
                <a:sym typeface="Arial"/>
              </a:rPr>
              <a:t>Chân dung khách hàng mục tiêu</a:t>
            </a:r>
            <a:endParaRPr b="0" i="0" sz="2000" u="none" cap="none" strike="noStrike">
              <a:solidFill>
                <a:schemeClr val="dk1"/>
              </a:solidFill>
              <a:latin typeface="Calibri"/>
              <a:ea typeface="Calibri"/>
              <a:cs typeface="Calibri"/>
              <a:sym typeface="Calibri"/>
            </a:endParaRPr>
          </a:p>
        </p:txBody>
      </p:sp>
      <p:cxnSp>
        <p:nvCxnSpPr>
          <p:cNvPr id="97" name="Google Shape;97;g3f9fc709246_0_73"/>
          <p:cNvCxnSpPr/>
          <p:nvPr/>
        </p:nvCxnSpPr>
        <p:spPr>
          <a:xfrm>
            <a:off x="502920" y="6437376"/>
            <a:ext cx="11185800" cy="0"/>
          </a:xfrm>
          <a:prstGeom prst="straightConnector1">
            <a:avLst/>
          </a:prstGeom>
          <a:noFill/>
          <a:ln cap="flat" cmpd="sng" w="19050">
            <a:solidFill>
              <a:srgbClr val="A5BE00"/>
            </a:solidFill>
            <a:prstDash val="solid"/>
            <a:round/>
            <a:headEnd len="sm" w="sm" type="none"/>
            <a:tailEnd len="sm" w="sm" type="none"/>
          </a:ln>
        </p:spPr>
      </p:cxnSp>
      <p:sp>
        <p:nvSpPr>
          <p:cNvPr id="98" name="Google Shape;98;g3f9fc709246_0_73"/>
          <p:cNvSpPr/>
          <p:nvPr/>
        </p:nvSpPr>
        <p:spPr>
          <a:xfrm>
            <a:off x="502920" y="6492240"/>
            <a:ext cx="7315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Edupia AI Class Plus · Concept 1.2 — Adaptive Learning</a:t>
            </a:r>
            <a:endParaRPr b="0" i="0" sz="800" u="none" cap="none" strike="noStrike">
              <a:solidFill>
                <a:schemeClr val="dk1"/>
              </a:solidFill>
              <a:latin typeface="Calibri"/>
              <a:ea typeface="Calibri"/>
              <a:cs typeface="Calibri"/>
              <a:sym typeface="Calibri"/>
            </a:endParaRPr>
          </a:p>
        </p:txBody>
      </p:sp>
      <p:sp>
        <p:nvSpPr>
          <p:cNvPr id="99" name="Google Shape;99;g3f9fc709246_0_73"/>
          <p:cNvSpPr/>
          <p:nvPr/>
        </p:nvSpPr>
        <p:spPr>
          <a:xfrm>
            <a:off x="9859975" y="6492240"/>
            <a:ext cx="1828800" cy="274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3 / 14</a:t>
            </a:r>
            <a:endParaRPr b="0" i="0" sz="800" u="none" cap="none" strike="noStrike">
              <a:solidFill>
                <a:schemeClr val="dk1"/>
              </a:solidFill>
              <a:latin typeface="Calibri"/>
              <a:ea typeface="Calibri"/>
              <a:cs typeface="Calibri"/>
              <a:sym typeface="Calibri"/>
            </a:endParaRPr>
          </a:p>
        </p:txBody>
      </p:sp>
      <p:graphicFrame>
        <p:nvGraphicFramePr>
          <p:cNvPr id="100" name="Google Shape;100;g3f9fc709246_0_73"/>
          <p:cNvGraphicFramePr/>
          <p:nvPr/>
        </p:nvGraphicFramePr>
        <p:xfrm>
          <a:off x="502920" y="1463040"/>
          <a:ext cx="3000000" cy="3000000"/>
        </p:xfrm>
        <a:graphic>
          <a:graphicData uri="http://schemas.openxmlformats.org/drawingml/2006/table">
            <a:tbl>
              <a:tblPr>
                <a:noFill/>
                <a:tableStyleId>{D06430FF-1EA4-43DA-9281-7FA02B2C65B5}</a:tableStyleId>
              </a:tblPr>
              <a:tblGrid>
                <a:gridCol w="2460900"/>
                <a:gridCol w="8724975"/>
              </a:tblGrid>
              <a:tr h="365750">
                <a:tc>
                  <a:txBody>
                    <a:bodyPr/>
                    <a:lstStyle/>
                    <a:p>
                      <a:pPr indent="0" lvl="0" marL="0" marR="0" rtl="0" algn="l">
                        <a:lnSpc>
                          <a:spcPct val="100000"/>
                        </a:lnSpc>
                        <a:spcBef>
                          <a:spcPts val="0"/>
                        </a:spcBef>
                        <a:spcAft>
                          <a:spcPts val="0"/>
                        </a:spcAft>
                        <a:buClr>
                          <a:srgbClr val="FFFFFF"/>
                        </a:buClr>
                        <a:buSzPts val="1100"/>
                        <a:buFont typeface="Arial"/>
                        <a:buNone/>
                      </a:pPr>
                      <a:r>
                        <a:rPr b="1" lang="en-US" sz="1200" u="none" cap="none" strike="noStrike">
                          <a:solidFill>
                            <a:srgbClr val="FFFFFF"/>
                          </a:solidFill>
                          <a:latin typeface="Arial"/>
                          <a:ea typeface="Arial"/>
                          <a:cs typeface="Arial"/>
                          <a:sym typeface="Arial"/>
                        </a:rPr>
                        <a:t>Chiều</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004671"/>
                    </a:solidFill>
                  </a:tcPr>
                </a:tc>
                <a:tc>
                  <a:txBody>
                    <a:bodyPr/>
                    <a:lstStyle/>
                    <a:p>
                      <a:pPr indent="0" lvl="0" marL="0" marR="0" rtl="0" algn="l">
                        <a:lnSpc>
                          <a:spcPct val="100000"/>
                        </a:lnSpc>
                        <a:spcBef>
                          <a:spcPts val="0"/>
                        </a:spcBef>
                        <a:spcAft>
                          <a:spcPts val="0"/>
                        </a:spcAft>
                        <a:buClr>
                          <a:srgbClr val="FFFFFF"/>
                        </a:buClr>
                        <a:buSzPts val="1100"/>
                        <a:buFont typeface="Arial"/>
                        <a:buNone/>
                      </a:pPr>
                      <a:r>
                        <a:rPr b="1" lang="en-US" sz="1200" u="none" cap="none" strike="noStrike">
                          <a:solidFill>
                            <a:srgbClr val="FFFFFF"/>
                          </a:solidFill>
                          <a:latin typeface="Arial"/>
                          <a:ea typeface="Arial"/>
                          <a:cs typeface="Arial"/>
                          <a:sym typeface="Arial"/>
                        </a:rPr>
                        <a:t>Nội dung</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004671"/>
                    </a:solidFill>
                  </a:tcPr>
                </a:tc>
              </a:tr>
              <a:tr h="365750">
                <a:tc>
                  <a:txBody>
                    <a:bodyPr/>
                    <a:lstStyle/>
                    <a:p>
                      <a:pPr indent="0" lvl="0" marL="0" marR="0" rtl="0" algn="l">
                        <a:lnSpc>
                          <a:spcPct val="100000"/>
                        </a:lnSpc>
                        <a:spcBef>
                          <a:spcPts val="0"/>
                        </a:spcBef>
                        <a:spcAft>
                          <a:spcPts val="0"/>
                        </a:spcAft>
                        <a:buClr>
                          <a:srgbClr val="004671"/>
                        </a:buClr>
                        <a:buSzPts val="950"/>
                        <a:buFont typeface="Arial"/>
                        <a:buNone/>
                      </a:pPr>
                      <a:r>
                        <a:rPr b="1" lang="en-US" sz="1200" u="none" cap="none" strike="noStrike">
                          <a:solidFill>
                            <a:srgbClr val="004671"/>
                          </a:solidFill>
                          <a:latin typeface="Arial"/>
                          <a:ea typeface="Arial"/>
                          <a:cs typeface="Arial"/>
                          <a:sym typeface="Arial"/>
                        </a:rPr>
                        <a:t>Ai ra quyết định</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950"/>
                        <a:buFont typeface="Arial"/>
                        <a:buNone/>
                      </a:pPr>
                      <a:r>
                        <a:rPr lang="en-US" sz="1200" u="none" cap="none" strike="noStrike">
                          <a:solidFill>
                            <a:srgbClr val="333333"/>
                          </a:solidFill>
                          <a:latin typeface="Arial"/>
                          <a:ea typeface="Arial"/>
                          <a:cs typeface="Arial"/>
                          <a:sym typeface="Arial"/>
                        </a:rPr>
                        <a:t>Mẹ, 30–45 tuổi, có con lớp 1–</a:t>
                      </a:r>
                      <a:r>
                        <a:rPr lang="en-US" sz="1200" u="none" cap="none" strike="noStrike">
                          <a:solidFill>
                            <a:srgbClr val="333333"/>
                          </a:solidFill>
                        </a:rPr>
                        <a:t>8</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004671"/>
                        </a:buClr>
                        <a:buSzPts val="950"/>
                        <a:buFont typeface="Arial"/>
                        <a:buNone/>
                      </a:pPr>
                      <a:r>
                        <a:rPr b="1" lang="en-US" sz="1200" u="none" cap="none" strike="noStrike">
                          <a:solidFill>
                            <a:srgbClr val="004671"/>
                          </a:solidFill>
                          <a:latin typeface="Arial"/>
                          <a:ea typeface="Arial"/>
                          <a:cs typeface="Arial"/>
                          <a:sym typeface="Arial"/>
                        </a:rPr>
                        <a:t>Vị trí</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950"/>
                        <a:buFont typeface="Arial"/>
                        <a:buNone/>
                      </a:pPr>
                      <a:r>
                        <a:rPr lang="en-US" sz="1200" u="none" cap="none" strike="noStrike">
                          <a:solidFill>
                            <a:srgbClr val="333333"/>
                          </a:solidFill>
                          <a:latin typeface="Arial"/>
                          <a:ea typeface="Arial"/>
                          <a:cs typeface="Arial"/>
                          <a:sym typeface="Arial"/>
                        </a:rPr>
                        <a:t>Thành phố tỉnh, thị xã, nông thôn</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r>
              <a:tr h="365750">
                <a:tc>
                  <a:txBody>
                    <a:bodyPr/>
                    <a:lstStyle/>
                    <a:p>
                      <a:pPr indent="0" lvl="0" marL="0" marR="0" rtl="0" algn="l">
                        <a:lnSpc>
                          <a:spcPct val="100000"/>
                        </a:lnSpc>
                        <a:spcBef>
                          <a:spcPts val="0"/>
                        </a:spcBef>
                        <a:spcAft>
                          <a:spcPts val="0"/>
                        </a:spcAft>
                        <a:buClr>
                          <a:srgbClr val="004671"/>
                        </a:buClr>
                        <a:buSzPts val="950"/>
                        <a:buFont typeface="Arial"/>
                        <a:buNone/>
                      </a:pPr>
                      <a:r>
                        <a:rPr b="1" lang="en-US" sz="1200" u="none" cap="none" strike="noStrike">
                          <a:solidFill>
                            <a:srgbClr val="004671"/>
                          </a:solidFill>
                          <a:latin typeface="Arial"/>
                          <a:ea typeface="Arial"/>
                          <a:cs typeface="Arial"/>
                          <a:sym typeface="Arial"/>
                        </a:rPr>
                        <a:t>Nghề nghiệp</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950"/>
                        <a:buFont typeface="Arial"/>
                        <a:buNone/>
                      </a:pPr>
                      <a:r>
                        <a:rPr lang="en-US" sz="1200" u="none" cap="none" strike="noStrike">
                          <a:solidFill>
                            <a:srgbClr val="333333"/>
                          </a:solidFill>
                          <a:latin typeface="Arial"/>
                          <a:ea typeface="Arial"/>
                          <a:cs typeface="Arial"/>
                          <a:sym typeface="Arial"/>
                        </a:rPr>
                        <a:t>Văn phòng, kinh doanh nhỏ, lao động phổ thông — làm toàn thời gian (&gt;8h/ngày)</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004671"/>
                        </a:buClr>
                        <a:buSzPts val="950"/>
                        <a:buFont typeface="Arial"/>
                        <a:buNone/>
                      </a:pPr>
                      <a:r>
                        <a:rPr b="1" lang="en-US" sz="1200" u="none" cap="none" strike="noStrike">
                          <a:solidFill>
                            <a:srgbClr val="004671"/>
                          </a:solidFill>
                          <a:latin typeface="Arial"/>
                          <a:ea typeface="Arial"/>
                          <a:cs typeface="Arial"/>
                          <a:sym typeface="Arial"/>
                        </a:rPr>
                        <a:t>Thu nhập hộ</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950"/>
                        <a:buFont typeface="Arial"/>
                        <a:buNone/>
                      </a:pPr>
                      <a:r>
                        <a:rPr lang="en-US" sz="1200" u="none" cap="none" strike="noStrike">
                          <a:solidFill>
                            <a:srgbClr val="333333"/>
                          </a:solidFill>
                          <a:latin typeface="Arial"/>
                          <a:ea typeface="Arial"/>
                          <a:cs typeface="Arial"/>
                          <a:sym typeface="Arial"/>
                        </a:rPr>
                        <a:t>1</a:t>
                      </a:r>
                      <a:r>
                        <a:rPr lang="en-US" sz="1200" u="none" cap="none" strike="noStrike">
                          <a:solidFill>
                            <a:srgbClr val="333333"/>
                          </a:solidFill>
                        </a:rPr>
                        <a:t>5</a:t>
                      </a:r>
                      <a:r>
                        <a:rPr lang="en-US" sz="1200" u="none" cap="none" strike="noStrike">
                          <a:solidFill>
                            <a:srgbClr val="333333"/>
                          </a:solidFill>
                          <a:latin typeface="Arial"/>
                          <a:ea typeface="Arial"/>
                          <a:cs typeface="Arial"/>
                          <a:sym typeface="Arial"/>
                        </a:rPr>
                        <a:t>–</a:t>
                      </a:r>
                      <a:r>
                        <a:rPr lang="en-US" sz="1200" u="none" cap="none" strike="noStrike">
                          <a:solidFill>
                            <a:srgbClr val="333333"/>
                          </a:solidFill>
                        </a:rPr>
                        <a:t>3</a:t>
                      </a:r>
                      <a:r>
                        <a:rPr lang="en-US" sz="1200" u="none" cap="none" strike="noStrike">
                          <a:solidFill>
                            <a:srgbClr val="333333"/>
                          </a:solidFill>
                          <a:latin typeface="Arial"/>
                          <a:ea typeface="Arial"/>
                          <a:cs typeface="Arial"/>
                          <a:sym typeface="Arial"/>
                        </a:rPr>
                        <a:t>0 triệu/tháng (phân khúc "Good") </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r>
              <a:tr h="365750">
                <a:tc>
                  <a:txBody>
                    <a:bodyPr/>
                    <a:lstStyle/>
                    <a:p>
                      <a:pPr indent="0" lvl="0" marL="0" marR="0" rtl="0" algn="l">
                        <a:lnSpc>
                          <a:spcPct val="100000"/>
                        </a:lnSpc>
                        <a:spcBef>
                          <a:spcPts val="0"/>
                        </a:spcBef>
                        <a:spcAft>
                          <a:spcPts val="0"/>
                        </a:spcAft>
                        <a:buClr>
                          <a:srgbClr val="004671"/>
                        </a:buClr>
                        <a:buSzPts val="950"/>
                        <a:buFont typeface="Arial"/>
                        <a:buNone/>
                      </a:pPr>
                      <a:r>
                        <a:rPr b="1" lang="en-US" sz="1200" u="none" cap="none" strike="noStrike">
                          <a:solidFill>
                            <a:srgbClr val="004671"/>
                          </a:solidFill>
                          <a:latin typeface="Arial"/>
                          <a:ea typeface="Arial"/>
                          <a:cs typeface="Arial"/>
                          <a:sym typeface="Arial"/>
                        </a:rPr>
                        <a:t>Trình độ tiếng Anh</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950"/>
                        <a:buFont typeface="Arial"/>
                        <a:buNone/>
                      </a:pPr>
                      <a:r>
                        <a:rPr lang="en-US" sz="1200" u="none" cap="none" strike="noStrike">
                          <a:solidFill>
                            <a:srgbClr val="333333"/>
                          </a:solidFill>
                          <a:latin typeface="Arial"/>
                          <a:ea typeface="Arial"/>
                          <a:cs typeface="Arial"/>
                          <a:sym typeface="Arial"/>
                        </a:rPr>
                        <a:t>Đa số không biết tiếng Anh — không tự kèm con được</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004671"/>
                        </a:buClr>
                        <a:buSzPts val="950"/>
                        <a:buFont typeface="Arial"/>
                        <a:buNone/>
                      </a:pPr>
                      <a:r>
                        <a:rPr b="1" lang="en-US" sz="1200" u="none" cap="none" strike="noStrike">
                          <a:solidFill>
                            <a:srgbClr val="004671"/>
                          </a:solidFill>
                          <a:latin typeface="Arial"/>
                          <a:ea typeface="Arial"/>
                          <a:cs typeface="Arial"/>
                          <a:sym typeface="Arial"/>
                        </a:rPr>
                        <a:t>Bối cảnh</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950"/>
                        <a:buFont typeface="Arial"/>
                        <a:buNone/>
                      </a:pPr>
                      <a:r>
                        <a:rPr lang="en-US" sz="1200" u="none" cap="none" strike="noStrike">
                          <a:solidFill>
                            <a:srgbClr val="333333"/>
                          </a:solidFill>
                          <a:latin typeface="Arial"/>
                          <a:ea typeface="Arial"/>
                          <a:cs typeface="Arial"/>
                          <a:sym typeface="Arial"/>
                        </a:rPr>
                        <a:t>Con học TA ở trường; ~50% từng/đang học thêm nhà GV; đã thử vài sản phẩm TA online</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r>
            </a:tbl>
          </a:graphicData>
        </a:graphic>
      </p:graphicFrame>
      <p:sp>
        <p:nvSpPr>
          <p:cNvPr id="101" name="Google Shape;101;g3f9fc709246_0_73"/>
          <p:cNvSpPr/>
          <p:nvPr/>
        </p:nvSpPr>
        <p:spPr>
          <a:xfrm>
            <a:off x="502920" y="4343400"/>
            <a:ext cx="111858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10000"/>
              </a:lnSpc>
              <a:spcBef>
                <a:spcPts val="0"/>
              </a:spcBef>
              <a:spcAft>
                <a:spcPts val="0"/>
              </a:spcAft>
              <a:buClr>
                <a:srgbClr val="004671"/>
              </a:buClr>
              <a:buSzPts val="1000"/>
              <a:buFont typeface="Arial"/>
              <a:buNone/>
            </a:pPr>
            <a:r>
              <a:rPr b="1" i="0" lang="en-US" sz="1200" u="none" cap="none" strike="noStrike">
                <a:solidFill>
                  <a:srgbClr val="004671"/>
                </a:solidFill>
                <a:latin typeface="Arial"/>
                <a:ea typeface="Arial"/>
                <a:cs typeface="Arial"/>
                <a:sym typeface="Arial"/>
              </a:rPr>
              <a:t>Trigger tìm giải pháp: </a:t>
            </a:r>
            <a:r>
              <a:rPr b="0" i="0" lang="en-US" sz="1200" u="none" cap="none" strike="noStrike">
                <a:solidFill>
                  <a:srgbClr val="333333"/>
                </a:solidFill>
                <a:latin typeface="Arial"/>
                <a:ea typeface="Arial"/>
                <a:cs typeface="Arial"/>
                <a:sym typeface="Arial"/>
              </a:rPr>
              <a:t>họp phụ huynh thấy con điểm kém · thấy "con nhà người ta" nói TA trôi chảy · thấy con nhà người ta học chỗ khác hiệu quả.</a:t>
            </a:r>
            <a:endParaRPr b="0" i="0" sz="1200" u="none" cap="none" strike="noStrike">
              <a:solidFill>
                <a:schemeClr val="dk1"/>
              </a:solidFill>
              <a:latin typeface="Calibri"/>
              <a:ea typeface="Calibri"/>
              <a:cs typeface="Calibri"/>
              <a:sym typeface="Calibri"/>
            </a:endParaRPr>
          </a:p>
        </p:txBody>
      </p:sp>
      <p:sp>
        <p:nvSpPr>
          <p:cNvPr id="102" name="Google Shape;102;g3f9fc709246_0_73"/>
          <p:cNvSpPr/>
          <p:nvPr/>
        </p:nvSpPr>
        <p:spPr>
          <a:xfrm>
            <a:off x="502920" y="4892040"/>
            <a:ext cx="11185800" cy="868800"/>
          </a:xfrm>
          <a:prstGeom prst="rect">
            <a:avLst/>
          </a:prstGeom>
          <a:noFill/>
          <a:ln>
            <a:noFill/>
          </a:ln>
        </p:spPr>
        <p:txBody>
          <a:bodyPr anchorCtr="0" anchor="ctr" bIns="45700" lIns="91425" spcFirstLastPara="1" rIns="91425" wrap="square" tIns="45700">
            <a:noAutofit/>
          </a:bodyPr>
          <a:lstStyle/>
          <a:p>
            <a:pPr indent="0" lvl="0" marL="0" marR="0" rtl="0" algn="l">
              <a:lnSpc>
                <a:spcPct val="110000"/>
              </a:lnSpc>
              <a:spcBef>
                <a:spcPts val="0"/>
              </a:spcBef>
              <a:spcAft>
                <a:spcPts val="0"/>
              </a:spcAft>
              <a:buClr>
                <a:srgbClr val="004671"/>
              </a:buClr>
              <a:buSzPts val="1000"/>
              <a:buFont typeface="Arial"/>
              <a:buNone/>
            </a:pPr>
            <a:r>
              <a:rPr b="1" i="0" lang="en-US" sz="1200" u="none" cap="none" strike="noStrike">
                <a:solidFill>
                  <a:srgbClr val="004671"/>
                </a:solidFill>
                <a:latin typeface="Arial"/>
                <a:ea typeface="Arial"/>
                <a:cs typeface="Arial"/>
                <a:sym typeface="Arial"/>
              </a:rPr>
              <a:t>Tiếng nói của khách hàng: </a:t>
            </a:r>
            <a:endParaRPr b="0" i="1" sz="1200" u="none" cap="none" strike="noStrike">
              <a:solidFill>
                <a:srgbClr val="3B81B1"/>
              </a:solidFill>
              <a:latin typeface="Arial"/>
              <a:ea typeface="Arial"/>
              <a:cs typeface="Arial"/>
              <a:sym typeface="Arial"/>
            </a:endParaRPr>
          </a:p>
          <a:p>
            <a:pPr indent="0" lvl="0" marL="0" marR="0" rtl="0" algn="l">
              <a:lnSpc>
                <a:spcPct val="115000"/>
              </a:lnSpc>
              <a:spcBef>
                <a:spcPts val="0"/>
              </a:spcBef>
              <a:spcAft>
                <a:spcPts val="0"/>
              </a:spcAft>
              <a:buClr>
                <a:srgbClr val="3B81B1"/>
              </a:buClr>
              <a:buSzPts val="950"/>
              <a:buFont typeface="Arial"/>
              <a:buNone/>
            </a:pPr>
            <a:r>
              <a:rPr b="0" i="1" lang="en-US" sz="1200" u="none" cap="none" strike="noStrike">
                <a:solidFill>
                  <a:srgbClr val="3B81B1"/>
                </a:solidFill>
                <a:latin typeface="Arial"/>
                <a:ea typeface="Arial"/>
                <a:cs typeface="Arial"/>
                <a:sym typeface="Arial"/>
              </a:rPr>
              <a:t>"Dù khó khăn, tôi cố gắng để đầu tư vào học tập cho con"  ,  "Tôi sợ mình không có điều kiện nên không thể lo cho con được học bằng bạn bằng bè" ,  "Tôi muốn đầu tư cho con học tiếng Anh để đời con không khổ như bố mẹ"</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 name="Shape 107"/>
        <p:cNvGrpSpPr/>
        <p:nvPr/>
      </p:nvGrpSpPr>
      <p:grpSpPr>
        <a:xfrm>
          <a:off x="0" y="0"/>
          <a:ext cx="0" cy="0"/>
          <a:chOff x="0" y="0"/>
          <a:chExt cx="0" cy="0"/>
        </a:xfrm>
      </p:grpSpPr>
      <p:sp>
        <p:nvSpPr>
          <p:cNvPr id="108" name="Google Shape;108;g3f9fc709246_0_86"/>
          <p:cNvSpPr/>
          <p:nvPr/>
        </p:nvSpPr>
        <p:spPr>
          <a:xfrm>
            <a:off x="8778240" y="301752"/>
            <a:ext cx="29079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EDUPIA</a:t>
            </a:r>
            <a:endParaRPr b="0" i="0" sz="1300" u="none" cap="none" strike="noStrike">
              <a:solidFill>
                <a:schemeClr val="dk1"/>
              </a:solidFill>
              <a:latin typeface="Calibri"/>
              <a:ea typeface="Calibri"/>
              <a:cs typeface="Calibri"/>
              <a:sym typeface="Calibri"/>
            </a:endParaRPr>
          </a:p>
        </p:txBody>
      </p:sp>
      <p:sp>
        <p:nvSpPr>
          <p:cNvPr id="109" name="Google Shape;109;g3f9fc709246_0_86"/>
          <p:cNvSpPr/>
          <p:nvPr/>
        </p:nvSpPr>
        <p:spPr>
          <a:xfrm>
            <a:off x="8778240" y="576072"/>
            <a:ext cx="2907900" cy="1830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1720A"/>
              </a:buClr>
              <a:buSzPts val="750"/>
              <a:buFont typeface="Arial"/>
              <a:buNone/>
            </a:pPr>
            <a:r>
              <a:rPr b="1" i="0" lang="en-US" sz="750" u="none" cap="none" strike="noStrike">
                <a:solidFill>
                  <a:srgbClr val="51720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
        <p:nvSpPr>
          <p:cNvPr id="110" name="Google Shape;110;g3f9fc709246_0_86"/>
          <p:cNvSpPr/>
          <p:nvPr/>
        </p:nvSpPr>
        <p:spPr>
          <a:xfrm>
            <a:off x="502925" y="365754"/>
            <a:ext cx="8092500" cy="4875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2000"/>
              <a:buFont typeface="Arial"/>
              <a:buNone/>
            </a:pPr>
            <a:r>
              <a:rPr b="1" i="0" lang="en-US" sz="2000" u="none" cap="none" strike="noStrike">
                <a:solidFill>
                  <a:srgbClr val="004671"/>
                </a:solidFill>
                <a:latin typeface="Arial"/>
                <a:ea typeface="Arial"/>
                <a:cs typeface="Arial"/>
                <a:sym typeface="Arial"/>
              </a:rPr>
              <a:t>Pain point &amp; JTBD</a:t>
            </a:r>
            <a:endParaRPr b="0" i="0" sz="2000" u="none" cap="none" strike="noStrike">
              <a:solidFill>
                <a:schemeClr val="dk1"/>
              </a:solidFill>
              <a:latin typeface="Calibri"/>
              <a:ea typeface="Calibri"/>
              <a:cs typeface="Calibri"/>
              <a:sym typeface="Calibri"/>
            </a:endParaRPr>
          </a:p>
        </p:txBody>
      </p:sp>
      <p:cxnSp>
        <p:nvCxnSpPr>
          <p:cNvPr id="111" name="Google Shape;111;g3f9fc709246_0_86"/>
          <p:cNvCxnSpPr/>
          <p:nvPr/>
        </p:nvCxnSpPr>
        <p:spPr>
          <a:xfrm>
            <a:off x="502920" y="6437376"/>
            <a:ext cx="11185800" cy="0"/>
          </a:xfrm>
          <a:prstGeom prst="straightConnector1">
            <a:avLst/>
          </a:prstGeom>
          <a:noFill/>
          <a:ln cap="flat" cmpd="sng" w="19050">
            <a:solidFill>
              <a:srgbClr val="A5BE00"/>
            </a:solidFill>
            <a:prstDash val="solid"/>
            <a:round/>
            <a:headEnd len="sm" w="sm" type="none"/>
            <a:tailEnd len="sm" w="sm" type="none"/>
          </a:ln>
        </p:spPr>
      </p:cxnSp>
      <p:sp>
        <p:nvSpPr>
          <p:cNvPr id="112" name="Google Shape;112;g3f9fc709246_0_86"/>
          <p:cNvSpPr/>
          <p:nvPr/>
        </p:nvSpPr>
        <p:spPr>
          <a:xfrm>
            <a:off x="502920" y="6492240"/>
            <a:ext cx="7315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Edupia AI Class Plus · Concept 1.2 — Adaptive Learning</a:t>
            </a:r>
            <a:endParaRPr b="0" i="0" sz="800" u="none" cap="none" strike="noStrike">
              <a:solidFill>
                <a:schemeClr val="dk1"/>
              </a:solidFill>
              <a:latin typeface="Calibri"/>
              <a:ea typeface="Calibri"/>
              <a:cs typeface="Calibri"/>
              <a:sym typeface="Calibri"/>
            </a:endParaRPr>
          </a:p>
        </p:txBody>
      </p:sp>
      <p:sp>
        <p:nvSpPr>
          <p:cNvPr id="113" name="Google Shape;113;g3f9fc709246_0_86"/>
          <p:cNvSpPr/>
          <p:nvPr/>
        </p:nvSpPr>
        <p:spPr>
          <a:xfrm>
            <a:off x="9859975" y="6492240"/>
            <a:ext cx="1828800" cy="274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4 / 14</a:t>
            </a:r>
            <a:endParaRPr b="0" i="0" sz="800" u="none" cap="none" strike="noStrike">
              <a:solidFill>
                <a:schemeClr val="dk1"/>
              </a:solidFill>
              <a:latin typeface="Calibri"/>
              <a:ea typeface="Calibri"/>
              <a:cs typeface="Calibri"/>
              <a:sym typeface="Calibri"/>
            </a:endParaRPr>
          </a:p>
        </p:txBody>
      </p:sp>
      <p:sp>
        <p:nvSpPr>
          <p:cNvPr id="114" name="Google Shape;114;g3f9fc709246_0_86"/>
          <p:cNvSpPr/>
          <p:nvPr/>
        </p:nvSpPr>
        <p:spPr>
          <a:xfrm>
            <a:off x="622155" y="995717"/>
            <a:ext cx="4876500" cy="3108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4671"/>
              </a:buClr>
              <a:buSzPts val="1250"/>
              <a:buFont typeface="Noto Sans"/>
              <a:buNone/>
            </a:pPr>
            <a:r>
              <a:rPr b="1" i="0" lang="en-US" sz="1250" u="none" cap="none" strike="noStrike">
                <a:solidFill>
                  <a:srgbClr val="004671"/>
                </a:solidFill>
                <a:latin typeface="Noto Sans"/>
                <a:ea typeface="Noto Sans"/>
                <a:cs typeface="Noto Sans"/>
                <a:sym typeface="Noto Sans"/>
              </a:rPr>
              <a:t>Các JTBD của khách hàng</a:t>
            </a:r>
            <a:endParaRPr b="0" i="0" sz="1250" u="none" cap="none" strike="noStrike">
              <a:solidFill>
                <a:srgbClr val="000000"/>
              </a:solidFill>
              <a:latin typeface="Calibri"/>
              <a:ea typeface="Calibri"/>
              <a:cs typeface="Calibri"/>
              <a:sym typeface="Calibri"/>
            </a:endParaRPr>
          </a:p>
        </p:txBody>
      </p:sp>
      <p:sp>
        <p:nvSpPr>
          <p:cNvPr id="115" name="Google Shape;115;g3f9fc709246_0_86"/>
          <p:cNvSpPr/>
          <p:nvPr/>
        </p:nvSpPr>
        <p:spPr>
          <a:xfrm>
            <a:off x="622155" y="1306613"/>
            <a:ext cx="4876500" cy="255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B6472"/>
              </a:buClr>
              <a:buSzPts val="800"/>
              <a:buFont typeface="Noto Sans"/>
              <a:buNone/>
            </a:pPr>
            <a:r>
              <a:rPr b="0" i="1" lang="en-US" sz="1000" u="none" cap="none" strike="noStrike">
                <a:solidFill>
                  <a:srgbClr val="5B6472"/>
                </a:solidFill>
                <a:latin typeface="Noto Sans"/>
                <a:ea typeface="Noto Sans"/>
                <a:cs typeface="Noto Sans"/>
                <a:sym typeface="Noto Sans"/>
              </a:rPr>
              <a:t>Số trong ngoặc = % khách hàng có mong muốn này (theo kết quả khảo sát)</a:t>
            </a:r>
            <a:endParaRPr b="0" i="0" sz="1000" u="none" cap="none" strike="noStrike">
              <a:solidFill>
                <a:srgbClr val="000000"/>
              </a:solidFill>
              <a:latin typeface="Calibri"/>
              <a:ea typeface="Calibri"/>
              <a:cs typeface="Calibri"/>
              <a:sym typeface="Calibri"/>
            </a:endParaRPr>
          </a:p>
        </p:txBody>
      </p:sp>
      <p:sp>
        <p:nvSpPr>
          <p:cNvPr id="116" name="Google Shape;116;g3f9fc709246_0_86"/>
          <p:cNvSpPr/>
          <p:nvPr/>
        </p:nvSpPr>
        <p:spPr>
          <a:xfrm>
            <a:off x="622155" y="1608365"/>
            <a:ext cx="48765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22333F"/>
              </a:buClr>
              <a:buSzPts val="1000"/>
              <a:buFont typeface="Noto Sans"/>
              <a:buNone/>
            </a:pPr>
            <a:r>
              <a:rPr b="0" i="0" lang="en-US" sz="1000" u="none" cap="none" strike="noStrike">
                <a:solidFill>
                  <a:srgbClr val="22333F"/>
                </a:solidFill>
                <a:latin typeface="Noto Sans"/>
                <a:ea typeface="Noto Sans"/>
                <a:cs typeface="Noto Sans"/>
                <a:sym typeface="Noto Sans"/>
              </a:rPr>
              <a:t>Muốn con học giỏi tiếng Anh</a:t>
            </a:r>
            <a:endParaRPr b="0" i="0" sz="1000" u="none" cap="none" strike="noStrike">
              <a:solidFill>
                <a:srgbClr val="000000"/>
              </a:solidFill>
              <a:latin typeface="Calibri"/>
              <a:ea typeface="Calibri"/>
              <a:cs typeface="Calibri"/>
              <a:sym typeface="Calibri"/>
            </a:endParaRPr>
          </a:p>
        </p:txBody>
      </p:sp>
      <p:sp>
        <p:nvSpPr>
          <p:cNvPr id="117" name="Google Shape;117;g3f9fc709246_0_86"/>
          <p:cNvSpPr/>
          <p:nvPr/>
        </p:nvSpPr>
        <p:spPr>
          <a:xfrm>
            <a:off x="622155" y="1919261"/>
            <a:ext cx="4190700" cy="164700"/>
          </a:xfrm>
          <a:prstGeom prst="rect">
            <a:avLst/>
          </a:prstGeom>
          <a:solidFill>
            <a:srgbClr val="DC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g3f9fc709246_0_86"/>
          <p:cNvSpPr/>
          <p:nvPr/>
        </p:nvSpPr>
        <p:spPr>
          <a:xfrm>
            <a:off x="622155" y="1919261"/>
            <a:ext cx="3771600" cy="164700"/>
          </a:xfrm>
          <a:prstGeom prst="rect">
            <a:avLst/>
          </a:prstGeom>
          <a:solidFill>
            <a:srgbClr val="00467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 name="Google Shape;119;g3f9fc709246_0_86"/>
          <p:cNvSpPr/>
          <p:nvPr/>
        </p:nvSpPr>
        <p:spPr>
          <a:xfrm>
            <a:off x="4886002" y="1882685"/>
            <a:ext cx="594300" cy="255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4671"/>
              </a:buClr>
              <a:buSzPts val="1000"/>
              <a:buFont typeface="Noto Sans"/>
              <a:buNone/>
            </a:pPr>
            <a:r>
              <a:rPr b="1" i="0" lang="en-US" sz="1000" u="none" cap="none" strike="noStrike">
                <a:solidFill>
                  <a:srgbClr val="004671"/>
                </a:solidFill>
                <a:latin typeface="Noto Sans"/>
                <a:ea typeface="Noto Sans"/>
                <a:cs typeface="Noto Sans"/>
                <a:sym typeface="Noto Sans"/>
              </a:rPr>
              <a:t>90%</a:t>
            </a:r>
            <a:endParaRPr b="0" i="0" sz="1000" u="none" cap="none" strike="noStrike">
              <a:solidFill>
                <a:srgbClr val="000000"/>
              </a:solidFill>
              <a:latin typeface="Calibri"/>
              <a:ea typeface="Calibri"/>
              <a:cs typeface="Calibri"/>
              <a:sym typeface="Calibri"/>
            </a:endParaRPr>
          </a:p>
        </p:txBody>
      </p:sp>
      <p:sp>
        <p:nvSpPr>
          <p:cNvPr id="120" name="Google Shape;120;g3f9fc709246_0_86"/>
          <p:cNvSpPr/>
          <p:nvPr/>
        </p:nvSpPr>
        <p:spPr>
          <a:xfrm>
            <a:off x="622155" y="2449613"/>
            <a:ext cx="48765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22333F"/>
              </a:buClr>
              <a:buSzPts val="1000"/>
              <a:buFont typeface="Noto Sans"/>
              <a:buNone/>
            </a:pPr>
            <a:r>
              <a:rPr b="0" i="0" lang="en-US" sz="1000" u="none" cap="none" strike="noStrike">
                <a:solidFill>
                  <a:srgbClr val="22333F"/>
                </a:solidFill>
                <a:latin typeface="Noto Sans"/>
                <a:ea typeface="Noto Sans"/>
                <a:cs typeface="Noto Sans"/>
                <a:sym typeface="Noto Sans"/>
              </a:rPr>
              <a:t>Muốn con học với Giáo viên giỏi</a:t>
            </a:r>
            <a:endParaRPr b="0" i="0" sz="1000" u="none" cap="none" strike="noStrike">
              <a:solidFill>
                <a:srgbClr val="000000"/>
              </a:solidFill>
              <a:latin typeface="Calibri"/>
              <a:ea typeface="Calibri"/>
              <a:cs typeface="Calibri"/>
              <a:sym typeface="Calibri"/>
            </a:endParaRPr>
          </a:p>
        </p:txBody>
      </p:sp>
      <p:sp>
        <p:nvSpPr>
          <p:cNvPr id="121" name="Google Shape;121;g3f9fc709246_0_86"/>
          <p:cNvSpPr/>
          <p:nvPr/>
        </p:nvSpPr>
        <p:spPr>
          <a:xfrm>
            <a:off x="622155" y="2760509"/>
            <a:ext cx="4190700" cy="164700"/>
          </a:xfrm>
          <a:prstGeom prst="rect">
            <a:avLst/>
          </a:prstGeom>
          <a:solidFill>
            <a:srgbClr val="DC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 name="Google Shape;122;g3f9fc709246_0_86"/>
          <p:cNvSpPr/>
          <p:nvPr/>
        </p:nvSpPr>
        <p:spPr>
          <a:xfrm>
            <a:off x="622155" y="2760509"/>
            <a:ext cx="3352500" cy="164700"/>
          </a:xfrm>
          <a:prstGeom prst="rect">
            <a:avLst/>
          </a:prstGeom>
          <a:solidFill>
            <a:srgbClr val="00467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 name="Google Shape;123;g3f9fc709246_0_86"/>
          <p:cNvSpPr/>
          <p:nvPr/>
        </p:nvSpPr>
        <p:spPr>
          <a:xfrm>
            <a:off x="4886002" y="2723933"/>
            <a:ext cx="594300" cy="255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4671"/>
              </a:buClr>
              <a:buSzPts val="1000"/>
              <a:buFont typeface="Noto Sans"/>
              <a:buNone/>
            </a:pPr>
            <a:r>
              <a:rPr b="1" i="0" lang="en-US" sz="1000" u="none" cap="none" strike="noStrike">
                <a:solidFill>
                  <a:srgbClr val="004671"/>
                </a:solidFill>
                <a:latin typeface="Noto Sans"/>
                <a:ea typeface="Noto Sans"/>
                <a:cs typeface="Noto Sans"/>
                <a:sym typeface="Noto Sans"/>
              </a:rPr>
              <a:t>80%</a:t>
            </a:r>
            <a:endParaRPr b="0" i="0" sz="1000" u="none" cap="none" strike="noStrike">
              <a:solidFill>
                <a:srgbClr val="000000"/>
              </a:solidFill>
              <a:latin typeface="Calibri"/>
              <a:ea typeface="Calibri"/>
              <a:cs typeface="Calibri"/>
              <a:sym typeface="Calibri"/>
            </a:endParaRPr>
          </a:p>
        </p:txBody>
      </p:sp>
      <p:sp>
        <p:nvSpPr>
          <p:cNvPr id="124" name="Google Shape;124;g3f9fc709246_0_86"/>
          <p:cNvSpPr/>
          <p:nvPr/>
        </p:nvSpPr>
        <p:spPr>
          <a:xfrm>
            <a:off x="622155" y="3290861"/>
            <a:ext cx="48765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22333F"/>
              </a:buClr>
              <a:buSzPts val="1000"/>
              <a:buFont typeface="Noto Sans"/>
              <a:buNone/>
            </a:pPr>
            <a:r>
              <a:rPr b="0" i="0" lang="en-US" sz="1000" u="none" cap="none" strike="noStrike">
                <a:solidFill>
                  <a:srgbClr val="22333F"/>
                </a:solidFill>
                <a:latin typeface="Noto Sans"/>
                <a:ea typeface="Noto Sans"/>
                <a:cs typeface="Noto Sans"/>
                <a:sym typeface="Noto Sans"/>
              </a:rPr>
              <a:t>Muốn con thích học, tự giác học</a:t>
            </a:r>
            <a:endParaRPr b="0" i="0" sz="1000" u="none" cap="none" strike="noStrike">
              <a:solidFill>
                <a:srgbClr val="000000"/>
              </a:solidFill>
              <a:latin typeface="Calibri"/>
              <a:ea typeface="Calibri"/>
              <a:cs typeface="Calibri"/>
              <a:sym typeface="Calibri"/>
            </a:endParaRPr>
          </a:p>
        </p:txBody>
      </p:sp>
      <p:sp>
        <p:nvSpPr>
          <p:cNvPr id="125" name="Google Shape;125;g3f9fc709246_0_86"/>
          <p:cNvSpPr/>
          <p:nvPr/>
        </p:nvSpPr>
        <p:spPr>
          <a:xfrm>
            <a:off x="622155" y="3601757"/>
            <a:ext cx="4190700" cy="164700"/>
          </a:xfrm>
          <a:prstGeom prst="rect">
            <a:avLst/>
          </a:prstGeom>
          <a:solidFill>
            <a:srgbClr val="DC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 name="Google Shape;126;g3f9fc709246_0_86"/>
          <p:cNvSpPr/>
          <p:nvPr/>
        </p:nvSpPr>
        <p:spPr>
          <a:xfrm>
            <a:off x="622155" y="3601757"/>
            <a:ext cx="2933400" cy="164700"/>
          </a:xfrm>
          <a:prstGeom prst="rect">
            <a:avLst/>
          </a:prstGeom>
          <a:solidFill>
            <a:srgbClr val="3B81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 name="Google Shape;127;g3f9fc709246_0_86"/>
          <p:cNvSpPr/>
          <p:nvPr/>
        </p:nvSpPr>
        <p:spPr>
          <a:xfrm>
            <a:off x="4886002" y="3565181"/>
            <a:ext cx="594300" cy="255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4671"/>
              </a:buClr>
              <a:buSzPts val="1000"/>
              <a:buFont typeface="Noto Sans"/>
              <a:buNone/>
            </a:pPr>
            <a:r>
              <a:rPr b="1" i="0" lang="en-US" sz="1000" u="none" cap="none" strike="noStrike">
                <a:solidFill>
                  <a:srgbClr val="004671"/>
                </a:solidFill>
                <a:latin typeface="Noto Sans"/>
                <a:ea typeface="Noto Sans"/>
                <a:cs typeface="Noto Sans"/>
                <a:sym typeface="Noto Sans"/>
              </a:rPr>
              <a:t>70%</a:t>
            </a:r>
            <a:endParaRPr b="0" i="0" sz="1000" u="none" cap="none" strike="noStrike">
              <a:solidFill>
                <a:srgbClr val="000000"/>
              </a:solidFill>
              <a:latin typeface="Calibri"/>
              <a:ea typeface="Calibri"/>
              <a:cs typeface="Calibri"/>
              <a:sym typeface="Calibri"/>
            </a:endParaRPr>
          </a:p>
        </p:txBody>
      </p:sp>
      <p:sp>
        <p:nvSpPr>
          <p:cNvPr id="128" name="Google Shape;128;g3f9fc709246_0_86"/>
          <p:cNvSpPr/>
          <p:nvPr/>
        </p:nvSpPr>
        <p:spPr>
          <a:xfrm>
            <a:off x="622155" y="4132109"/>
            <a:ext cx="48765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22333F"/>
              </a:buClr>
              <a:buSzPts val="1000"/>
              <a:buFont typeface="Noto Sans"/>
              <a:buNone/>
            </a:pPr>
            <a:r>
              <a:rPr b="0" i="0" lang="en-US" sz="1000" u="none" cap="none" strike="noStrike">
                <a:solidFill>
                  <a:srgbClr val="22333F"/>
                </a:solidFill>
                <a:latin typeface="Noto Sans"/>
                <a:ea typeface="Noto Sans"/>
                <a:cs typeface="Noto Sans"/>
                <a:sym typeface="Noto Sans"/>
              </a:rPr>
              <a:t>Muốn yên tâm giao phó con</a:t>
            </a:r>
            <a:endParaRPr b="0" i="0" sz="1000" u="none" cap="none" strike="noStrike">
              <a:solidFill>
                <a:srgbClr val="000000"/>
              </a:solidFill>
              <a:latin typeface="Calibri"/>
              <a:ea typeface="Calibri"/>
              <a:cs typeface="Calibri"/>
              <a:sym typeface="Calibri"/>
            </a:endParaRPr>
          </a:p>
        </p:txBody>
      </p:sp>
      <p:sp>
        <p:nvSpPr>
          <p:cNvPr id="129" name="Google Shape;129;g3f9fc709246_0_86"/>
          <p:cNvSpPr/>
          <p:nvPr/>
        </p:nvSpPr>
        <p:spPr>
          <a:xfrm>
            <a:off x="622155" y="4443005"/>
            <a:ext cx="4190700" cy="164700"/>
          </a:xfrm>
          <a:prstGeom prst="rect">
            <a:avLst/>
          </a:prstGeom>
          <a:solidFill>
            <a:srgbClr val="DC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 name="Google Shape;130;g3f9fc709246_0_86"/>
          <p:cNvSpPr/>
          <p:nvPr/>
        </p:nvSpPr>
        <p:spPr>
          <a:xfrm>
            <a:off x="622155" y="4443005"/>
            <a:ext cx="2514300" cy="164700"/>
          </a:xfrm>
          <a:prstGeom prst="rect">
            <a:avLst/>
          </a:prstGeom>
          <a:solidFill>
            <a:srgbClr val="3B81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 name="Google Shape;131;g3f9fc709246_0_86"/>
          <p:cNvSpPr/>
          <p:nvPr/>
        </p:nvSpPr>
        <p:spPr>
          <a:xfrm>
            <a:off x="4886002" y="4406429"/>
            <a:ext cx="594300" cy="255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4671"/>
              </a:buClr>
              <a:buSzPts val="1000"/>
              <a:buFont typeface="Noto Sans"/>
              <a:buNone/>
            </a:pPr>
            <a:r>
              <a:rPr b="1" i="0" lang="en-US" sz="1000" u="none" cap="none" strike="noStrike">
                <a:solidFill>
                  <a:srgbClr val="004671"/>
                </a:solidFill>
                <a:latin typeface="Noto Sans"/>
                <a:ea typeface="Noto Sans"/>
                <a:cs typeface="Noto Sans"/>
                <a:sym typeface="Noto Sans"/>
              </a:rPr>
              <a:t>60%</a:t>
            </a:r>
            <a:endParaRPr b="0" i="0" sz="1000" u="none" cap="none" strike="noStrike">
              <a:solidFill>
                <a:srgbClr val="000000"/>
              </a:solidFill>
              <a:latin typeface="Calibri"/>
              <a:ea typeface="Calibri"/>
              <a:cs typeface="Calibri"/>
              <a:sym typeface="Calibri"/>
            </a:endParaRPr>
          </a:p>
        </p:txBody>
      </p:sp>
      <p:sp>
        <p:nvSpPr>
          <p:cNvPr id="132" name="Google Shape;132;g3f9fc709246_0_86"/>
          <p:cNvSpPr/>
          <p:nvPr/>
        </p:nvSpPr>
        <p:spPr>
          <a:xfrm>
            <a:off x="622155" y="4973357"/>
            <a:ext cx="48765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22333F"/>
              </a:buClr>
              <a:buSzPts val="1000"/>
              <a:buFont typeface="Noto Sans"/>
              <a:buNone/>
            </a:pPr>
            <a:r>
              <a:rPr b="0" i="0" lang="en-US" sz="1000" u="none" cap="none" strike="noStrike">
                <a:solidFill>
                  <a:srgbClr val="22333F"/>
                </a:solidFill>
                <a:latin typeface="Noto Sans"/>
                <a:ea typeface="Noto Sans"/>
                <a:cs typeface="Noto Sans"/>
                <a:sym typeface="Noto Sans"/>
              </a:rPr>
              <a:t>Muốn con tự tin giao tiếp</a:t>
            </a:r>
            <a:endParaRPr b="0" i="0" sz="1000" u="none" cap="none" strike="noStrike">
              <a:solidFill>
                <a:srgbClr val="000000"/>
              </a:solidFill>
              <a:latin typeface="Calibri"/>
              <a:ea typeface="Calibri"/>
              <a:cs typeface="Calibri"/>
              <a:sym typeface="Calibri"/>
            </a:endParaRPr>
          </a:p>
        </p:txBody>
      </p:sp>
      <p:sp>
        <p:nvSpPr>
          <p:cNvPr id="133" name="Google Shape;133;g3f9fc709246_0_86"/>
          <p:cNvSpPr/>
          <p:nvPr/>
        </p:nvSpPr>
        <p:spPr>
          <a:xfrm>
            <a:off x="622155" y="5284253"/>
            <a:ext cx="4190700" cy="164700"/>
          </a:xfrm>
          <a:prstGeom prst="rect">
            <a:avLst/>
          </a:prstGeom>
          <a:solidFill>
            <a:srgbClr val="DCE7E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 name="Google Shape;134;g3f9fc709246_0_86"/>
          <p:cNvSpPr/>
          <p:nvPr/>
        </p:nvSpPr>
        <p:spPr>
          <a:xfrm>
            <a:off x="622155" y="5284253"/>
            <a:ext cx="2514300" cy="164700"/>
          </a:xfrm>
          <a:prstGeom prst="rect">
            <a:avLst/>
          </a:prstGeom>
          <a:solidFill>
            <a:srgbClr val="3B81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g3f9fc709246_0_86"/>
          <p:cNvSpPr/>
          <p:nvPr/>
        </p:nvSpPr>
        <p:spPr>
          <a:xfrm>
            <a:off x="4886002" y="5247677"/>
            <a:ext cx="594300" cy="255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4671"/>
              </a:buClr>
              <a:buSzPts val="1000"/>
              <a:buFont typeface="Noto Sans"/>
              <a:buNone/>
            </a:pPr>
            <a:r>
              <a:rPr b="1" i="0" lang="en-US" sz="1000" u="none" cap="none" strike="noStrike">
                <a:solidFill>
                  <a:srgbClr val="004671"/>
                </a:solidFill>
                <a:latin typeface="Noto Sans"/>
                <a:ea typeface="Noto Sans"/>
                <a:cs typeface="Noto Sans"/>
                <a:sym typeface="Noto Sans"/>
              </a:rPr>
              <a:t>60%</a:t>
            </a:r>
            <a:endParaRPr b="0" i="0" sz="1000" u="none" cap="none" strike="noStrike">
              <a:solidFill>
                <a:srgbClr val="000000"/>
              </a:solidFill>
              <a:latin typeface="Calibri"/>
              <a:ea typeface="Calibri"/>
              <a:cs typeface="Calibri"/>
              <a:sym typeface="Calibri"/>
            </a:endParaRPr>
          </a:p>
        </p:txBody>
      </p:sp>
      <p:sp>
        <p:nvSpPr>
          <p:cNvPr id="136" name="Google Shape;136;g3f9fc709246_0_86"/>
          <p:cNvSpPr/>
          <p:nvPr/>
        </p:nvSpPr>
        <p:spPr>
          <a:xfrm>
            <a:off x="5788020" y="1114643"/>
            <a:ext cx="73200" cy="2176200"/>
          </a:xfrm>
          <a:prstGeom prst="rect">
            <a:avLst/>
          </a:prstGeom>
          <a:solidFill>
            <a:srgbClr val="3B81B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 name="Google Shape;137;g3f9fc709246_0_86"/>
          <p:cNvSpPr/>
          <p:nvPr/>
        </p:nvSpPr>
        <p:spPr>
          <a:xfrm>
            <a:off x="6016620" y="1114643"/>
            <a:ext cx="5669400" cy="21762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1250"/>
              <a:buFont typeface="Noto Sans"/>
              <a:buNone/>
            </a:pPr>
            <a:r>
              <a:rPr b="1" i="0" lang="en-US" sz="1250" u="none" cap="none" strike="noStrike">
                <a:solidFill>
                  <a:srgbClr val="004671"/>
                </a:solidFill>
                <a:latin typeface="Noto Sans"/>
                <a:ea typeface="Noto Sans"/>
                <a:cs typeface="Noto Sans"/>
                <a:sym typeface="Noto Sans"/>
              </a:rPr>
              <a:t>Nỗi đau (Pain point)</a:t>
            </a:r>
            <a:endParaRPr b="0" i="0" sz="1250" u="none" cap="none" strike="noStrike">
              <a:solidFill>
                <a:srgbClr val="000000"/>
              </a:solidFill>
              <a:latin typeface="Calibri"/>
              <a:ea typeface="Calibri"/>
              <a:cs typeface="Calibri"/>
              <a:sym typeface="Calibri"/>
            </a:endParaRPr>
          </a:p>
          <a:p>
            <a:pPr indent="-304800" lvl="0" marL="457200" marR="0" rtl="0" algn="l">
              <a:lnSpc>
                <a:spcPct val="105000"/>
              </a:lnSpc>
              <a:spcBef>
                <a:spcPts val="300"/>
              </a:spcBef>
              <a:spcAft>
                <a:spcPts val="0"/>
              </a:spcAft>
              <a:buClr>
                <a:srgbClr val="22333F"/>
              </a:buClr>
              <a:buSzPts val="1200"/>
              <a:buFont typeface="Noto Sans"/>
              <a:buChar char="•"/>
            </a:pPr>
            <a:r>
              <a:rPr b="0" i="0" lang="en-US" sz="1200" u="none" cap="none" strike="noStrike">
                <a:solidFill>
                  <a:srgbClr val="22333F"/>
                </a:solidFill>
                <a:latin typeface="Noto Sans"/>
                <a:ea typeface="Noto Sans"/>
                <a:cs typeface="Noto Sans"/>
                <a:sym typeface="Noto Sans"/>
              </a:rPr>
              <a:t>Con học lớp đông, không biết chính xác con yếu chỗ nào và cần bổ sung gì tiếp theo.</a:t>
            </a:r>
            <a:endParaRPr b="0" i="0" sz="1200" u="none" cap="none" strike="noStrike">
              <a:solidFill>
                <a:schemeClr val="dk1"/>
              </a:solidFill>
              <a:latin typeface="Calibri"/>
              <a:ea typeface="Calibri"/>
              <a:cs typeface="Calibri"/>
              <a:sym typeface="Calibri"/>
            </a:endParaRPr>
          </a:p>
          <a:p>
            <a:pPr indent="-304800" lvl="0" marL="457200" marR="0" rtl="0" algn="l">
              <a:lnSpc>
                <a:spcPct val="105000"/>
              </a:lnSpc>
              <a:spcBef>
                <a:spcPts val="400"/>
              </a:spcBef>
              <a:spcAft>
                <a:spcPts val="0"/>
              </a:spcAft>
              <a:buClr>
                <a:srgbClr val="22333F"/>
              </a:buClr>
              <a:buSzPts val="1200"/>
              <a:buFont typeface="Noto Sans"/>
              <a:buChar char="•"/>
            </a:pPr>
            <a:r>
              <a:rPr b="0" i="0" lang="en-US" sz="1200" u="none" cap="none" strike="noStrike">
                <a:solidFill>
                  <a:srgbClr val="22333F"/>
                </a:solidFill>
                <a:latin typeface="Noto Sans"/>
                <a:ea typeface="Noto Sans"/>
                <a:cs typeface="Noto Sans"/>
                <a:sym typeface="Noto Sans"/>
              </a:rPr>
              <a:t>Đã thử app / gia sư nhưng không chắc học có đúng chỗ hổng không.</a:t>
            </a:r>
            <a:endParaRPr b="0" i="0" sz="1200" u="none" cap="none" strike="noStrike">
              <a:solidFill>
                <a:srgbClr val="22333F"/>
              </a:solidFill>
              <a:latin typeface="Noto Sans"/>
              <a:ea typeface="Noto Sans"/>
              <a:cs typeface="Noto Sans"/>
              <a:sym typeface="Noto Sans"/>
            </a:endParaRPr>
          </a:p>
          <a:p>
            <a:pPr indent="-304800" lvl="0" marL="457200" marR="0" rtl="0" algn="l">
              <a:lnSpc>
                <a:spcPct val="105000"/>
              </a:lnSpc>
              <a:spcBef>
                <a:spcPts val="400"/>
              </a:spcBef>
              <a:spcAft>
                <a:spcPts val="0"/>
              </a:spcAft>
              <a:buClr>
                <a:srgbClr val="22333F"/>
              </a:buClr>
              <a:buSzPts val="1200"/>
              <a:buFont typeface="Noto Sans"/>
              <a:buChar char="•"/>
            </a:pPr>
            <a:r>
              <a:rPr b="0" i="0" lang="en-US" sz="1200" u="none" cap="none" strike="noStrike">
                <a:solidFill>
                  <a:srgbClr val="22333F"/>
                </a:solidFill>
                <a:latin typeface="Noto Sans"/>
                <a:ea typeface="Noto Sans"/>
                <a:cs typeface="Noto Sans"/>
                <a:sym typeface="Noto Sans"/>
              </a:rPr>
              <a:t>Phụ huynh chưa nhìn thấy được sự tiến bộ rõ rệt của con.</a:t>
            </a:r>
            <a:endParaRPr b="0" i="0" sz="1200" u="none" cap="none" strike="noStrike">
              <a:solidFill>
                <a:srgbClr val="22333F"/>
              </a:solidFill>
              <a:latin typeface="Noto Sans"/>
              <a:ea typeface="Noto Sans"/>
              <a:cs typeface="Noto Sans"/>
              <a:sym typeface="Noto Sans"/>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4671"/>
        </a:solidFill>
      </p:bgPr>
    </p:bg>
    <p:spTree>
      <p:nvGrpSpPr>
        <p:cNvPr id="142" name="Shape 142"/>
        <p:cNvGrpSpPr/>
        <p:nvPr/>
      </p:nvGrpSpPr>
      <p:grpSpPr>
        <a:xfrm>
          <a:off x="0" y="0"/>
          <a:ext cx="0" cy="0"/>
          <a:chOff x="0" y="0"/>
          <a:chExt cx="0" cy="0"/>
        </a:xfrm>
      </p:grpSpPr>
      <p:sp>
        <p:nvSpPr>
          <p:cNvPr id="143" name="Google Shape;143;g3f9fc709246_0_120"/>
          <p:cNvSpPr/>
          <p:nvPr/>
        </p:nvSpPr>
        <p:spPr>
          <a:xfrm>
            <a:off x="0" y="0"/>
            <a:ext cx="4480500" cy="6858000"/>
          </a:xfrm>
          <a:prstGeom prst="rect">
            <a:avLst/>
          </a:prstGeom>
          <a:solidFill>
            <a:srgbClr val="003A5C"/>
          </a:solidFill>
          <a:ln cap="flat" cmpd="sng" w="12700">
            <a:solidFill>
              <a:srgbClr val="003A5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 name="Google Shape;144;g3f9fc709246_0_120"/>
          <p:cNvSpPr/>
          <p:nvPr/>
        </p:nvSpPr>
        <p:spPr>
          <a:xfrm>
            <a:off x="0" y="0"/>
            <a:ext cx="12191700" cy="1188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5" name="Google Shape;145;g3f9fc709246_0_120"/>
          <p:cNvSpPr/>
          <p:nvPr/>
        </p:nvSpPr>
        <p:spPr>
          <a:xfrm>
            <a:off x="640080" y="2286000"/>
            <a:ext cx="2743200" cy="1005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A5BE00"/>
              </a:buClr>
              <a:buSzPts val="4000"/>
              <a:buFont typeface="Arial"/>
              <a:buNone/>
            </a:pPr>
            <a:r>
              <a:rPr b="1" i="0" lang="en-US" sz="4000" u="none" cap="none" strike="noStrike">
                <a:solidFill>
                  <a:srgbClr val="A5BE00"/>
                </a:solidFill>
                <a:latin typeface="Arial"/>
                <a:ea typeface="Arial"/>
                <a:cs typeface="Arial"/>
                <a:sym typeface="Arial"/>
              </a:rPr>
              <a:t>03</a:t>
            </a:r>
            <a:endParaRPr b="0" i="0" sz="4000" u="none" cap="none" strike="noStrike">
              <a:solidFill>
                <a:schemeClr val="dk1"/>
              </a:solidFill>
              <a:latin typeface="Calibri"/>
              <a:ea typeface="Calibri"/>
              <a:cs typeface="Calibri"/>
              <a:sym typeface="Calibri"/>
            </a:endParaRPr>
          </a:p>
        </p:txBody>
      </p:sp>
      <p:sp>
        <p:nvSpPr>
          <p:cNvPr id="146" name="Google Shape;146;g3f9fc709246_0_120"/>
          <p:cNvSpPr/>
          <p:nvPr/>
        </p:nvSpPr>
        <p:spPr>
          <a:xfrm>
            <a:off x="640080" y="3063240"/>
            <a:ext cx="10607100" cy="128010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3000"/>
              <a:buFont typeface="Arial"/>
              <a:buNone/>
            </a:pPr>
            <a:r>
              <a:rPr b="1" i="0" lang="en-US" sz="3000" u="none" cap="none" strike="noStrike">
                <a:solidFill>
                  <a:srgbClr val="FFFFFF"/>
                </a:solidFill>
                <a:latin typeface="Arial"/>
                <a:ea typeface="Arial"/>
                <a:cs typeface="Arial"/>
                <a:sym typeface="Arial"/>
              </a:rPr>
              <a:t>GIẢI PHÁP</a:t>
            </a:r>
            <a:endParaRPr b="0" i="0" sz="3000" u="none" cap="none" strike="noStrike">
              <a:solidFill>
                <a:schemeClr val="dk1"/>
              </a:solidFill>
              <a:latin typeface="Calibri"/>
              <a:ea typeface="Calibri"/>
              <a:cs typeface="Calibri"/>
              <a:sym typeface="Calibri"/>
            </a:endParaRPr>
          </a:p>
        </p:txBody>
      </p:sp>
      <p:sp>
        <p:nvSpPr>
          <p:cNvPr id="147" name="Google Shape;147;g3f9fc709246_0_120"/>
          <p:cNvSpPr/>
          <p:nvPr/>
        </p:nvSpPr>
        <p:spPr>
          <a:xfrm>
            <a:off x="640080" y="5806440"/>
            <a:ext cx="2743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200"/>
              <a:buFont typeface="Arial"/>
              <a:buNone/>
            </a:pPr>
            <a:r>
              <a:rPr b="1" i="0" lang="en-US" sz="1200" u="none" cap="none" strike="noStrike">
                <a:solidFill>
                  <a:srgbClr val="FFFFFF"/>
                </a:solidFill>
                <a:latin typeface="Arial"/>
                <a:ea typeface="Arial"/>
                <a:cs typeface="Arial"/>
                <a:sym typeface="Arial"/>
              </a:rPr>
              <a:t>EDUPIA</a:t>
            </a:r>
            <a:endParaRPr b="0" i="0" sz="1200" u="none" cap="none" strike="noStrike">
              <a:solidFill>
                <a:schemeClr val="dk1"/>
              </a:solidFill>
              <a:latin typeface="Calibri"/>
              <a:ea typeface="Calibri"/>
              <a:cs typeface="Calibri"/>
              <a:sym typeface="Calibri"/>
            </a:endParaRPr>
          </a:p>
        </p:txBody>
      </p:sp>
      <p:sp>
        <p:nvSpPr>
          <p:cNvPr id="148" name="Google Shape;148;g3f9fc709246_0_120"/>
          <p:cNvSpPr/>
          <p:nvPr/>
        </p:nvSpPr>
        <p:spPr>
          <a:xfrm>
            <a:off x="640080" y="6089904"/>
            <a:ext cx="2743200" cy="201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C7E08A"/>
              </a:buClr>
              <a:buSzPts val="750"/>
              <a:buFont typeface="Arial"/>
              <a:buNone/>
            </a:pPr>
            <a:r>
              <a:rPr b="1" i="0" lang="en-US" sz="750" u="none" cap="none" strike="noStrike">
                <a:solidFill>
                  <a:srgbClr val="C7E08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 name="Shape 153"/>
        <p:cNvGrpSpPr/>
        <p:nvPr/>
      </p:nvGrpSpPr>
      <p:grpSpPr>
        <a:xfrm>
          <a:off x="0" y="0"/>
          <a:ext cx="0" cy="0"/>
          <a:chOff x="0" y="0"/>
          <a:chExt cx="0" cy="0"/>
        </a:xfrm>
      </p:grpSpPr>
      <p:sp>
        <p:nvSpPr>
          <p:cNvPr id="154" name="Google Shape;154;g3f9fc709246_0_130"/>
          <p:cNvSpPr/>
          <p:nvPr/>
        </p:nvSpPr>
        <p:spPr>
          <a:xfrm>
            <a:off x="8778240" y="301752"/>
            <a:ext cx="29079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EDUPIA</a:t>
            </a:r>
            <a:endParaRPr b="0" i="0" sz="1300" u="none" cap="none" strike="noStrike">
              <a:solidFill>
                <a:schemeClr val="dk1"/>
              </a:solidFill>
              <a:latin typeface="Calibri"/>
              <a:ea typeface="Calibri"/>
              <a:cs typeface="Calibri"/>
              <a:sym typeface="Calibri"/>
            </a:endParaRPr>
          </a:p>
        </p:txBody>
      </p:sp>
      <p:sp>
        <p:nvSpPr>
          <p:cNvPr id="155" name="Google Shape;155;g3f9fc709246_0_130"/>
          <p:cNvSpPr/>
          <p:nvPr/>
        </p:nvSpPr>
        <p:spPr>
          <a:xfrm>
            <a:off x="8778240" y="576072"/>
            <a:ext cx="2907900" cy="1830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1720A"/>
              </a:buClr>
              <a:buSzPts val="750"/>
              <a:buFont typeface="Arial"/>
              <a:buNone/>
            </a:pPr>
            <a:r>
              <a:rPr b="1" i="0" lang="en-US" sz="750" u="none" cap="none" strike="noStrike">
                <a:solidFill>
                  <a:srgbClr val="51720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
        <p:nvSpPr>
          <p:cNvPr id="156" name="Google Shape;156;g3f9fc709246_0_130"/>
          <p:cNvSpPr/>
          <p:nvPr/>
        </p:nvSpPr>
        <p:spPr>
          <a:xfrm>
            <a:off x="502920" y="365760"/>
            <a:ext cx="80925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2300"/>
              <a:buFont typeface="Arial"/>
              <a:buNone/>
            </a:pPr>
            <a:r>
              <a:rPr b="1" i="0" lang="en-US" sz="2300" u="none" cap="none" strike="noStrike">
                <a:solidFill>
                  <a:srgbClr val="004671"/>
                </a:solidFill>
                <a:latin typeface="Arial"/>
                <a:ea typeface="Arial"/>
                <a:cs typeface="Arial"/>
                <a:sym typeface="Arial"/>
              </a:rPr>
              <a:t>Selling Point:  SA → SB → SE</a:t>
            </a:r>
            <a:endParaRPr b="0" i="0" sz="2300" u="none" cap="none" strike="noStrike">
              <a:solidFill>
                <a:schemeClr val="dk1"/>
              </a:solidFill>
              <a:latin typeface="Calibri"/>
              <a:ea typeface="Calibri"/>
              <a:cs typeface="Calibri"/>
              <a:sym typeface="Calibri"/>
            </a:endParaRPr>
          </a:p>
        </p:txBody>
      </p:sp>
      <p:cxnSp>
        <p:nvCxnSpPr>
          <p:cNvPr id="157" name="Google Shape;157;g3f9fc709246_0_130"/>
          <p:cNvCxnSpPr/>
          <p:nvPr/>
        </p:nvCxnSpPr>
        <p:spPr>
          <a:xfrm>
            <a:off x="502920" y="6437376"/>
            <a:ext cx="11185800" cy="0"/>
          </a:xfrm>
          <a:prstGeom prst="straightConnector1">
            <a:avLst/>
          </a:prstGeom>
          <a:noFill/>
          <a:ln cap="flat" cmpd="sng" w="19050">
            <a:solidFill>
              <a:srgbClr val="A5BE00"/>
            </a:solidFill>
            <a:prstDash val="solid"/>
            <a:round/>
            <a:headEnd len="sm" w="sm" type="none"/>
            <a:tailEnd len="sm" w="sm" type="none"/>
          </a:ln>
        </p:spPr>
      </p:cxnSp>
      <p:sp>
        <p:nvSpPr>
          <p:cNvPr id="158" name="Google Shape;158;g3f9fc709246_0_130"/>
          <p:cNvSpPr/>
          <p:nvPr/>
        </p:nvSpPr>
        <p:spPr>
          <a:xfrm>
            <a:off x="502920" y="6492240"/>
            <a:ext cx="7315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Edupia AI Class Plus · Concept 1.2 — Adaptive Learning</a:t>
            </a:r>
            <a:endParaRPr b="0" i="0" sz="800" u="none" cap="none" strike="noStrike">
              <a:solidFill>
                <a:schemeClr val="dk1"/>
              </a:solidFill>
              <a:latin typeface="Calibri"/>
              <a:ea typeface="Calibri"/>
              <a:cs typeface="Calibri"/>
              <a:sym typeface="Calibri"/>
            </a:endParaRPr>
          </a:p>
        </p:txBody>
      </p:sp>
      <p:sp>
        <p:nvSpPr>
          <p:cNvPr id="159" name="Google Shape;159;g3f9fc709246_0_130"/>
          <p:cNvSpPr/>
          <p:nvPr/>
        </p:nvSpPr>
        <p:spPr>
          <a:xfrm>
            <a:off x="9859975" y="6492240"/>
            <a:ext cx="1828800" cy="274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5 / 14</a:t>
            </a:r>
            <a:endParaRPr b="0" i="0" sz="800" u="none" cap="none" strike="noStrike">
              <a:solidFill>
                <a:schemeClr val="dk1"/>
              </a:solidFill>
              <a:latin typeface="Calibri"/>
              <a:ea typeface="Calibri"/>
              <a:cs typeface="Calibri"/>
              <a:sym typeface="Calibri"/>
            </a:endParaRPr>
          </a:p>
        </p:txBody>
      </p:sp>
      <p:graphicFrame>
        <p:nvGraphicFramePr>
          <p:cNvPr id="160" name="Google Shape;160;g3f9fc709246_0_130"/>
          <p:cNvGraphicFramePr/>
          <p:nvPr/>
        </p:nvGraphicFramePr>
        <p:xfrm>
          <a:off x="502920" y="1082040"/>
          <a:ext cx="3000000" cy="3000000"/>
        </p:xfrm>
        <a:graphic>
          <a:graphicData uri="http://schemas.openxmlformats.org/drawingml/2006/table">
            <a:tbl>
              <a:tblPr>
                <a:noFill/>
                <a:tableStyleId>{D06430FF-1EA4-43DA-9281-7FA02B2C65B5}</a:tableStyleId>
              </a:tblPr>
              <a:tblGrid>
                <a:gridCol w="3728625"/>
                <a:gridCol w="3728625"/>
                <a:gridCol w="3728625"/>
              </a:tblGrid>
              <a:tr h="604400">
                <a:tc>
                  <a:txBody>
                    <a:bodyPr/>
                    <a:lstStyle/>
                    <a:p>
                      <a:pPr indent="0" lvl="0" marL="0" marR="0" rtl="0" algn="l">
                        <a:lnSpc>
                          <a:spcPct val="100000"/>
                        </a:lnSpc>
                        <a:spcBef>
                          <a:spcPts val="0"/>
                        </a:spcBef>
                        <a:spcAft>
                          <a:spcPts val="0"/>
                        </a:spcAft>
                        <a:buClr>
                          <a:srgbClr val="FFFFFF"/>
                        </a:buClr>
                        <a:buSzPts val="950"/>
                        <a:buFont typeface="Arial"/>
                        <a:buNone/>
                      </a:pPr>
                      <a:r>
                        <a:rPr b="1" lang="en-US" sz="1200" u="none" cap="none" strike="noStrike">
                          <a:solidFill>
                            <a:srgbClr val="FFFFFF"/>
                          </a:solidFill>
                          <a:latin typeface="Arial"/>
                          <a:ea typeface="Arial"/>
                          <a:cs typeface="Arial"/>
                          <a:sym typeface="Arial"/>
                        </a:rPr>
                        <a:t>SA — Ưu điểm sản phẩm</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004671"/>
                    </a:solidFill>
                  </a:tcPr>
                </a:tc>
                <a:tc>
                  <a:txBody>
                    <a:bodyPr/>
                    <a:lstStyle/>
                    <a:p>
                      <a:pPr indent="0" lvl="0" marL="0" marR="0" rtl="0" algn="l">
                        <a:lnSpc>
                          <a:spcPct val="100000"/>
                        </a:lnSpc>
                        <a:spcBef>
                          <a:spcPts val="0"/>
                        </a:spcBef>
                        <a:spcAft>
                          <a:spcPts val="0"/>
                        </a:spcAft>
                        <a:buClr>
                          <a:srgbClr val="FFFFFF"/>
                        </a:buClr>
                        <a:buSzPts val="950"/>
                        <a:buFont typeface="Arial"/>
                        <a:buNone/>
                      </a:pPr>
                      <a:r>
                        <a:rPr b="1" lang="en-US" sz="1200" u="none" cap="none" strike="noStrike">
                          <a:solidFill>
                            <a:srgbClr val="FFFFFF"/>
                          </a:solidFill>
                          <a:latin typeface="Arial"/>
                          <a:ea typeface="Arial"/>
                          <a:cs typeface="Arial"/>
                          <a:sym typeface="Arial"/>
                        </a:rPr>
                        <a:t>SB — Lợi ích cảm nhận</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004671"/>
                    </a:solidFill>
                  </a:tcPr>
                </a:tc>
                <a:tc>
                  <a:txBody>
                    <a:bodyPr/>
                    <a:lstStyle/>
                    <a:p>
                      <a:pPr indent="0" lvl="0" marL="0" marR="0" rtl="0" algn="l">
                        <a:lnSpc>
                          <a:spcPct val="100000"/>
                        </a:lnSpc>
                        <a:spcBef>
                          <a:spcPts val="0"/>
                        </a:spcBef>
                        <a:spcAft>
                          <a:spcPts val="0"/>
                        </a:spcAft>
                        <a:buClr>
                          <a:srgbClr val="FFFFFF"/>
                        </a:buClr>
                        <a:buSzPts val="950"/>
                        <a:buFont typeface="Arial"/>
                        <a:buNone/>
                      </a:pPr>
                      <a:r>
                        <a:rPr b="1" lang="en-US" sz="1200" u="none" cap="none" strike="noStrike">
                          <a:solidFill>
                            <a:srgbClr val="FFFFFF"/>
                          </a:solidFill>
                          <a:latin typeface="Arial"/>
                          <a:ea typeface="Arial"/>
                          <a:cs typeface="Arial"/>
                          <a:sym typeface="Arial"/>
                        </a:rPr>
                        <a:t>SE — Cảm xúc phụ huynh</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004671"/>
                    </a:solidFill>
                  </a:tcPr>
                </a:tc>
              </a:tr>
              <a:tr h="604400">
                <a:tc>
                  <a:txBody>
                    <a:bodyPr/>
                    <a:lstStyle/>
                    <a:p>
                      <a:pPr indent="0" lvl="0" marL="0" marR="0" rtl="0" algn="l">
                        <a:lnSpc>
                          <a:spcPct val="100000"/>
                        </a:lnSpc>
                        <a:spcBef>
                          <a:spcPts val="0"/>
                        </a:spcBef>
                        <a:spcAft>
                          <a:spcPts val="0"/>
                        </a:spcAft>
                        <a:buClr>
                          <a:srgbClr val="004671"/>
                        </a:buClr>
                        <a:buSzPts val="800"/>
                        <a:buFont typeface="Arial"/>
                        <a:buNone/>
                      </a:pPr>
                      <a:r>
                        <a:rPr b="1" lang="en-US" sz="1200" u="none" cap="none" strike="noStrike">
                          <a:solidFill>
                            <a:srgbClr val="004671"/>
                          </a:solidFill>
                          <a:latin typeface="Arial"/>
                          <a:ea typeface="Arial"/>
                          <a:cs typeface="Arial"/>
                          <a:sym typeface="Arial"/>
                        </a:rPr>
                        <a:t>Adaptive Learning chẩn đoán &amp; vá lỗ hổng theo 1.473 NLO (Gap Detection + Routing Engine)</a:t>
                      </a:r>
                      <a:endParaRPr b="1" sz="1200" u="none" cap="none" strike="noStrike"/>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800"/>
                        <a:buFont typeface="Arial"/>
                        <a:buNone/>
                      </a:pPr>
                      <a:r>
                        <a:rPr lang="en-US" sz="1200" u="none" cap="none" strike="noStrike">
                          <a:solidFill>
                            <a:srgbClr val="333333"/>
                          </a:solidFill>
                          <a:latin typeface="Arial"/>
                          <a:ea typeface="Arial"/>
                          <a:cs typeface="Arial"/>
                          <a:sym typeface="Arial"/>
                        </a:rPr>
                        <a:t>Con học đến đâu chắc đến đấy; lỗ hổng phát hiện sớm thay vì đợi tới kỳ thi</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rowSpan="3">
                  <a:txBody>
                    <a:bodyPr/>
                    <a:lstStyle/>
                    <a:p>
                      <a:pPr indent="0" lvl="0" marL="0" marR="0" rtl="0" algn="l">
                        <a:lnSpc>
                          <a:spcPct val="100000"/>
                        </a:lnSpc>
                        <a:spcBef>
                          <a:spcPts val="0"/>
                        </a:spcBef>
                        <a:spcAft>
                          <a:spcPts val="0"/>
                        </a:spcAft>
                        <a:buClr>
                          <a:srgbClr val="000000"/>
                        </a:buClr>
                        <a:buSzPts val="1200"/>
                        <a:buFont typeface="Arial"/>
                        <a:buNone/>
                      </a:pPr>
                      <a:r>
                        <a:rPr lang="en-US" sz="1200" u="none" cap="none" strike="noStrike">
                          <a:solidFill>
                            <a:srgbClr val="333333"/>
                          </a:solidFill>
                        </a:rPr>
                        <a:t>Nhẹ nhõm vì hết cảnh mù mờ không biết con học tới đâu, hổng chỗ nào</a:t>
                      </a:r>
                      <a:endParaRPr sz="1200" u="none" cap="none" strike="noStrike">
                        <a:solidFill>
                          <a:srgbClr val="333333"/>
                        </a:solidFil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r>
              <a:tr h="604400">
                <a:tc>
                  <a:txBody>
                    <a:bodyPr/>
                    <a:lstStyle/>
                    <a:p>
                      <a:pPr indent="0" lvl="0" marL="0" marR="0" rtl="0" algn="l">
                        <a:lnSpc>
                          <a:spcPct val="100000"/>
                        </a:lnSpc>
                        <a:spcBef>
                          <a:spcPts val="0"/>
                        </a:spcBef>
                        <a:spcAft>
                          <a:spcPts val="0"/>
                        </a:spcAft>
                        <a:buClr>
                          <a:srgbClr val="004671"/>
                        </a:buClr>
                        <a:buSzPts val="800"/>
                        <a:buFont typeface="Arial"/>
                        <a:buNone/>
                      </a:pPr>
                      <a:r>
                        <a:rPr b="1" lang="en-US" sz="1200" u="none" cap="none" strike="noStrike">
                          <a:solidFill>
                            <a:srgbClr val="004671"/>
                          </a:solidFill>
                          <a:latin typeface="Arial"/>
                          <a:ea typeface="Arial"/>
                          <a:cs typeface="Arial"/>
                          <a:sym typeface="Arial"/>
                        </a:rPr>
                        <a:t>1 Mastery Profile duy nhất xuyên </a:t>
                      </a:r>
                      <a:r>
                        <a:rPr b="1" lang="en-US" sz="1200" u="none" cap="none" strike="noStrike">
                          <a:solidFill>
                            <a:srgbClr val="004671"/>
                          </a:solidFill>
                        </a:rPr>
                        <a:t>suốt</a:t>
                      </a:r>
                      <a:r>
                        <a:rPr b="1" lang="en-US" sz="1200" u="none" cap="none" strike="noStrike">
                          <a:solidFill>
                            <a:srgbClr val="004671"/>
                          </a:solidFill>
                          <a:latin typeface="Arial"/>
                          <a:ea typeface="Arial"/>
                          <a:cs typeface="Arial"/>
                          <a:sym typeface="Arial"/>
                        </a:rPr>
                        <a:t> Big Class</a:t>
                      </a:r>
                      <a:r>
                        <a:rPr b="1" lang="en-US" sz="1200" u="none" cap="none" strike="noStrike">
                          <a:solidFill>
                            <a:srgbClr val="004671"/>
                          </a:solidFill>
                        </a:rPr>
                        <a:t> </a:t>
                      </a:r>
                      <a:r>
                        <a:rPr b="1" lang="en-US" sz="1200" u="none" cap="none" strike="noStrike">
                          <a:solidFill>
                            <a:srgbClr val="004671"/>
                          </a:solidFill>
                          <a:latin typeface="Arial"/>
                          <a:ea typeface="Arial"/>
                          <a:cs typeface="Arial"/>
                          <a:sym typeface="Arial"/>
                        </a:rPr>
                        <a:t>/ </a:t>
                      </a:r>
                      <a:r>
                        <a:rPr b="1" lang="en-US" sz="1200" u="none" cap="none" strike="noStrike">
                          <a:solidFill>
                            <a:srgbClr val="004671"/>
                          </a:solidFill>
                        </a:rPr>
                        <a:t>AI </a:t>
                      </a:r>
                      <a:r>
                        <a:rPr b="1" lang="en-US" sz="1200" u="none" cap="none" strike="noStrike">
                          <a:solidFill>
                            <a:srgbClr val="004671"/>
                          </a:solidFill>
                          <a:latin typeface="Arial"/>
                          <a:ea typeface="Arial"/>
                          <a:cs typeface="Arial"/>
                          <a:sym typeface="Arial"/>
                        </a:rPr>
                        <a:t>Practice / </a:t>
                      </a:r>
                      <a:r>
                        <a:rPr b="1" lang="en-US" sz="1200" u="none" cap="none" strike="noStrike">
                          <a:solidFill>
                            <a:srgbClr val="004671"/>
                          </a:solidFill>
                        </a:rPr>
                        <a:t>AI </a:t>
                      </a:r>
                      <a:r>
                        <a:rPr b="1" lang="en-US" sz="1200" u="none" cap="none" strike="noStrike">
                          <a:solidFill>
                            <a:srgbClr val="004671"/>
                          </a:solidFill>
                          <a:latin typeface="Arial"/>
                          <a:ea typeface="Arial"/>
                          <a:cs typeface="Arial"/>
                          <a:sym typeface="Arial"/>
                        </a:rPr>
                        <a:t>Speak / </a:t>
                      </a:r>
                      <a:r>
                        <a:rPr b="1" lang="en-US" sz="1200" u="none" cap="none" strike="noStrike">
                          <a:solidFill>
                            <a:srgbClr val="004671"/>
                          </a:solidFill>
                        </a:rPr>
                        <a:t>Edupia </a:t>
                      </a:r>
                      <a:r>
                        <a:rPr b="1" lang="en-US" sz="1200" u="none" cap="none" strike="noStrike">
                          <a:solidFill>
                            <a:srgbClr val="004671"/>
                          </a:solidFill>
                          <a:latin typeface="Arial"/>
                          <a:ea typeface="Arial"/>
                          <a:cs typeface="Arial"/>
                          <a:sym typeface="Arial"/>
                        </a:rPr>
                        <a:t>Club</a:t>
                      </a:r>
                      <a:endParaRPr b="1" sz="1200" u="none" cap="none" strike="noStrike">
                        <a:solidFill>
                          <a:srgbClr val="004671"/>
                        </a:solidFill>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800"/>
                        <a:buFont typeface="Arial"/>
                        <a:buNone/>
                      </a:pPr>
                      <a:r>
                        <a:rPr lang="en-US" sz="1200" u="none" cap="none" strike="noStrike">
                          <a:solidFill>
                            <a:srgbClr val="333333"/>
                          </a:solidFill>
                          <a:latin typeface="Arial"/>
                          <a:ea typeface="Arial"/>
                          <a:cs typeface="Arial"/>
                          <a:sym typeface="Arial"/>
                        </a:rPr>
                        <a:t>Không phải theo dõi 4 hệ thống rời rạc; mọi tín hiệu dồn về 1 báo cáo</a:t>
                      </a:r>
                      <a:endParaRPr sz="1200" u="none" cap="none" strike="noStrike">
                        <a:solidFill>
                          <a:srgbClr val="333333"/>
                        </a:solidFill>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vMerge="1"/>
              </a:tr>
              <a:tr h="604400">
                <a:tc>
                  <a:txBody>
                    <a:bodyPr/>
                    <a:lstStyle/>
                    <a:p>
                      <a:pPr indent="0" lvl="0" marL="0" marR="0" rtl="0" algn="l">
                        <a:lnSpc>
                          <a:spcPct val="100000"/>
                        </a:lnSpc>
                        <a:spcBef>
                          <a:spcPts val="0"/>
                        </a:spcBef>
                        <a:spcAft>
                          <a:spcPts val="0"/>
                        </a:spcAft>
                        <a:buClr>
                          <a:srgbClr val="004671"/>
                        </a:buClr>
                        <a:buSzPts val="800"/>
                        <a:buFont typeface="Arial"/>
                        <a:buNone/>
                      </a:pPr>
                      <a:r>
                        <a:rPr b="1" lang="en-US" sz="1200" u="none" cap="none" strike="noStrike">
                          <a:solidFill>
                            <a:srgbClr val="004671"/>
                          </a:solidFill>
                          <a:latin typeface="Arial"/>
                          <a:ea typeface="Arial"/>
                          <a:cs typeface="Arial"/>
                          <a:sym typeface="Arial"/>
                        </a:rPr>
                        <a:t>Nâng cấp kho đề Practice + AI </a:t>
                      </a:r>
                      <a:r>
                        <a:rPr b="1" lang="en-US" sz="1200" u="none" cap="none" strike="noStrike">
                          <a:solidFill>
                            <a:srgbClr val="004671"/>
                          </a:solidFill>
                        </a:rPr>
                        <a:t>Mock Test</a:t>
                      </a:r>
                      <a:r>
                        <a:rPr b="1" lang="en-US" sz="1200" u="none" cap="none" strike="noStrike">
                          <a:solidFill>
                            <a:srgbClr val="004671"/>
                          </a:solidFill>
                          <a:latin typeface="Arial"/>
                          <a:ea typeface="Arial"/>
                          <a:cs typeface="Arial"/>
                          <a:sym typeface="Arial"/>
                        </a:rPr>
                        <a:t>, tăng độ chính xác chấm phát âm AI Speak</a:t>
                      </a:r>
                      <a:endParaRPr b="1" sz="1200" u="none" cap="none" strike="noStrike">
                        <a:solidFill>
                          <a:srgbClr val="004671"/>
                        </a:solidFill>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800"/>
                        <a:buFont typeface="Arial"/>
                        <a:buNone/>
                      </a:pPr>
                      <a:r>
                        <a:rPr lang="en-US" sz="1200" u="none" cap="none" strike="noStrike">
                          <a:solidFill>
                            <a:srgbClr val="333333"/>
                          </a:solidFill>
                          <a:latin typeface="Arial"/>
                          <a:ea typeface="Arial"/>
                          <a:cs typeface="Arial"/>
                          <a:sym typeface="Arial"/>
                        </a:rPr>
                        <a:t>Luyện tập và luyện nói bám cùng lỗ hổng đang học — không rời rạc</a:t>
                      </a:r>
                      <a:endParaRPr sz="1200" u="none" cap="none" strike="noStrike">
                        <a:solidFill>
                          <a:srgbClr val="333333"/>
                        </a:solidFill>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vMerge="1"/>
              </a:tr>
              <a:tr h="604400">
                <a:tc>
                  <a:txBody>
                    <a:bodyPr/>
                    <a:lstStyle/>
                    <a:p>
                      <a:pPr indent="0" lvl="0" marL="0" marR="0" rtl="0" algn="l">
                        <a:lnSpc>
                          <a:spcPct val="100000"/>
                        </a:lnSpc>
                        <a:spcBef>
                          <a:spcPts val="0"/>
                        </a:spcBef>
                        <a:spcAft>
                          <a:spcPts val="0"/>
                        </a:spcAft>
                        <a:buClr>
                          <a:srgbClr val="004671"/>
                        </a:buClr>
                        <a:buSzPts val="800"/>
                        <a:buFont typeface="Arial"/>
                        <a:buNone/>
                      </a:pPr>
                      <a:r>
                        <a:rPr b="1" lang="en-US" sz="1200" u="none" cap="none" strike="noStrike">
                          <a:solidFill>
                            <a:srgbClr val="004671"/>
                          </a:solidFill>
                          <a:latin typeface="Arial"/>
                          <a:ea typeface="Arial"/>
                          <a:cs typeface="Arial"/>
                          <a:sym typeface="Arial"/>
                        </a:rPr>
                        <a:t>BTVN Adaptive — Staircase Difficulty: độ khó câu tự điều chỉnh theo </a:t>
                      </a:r>
                      <a:r>
                        <a:rPr b="1" lang="en-US" sz="1200" u="none" cap="none" strike="noStrike">
                          <a:solidFill>
                            <a:srgbClr val="004671"/>
                          </a:solidFill>
                        </a:rPr>
                        <a:t>năng </a:t>
                      </a:r>
                      <a:r>
                        <a:rPr b="1" lang="en-US" sz="1200" u="none" cap="none" strike="noStrike">
                          <a:solidFill>
                            <a:srgbClr val="004671"/>
                          </a:solidFill>
                          <a:latin typeface="Arial"/>
                          <a:ea typeface="Arial"/>
                          <a:cs typeface="Arial"/>
                          <a:sym typeface="Arial"/>
                        </a:rPr>
                        <a:t>lực </a:t>
                      </a:r>
                      <a:r>
                        <a:rPr b="1" lang="en-US" sz="1200" u="none" cap="none" strike="noStrike">
                          <a:solidFill>
                            <a:srgbClr val="004671"/>
                          </a:solidFill>
                        </a:rPr>
                        <a:t>của</a:t>
                      </a:r>
                      <a:r>
                        <a:rPr b="1" lang="en-US" sz="1200" u="none" cap="none" strike="noStrike">
                          <a:solidFill>
                            <a:srgbClr val="004671"/>
                          </a:solidFill>
                          <a:latin typeface="Arial"/>
                          <a:ea typeface="Arial"/>
                          <a:cs typeface="Arial"/>
                          <a:sym typeface="Arial"/>
                        </a:rPr>
                        <a:t> con</a:t>
                      </a:r>
                      <a:endParaRPr b="1" sz="1200" u="none" cap="none" strike="noStrike"/>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800"/>
                        <a:buFont typeface="Arial"/>
                        <a:buNone/>
                      </a:pPr>
                      <a:r>
                        <a:rPr lang="en-US" sz="1200" u="none" cap="none" strike="noStrike">
                          <a:solidFill>
                            <a:srgbClr val="333333"/>
                          </a:solidFill>
                          <a:latin typeface="Arial"/>
                          <a:ea typeface="Arial"/>
                          <a:cs typeface="Arial"/>
                          <a:sym typeface="Arial"/>
                        </a:rPr>
                        <a:t>Con làm bài "vừa sức" — không nản vì quá khó, không chán vì quá dễ</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800"/>
                        <a:buFont typeface="Arial"/>
                        <a:buNone/>
                      </a:pPr>
                      <a:r>
                        <a:rPr lang="en-US" sz="1200" u="none" cap="none" strike="noStrike">
                          <a:solidFill>
                            <a:srgbClr val="333333"/>
                          </a:solidFill>
                        </a:rPr>
                        <a:t>Vui vẻ: khi thấy con không bị chán nản khi làm bài</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r>
              <a:tr h="604400">
                <a:tc>
                  <a:txBody>
                    <a:bodyPr/>
                    <a:lstStyle/>
                    <a:p>
                      <a:pPr indent="0" lvl="0" marL="0" marR="0" rtl="0" algn="l">
                        <a:lnSpc>
                          <a:spcPct val="100000"/>
                        </a:lnSpc>
                        <a:spcBef>
                          <a:spcPts val="0"/>
                        </a:spcBef>
                        <a:spcAft>
                          <a:spcPts val="0"/>
                        </a:spcAft>
                        <a:buClr>
                          <a:srgbClr val="004671"/>
                        </a:buClr>
                        <a:buSzPts val="800"/>
                        <a:buFont typeface="Arial"/>
                        <a:buNone/>
                      </a:pPr>
                      <a:r>
                        <a:rPr b="1" lang="en-US" sz="1200" u="none" cap="none" strike="noStrike">
                          <a:solidFill>
                            <a:srgbClr val="004671"/>
                          </a:solidFill>
                          <a:latin typeface="Arial"/>
                          <a:ea typeface="Arial"/>
                          <a:cs typeface="Arial"/>
                          <a:sym typeface="Arial"/>
                        </a:rPr>
                        <a:t>Parent Mode — Mastery Map</a:t>
                      </a:r>
                      <a:endParaRPr b="1" sz="1200" u="none" cap="none" strike="noStrike"/>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800"/>
                        <a:buFont typeface="Arial"/>
                        <a:buNone/>
                      </a:pPr>
                      <a:r>
                        <a:rPr lang="en-US" sz="1200" u="none" cap="none" strike="noStrike">
                          <a:solidFill>
                            <a:srgbClr val="333333"/>
                          </a:solidFill>
                          <a:latin typeface="Arial"/>
                          <a:ea typeface="Arial"/>
                          <a:cs typeface="Arial"/>
                          <a:sym typeface="Arial"/>
                        </a:rPr>
                        <a:t>Phụ huynh nhìn thấy tiến bộ cụ thể, đo được, đối chiếu với điểm ở trường</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800"/>
                        <a:buFont typeface="Arial"/>
                        <a:buNone/>
                      </a:pPr>
                      <a:r>
                        <a:rPr lang="en-US" sz="1200" u="none" cap="none" strike="noStrike">
                          <a:solidFill>
                            <a:srgbClr val="333333"/>
                          </a:solidFill>
                          <a:latin typeface="Arial"/>
                          <a:ea typeface="Arial"/>
                          <a:cs typeface="Arial"/>
                          <a:sym typeface="Arial"/>
                        </a:rPr>
                        <a:t>Tự hào khi thấy con tiến bộ rõ ràng qua từng tuần — có cái để khoe</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r>
            </a:tbl>
          </a:graphicData>
        </a:graphic>
      </p:graphicFrame>
      <p:sp>
        <p:nvSpPr>
          <p:cNvPr id="161" name="Google Shape;161;g3f9fc709246_0_130"/>
          <p:cNvSpPr txBox="1"/>
          <p:nvPr/>
        </p:nvSpPr>
        <p:spPr>
          <a:xfrm>
            <a:off x="502925" y="5057375"/>
            <a:ext cx="11185800" cy="6156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1" i="1" lang="en-US" sz="1400" u="none" cap="none" strike="noStrike">
                <a:solidFill>
                  <a:srgbClr val="004671"/>
                </a:solidFill>
                <a:latin typeface="Arial"/>
                <a:ea typeface="Arial"/>
                <a:cs typeface="Arial"/>
                <a:sym typeface="Arial"/>
              </a:rPr>
              <a:t>USP</a:t>
            </a:r>
            <a:r>
              <a:rPr b="0" i="1" lang="en-US" sz="1400" u="none" cap="none" strike="noStrike">
                <a:solidFill>
                  <a:srgbClr val="004671"/>
                </a:solidFill>
                <a:latin typeface="Arial"/>
                <a:ea typeface="Arial"/>
                <a:cs typeface="Arial"/>
                <a:sym typeface="Arial"/>
              </a:rPr>
              <a:t> "Chương trình tiếng Anh trực tuyến có giáo viên thật, cộng thêm gia sư AI kèm riêng 30 phút sau mỗi buổi vá đúng lỗ hổng của con theo 1.473 đơn vị kiến thức — và một bản đồ tiến bộ phụ huynh đọc được, khớp chuẩn nhà trường."</a:t>
            </a:r>
            <a:endParaRPr b="0" i="1" sz="1400" u="none" cap="none" strike="noStrike">
              <a:solidFill>
                <a:srgbClr val="004671"/>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 name="Shape 166"/>
        <p:cNvGrpSpPr/>
        <p:nvPr/>
      </p:nvGrpSpPr>
      <p:grpSpPr>
        <a:xfrm>
          <a:off x="0" y="0"/>
          <a:ext cx="0" cy="0"/>
          <a:chOff x="0" y="0"/>
          <a:chExt cx="0" cy="0"/>
        </a:xfrm>
      </p:grpSpPr>
      <p:sp>
        <p:nvSpPr>
          <p:cNvPr id="167" name="Google Shape;167;g3f9fc709246_0_142"/>
          <p:cNvSpPr/>
          <p:nvPr/>
        </p:nvSpPr>
        <p:spPr>
          <a:xfrm>
            <a:off x="8778240" y="301752"/>
            <a:ext cx="29079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EDUPIA</a:t>
            </a:r>
            <a:endParaRPr b="0" i="0" sz="1300" u="none" cap="none" strike="noStrike">
              <a:solidFill>
                <a:schemeClr val="dk1"/>
              </a:solidFill>
              <a:latin typeface="Calibri"/>
              <a:ea typeface="Calibri"/>
              <a:cs typeface="Calibri"/>
              <a:sym typeface="Calibri"/>
            </a:endParaRPr>
          </a:p>
        </p:txBody>
      </p:sp>
      <p:sp>
        <p:nvSpPr>
          <p:cNvPr id="168" name="Google Shape;168;g3f9fc709246_0_142"/>
          <p:cNvSpPr/>
          <p:nvPr/>
        </p:nvSpPr>
        <p:spPr>
          <a:xfrm>
            <a:off x="8778240" y="576072"/>
            <a:ext cx="2907900" cy="1830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1720A"/>
              </a:buClr>
              <a:buSzPts val="750"/>
              <a:buFont typeface="Arial"/>
              <a:buNone/>
            </a:pPr>
            <a:r>
              <a:rPr b="1" i="0" lang="en-US" sz="750" u="none" cap="none" strike="noStrike">
                <a:solidFill>
                  <a:srgbClr val="51720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
        <p:nvSpPr>
          <p:cNvPr id="169" name="Google Shape;169;g3f9fc709246_0_142"/>
          <p:cNvSpPr/>
          <p:nvPr/>
        </p:nvSpPr>
        <p:spPr>
          <a:xfrm>
            <a:off x="502925" y="365754"/>
            <a:ext cx="8092500" cy="5115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2300"/>
              <a:buFont typeface="Arial"/>
              <a:buNone/>
            </a:pPr>
            <a:r>
              <a:rPr b="1" i="0" lang="en-US" sz="2300" u="none" cap="none" strike="noStrike">
                <a:solidFill>
                  <a:srgbClr val="004671"/>
                </a:solidFill>
                <a:latin typeface="Arial"/>
                <a:ea typeface="Arial"/>
                <a:cs typeface="Arial"/>
                <a:sym typeface="Arial"/>
              </a:rPr>
              <a:t>So sánh giải pháp trên thị trường</a:t>
            </a:r>
            <a:endParaRPr b="0" i="0" sz="2300" u="none" cap="none" strike="noStrike">
              <a:solidFill>
                <a:schemeClr val="dk1"/>
              </a:solidFill>
              <a:latin typeface="Calibri"/>
              <a:ea typeface="Calibri"/>
              <a:cs typeface="Calibri"/>
              <a:sym typeface="Calibri"/>
            </a:endParaRPr>
          </a:p>
        </p:txBody>
      </p:sp>
      <p:cxnSp>
        <p:nvCxnSpPr>
          <p:cNvPr id="170" name="Google Shape;170;g3f9fc709246_0_142"/>
          <p:cNvCxnSpPr/>
          <p:nvPr/>
        </p:nvCxnSpPr>
        <p:spPr>
          <a:xfrm>
            <a:off x="502920" y="6437376"/>
            <a:ext cx="11185800" cy="0"/>
          </a:xfrm>
          <a:prstGeom prst="straightConnector1">
            <a:avLst/>
          </a:prstGeom>
          <a:noFill/>
          <a:ln cap="flat" cmpd="sng" w="19050">
            <a:solidFill>
              <a:srgbClr val="A5BE00"/>
            </a:solidFill>
            <a:prstDash val="solid"/>
            <a:round/>
            <a:headEnd len="sm" w="sm" type="none"/>
            <a:tailEnd len="sm" w="sm" type="none"/>
          </a:ln>
        </p:spPr>
      </p:cxnSp>
      <p:sp>
        <p:nvSpPr>
          <p:cNvPr id="171" name="Google Shape;171;g3f9fc709246_0_142"/>
          <p:cNvSpPr/>
          <p:nvPr/>
        </p:nvSpPr>
        <p:spPr>
          <a:xfrm>
            <a:off x="502920" y="6492240"/>
            <a:ext cx="7315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Edupia AI Class Plus · Concept 1.2 — Adaptive Learning</a:t>
            </a:r>
            <a:endParaRPr b="0" i="0" sz="800" u="none" cap="none" strike="noStrike">
              <a:solidFill>
                <a:schemeClr val="dk1"/>
              </a:solidFill>
              <a:latin typeface="Calibri"/>
              <a:ea typeface="Calibri"/>
              <a:cs typeface="Calibri"/>
              <a:sym typeface="Calibri"/>
            </a:endParaRPr>
          </a:p>
        </p:txBody>
      </p:sp>
      <p:sp>
        <p:nvSpPr>
          <p:cNvPr id="172" name="Google Shape;172;g3f9fc709246_0_142"/>
          <p:cNvSpPr/>
          <p:nvPr/>
        </p:nvSpPr>
        <p:spPr>
          <a:xfrm>
            <a:off x="9859975" y="6492240"/>
            <a:ext cx="1828800" cy="274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6 / 14</a:t>
            </a:r>
            <a:endParaRPr b="0" i="0" sz="800" u="none" cap="none" strike="noStrike">
              <a:solidFill>
                <a:schemeClr val="dk1"/>
              </a:solidFill>
              <a:latin typeface="Calibri"/>
              <a:ea typeface="Calibri"/>
              <a:cs typeface="Calibri"/>
              <a:sym typeface="Calibri"/>
            </a:endParaRPr>
          </a:p>
        </p:txBody>
      </p:sp>
      <p:graphicFrame>
        <p:nvGraphicFramePr>
          <p:cNvPr id="173" name="Google Shape;173;g3f9fc709246_0_142"/>
          <p:cNvGraphicFramePr/>
          <p:nvPr/>
        </p:nvGraphicFramePr>
        <p:xfrm>
          <a:off x="502920" y="1097280"/>
          <a:ext cx="3000000" cy="3000000"/>
        </p:xfrm>
        <a:graphic>
          <a:graphicData uri="http://schemas.openxmlformats.org/drawingml/2006/table">
            <a:tbl>
              <a:tblPr>
                <a:noFill/>
                <a:tableStyleId>{D06430FF-1EA4-43DA-9281-7FA02B2C65B5}</a:tableStyleId>
              </a:tblPr>
              <a:tblGrid>
                <a:gridCol w="2460900"/>
                <a:gridCol w="1677875"/>
                <a:gridCol w="2125300"/>
                <a:gridCol w="2237175"/>
                <a:gridCol w="2684600"/>
              </a:tblGrid>
              <a:tr h="548650">
                <a:tc>
                  <a:txBody>
                    <a:bodyPr/>
                    <a:lstStyle/>
                    <a:p>
                      <a:pPr indent="0" lvl="0" marL="0" marR="0" rtl="0" algn="l">
                        <a:lnSpc>
                          <a:spcPct val="100000"/>
                        </a:lnSpc>
                        <a:spcBef>
                          <a:spcPts val="0"/>
                        </a:spcBef>
                        <a:spcAft>
                          <a:spcPts val="0"/>
                        </a:spcAft>
                        <a:buClr>
                          <a:srgbClr val="FFFFFF"/>
                        </a:buClr>
                        <a:buSzPts val="850"/>
                        <a:buFont typeface="Arial"/>
                        <a:buNone/>
                      </a:pPr>
                      <a:r>
                        <a:rPr b="1" lang="en-US" sz="1200" u="none" cap="none" strike="noStrike">
                          <a:solidFill>
                            <a:srgbClr val="FFFFFF"/>
                          </a:solidFill>
                          <a:latin typeface="Arial"/>
                          <a:ea typeface="Arial"/>
                          <a:cs typeface="Arial"/>
                          <a:sym typeface="Arial"/>
                        </a:rPr>
                        <a:t>Mong muốn của phụ huynh</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004671"/>
                    </a:solidFill>
                  </a:tcPr>
                </a:tc>
                <a:tc>
                  <a:txBody>
                    <a:bodyPr/>
                    <a:lstStyle/>
                    <a:p>
                      <a:pPr indent="0" lvl="0" marL="0" marR="0" rtl="0" algn="l">
                        <a:lnSpc>
                          <a:spcPct val="100000"/>
                        </a:lnSpc>
                        <a:spcBef>
                          <a:spcPts val="0"/>
                        </a:spcBef>
                        <a:spcAft>
                          <a:spcPts val="0"/>
                        </a:spcAft>
                        <a:buClr>
                          <a:srgbClr val="FFFFFF"/>
                        </a:buClr>
                        <a:buSzPts val="850"/>
                        <a:buFont typeface="Arial"/>
                        <a:buNone/>
                      </a:pPr>
                      <a:r>
                        <a:rPr b="1" lang="en-US" sz="1200" u="none" cap="none" strike="noStrike">
                          <a:solidFill>
                            <a:srgbClr val="FFFFFF"/>
                          </a:solidFill>
                          <a:latin typeface="Arial"/>
                          <a:ea typeface="Arial"/>
                          <a:cs typeface="Arial"/>
                          <a:sym typeface="Arial"/>
                        </a:rPr>
                        <a:t>App tự học (60–200k)</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004671"/>
                    </a:solidFill>
                  </a:tcPr>
                </a:tc>
                <a:tc>
                  <a:txBody>
                    <a:bodyPr/>
                    <a:lstStyle/>
                    <a:p>
                      <a:pPr indent="0" lvl="0" marL="0" marR="0" rtl="0" algn="l">
                        <a:lnSpc>
                          <a:spcPct val="100000"/>
                        </a:lnSpc>
                        <a:spcBef>
                          <a:spcPts val="0"/>
                        </a:spcBef>
                        <a:spcAft>
                          <a:spcPts val="0"/>
                        </a:spcAft>
                        <a:buClr>
                          <a:srgbClr val="FFFFFF"/>
                        </a:buClr>
                        <a:buSzPts val="850"/>
                        <a:buFont typeface="Arial"/>
                        <a:buNone/>
                      </a:pPr>
                      <a:r>
                        <a:rPr b="1" lang="en-US" sz="1200" u="none" cap="none" strike="noStrike">
                          <a:solidFill>
                            <a:srgbClr val="FFFFFF"/>
                          </a:solidFill>
                          <a:latin typeface="Arial"/>
                          <a:ea typeface="Arial"/>
                          <a:cs typeface="Arial"/>
                          <a:sym typeface="Arial"/>
                        </a:rPr>
                        <a:t>Edupia AI Class hi</a:t>
                      </a:r>
                      <a:r>
                        <a:rPr b="1" lang="en-US" sz="1200">
                          <a:solidFill>
                            <a:srgbClr val="FFFFFF"/>
                          </a:solidFill>
                        </a:rPr>
                        <a:t>ện tại</a:t>
                      </a:r>
                      <a:r>
                        <a:rPr b="1" lang="en-US" sz="1200" u="none" cap="none" strike="noStrike">
                          <a:solidFill>
                            <a:srgbClr val="FFFFFF"/>
                          </a:solidFill>
                          <a:latin typeface="Arial"/>
                          <a:ea typeface="Arial"/>
                          <a:cs typeface="Arial"/>
                          <a:sym typeface="Arial"/>
                        </a:rPr>
                        <a:t> (250k)</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004671"/>
                    </a:solidFill>
                  </a:tcPr>
                </a:tc>
                <a:tc>
                  <a:txBody>
                    <a:bodyPr/>
                    <a:lstStyle/>
                    <a:p>
                      <a:pPr indent="0" lvl="0" marL="0" marR="0" rtl="0" algn="l">
                        <a:lnSpc>
                          <a:spcPct val="100000"/>
                        </a:lnSpc>
                        <a:spcBef>
                          <a:spcPts val="0"/>
                        </a:spcBef>
                        <a:spcAft>
                          <a:spcPts val="0"/>
                        </a:spcAft>
                        <a:buClr>
                          <a:srgbClr val="FFFFFF"/>
                        </a:buClr>
                        <a:buSzPts val="850"/>
                        <a:buFont typeface="Arial"/>
                        <a:buNone/>
                      </a:pPr>
                      <a:r>
                        <a:rPr b="1" lang="en-US" sz="1200" u="none" cap="none" strike="noStrike">
                          <a:solidFill>
                            <a:srgbClr val="FFFFFF"/>
                          </a:solidFill>
                          <a:latin typeface="Arial"/>
                          <a:ea typeface="Arial"/>
                          <a:cs typeface="Arial"/>
                          <a:sym typeface="Arial"/>
                        </a:rPr>
                        <a:t>Gia sư người thật (vài triệu)</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004671"/>
                    </a:solidFill>
                  </a:tcPr>
                </a:tc>
                <a:tc>
                  <a:txBody>
                    <a:bodyPr/>
                    <a:lstStyle/>
                    <a:p>
                      <a:pPr indent="0" lvl="0" marL="0" marR="0" rtl="0" algn="l">
                        <a:lnSpc>
                          <a:spcPct val="100000"/>
                        </a:lnSpc>
                        <a:spcBef>
                          <a:spcPts val="0"/>
                        </a:spcBef>
                        <a:spcAft>
                          <a:spcPts val="0"/>
                        </a:spcAft>
                        <a:buClr>
                          <a:srgbClr val="FFFFFF"/>
                        </a:buClr>
                        <a:buSzPts val="850"/>
                        <a:buFont typeface="Arial"/>
                        <a:buNone/>
                      </a:pPr>
                      <a:r>
                        <a:rPr b="1" lang="en-US" sz="1200" u="none" cap="none" strike="noStrike">
                          <a:solidFill>
                            <a:srgbClr val="FFFFFF"/>
                          </a:solidFill>
                          <a:latin typeface="Arial"/>
                          <a:ea typeface="Arial"/>
                          <a:cs typeface="Arial"/>
                          <a:sym typeface="Arial"/>
                        </a:rPr>
                        <a:t>Edupia AI Class Plus (~390k)</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004671"/>
                    </a:solidFill>
                  </a:tcPr>
                </a:tc>
              </a:tr>
              <a:tr h="548650">
                <a:tc>
                  <a:txBody>
                    <a:bodyPr/>
                    <a:lstStyle/>
                    <a:p>
                      <a:pPr indent="0" lvl="0" marL="0" marR="0" rtl="0" algn="l">
                        <a:lnSpc>
                          <a:spcPct val="100000"/>
                        </a:lnSpc>
                        <a:spcBef>
                          <a:spcPts val="0"/>
                        </a:spcBef>
                        <a:spcAft>
                          <a:spcPts val="0"/>
                        </a:spcAft>
                        <a:buClr>
                          <a:srgbClr val="004671"/>
                        </a:buClr>
                        <a:buSzPts val="850"/>
                        <a:buFont typeface="Arial"/>
                        <a:buNone/>
                      </a:pPr>
                      <a:r>
                        <a:rPr b="1" lang="en-US" sz="1200" u="none" cap="none" strike="noStrike">
                          <a:solidFill>
                            <a:srgbClr val="004671"/>
                          </a:solidFill>
                          <a:latin typeface="Arial"/>
                          <a:ea typeface="Arial"/>
                          <a:cs typeface="Arial"/>
                          <a:sym typeface="Arial"/>
                        </a:rPr>
                        <a:t>Có giáo viên thật dạy</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Không</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Có (Big Class)</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Có</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rPr>
                        <a:t>Có (Big Class Plus)</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r>
              <a:tr h="548650">
                <a:tc>
                  <a:txBody>
                    <a:bodyPr/>
                    <a:lstStyle/>
                    <a:p>
                      <a:pPr indent="0" lvl="0" marL="0" marR="0" rtl="0" algn="l">
                        <a:lnSpc>
                          <a:spcPct val="100000"/>
                        </a:lnSpc>
                        <a:spcBef>
                          <a:spcPts val="0"/>
                        </a:spcBef>
                        <a:spcAft>
                          <a:spcPts val="0"/>
                        </a:spcAft>
                        <a:buClr>
                          <a:srgbClr val="004671"/>
                        </a:buClr>
                        <a:buSzPts val="850"/>
                        <a:buFont typeface="Arial"/>
                        <a:buNone/>
                      </a:pPr>
                      <a:r>
                        <a:rPr b="1" lang="en-US" sz="1200" u="none" cap="none" strike="noStrike">
                          <a:solidFill>
                            <a:srgbClr val="004671"/>
                          </a:solidFill>
                          <a:latin typeface="Arial"/>
                          <a:ea typeface="Arial"/>
                          <a:cs typeface="Arial"/>
                          <a:sym typeface="Arial"/>
                        </a:rPr>
                        <a:t>Vá đúng lỗ hổng cá nhân</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Không</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Theo lớp, chưa tới từng NLO</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Tuỳ gia sư, không có dữ liệu</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Routing Engine theo NLO cá nhân</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r>
              <a:tr h="548650">
                <a:tc>
                  <a:txBody>
                    <a:bodyPr/>
                    <a:lstStyle/>
                    <a:p>
                      <a:pPr indent="0" lvl="0" marL="0" marR="0" rtl="0" algn="l">
                        <a:lnSpc>
                          <a:spcPct val="100000"/>
                        </a:lnSpc>
                        <a:spcBef>
                          <a:spcPts val="0"/>
                        </a:spcBef>
                        <a:spcAft>
                          <a:spcPts val="0"/>
                        </a:spcAft>
                        <a:buClr>
                          <a:srgbClr val="004671"/>
                        </a:buClr>
                        <a:buSzPts val="850"/>
                        <a:buFont typeface="Arial"/>
                        <a:buNone/>
                      </a:pPr>
                      <a:r>
                        <a:rPr b="1" lang="en-US" sz="1200" u="none" cap="none" strike="noStrike">
                          <a:solidFill>
                            <a:srgbClr val="004671"/>
                          </a:solidFill>
                          <a:latin typeface="Arial"/>
                          <a:ea typeface="Arial"/>
                          <a:cs typeface="Arial"/>
                          <a:sym typeface="Arial"/>
                        </a:rPr>
                        <a:t>Báo cáo tiến bộ đo được</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Hiếm</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Chung chung</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Không có</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Mastery Map theo NLO </a:t>
                      </a:r>
                      <a:r>
                        <a:rPr lang="en-US" sz="1200" u="none" cap="none" strike="noStrike">
                          <a:solidFill>
                            <a:srgbClr val="333333"/>
                          </a:solidFill>
                        </a:rPr>
                        <a:t>thông qua Parent Mode</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r>
              <a:tr h="548650">
                <a:tc>
                  <a:txBody>
                    <a:bodyPr/>
                    <a:lstStyle/>
                    <a:p>
                      <a:pPr indent="0" lvl="0" marL="0" marR="0" rtl="0" algn="l">
                        <a:lnSpc>
                          <a:spcPct val="100000"/>
                        </a:lnSpc>
                        <a:spcBef>
                          <a:spcPts val="0"/>
                        </a:spcBef>
                        <a:spcAft>
                          <a:spcPts val="0"/>
                        </a:spcAft>
                        <a:buClr>
                          <a:srgbClr val="004671"/>
                        </a:buClr>
                        <a:buSzPts val="850"/>
                        <a:buFont typeface="Arial"/>
                        <a:buNone/>
                      </a:pPr>
                      <a:r>
                        <a:rPr b="1" lang="en-US" sz="1200" u="none" cap="none" strike="noStrike">
                          <a:solidFill>
                            <a:srgbClr val="004671"/>
                          </a:solidFill>
                          <a:latin typeface="Arial"/>
                          <a:ea typeface="Arial"/>
                          <a:cs typeface="Arial"/>
                          <a:sym typeface="Arial"/>
                        </a:rPr>
                        <a:t>Phụ huynh không phải tự kèm</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Không</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Một phần</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Có</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Có (A</a:t>
                      </a:r>
                      <a:r>
                        <a:rPr lang="en-US" sz="1200" u="none" cap="none" strike="noStrike">
                          <a:solidFill>
                            <a:srgbClr val="333333"/>
                          </a:solidFill>
                        </a:rPr>
                        <a:t>daptive</a:t>
                      </a:r>
                      <a:r>
                        <a:rPr lang="en-US" sz="1200" u="none" cap="none" strike="noStrike">
                          <a:solidFill>
                            <a:srgbClr val="333333"/>
                          </a:solidFill>
                          <a:latin typeface="Arial"/>
                          <a:ea typeface="Arial"/>
                          <a:cs typeface="Arial"/>
                          <a:sym typeface="Arial"/>
                        </a:rPr>
                        <a:t> + GVCN)</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r>
              <a:tr h="548650">
                <a:tc>
                  <a:txBody>
                    <a:bodyPr/>
                    <a:lstStyle/>
                    <a:p>
                      <a:pPr indent="0" lvl="0" marL="0" marR="0" rtl="0" algn="l">
                        <a:lnSpc>
                          <a:spcPct val="100000"/>
                        </a:lnSpc>
                        <a:spcBef>
                          <a:spcPts val="0"/>
                        </a:spcBef>
                        <a:spcAft>
                          <a:spcPts val="0"/>
                        </a:spcAft>
                        <a:buClr>
                          <a:srgbClr val="004671"/>
                        </a:buClr>
                        <a:buSzPts val="850"/>
                        <a:buFont typeface="Arial"/>
                        <a:buNone/>
                      </a:pPr>
                      <a:r>
                        <a:rPr b="1" lang="en-US" sz="1200" u="none" cap="none" strike="noStrike">
                          <a:solidFill>
                            <a:srgbClr val="004671"/>
                          </a:solidFill>
                          <a:latin typeface="Arial"/>
                          <a:ea typeface="Arial"/>
                          <a:cs typeface="Arial"/>
                          <a:sym typeface="Arial"/>
                        </a:rPr>
                        <a:t>Chi phí/tháng</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60–200k</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~250k</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Vài triệu</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850"/>
                        <a:buFont typeface="Arial"/>
                        <a:buNone/>
                      </a:pPr>
                      <a:r>
                        <a:rPr lang="en-US" sz="1200" u="none" cap="none" strike="noStrike">
                          <a:solidFill>
                            <a:srgbClr val="333333"/>
                          </a:solidFill>
                          <a:latin typeface="Arial"/>
                          <a:ea typeface="Arial"/>
                          <a:cs typeface="Arial"/>
                          <a:sym typeface="Arial"/>
                        </a:rPr>
                        <a:t>~390k</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4671"/>
        </a:solidFill>
      </p:bgPr>
    </p:bg>
    <p:spTree>
      <p:nvGrpSpPr>
        <p:cNvPr id="178" name="Shape 178"/>
        <p:cNvGrpSpPr/>
        <p:nvPr/>
      </p:nvGrpSpPr>
      <p:grpSpPr>
        <a:xfrm>
          <a:off x="0" y="0"/>
          <a:ext cx="0" cy="0"/>
          <a:chOff x="0" y="0"/>
          <a:chExt cx="0" cy="0"/>
        </a:xfrm>
      </p:grpSpPr>
      <p:sp>
        <p:nvSpPr>
          <p:cNvPr id="179" name="Google Shape;179;g3f9fc709246_0_153"/>
          <p:cNvSpPr/>
          <p:nvPr/>
        </p:nvSpPr>
        <p:spPr>
          <a:xfrm>
            <a:off x="0" y="0"/>
            <a:ext cx="4480500" cy="6858000"/>
          </a:xfrm>
          <a:prstGeom prst="rect">
            <a:avLst/>
          </a:prstGeom>
          <a:solidFill>
            <a:srgbClr val="003A5C"/>
          </a:solidFill>
          <a:ln cap="flat" cmpd="sng" w="12700">
            <a:solidFill>
              <a:srgbClr val="003A5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g3f9fc709246_0_153"/>
          <p:cNvSpPr/>
          <p:nvPr/>
        </p:nvSpPr>
        <p:spPr>
          <a:xfrm>
            <a:off x="0" y="0"/>
            <a:ext cx="12191700" cy="1188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1" name="Google Shape;181;g3f9fc709246_0_153"/>
          <p:cNvSpPr/>
          <p:nvPr/>
        </p:nvSpPr>
        <p:spPr>
          <a:xfrm>
            <a:off x="640080" y="2286000"/>
            <a:ext cx="2743200" cy="10059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A5BE00"/>
              </a:buClr>
              <a:buSzPts val="4000"/>
              <a:buFont typeface="Arial"/>
              <a:buNone/>
            </a:pPr>
            <a:r>
              <a:rPr b="1" i="0" lang="en-US" sz="4000" u="none" cap="none" strike="noStrike">
                <a:solidFill>
                  <a:srgbClr val="A5BE00"/>
                </a:solidFill>
                <a:latin typeface="Arial"/>
                <a:ea typeface="Arial"/>
                <a:cs typeface="Arial"/>
                <a:sym typeface="Arial"/>
              </a:rPr>
              <a:t>04</a:t>
            </a:r>
            <a:endParaRPr b="0" i="0" sz="4000" u="none" cap="none" strike="noStrike">
              <a:solidFill>
                <a:schemeClr val="dk1"/>
              </a:solidFill>
              <a:latin typeface="Calibri"/>
              <a:ea typeface="Calibri"/>
              <a:cs typeface="Calibri"/>
              <a:sym typeface="Calibri"/>
            </a:endParaRPr>
          </a:p>
        </p:txBody>
      </p:sp>
      <p:sp>
        <p:nvSpPr>
          <p:cNvPr id="182" name="Google Shape;182;g3f9fc709246_0_153"/>
          <p:cNvSpPr/>
          <p:nvPr/>
        </p:nvSpPr>
        <p:spPr>
          <a:xfrm>
            <a:off x="640080" y="3063240"/>
            <a:ext cx="10607100" cy="128010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FFFFFF"/>
              </a:buClr>
              <a:buSzPts val="3000"/>
              <a:buFont typeface="Arial"/>
              <a:buNone/>
            </a:pPr>
            <a:r>
              <a:rPr b="1" i="0" lang="en-US" sz="3000" u="none" cap="none" strike="noStrike">
                <a:solidFill>
                  <a:srgbClr val="FFFFFF"/>
                </a:solidFill>
                <a:latin typeface="Arial"/>
                <a:ea typeface="Arial"/>
                <a:cs typeface="Arial"/>
                <a:sym typeface="Arial"/>
              </a:rPr>
              <a:t>CẤU TRÚC SẢN PHẨM VÀ MÔ TẢ TÍNH NĂNG</a:t>
            </a:r>
            <a:endParaRPr b="0" i="0" sz="3000" u="none" cap="none" strike="noStrike">
              <a:solidFill>
                <a:schemeClr val="dk1"/>
              </a:solidFill>
              <a:latin typeface="Calibri"/>
              <a:ea typeface="Calibri"/>
              <a:cs typeface="Calibri"/>
              <a:sym typeface="Calibri"/>
            </a:endParaRPr>
          </a:p>
        </p:txBody>
      </p:sp>
      <p:sp>
        <p:nvSpPr>
          <p:cNvPr id="183" name="Google Shape;183;g3f9fc709246_0_153"/>
          <p:cNvSpPr/>
          <p:nvPr/>
        </p:nvSpPr>
        <p:spPr>
          <a:xfrm>
            <a:off x="640080" y="5806440"/>
            <a:ext cx="2743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1200"/>
              <a:buFont typeface="Arial"/>
              <a:buNone/>
            </a:pPr>
            <a:r>
              <a:rPr b="1" i="0" lang="en-US" sz="1200" u="none" cap="none" strike="noStrike">
                <a:solidFill>
                  <a:srgbClr val="FFFFFF"/>
                </a:solidFill>
                <a:latin typeface="Arial"/>
                <a:ea typeface="Arial"/>
                <a:cs typeface="Arial"/>
                <a:sym typeface="Arial"/>
              </a:rPr>
              <a:t>EDUPIA</a:t>
            </a:r>
            <a:endParaRPr b="0" i="0" sz="1200" u="none" cap="none" strike="noStrike">
              <a:solidFill>
                <a:schemeClr val="dk1"/>
              </a:solidFill>
              <a:latin typeface="Calibri"/>
              <a:ea typeface="Calibri"/>
              <a:cs typeface="Calibri"/>
              <a:sym typeface="Calibri"/>
            </a:endParaRPr>
          </a:p>
        </p:txBody>
      </p:sp>
      <p:sp>
        <p:nvSpPr>
          <p:cNvPr id="184" name="Google Shape;184;g3f9fc709246_0_153"/>
          <p:cNvSpPr/>
          <p:nvPr/>
        </p:nvSpPr>
        <p:spPr>
          <a:xfrm>
            <a:off x="640080" y="6089904"/>
            <a:ext cx="2743200" cy="201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C7E08A"/>
              </a:buClr>
              <a:buSzPts val="750"/>
              <a:buFont typeface="Arial"/>
              <a:buNone/>
            </a:pPr>
            <a:r>
              <a:rPr b="1" i="0" lang="en-US" sz="750" u="none" cap="none" strike="noStrike">
                <a:solidFill>
                  <a:srgbClr val="C7E08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9" name="Shape 189"/>
        <p:cNvGrpSpPr/>
        <p:nvPr/>
      </p:nvGrpSpPr>
      <p:grpSpPr>
        <a:xfrm>
          <a:off x="0" y="0"/>
          <a:ext cx="0" cy="0"/>
          <a:chOff x="0" y="0"/>
          <a:chExt cx="0" cy="0"/>
        </a:xfrm>
      </p:grpSpPr>
      <p:sp>
        <p:nvSpPr>
          <p:cNvPr id="190" name="Google Shape;190;g3f9fc709246_0_163"/>
          <p:cNvSpPr/>
          <p:nvPr/>
        </p:nvSpPr>
        <p:spPr>
          <a:xfrm>
            <a:off x="8778240" y="301752"/>
            <a:ext cx="29079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EDUPIA</a:t>
            </a:r>
            <a:endParaRPr b="0" i="0" sz="1300" u="none" cap="none" strike="noStrike">
              <a:solidFill>
                <a:schemeClr val="dk1"/>
              </a:solidFill>
              <a:latin typeface="Calibri"/>
              <a:ea typeface="Calibri"/>
              <a:cs typeface="Calibri"/>
              <a:sym typeface="Calibri"/>
            </a:endParaRPr>
          </a:p>
        </p:txBody>
      </p:sp>
      <p:sp>
        <p:nvSpPr>
          <p:cNvPr id="191" name="Google Shape;191;g3f9fc709246_0_163"/>
          <p:cNvSpPr/>
          <p:nvPr/>
        </p:nvSpPr>
        <p:spPr>
          <a:xfrm>
            <a:off x="8778240" y="576072"/>
            <a:ext cx="2907900" cy="1830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1720A"/>
              </a:buClr>
              <a:buSzPts val="750"/>
              <a:buFont typeface="Arial"/>
              <a:buNone/>
            </a:pPr>
            <a:r>
              <a:rPr b="1" i="0" lang="en-US" sz="750" u="none" cap="none" strike="noStrike">
                <a:solidFill>
                  <a:srgbClr val="51720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
        <p:nvSpPr>
          <p:cNvPr id="192" name="Google Shape;192;g3f9fc709246_0_163"/>
          <p:cNvSpPr/>
          <p:nvPr/>
        </p:nvSpPr>
        <p:spPr>
          <a:xfrm>
            <a:off x="502920" y="365760"/>
            <a:ext cx="80925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2100"/>
              <a:buFont typeface="Arial"/>
              <a:buNone/>
            </a:pPr>
            <a:r>
              <a:rPr b="1" i="0" lang="en-US" sz="2100" u="none" cap="none" strike="noStrike">
                <a:solidFill>
                  <a:srgbClr val="004671"/>
                </a:solidFill>
                <a:latin typeface="Arial"/>
                <a:ea typeface="Arial"/>
                <a:cs typeface="Arial"/>
                <a:sym typeface="Arial"/>
              </a:rPr>
              <a:t>Cấu trúc sản phẩm Edupia AI Class Plus</a:t>
            </a:r>
            <a:endParaRPr b="0" i="0" sz="2100" u="none" cap="none" strike="noStrike">
              <a:solidFill>
                <a:schemeClr val="dk1"/>
              </a:solidFill>
              <a:latin typeface="Calibri"/>
              <a:ea typeface="Calibri"/>
              <a:cs typeface="Calibri"/>
              <a:sym typeface="Calibri"/>
            </a:endParaRPr>
          </a:p>
        </p:txBody>
      </p:sp>
      <p:cxnSp>
        <p:nvCxnSpPr>
          <p:cNvPr id="193" name="Google Shape;193;g3f9fc709246_0_163"/>
          <p:cNvCxnSpPr/>
          <p:nvPr/>
        </p:nvCxnSpPr>
        <p:spPr>
          <a:xfrm>
            <a:off x="502920" y="6437376"/>
            <a:ext cx="11185800" cy="0"/>
          </a:xfrm>
          <a:prstGeom prst="straightConnector1">
            <a:avLst/>
          </a:prstGeom>
          <a:noFill/>
          <a:ln cap="flat" cmpd="sng" w="19050">
            <a:solidFill>
              <a:srgbClr val="A5BE00"/>
            </a:solidFill>
            <a:prstDash val="solid"/>
            <a:round/>
            <a:headEnd len="sm" w="sm" type="none"/>
            <a:tailEnd len="sm" w="sm" type="none"/>
          </a:ln>
        </p:spPr>
      </p:cxnSp>
      <p:sp>
        <p:nvSpPr>
          <p:cNvPr id="194" name="Google Shape;194;g3f9fc709246_0_163"/>
          <p:cNvSpPr/>
          <p:nvPr/>
        </p:nvSpPr>
        <p:spPr>
          <a:xfrm>
            <a:off x="502920" y="6492240"/>
            <a:ext cx="7315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Edupia AI Class Plus · Concept 1.2 — Adaptive Learning</a:t>
            </a:r>
            <a:endParaRPr b="0" i="0" sz="800" u="none" cap="none" strike="noStrike">
              <a:solidFill>
                <a:schemeClr val="dk1"/>
              </a:solidFill>
              <a:latin typeface="Calibri"/>
              <a:ea typeface="Calibri"/>
              <a:cs typeface="Calibri"/>
              <a:sym typeface="Calibri"/>
            </a:endParaRPr>
          </a:p>
        </p:txBody>
      </p:sp>
      <p:sp>
        <p:nvSpPr>
          <p:cNvPr id="195" name="Google Shape;195;g3f9fc709246_0_163"/>
          <p:cNvSpPr/>
          <p:nvPr/>
        </p:nvSpPr>
        <p:spPr>
          <a:xfrm>
            <a:off x="9859975" y="6492240"/>
            <a:ext cx="1828800" cy="274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7 / 14</a:t>
            </a:r>
            <a:endParaRPr b="0" i="0" sz="800" u="none" cap="none" strike="noStrike">
              <a:solidFill>
                <a:schemeClr val="dk1"/>
              </a:solidFill>
              <a:latin typeface="Calibri"/>
              <a:ea typeface="Calibri"/>
              <a:cs typeface="Calibri"/>
              <a:sym typeface="Calibri"/>
            </a:endParaRPr>
          </a:p>
        </p:txBody>
      </p:sp>
      <p:sp>
        <p:nvSpPr>
          <p:cNvPr id="196" name="Google Shape;196;g3f9fc709246_0_163"/>
          <p:cNvSpPr/>
          <p:nvPr/>
        </p:nvSpPr>
        <p:spPr>
          <a:xfrm>
            <a:off x="502925" y="1287125"/>
            <a:ext cx="11185800" cy="6558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7" name="Google Shape;197;g3f9fc709246_0_163"/>
          <p:cNvSpPr/>
          <p:nvPr/>
        </p:nvSpPr>
        <p:spPr>
          <a:xfrm>
            <a:off x="731520" y="1295400"/>
            <a:ext cx="10728600" cy="603600"/>
          </a:xfrm>
          <a:prstGeom prst="rect">
            <a:avLst/>
          </a:prstGeom>
          <a:noFill/>
          <a:ln>
            <a:noFill/>
          </a:ln>
        </p:spPr>
        <p:txBody>
          <a:bodyPr anchorCtr="0" anchor="ctr" bIns="45700" lIns="91425" spcFirstLastPara="1" rIns="91425" wrap="square" tIns="45700">
            <a:noAutofit/>
          </a:bodyPr>
          <a:lstStyle/>
          <a:p>
            <a:pPr indent="0" lvl="0" marL="0" marR="0" rtl="0" algn="l">
              <a:lnSpc>
                <a:spcPct val="105000"/>
              </a:lnSpc>
              <a:spcBef>
                <a:spcPts val="0"/>
              </a:spcBef>
              <a:spcAft>
                <a:spcPts val="0"/>
              </a:spcAft>
              <a:buClr>
                <a:srgbClr val="2E3D00"/>
              </a:buClr>
              <a:buSzPts val="900"/>
              <a:buFont typeface="Arial"/>
              <a:buNone/>
            </a:pPr>
            <a:r>
              <a:rPr b="1" i="0" lang="en-US" sz="1200" u="none" cap="none" strike="noStrike">
                <a:solidFill>
                  <a:srgbClr val="2E3D00"/>
                </a:solidFill>
                <a:latin typeface="Arial"/>
                <a:ea typeface="Arial"/>
                <a:cs typeface="Arial"/>
                <a:sym typeface="Arial"/>
              </a:rPr>
              <a:t>— Nội dung: </a:t>
            </a:r>
            <a:r>
              <a:rPr b="0" i="0" lang="en-US" sz="1200" u="none" cap="none" strike="noStrike">
                <a:solidFill>
                  <a:srgbClr val="2E3D00"/>
                </a:solidFill>
                <a:latin typeface="Arial"/>
                <a:ea typeface="Arial"/>
                <a:cs typeface="Arial"/>
                <a:sym typeface="Arial"/>
              </a:rPr>
              <a:t>cá nhân hoá theo 1.473 đơn vị kiến thức (NLO Taxonomy), bám sát SGK Global Success.  </a:t>
            </a:r>
            <a:endParaRPr b="0" i="0" sz="1200" u="none" cap="none" strike="noStrike">
              <a:solidFill>
                <a:srgbClr val="2E3D00"/>
              </a:solidFill>
              <a:latin typeface="Arial"/>
              <a:ea typeface="Arial"/>
              <a:cs typeface="Arial"/>
              <a:sym typeface="Arial"/>
            </a:endParaRPr>
          </a:p>
          <a:p>
            <a:pPr indent="0" lvl="0" marL="0" marR="0" rtl="0" algn="l">
              <a:lnSpc>
                <a:spcPct val="105000"/>
              </a:lnSpc>
              <a:spcBef>
                <a:spcPts val="0"/>
              </a:spcBef>
              <a:spcAft>
                <a:spcPts val="0"/>
              </a:spcAft>
              <a:buClr>
                <a:srgbClr val="2E3D00"/>
              </a:buClr>
              <a:buSzPts val="900"/>
              <a:buFont typeface="Arial"/>
              <a:buNone/>
            </a:pPr>
            <a:r>
              <a:rPr b="1" i="0" lang="en-US" sz="1200" u="none" cap="none" strike="noStrike">
                <a:solidFill>
                  <a:srgbClr val="2E3D00"/>
                </a:solidFill>
                <a:latin typeface="Arial"/>
                <a:ea typeface="Arial"/>
                <a:cs typeface="Arial"/>
                <a:sym typeface="Arial"/>
              </a:rPr>
              <a:t>— Mastery Profile: </a:t>
            </a:r>
            <a:r>
              <a:rPr b="0" i="0" lang="en-US" sz="1200" u="none" cap="none" strike="noStrike">
                <a:solidFill>
                  <a:srgbClr val="3B4A0A"/>
                </a:solidFill>
                <a:latin typeface="Arial"/>
                <a:ea typeface="Arial"/>
                <a:cs typeface="Arial"/>
                <a:sym typeface="Arial"/>
              </a:rPr>
              <a:t>Tầng Adaptive Learning (Gap Detection → Routing Engine) chọn đúng lỗ hổng cho mọi thành phần.</a:t>
            </a:r>
            <a:endParaRPr b="0" i="0" sz="1200" u="none" cap="none" strike="noStrike">
              <a:solidFill>
                <a:schemeClr val="dk1"/>
              </a:solidFill>
              <a:latin typeface="Calibri"/>
              <a:ea typeface="Calibri"/>
              <a:cs typeface="Calibri"/>
              <a:sym typeface="Calibri"/>
            </a:endParaRPr>
          </a:p>
        </p:txBody>
      </p:sp>
      <p:graphicFrame>
        <p:nvGraphicFramePr>
          <p:cNvPr id="198" name="Google Shape;198;g3f9fc709246_0_163"/>
          <p:cNvGraphicFramePr/>
          <p:nvPr/>
        </p:nvGraphicFramePr>
        <p:xfrm>
          <a:off x="502920" y="2529840"/>
          <a:ext cx="3000000" cy="3000000"/>
        </p:xfrm>
        <a:graphic>
          <a:graphicData uri="http://schemas.openxmlformats.org/drawingml/2006/table">
            <a:tbl>
              <a:tblPr>
                <a:noFill/>
                <a:tableStyleId>{D06430FF-1EA4-43DA-9281-7FA02B2C65B5}</a:tableStyleId>
              </a:tblPr>
              <a:tblGrid>
                <a:gridCol w="3020175"/>
                <a:gridCol w="2460900"/>
                <a:gridCol w="5704775"/>
              </a:tblGrid>
              <a:tr h="402325">
                <a:tc>
                  <a:txBody>
                    <a:bodyPr/>
                    <a:lstStyle/>
                    <a:p>
                      <a:pPr indent="0" lvl="0" marL="0" marR="0" rtl="0" algn="l">
                        <a:lnSpc>
                          <a:spcPct val="100000"/>
                        </a:lnSpc>
                        <a:spcBef>
                          <a:spcPts val="0"/>
                        </a:spcBef>
                        <a:spcAft>
                          <a:spcPts val="0"/>
                        </a:spcAft>
                        <a:buClr>
                          <a:srgbClr val="FFFFFF"/>
                        </a:buClr>
                        <a:buSzPts val="1100"/>
                        <a:buFont typeface="Arial"/>
                        <a:buNone/>
                      </a:pPr>
                      <a:r>
                        <a:rPr b="1" lang="en-US" sz="1200" u="none" cap="none" strike="noStrike">
                          <a:solidFill>
                            <a:srgbClr val="FFFFFF"/>
                          </a:solidFill>
                          <a:latin typeface="Arial"/>
                          <a:ea typeface="Arial"/>
                          <a:cs typeface="Arial"/>
                          <a:sym typeface="Arial"/>
                        </a:rPr>
                        <a:t>Thành phần</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004671"/>
                    </a:solidFill>
                  </a:tcPr>
                </a:tc>
                <a:tc>
                  <a:txBody>
                    <a:bodyPr/>
                    <a:lstStyle/>
                    <a:p>
                      <a:pPr indent="0" lvl="0" marL="0" marR="0" rtl="0" algn="l">
                        <a:lnSpc>
                          <a:spcPct val="100000"/>
                        </a:lnSpc>
                        <a:spcBef>
                          <a:spcPts val="0"/>
                        </a:spcBef>
                        <a:spcAft>
                          <a:spcPts val="0"/>
                        </a:spcAft>
                        <a:buClr>
                          <a:srgbClr val="FFFFFF"/>
                        </a:buClr>
                        <a:buSzPts val="1100"/>
                        <a:buFont typeface="Arial"/>
                        <a:buNone/>
                      </a:pPr>
                      <a:r>
                        <a:rPr b="1" lang="en-US" sz="1200" u="none" cap="none" strike="noStrike">
                          <a:solidFill>
                            <a:srgbClr val="FFFFFF"/>
                          </a:solidFill>
                          <a:latin typeface="Arial"/>
                          <a:ea typeface="Arial"/>
                          <a:cs typeface="Arial"/>
                          <a:sym typeface="Arial"/>
                        </a:rPr>
                        <a:t>Tần suất</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004671"/>
                    </a:solidFill>
                  </a:tcPr>
                </a:tc>
                <a:tc>
                  <a:txBody>
                    <a:bodyPr/>
                    <a:lstStyle/>
                    <a:p>
                      <a:pPr indent="0" lvl="0" marL="0" marR="0" rtl="0" algn="l">
                        <a:lnSpc>
                          <a:spcPct val="100000"/>
                        </a:lnSpc>
                        <a:spcBef>
                          <a:spcPts val="0"/>
                        </a:spcBef>
                        <a:spcAft>
                          <a:spcPts val="0"/>
                        </a:spcAft>
                        <a:buClr>
                          <a:srgbClr val="FFFFFF"/>
                        </a:buClr>
                        <a:buSzPts val="1100"/>
                        <a:buFont typeface="Arial"/>
                        <a:buNone/>
                      </a:pPr>
                      <a:r>
                        <a:rPr b="1" lang="en-US" sz="1200" u="none" cap="none" strike="noStrike">
                          <a:solidFill>
                            <a:srgbClr val="FFFFFF"/>
                          </a:solidFill>
                          <a:latin typeface="Arial"/>
                          <a:ea typeface="Arial"/>
                          <a:cs typeface="Arial"/>
                          <a:sym typeface="Arial"/>
                        </a:rPr>
                        <a:t>Vai trò</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004671"/>
                    </a:solidFill>
                  </a:tcPr>
                </a:tc>
              </a:tr>
              <a:tr h="402325">
                <a:tc>
                  <a:txBody>
                    <a:bodyPr/>
                    <a:lstStyle/>
                    <a:p>
                      <a:pPr indent="0" lvl="0" marL="0" marR="0" rtl="0" algn="l">
                        <a:lnSpc>
                          <a:spcPct val="100000"/>
                        </a:lnSpc>
                        <a:spcBef>
                          <a:spcPts val="0"/>
                        </a:spcBef>
                        <a:spcAft>
                          <a:spcPts val="0"/>
                        </a:spcAft>
                        <a:buClr>
                          <a:srgbClr val="004671"/>
                        </a:buClr>
                        <a:buSzPts val="900"/>
                        <a:buFont typeface="Arial"/>
                        <a:buNone/>
                      </a:pPr>
                      <a:r>
                        <a:rPr b="1" lang="en-US" sz="1200" u="none" cap="none" strike="noStrike">
                          <a:solidFill>
                            <a:srgbClr val="004671"/>
                          </a:solidFill>
                          <a:latin typeface="Arial"/>
                          <a:ea typeface="Arial"/>
                          <a:cs typeface="Arial"/>
                          <a:sym typeface="Arial"/>
                        </a:rPr>
                        <a:t>Big Class </a:t>
                      </a:r>
                      <a:r>
                        <a:rPr b="1" lang="en-US" sz="1200" u="none" cap="none" strike="noStrike">
                          <a:solidFill>
                            <a:srgbClr val="004671"/>
                          </a:solidFill>
                        </a:rPr>
                        <a:t>Plus</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900"/>
                        <a:buFont typeface="Arial"/>
                        <a:buNone/>
                      </a:pPr>
                      <a:r>
                        <a:rPr lang="en-US" sz="1200" u="none" cap="none" strike="noStrike">
                          <a:solidFill>
                            <a:srgbClr val="333333"/>
                          </a:solidFill>
                          <a:latin typeface="Arial"/>
                          <a:ea typeface="Arial"/>
                          <a:cs typeface="Arial"/>
                          <a:sym typeface="Arial"/>
                        </a:rPr>
                        <a:t>2 buổi/tuần</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900"/>
                        <a:buFont typeface="Arial"/>
                        <a:buNone/>
                      </a:pPr>
                      <a:r>
                        <a:rPr lang="en-US" sz="1200" u="none" cap="none" strike="noStrike">
                          <a:solidFill>
                            <a:srgbClr val="333333"/>
                          </a:solidFill>
                          <a:latin typeface="Arial"/>
                          <a:ea typeface="Arial"/>
                          <a:cs typeface="Arial"/>
                          <a:sym typeface="Arial"/>
                        </a:rPr>
                        <a:t>Giáo viên </a:t>
                      </a:r>
                      <a:r>
                        <a:rPr lang="en-US" sz="1200" u="none" cap="none" strike="noStrike">
                          <a:solidFill>
                            <a:srgbClr val="333333"/>
                          </a:solidFill>
                        </a:rPr>
                        <a:t>Star </a:t>
                      </a:r>
                      <a:r>
                        <a:rPr lang="en-US" sz="1200" u="none" cap="none" strike="noStrike">
                          <a:solidFill>
                            <a:srgbClr val="333333"/>
                          </a:solidFill>
                          <a:latin typeface="Arial"/>
                          <a:ea typeface="Arial"/>
                          <a:cs typeface="Arial"/>
                          <a:sym typeface="Arial"/>
                        </a:rPr>
                        <a:t>dạy live bám SGK</a:t>
                      </a:r>
                      <a:r>
                        <a:rPr lang="en-US" sz="1200" u="none" cap="none" strike="noStrike">
                          <a:solidFill>
                            <a:srgbClr val="333333"/>
                          </a:solidFill>
                        </a:rPr>
                        <a:t>: gọi tên con, động viên và tương tác với con . G</a:t>
                      </a:r>
                      <a:r>
                        <a:rPr lang="en-US" sz="1200" u="none" cap="none" strike="noStrike">
                          <a:solidFill>
                            <a:srgbClr val="333333"/>
                          </a:solidFill>
                          <a:latin typeface="Arial"/>
                          <a:ea typeface="Arial"/>
                          <a:cs typeface="Arial"/>
                          <a:sym typeface="Arial"/>
                        </a:rPr>
                        <a:t>án NLO cho từng học sinh </a:t>
                      </a:r>
                      <a:r>
                        <a:rPr lang="en-US" sz="1200" u="none" cap="none" strike="noStrike">
                          <a:solidFill>
                            <a:srgbClr val="333333"/>
                          </a:solidFill>
                        </a:rPr>
                        <a:t>để phát hiện lỗ hổng kiến thức</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r>
              <a:tr h="402325">
                <a:tc>
                  <a:txBody>
                    <a:bodyPr/>
                    <a:lstStyle/>
                    <a:p>
                      <a:pPr indent="0" lvl="0" marL="0" marR="0" rtl="0" algn="l">
                        <a:lnSpc>
                          <a:spcPct val="100000"/>
                        </a:lnSpc>
                        <a:spcBef>
                          <a:spcPts val="0"/>
                        </a:spcBef>
                        <a:spcAft>
                          <a:spcPts val="0"/>
                        </a:spcAft>
                        <a:buClr>
                          <a:srgbClr val="004671"/>
                        </a:buClr>
                        <a:buSzPts val="900"/>
                        <a:buFont typeface="Arial"/>
                        <a:buNone/>
                      </a:pPr>
                      <a:r>
                        <a:rPr b="1" lang="en-US" sz="1200" u="none" cap="none" strike="noStrike">
                          <a:solidFill>
                            <a:srgbClr val="004671"/>
                          </a:solidFill>
                          <a:latin typeface="Arial"/>
                          <a:ea typeface="Arial"/>
                          <a:cs typeface="Arial"/>
                          <a:sym typeface="Arial"/>
                        </a:rPr>
                        <a:t>+ AI Tutor (kèm riêng 30 phút cuối buổi)</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900"/>
                        <a:buFont typeface="Arial"/>
                        <a:buNone/>
                      </a:pPr>
                      <a:r>
                        <a:rPr lang="en-US" sz="1200" u="none" cap="none" strike="noStrike">
                          <a:solidFill>
                            <a:srgbClr val="333333"/>
                          </a:solidFill>
                          <a:latin typeface="Arial"/>
                          <a:ea typeface="Arial"/>
                          <a:cs typeface="Arial"/>
                          <a:sym typeface="Arial"/>
                        </a:rPr>
                        <a:t>30 phút cuối mỗi buổi Big Class Plus</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900"/>
                        <a:buFont typeface="Arial"/>
                        <a:buNone/>
                      </a:pPr>
                      <a:r>
                        <a:rPr lang="en-US" sz="1200" u="none" cap="none" strike="noStrike">
                          <a:solidFill>
                            <a:srgbClr val="333333"/>
                          </a:solidFill>
                          <a:latin typeface="Arial"/>
                          <a:ea typeface="Arial"/>
                          <a:cs typeface="Arial"/>
                          <a:sym typeface="Arial"/>
                        </a:rPr>
                        <a:t>Gia sư AI kèm 1-1 vá đúng lỗ hổng NLO vừa phát hiện; trợ giảng AI tổng kết buổi và giao BTVN Adaptive tương ứng.</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r>
              <a:tr h="402325">
                <a:tc>
                  <a:txBody>
                    <a:bodyPr/>
                    <a:lstStyle/>
                    <a:p>
                      <a:pPr indent="0" lvl="0" marL="0" marR="0" rtl="0" algn="l">
                        <a:lnSpc>
                          <a:spcPct val="100000"/>
                        </a:lnSpc>
                        <a:spcBef>
                          <a:spcPts val="0"/>
                        </a:spcBef>
                        <a:spcAft>
                          <a:spcPts val="0"/>
                        </a:spcAft>
                        <a:buClr>
                          <a:srgbClr val="004671"/>
                        </a:buClr>
                        <a:buSzPts val="900"/>
                        <a:buFont typeface="Arial"/>
                        <a:buNone/>
                      </a:pPr>
                      <a:r>
                        <a:rPr b="1" lang="en-US" sz="1200" u="none" cap="none" strike="noStrike">
                          <a:solidFill>
                            <a:srgbClr val="004671"/>
                          </a:solidFill>
                          <a:latin typeface="Arial"/>
                          <a:ea typeface="Arial"/>
                          <a:cs typeface="Arial"/>
                          <a:sym typeface="Arial"/>
                        </a:rPr>
                        <a:t>+ BTVN Adaptive / AI Practice</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900"/>
                        <a:buFont typeface="Arial"/>
                        <a:buNone/>
                      </a:pPr>
                      <a:r>
                        <a:rPr lang="en-US" sz="1200" u="none" cap="none" strike="noStrike">
                          <a:solidFill>
                            <a:srgbClr val="333333"/>
                          </a:solidFill>
                          <a:latin typeface="Arial"/>
                          <a:ea typeface="Arial"/>
                          <a:cs typeface="Arial"/>
                          <a:sym typeface="Arial"/>
                        </a:rPr>
                        <a:t>Bài tập ôn luyện sau mỗi buổi</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900"/>
                        <a:buFont typeface="Arial"/>
                        <a:buNone/>
                      </a:pPr>
                      <a:r>
                        <a:rPr lang="en-US" sz="1200" u="none" cap="none" strike="noStrike">
                          <a:solidFill>
                            <a:srgbClr val="333333"/>
                          </a:solidFill>
                          <a:latin typeface="Arial"/>
                          <a:ea typeface="Arial"/>
                          <a:cs typeface="Arial"/>
                          <a:sym typeface="Arial"/>
                        </a:rPr>
                        <a:t>Staircase Difficulty; trộn 40% NLO yếu / 40% mới / 20% ôn chống quên</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r>
              <a:tr h="402325">
                <a:tc>
                  <a:txBody>
                    <a:bodyPr/>
                    <a:lstStyle/>
                    <a:p>
                      <a:pPr indent="0" lvl="0" marL="0" marR="0" rtl="0" algn="l">
                        <a:lnSpc>
                          <a:spcPct val="100000"/>
                        </a:lnSpc>
                        <a:spcBef>
                          <a:spcPts val="0"/>
                        </a:spcBef>
                        <a:spcAft>
                          <a:spcPts val="0"/>
                        </a:spcAft>
                        <a:buClr>
                          <a:srgbClr val="004671"/>
                        </a:buClr>
                        <a:buSzPts val="900"/>
                        <a:buFont typeface="Arial"/>
                        <a:buNone/>
                      </a:pPr>
                      <a:r>
                        <a:rPr b="1" lang="en-US" sz="1200" u="none" cap="none" strike="noStrike">
                          <a:solidFill>
                            <a:srgbClr val="004671"/>
                          </a:solidFill>
                          <a:latin typeface="Arial"/>
                          <a:ea typeface="Arial"/>
                          <a:cs typeface="Arial"/>
                          <a:sym typeface="Arial"/>
                        </a:rPr>
                        <a:t>+ AI Speak</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900"/>
                        <a:buFont typeface="Arial"/>
                        <a:buNone/>
                      </a:pPr>
                      <a:r>
                        <a:rPr lang="en-US" sz="1200" u="none" cap="none" strike="noStrike">
                          <a:solidFill>
                            <a:srgbClr val="333333"/>
                          </a:solidFill>
                          <a:latin typeface="Arial"/>
                          <a:ea typeface="Arial"/>
                          <a:cs typeface="Arial"/>
                          <a:sym typeface="Arial"/>
                        </a:rPr>
                        <a:t>Mỗi ngày (tối đa 1h)</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c>
                  <a:txBody>
                    <a:bodyPr/>
                    <a:lstStyle/>
                    <a:p>
                      <a:pPr indent="0" lvl="0" marL="0" marR="0" rtl="0" algn="l">
                        <a:lnSpc>
                          <a:spcPct val="100000"/>
                        </a:lnSpc>
                        <a:spcBef>
                          <a:spcPts val="0"/>
                        </a:spcBef>
                        <a:spcAft>
                          <a:spcPts val="0"/>
                        </a:spcAft>
                        <a:buClr>
                          <a:srgbClr val="333333"/>
                        </a:buClr>
                        <a:buSzPts val="900"/>
                        <a:buFont typeface="Arial"/>
                        <a:buNone/>
                      </a:pPr>
                      <a:r>
                        <a:rPr lang="en-US" sz="1200" u="none" cap="none" strike="noStrike">
                          <a:solidFill>
                            <a:srgbClr val="333333"/>
                          </a:solidFill>
                          <a:latin typeface="Arial"/>
                          <a:ea typeface="Arial"/>
                          <a:cs typeface="Arial"/>
                          <a:sym typeface="Arial"/>
                        </a:rPr>
                        <a:t>Luyện nói tình huống thật — chủ đề theo NLO yếu. </a:t>
                      </a:r>
                      <a:r>
                        <a:rPr b="1" lang="en-US" sz="1200" u="none" cap="none" strike="noStrike">
                          <a:solidFill>
                            <a:srgbClr val="333333"/>
                          </a:solidFill>
                        </a:rPr>
                        <a:t>Chấm điểm và chữa</a:t>
                      </a:r>
                      <a:r>
                        <a:rPr lang="en-US" sz="1200" u="none" cap="none" strike="noStrike">
                          <a:solidFill>
                            <a:srgbClr val="333333"/>
                          </a:solidFill>
                        </a:rPr>
                        <a:t> phát âm cho học sinh</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4F9FC"/>
                    </a:solidFill>
                  </a:tcPr>
                </a:tc>
              </a:tr>
              <a:tr h="402325">
                <a:tc>
                  <a:txBody>
                    <a:bodyPr/>
                    <a:lstStyle/>
                    <a:p>
                      <a:pPr indent="0" lvl="0" marL="0" marR="0" rtl="0" algn="l">
                        <a:lnSpc>
                          <a:spcPct val="100000"/>
                        </a:lnSpc>
                        <a:spcBef>
                          <a:spcPts val="0"/>
                        </a:spcBef>
                        <a:spcAft>
                          <a:spcPts val="0"/>
                        </a:spcAft>
                        <a:buClr>
                          <a:srgbClr val="004671"/>
                        </a:buClr>
                        <a:buSzPts val="900"/>
                        <a:buFont typeface="Arial"/>
                        <a:buNone/>
                      </a:pPr>
                      <a:r>
                        <a:rPr b="1" lang="en-US" sz="1200" u="none" cap="none" strike="noStrike">
                          <a:solidFill>
                            <a:srgbClr val="004671"/>
                          </a:solidFill>
                          <a:latin typeface="Arial"/>
                          <a:ea typeface="Arial"/>
                          <a:cs typeface="Arial"/>
                          <a:sym typeface="Arial"/>
                        </a:rPr>
                        <a:t>Edupia Club</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900"/>
                        <a:buFont typeface="Arial"/>
                        <a:buNone/>
                      </a:pPr>
                      <a:r>
                        <a:rPr lang="en-US" sz="1200" u="none" cap="none" strike="noStrike">
                          <a:solidFill>
                            <a:srgbClr val="333333"/>
                          </a:solidFill>
                          <a:latin typeface="Arial"/>
                          <a:ea typeface="Arial"/>
                          <a:cs typeface="Arial"/>
                          <a:sym typeface="Arial"/>
                        </a:rPr>
                        <a:t>Hoạt động ngoại khoá</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333333"/>
                        </a:buClr>
                        <a:buSzPts val="900"/>
                        <a:buFont typeface="Arial"/>
                        <a:buNone/>
                      </a:pPr>
                      <a:r>
                        <a:rPr lang="en-US" sz="1200" u="none" cap="none" strike="noStrike">
                          <a:solidFill>
                            <a:srgbClr val="333333"/>
                          </a:solidFill>
                          <a:latin typeface="Arial"/>
                          <a:ea typeface="Arial"/>
                          <a:cs typeface="Arial"/>
                          <a:sym typeface="Arial"/>
                        </a:rPr>
                        <a:t>Rèn tự tin &amp; kỹ năng xã hội — thử thách bám đúng NLO đang học</a:t>
                      </a:r>
                      <a:endParaRPr sz="1200" u="none" cap="none" strike="noStrike">
                        <a:latin typeface="Arial"/>
                        <a:ea typeface="Arial"/>
                        <a:cs typeface="Arial"/>
                        <a:sym typeface="Arial"/>
                      </a:endParaRPr>
                    </a:p>
                  </a:txBody>
                  <a:tcPr marT="45725" marB="45725" marR="91450" marL="91450" anchor="ctr">
                    <a:lnL cap="flat" cmpd="sng" w="12700">
                      <a:solidFill>
                        <a:srgbClr val="DCE8F0"/>
                      </a:solidFill>
                      <a:prstDash val="solid"/>
                      <a:round/>
                      <a:headEnd len="sm" w="sm" type="none"/>
                      <a:tailEnd len="sm" w="sm" type="none"/>
                    </a:lnL>
                    <a:lnR cap="flat" cmpd="sng" w="12700">
                      <a:solidFill>
                        <a:srgbClr val="DCE8F0"/>
                      </a:solidFill>
                      <a:prstDash val="solid"/>
                      <a:round/>
                      <a:headEnd len="sm" w="sm" type="none"/>
                      <a:tailEnd len="sm" w="sm" type="none"/>
                    </a:lnR>
                    <a:lnT cap="flat" cmpd="sng" w="12700">
                      <a:solidFill>
                        <a:srgbClr val="DCE8F0"/>
                      </a:solidFill>
                      <a:prstDash val="solid"/>
                      <a:round/>
                      <a:headEnd len="sm" w="sm" type="none"/>
                      <a:tailEnd len="sm" w="sm" type="none"/>
                    </a:lnT>
                    <a:lnB cap="flat" cmpd="sng" w="12700">
                      <a:solidFill>
                        <a:srgbClr val="DCE8F0"/>
                      </a:solidFill>
                      <a:prstDash val="solid"/>
                      <a:round/>
                      <a:headEnd len="sm" w="sm" type="none"/>
                      <a:tailEnd len="sm" w="sm" type="none"/>
                    </a:lnB>
                    <a:solidFill>
                      <a:srgbClr val="FFFFFF"/>
                    </a:solidFill>
                  </a:tcPr>
                </a:tc>
              </a:tr>
            </a:tbl>
          </a:graphicData>
        </a:graphic>
      </p:graphicFrame>
      <p:sp>
        <p:nvSpPr>
          <p:cNvPr id="199" name="Google Shape;199;g3f9fc709246_0_163"/>
          <p:cNvSpPr/>
          <p:nvPr/>
        </p:nvSpPr>
        <p:spPr>
          <a:xfrm>
            <a:off x="502925" y="5675376"/>
            <a:ext cx="11185800" cy="512100"/>
          </a:xfrm>
          <a:prstGeom prst="rect">
            <a:avLst/>
          </a:prstGeom>
          <a:solidFill>
            <a:srgbClr val="004671"/>
          </a:solidFill>
          <a:ln cap="flat" cmpd="sng" w="12700">
            <a:solidFill>
              <a:srgbClr val="00467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g3f9fc709246_0_163"/>
          <p:cNvSpPr/>
          <p:nvPr/>
        </p:nvSpPr>
        <p:spPr>
          <a:xfrm>
            <a:off x="731520" y="5675365"/>
            <a:ext cx="10728600" cy="5121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900"/>
              <a:buFont typeface="Arial"/>
              <a:buNone/>
            </a:pPr>
            <a:r>
              <a:rPr b="1" i="0" lang="en-US" sz="1200" u="none" cap="none" strike="noStrike">
                <a:solidFill>
                  <a:srgbClr val="FFFFFF"/>
                </a:solidFill>
                <a:latin typeface="Arial"/>
                <a:ea typeface="Arial"/>
                <a:cs typeface="Arial"/>
                <a:sym typeface="Arial"/>
              </a:rPr>
              <a:t>— Giáo viên chủ nhiệm &amp; Parent Mode: đồng hành, theo dõi, báo cáo toàn bộ quá trình; Mastery Map hiển thị cho phụ huynh.</a:t>
            </a:r>
            <a:endParaRPr b="0" i="0" sz="1200" u="none" cap="none" strike="noStrike">
              <a:solidFill>
                <a:schemeClr val="dk1"/>
              </a:solidFill>
              <a:latin typeface="Calibri"/>
              <a:ea typeface="Calibri"/>
              <a:cs typeface="Calibri"/>
              <a:sym typeface="Calibri"/>
            </a:endParaRPr>
          </a:p>
        </p:txBody>
      </p:sp>
      <p:sp>
        <p:nvSpPr>
          <p:cNvPr id="201" name="Google Shape;201;g3f9fc709246_0_163"/>
          <p:cNvSpPr txBox="1"/>
          <p:nvPr/>
        </p:nvSpPr>
        <p:spPr>
          <a:xfrm>
            <a:off x="502925" y="2066250"/>
            <a:ext cx="30000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2E3D00"/>
                </a:solidFill>
                <a:latin typeface="Arial"/>
                <a:ea typeface="Arial"/>
                <a:cs typeface="Arial"/>
                <a:sym typeface="Arial"/>
              </a:rPr>
              <a:t>Layer 2:</a:t>
            </a:r>
            <a:endParaRPr b="0" i="0" sz="1400" u="none" cap="none" strike="noStrike">
              <a:solidFill>
                <a:srgbClr val="000000"/>
              </a:solidFill>
              <a:latin typeface="Arial"/>
              <a:ea typeface="Arial"/>
              <a:cs typeface="Arial"/>
              <a:sym typeface="Arial"/>
            </a:endParaRPr>
          </a:p>
        </p:txBody>
      </p:sp>
      <p:sp>
        <p:nvSpPr>
          <p:cNvPr id="202" name="Google Shape;202;g3f9fc709246_0_163"/>
          <p:cNvSpPr txBox="1"/>
          <p:nvPr/>
        </p:nvSpPr>
        <p:spPr>
          <a:xfrm>
            <a:off x="502925" y="850000"/>
            <a:ext cx="30000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2E3D00"/>
                </a:solidFill>
                <a:latin typeface="Arial"/>
                <a:ea typeface="Arial"/>
                <a:cs typeface="Arial"/>
                <a:sym typeface="Arial"/>
              </a:rPr>
              <a:t>Layer 1:</a:t>
            </a:r>
            <a:endParaRPr b="1" i="0" sz="1400" u="none" cap="none" strike="noStrike">
              <a:solidFill>
                <a:srgbClr val="000000"/>
              </a:solidFill>
              <a:latin typeface="Arial"/>
              <a:ea typeface="Arial"/>
              <a:cs typeface="Arial"/>
              <a:sym typeface="Arial"/>
            </a:endParaRPr>
          </a:p>
        </p:txBody>
      </p:sp>
      <p:sp>
        <p:nvSpPr>
          <p:cNvPr id="203" name="Google Shape;203;g3f9fc709246_0_163"/>
          <p:cNvSpPr txBox="1"/>
          <p:nvPr/>
        </p:nvSpPr>
        <p:spPr>
          <a:xfrm>
            <a:off x="502925" y="5249900"/>
            <a:ext cx="30000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2E3D00"/>
                </a:solidFill>
                <a:latin typeface="Arial"/>
                <a:ea typeface="Arial"/>
                <a:cs typeface="Arial"/>
                <a:sym typeface="Arial"/>
              </a:rPr>
              <a:t>Layer 3:</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8" name="Shape 208"/>
        <p:cNvGrpSpPr/>
        <p:nvPr/>
      </p:nvGrpSpPr>
      <p:grpSpPr>
        <a:xfrm>
          <a:off x="0" y="0"/>
          <a:ext cx="0" cy="0"/>
          <a:chOff x="0" y="0"/>
          <a:chExt cx="0" cy="0"/>
        </a:xfrm>
      </p:grpSpPr>
      <p:sp>
        <p:nvSpPr>
          <p:cNvPr id="209" name="Google Shape;209;g3f9fc709246_0_181"/>
          <p:cNvSpPr/>
          <p:nvPr/>
        </p:nvSpPr>
        <p:spPr>
          <a:xfrm>
            <a:off x="8778240" y="301752"/>
            <a:ext cx="29079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EDUPIA</a:t>
            </a:r>
            <a:endParaRPr b="0" i="0" sz="1300" u="none" cap="none" strike="noStrike">
              <a:solidFill>
                <a:schemeClr val="dk1"/>
              </a:solidFill>
              <a:latin typeface="Calibri"/>
              <a:ea typeface="Calibri"/>
              <a:cs typeface="Calibri"/>
              <a:sym typeface="Calibri"/>
            </a:endParaRPr>
          </a:p>
        </p:txBody>
      </p:sp>
      <p:sp>
        <p:nvSpPr>
          <p:cNvPr id="210" name="Google Shape;210;g3f9fc709246_0_181"/>
          <p:cNvSpPr/>
          <p:nvPr/>
        </p:nvSpPr>
        <p:spPr>
          <a:xfrm>
            <a:off x="8778240" y="576072"/>
            <a:ext cx="2907900" cy="1830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1720A"/>
              </a:buClr>
              <a:buSzPts val="750"/>
              <a:buFont typeface="Arial"/>
              <a:buNone/>
            </a:pPr>
            <a:r>
              <a:rPr b="1" i="0" lang="en-US" sz="750" u="none" cap="none" strike="noStrike">
                <a:solidFill>
                  <a:srgbClr val="51720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
        <p:nvSpPr>
          <p:cNvPr id="211" name="Google Shape;211;g3f9fc709246_0_181"/>
          <p:cNvSpPr/>
          <p:nvPr/>
        </p:nvSpPr>
        <p:spPr>
          <a:xfrm>
            <a:off x="502920" y="365760"/>
            <a:ext cx="80925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Nền tảng chung: NLO &amp; Mastery Profile</a:t>
            </a:r>
            <a:endParaRPr b="0" i="0" sz="2200" u="none" cap="none" strike="noStrike">
              <a:solidFill>
                <a:schemeClr val="dk1"/>
              </a:solidFill>
              <a:latin typeface="Calibri"/>
              <a:ea typeface="Calibri"/>
              <a:cs typeface="Calibri"/>
              <a:sym typeface="Calibri"/>
            </a:endParaRPr>
          </a:p>
        </p:txBody>
      </p:sp>
      <p:cxnSp>
        <p:nvCxnSpPr>
          <p:cNvPr id="212" name="Google Shape;212;g3f9fc709246_0_181"/>
          <p:cNvCxnSpPr/>
          <p:nvPr/>
        </p:nvCxnSpPr>
        <p:spPr>
          <a:xfrm>
            <a:off x="502920" y="6437376"/>
            <a:ext cx="11185800" cy="0"/>
          </a:xfrm>
          <a:prstGeom prst="straightConnector1">
            <a:avLst/>
          </a:prstGeom>
          <a:noFill/>
          <a:ln cap="flat" cmpd="sng" w="19050">
            <a:solidFill>
              <a:srgbClr val="A5BE00"/>
            </a:solidFill>
            <a:prstDash val="solid"/>
            <a:round/>
            <a:headEnd len="sm" w="sm" type="none"/>
            <a:tailEnd len="sm" w="sm" type="none"/>
          </a:ln>
        </p:spPr>
      </p:cxnSp>
      <p:sp>
        <p:nvSpPr>
          <p:cNvPr id="213" name="Google Shape;213;g3f9fc709246_0_181"/>
          <p:cNvSpPr/>
          <p:nvPr/>
        </p:nvSpPr>
        <p:spPr>
          <a:xfrm>
            <a:off x="502920" y="6492240"/>
            <a:ext cx="7315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Edupia AI Class Plus · Concept 1.2 — Adaptive Learning</a:t>
            </a:r>
            <a:endParaRPr b="0" i="0" sz="800" u="none" cap="none" strike="noStrike">
              <a:solidFill>
                <a:schemeClr val="dk1"/>
              </a:solidFill>
              <a:latin typeface="Calibri"/>
              <a:ea typeface="Calibri"/>
              <a:cs typeface="Calibri"/>
              <a:sym typeface="Calibri"/>
            </a:endParaRPr>
          </a:p>
        </p:txBody>
      </p:sp>
      <p:sp>
        <p:nvSpPr>
          <p:cNvPr id="214" name="Google Shape;214;g3f9fc709246_0_181"/>
          <p:cNvSpPr/>
          <p:nvPr/>
        </p:nvSpPr>
        <p:spPr>
          <a:xfrm>
            <a:off x="9859975" y="6492240"/>
            <a:ext cx="1828800" cy="274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8  / 14</a:t>
            </a:r>
            <a:endParaRPr b="0" i="0" sz="800" u="none" cap="none" strike="noStrike">
              <a:solidFill>
                <a:schemeClr val="dk1"/>
              </a:solidFill>
              <a:latin typeface="Calibri"/>
              <a:ea typeface="Calibri"/>
              <a:cs typeface="Calibri"/>
              <a:sym typeface="Calibri"/>
            </a:endParaRPr>
          </a:p>
        </p:txBody>
      </p:sp>
      <p:sp>
        <p:nvSpPr>
          <p:cNvPr id="215" name="Google Shape;215;g3f9fc709246_0_181"/>
          <p:cNvSpPr/>
          <p:nvPr/>
        </p:nvSpPr>
        <p:spPr>
          <a:xfrm>
            <a:off x="502920" y="1402080"/>
            <a:ext cx="11185800" cy="1234500"/>
          </a:xfrm>
          <a:prstGeom prst="rect">
            <a:avLst/>
          </a:prstGeom>
          <a:solidFill>
            <a:srgbClr val="F4F9FC"/>
          </a:solidFill>
          <a:ln cap="flat" cmpd="sng" w="12700">
            <a:solidFill>
              <a:srgbClr val="DCE8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 name="Google Shape;216;g3f9fc709246_0_181"/>
          <p:cNvSpPr/>
          <p:nvPr/>
        </p:nvSpPr>
        <p:spPr>
          <a:xfrm>
            <a:off x="502920" y="1402080"/>
            <a:ext cx="82200" cy="12345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7" name="Google Shape;217;g3f9fc709246_0_181"/>
          <p:cNvSpPr/>
          <p:nvPr/>
        </p:nvSpPr>
        <p:spPr>
          <a:xfrm>
            <a:off x="777240" y="1511808"/>
            <a:ext cx="10637100" cy="3201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NLO (Nano Learning Objective)</a:t>
            </a:r>
            <a:endParaRPr b="0" i="0" sz="1300" u="none" cap="none" strike="noStrike">
              <a:solidFill>
                <a:schemeClr val="dk1"/>
              </a:solidFill>
              <a:latin typeface="Calibri"/>
              <a:ea typeface="Calibri"/>
              <a:cs typeface="Calibri"/>
              <a:sym typeface="Calibri"/>
            </a:endParaRPr>
          </a:p>
        </p:txBody>
      </p:sp>
      <p:sp>
        <p:nvSpPr>
          <p:cNvPr id="218" name="Google Shape;218;g3f9fc709246_0_181"/>
          <p:cNvSpPr/>
          <p:nvPr/>
        </p:nvSpPr>
        <p:spPr>
          <a:xfrm>
            <a:off x="777240" y="1859280"/>
            <a:ext cx="10637100" cy="713100"/>
          </a:xfrm>
          <a:prstGeom prst="rect">
            <a:avLst/>
          </a:prstGeom>
          <a:noFill/>
          <a:ln>
            <a:noFill/>
          </a:ln>
        </p:spPr>
        <p:txBody>
          <a:bodyPr anchorCtr="0" anchor="ctr" bIns="45700" lIns="91425" spcFirstLastPara="1" rIns="91425" wrap="square" tIns="45700">
            <a:noAutofit/>
          </a:bodyPr>
          <a:lstStyle/>
          <a:p>
            <a:pPr indent="0" lvl="0" marL="0" marR="0" rtl="0" algn="l">
              <a:lnSpc>
                <a:spcPct val="115000"/>
              </a:lnSpc>
              <a:spcBef>
                <a:spcPts val="0"/>
              </a:spcBef>
              <a:spcAft>
                <a:spcPts val="0"/>
              </a:spcAft>
              <a:buClr>
                <a:srgbClr val="333333"/>
              </a:buClr>
              <a:buSzPts val="1100"/>
              <a:buFont typeface="Arial"/>
              <a:buNone/>
            </a:pPr>
            <a:r>
              <a:rPr b="0" i="0" lang="en-US" sz="1100" u="none" cap="none" strike="noStrike">
                <a:solidFill>
                  <a:srgbClr val="333333"/>
                </a:solidFill>
                <a:latin typeface="Arial"/>
                <a:ea typeface="Arial"/>
                <a:cs typeface="Arial"/>
                <a:sym typeface="Arial"/>
              </a:rPr>
              <a:t>Đơn vị kiến thức/kỹ năng nhỏ nhất, đo lường độc lập. Edupia đã có 1.473 NLO cho Tiếng Anh Lớp 1–8.</a:t>
            </a:r>
            <a:endParaRPr b="0" i="0" sz="1100" u="none" cap="none" strike="noStrike">
              <a:solidFill>
                <a:schemeClr val="dk1"/>
              </a:solidFill>
              <a:latin typeface="Calibri"/>
              <a:ea typeface="Calibri"/>
              <a:cs typeface="Calibri"/>
              <a:sym typeface="Calibri"/>
            </a:endParaRPr>
          </a:p>
        </p:txBody>
      </p:sp>
      <p:sp>
        <p:nvSpPr>
          <p:cNvPr id="219" name="Google Shape;219;g3f9fc709246_0_181"/>
          <p:cNvSpPr/>
          <p:nvPr/>
        </p:nvSpPr>
        <p:spPr>
          <a:xfrm>
            <a:off x="502920" y="2819400"/>
            <a:ext cx="11185800" cy="1234500"/>
          </a:xfrm>
          <a:prstGeom prst="rect">
            <a:avLst/>
          </a:prstGeom>
          <a:solidFill>
            <a:srgbClr val="F4F9FC"/>
          </a:solidFill>
          <a:ln cap="flat" cmpd="sng" w="12700">
            <a:solidFill>
              <a:srgbClr val="DCE8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g3f9fc709246_0_181"/>
          <p:cNvSpPr/>
          <p:nvPr/>
        </p:nvSpPr>
        <p:spPr>
          <a:xfrm>
            <a:off x="502920" y="2819400"/>
            <a:ext cx="82200" cy="12345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1" name="Google Shape;221;g3f9fc709246_0_181"/>
          <p:cNvSpPr/>
          <p:nvPr/>
        </p:nvSpPr>
        <p:spPr>
          <a:xfrm>
            <a:off x="777240" y="2929128"/>
            <a:ext cx="10637100" cy="3201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Mastery Profile</a:t>
            </a:r>
            <a:endParaRPr b="0" i="0" sz="1300" u="none" cap="none" strike="noStrike">
              <a:solidFill>
                <a:schemeClr val="dk1"/>
              </a:solidFill>
              <a:latin typeface="Calibri"/>
              <a:ea typeface="Calibri"/>
              <a:cs typeface="Calibri"/>
              <a:sym typeface="Calibri"/>
            </a:endParaRPr>
          </a:p>
        </p:txBody>
      </p:sp>
      <p:sp>
        <p:nvSpPr>
          <p:cNvPr id="222" name="Google Shape;222;g3f9fc709246_0_181"/>
          <p:cNvSpPr/>
          <p:nvPr/>
        </p:nvSpPr>
        <p:spPr>
          <a:xfrm>
            <a:off x="777240" y="3276600"/>
            <a:ext cx="10637100" cy="713100"/>
          </a:xfrm>
          <a:prstGeom prst="rect">
            <a:avLst/>
          </a:prstGeom>
          <a:noFill/>
          <a:ln>
            <a:noFill/>
          </a:ln>
        </p:spPr>
        <p:txBody>
          <a:bodyPr anchorCtr="0" anchor="ctr" bIns="45700" lIns="91425" spcFirstLastPara="1" rIns="91425" wrap="square" tIns="45700">
            <a:noAutofit/>
          </a:bodyPr>
          <a:lstStyle/>
          <a:p>
            <a:pPr indent="0" lvl="0" marL="0" marR="0" rtl="0" algn="l">
              <a:lnSpc>
                <a:spcPct val="115000"/>
              </a:lnSpc>
              <a:spcBef>
                <a:spcPts val="0"/>
              </a:spcBef>
              <a:spcAft>
                <a:spcPts val="0"/>
              </a:spcAft>
              <a:buClr>
                <a:srgbClr val="333333"/>
              </a:buClr>
              <a:buSzPts val="1100"/>
              <a:buFont typeface="Arial"/>
              <a:buNone/>
            </a:pPr>
            <a:r>
              <a:rPr b="0" i="0" lang="en-US" sz="1100" u="none" cap="none" strike="noStrike">
                <a:solidFill>
                  <a:srgbClr val="333333"/>
                </a:solidFill>
                <a:latin typeface="Arial"/>
                <a:ea typeface="Arial"/>
                <a:cs typeface="Arial"/>
                <a:sym typeface="Arial"/>
              </a:rPr>
              <a:t>Hồ sơ năng lực của học sinh theo từng NLO — cập nhật real-time. Mọi thành phần đọc/ghi vào cùng 1 Mastery Profile → không rời rạc, không phải ghép thủ công.</a:t>
            </a:r>
            <a:endParaRPr b="0" i="0" sz="1100" u="none" cap="none" strike="noStrike">
              <a:solidFill>
                <a:schemeClr val="dk1"/>
              </a:solidFill>
              <a:latin typeface="Calibri"/>
              <a:ea typeface="Calibri"/>
              <a:cs typeface="Calibri"/>
              <a:sym typeface="Calibri"/>
            </a:endParaRPr>
          </a:p>
        </p:txBody>
      </p:sp>
      <p:sp>
        <p:nvSpPr>
          <p:cNvPr id="223" name="Google Shape;223;g3f9fc709246_0_181"/>
          <p:cNvSpPr/>
          <p:nvPr/>
        </p:nvSpPr>
        <p:spPr>
          <a:xfrm>
            <a:off x="502920" y="4236720"/>
            <a:ext cx="11185800" cy="1234500"/>
          </a:xfrm>
          <a:prstGeom prst="rect">
            <a:avLst/>
          </a:prstGeom>
          <a:solidFill>
            <a:srgbClr val="F4F9FC"/>
          </a:solidFill>
          <a:ln cap="flat" cmpd="sng" w="12700">
            <a:solidFill>
              <a:srgbClr val="DCE8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g3f9fc709246_0_181"/>
          <p:cNvSpPr/>
          <p:nvPr/>
        </p:nvSpPr>
        <p:spPr>
          <a:xfrm>
            <a:off x="502920" y="4236720"/>
            <a:ext cx="82200" cy="12345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5" name="Google Shape;225;g3f9fc709246_0_181"/>
          <p:cNvSpPr/>
          <p:nvPr/>
        </p:nvSpPr>
        <p:spPr>
          <a:xfrm>
            <a:off x="777240" y="4346448"/>
            <a:ext cx="10637100" cy="3201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Adaptive Learning — "bộ não"</a:t>
            </a:r>
            <a:endParaRPr b="0" i="0" sz="1300" u="none" cap="none" strike="noStrike">
              <a:solidFill>
                <a:schemeClr val="dk1"/>
              </a:solidFill>
              <a:latin typeface="Calibri"/>
              <a:ea typeface="Calibri"/>
              <a:cs typeface="Calibri"/>
              <a:sym typeface="Calibri"/>
            </a:endParaRPr>
          </a:p>
        </p:txBody>
      </p:sp>
      <p:sp>
        <p:nvSpPr>
          <p:cNvPr id="226" name="Google Shape;226;g3f9fc709246_0_181"/>
          <p:cNvSpPr/>
          <p:nvPr/>
        </p:nvSpPr>
        <p:spPr>
          <a:xfrm>
            <a:off x="777240" y="4693920"/>
            <a:ext cx="10637100" cy="713100"/>
          </a:xfrm>
          <a:prstGeom prst="rect">
            <a:avLst/>
          </a:prstGeom>
          <a:noFill/>
          <a:ln>
            <a:noFill/>
          </a:ln>
        </p:spPr>
        <p:txBody>
          <a:bodyPr anchorCtr="0" anchor="ctr" bIns="45700" lIns="91425" spcFirstLastPara="1" rIns="91425" wrap="square" tIns="45700">
            <a:noAutofit/>
          </a:bodyPr>
          <a:lstStyle/>
          <a:p>
            <a:pPr indent="0" lvl="0" marL="0" marR="0" rtl="0" algn="l">
              <a:lnSpc>
                <a:spcPct val="115000"/>
              </a:lnSpc>
              <a:spcBef>
                <a:spcPts val="0"/>
              </a:spcBef>
              <a:spcAft>
                <a:spcPts val="0"/>
              </a:spcAft>
              <a:buClr>
                <a:srgbClr val="333333"/>
              </a:buClr>
              <a:buSzPts val="1100"/>
              <a:buFont typeface="Arial"/>
              <a:buNone/>
            </a:pPr>
            <a:r>
              <a:rPr b="0" i="0" lang="en-US" sz="1100" u="none" cap="none" strike="noStrike">
                <a:solidFill>
                  <a:srgbClr val="333333"/>
                </a:solidFill>
                <a:latin typeface="Arial"/>
                <a:ea typeface="Arial"/>
                <a:cs typeface="Arial"/>
                <a:sym typeface="Arial"/>
              </a:rPr>
              <a:t>Phát hiện lỗ hổng (Gap Detection) → chọn đúng NLO cần vá cho từng thành phần (Routing Engine).</a:t>
            </a:r>
            <a:endParaRPr b="0" i="0" sz="11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1" name="Shape 231"/>
        <p:cNvGrpSpPr/>
        <p:nvPr/>
      </p:nvGrpSpPr>
      <p:grpSpPr>
        <a:xfrm>
          <a:off x="0" y="0"/>
          <a:ext cx="0" cy="0"/>
          <a:chOff x="0" y="0"/>
          <a:chExt cx="0" cy="0"/>
        </a:xfrm>
      </p:grpSpPr>
      <p:sp>
        <p:nvSpPr>
          <p:cNvPr id="232" name="Google Shape;232;g3f9fc709246_0_203"/>
          <p:cNvSpPr/>
          <p:nvPr/>
        </p:nvSpPr>
        <p:spPr>
          <a:xfrm>
            <a:off x="8778240" y="301752"/>
            <a:ext cx="29079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EDUPIA</a:t>
            </a:r>
            <a:endParaRPr b="0" i="0" sz="1300" u="none" cap="none" strike="noStrike">
              <a:solidFill>
                <a:schemeClr val="dk1"/>
              </a:solidFill>
              <a:latin typeface="Calibri"/>
              <a:ea typeface="Calibri"/>
              <a:cs typeface="Calibri"/>
              <a:sym typeface="Calibri"/>
            </a:endParaRPr>
          </a:p>
        </p:txBody>
      </p:sp>
      <p:sp>
        <p:nvSpPr>
          <p:cNvPr id="233" name="Google Shape;233;g3f9fc709246_0_203"/>
          <p:cNvSpPr/>
          <p:nvPr/>
        </p:nvSpPr>
        <p:spPr>
          <a:xfrm>
            <a:off x="8778240" y="576072"/>
            <a:ext cx="2907900" cy="1830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1720A"/>
              </a:buClr>
              <a:buSzPts val="750"/>
              <a:buFont typeface="Arial"/>
              <a:buNone/>
            </a:pPr>
            <a:r>
              <a:rPr b="1" i="0" lang="en-US" sz="750" u="none" cap="none" strike="noStrike">
                <a:solidFill>
                  <a:srgbClr val="51720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
        <p:nvSpPr>
          <p:cNvPr id="234" name="Google Shape;234;g3f9fc709246_0_203"/>
          <p:cNvSpPr/>
          <p:nvPr/>
        </p:nvSpPr>
        <p:spPr>
          <a:xfrm>
            <a:off x="502920" y="365760"/>
            <a:ext cx="80925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Thành phần 1: Big Class Plus</a:t>
            </a:r>
            <a:endParaRPr b="0" i="0" sz="2200" u="none" cap="none" strike="noStrike">
              <a:solidFill>
                <a:schemeClr val="dk1"/>
              </a:solidFill>
              <a:latin typeface="Calibri"/>
              <a:ea typeface="Calibri"/>
              <a:cs typeface="Calibri"/>
              <a:sym typeface="Calibri"/>
            </a:endParaRPr>
          </a:p>
        </p:txBody>
      </p:sp>
      <p:cxnSp>
        <p:nvCxnSpPr>
          <p:cNvPr id="235" name="Google Shape;235;g3f9fc709246_0_203"/>
          <p:cNvCxnSpPr/>
          <p:nvPr/>
        </p:nvCxnSpPr>
        <p:spPr>
          <a:xfrm>
            <a:off x="502920" y="6437376"/>
            <a:ext cx="11185800" cy="0"/>
          </a:xfrm>
          <a:prstGeom prst="straightConnector1">
            <a:avLst/>
          </a:prstGeom>
          <a:noFill/>
          <a:ln cap="flat" cmpd="sng" w="19050">
            <a:solidFill>
              <a:srgbClr val="A5BE00"/>
            </a:solidFill>
            <a:prstDash val="solid"/>
            <a:round/>
            <a:headEnd len="sm" w="sm" type="none"/>
            <a:tailEnd len="sm" w="sm" type="none"/>
          </a:ln>
        </p:spPr>
      </p:cxnSp>
      <p:sp>
        <p:nvSpPr>
          <p:cNvPr id="236" name="Google Shape;236;g3f9fc709246_0_203"/>
          <p:cNvSpPr/>
          <p:nvPr/>
        </p:nvSpPr>
        <p:spPr>
          <a:xfrm>
            <a:off x="502920" y="6492240"/>
            <a:ext cx="7315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Edupia AI Class Plus · Concept 1.2 — Adaptive Learning</a:t>
            </a:r>
            <a:endParaRPr b="0" i="0" sz="800" u="none" cap="none" strike="noStrike">
              <a:solidFill>
                <a:schemeClr val="dk1"/>
              </a:solidFill>
              <a:latin typeface="Calibri"/>
              <a:ea typeface="Calibri"/>
              <a:cs typeface="Calibri"/>
              <a:sym typeface="Calibri"/>
            </a:endParaRPr>
          </a:p>
        </p:txBody>
      </p:sp>
      <p:sp>
        <p:nvSpPr>
          <p:cNvPr id="237" name="Google Shape;237;g3f9fc709246_0_203"/>
          <p:cNvSpPr/>
          <p:nvPr/>
        </p:nvSpPr>
        <p:spPr>
          <a:xfrm>
            <a:off x="9859975" y="6492240"/>
            <a:ext cx="1828800" cy="274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9 / 14</a:t>
            </a:r>
            <a:endParaRPr b="0" i="0" sz="800" u="none" cap="none" strike="noStrike">
              <a:solidFill>
                <a:schemeClr val="dk1"/>
              </a:solidFill>
              <a:latin typeface="Calibri"/>
              <a:ea typeface="Calibri"/>
              <a:cs typeface="Calibri"/>
              <a:sym typeface="Calibri"/>
            </a:endParaRPr>
          </a:p>
        </p:txBody>
      </p:sp>
      <p:sp>
        <p:nvSpPr>
          <p:cNvPr id="238" name="Google Shape;238;g3f9fc709246_0_203"/>
          <p:cNvSpPr/>
          <p:nvPr/>
        </p:nvSpPr>
        <p:spPr>
          <a:xfrm>
            <a:off x="502925" y="1691645"/>
            <a:ext cx="11185800" cy="679200"/>
          </a:xfrm>
          <a:prstGeom prst="rect">
            <a:avLst/>
          </a:prstGeom>
          <a:noFill/>
          <a:ln>
            <a:noFill/>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Clr>
                <a:srgbClr val="004671"/>
              </a:buClr>
              <a:buSzPts val="1250"/>
              <a:buFont typeface="Arial"/>
              <a:buNone/>
            </a:pPr>
            <a:r>
              <a:rPr b="1" i="0" lang="en-US" sz="1250" u="none" cap="none" strike="noStrike">
                <a:solidFill>
                  <a:srgbClr val="004671"/>
                </a:solidFill>
                <a:latin typeface="Arial"/>
                <a:ea typeface="Arial"/>
                <a:cs typeface="Arial"/>
                <a:sym typeface="Arial"/>
              </a:rPr>
              <a:t>Là gì:  </a:t>
            </a:r>
            <a:r>
              <a:rPr b="0" i="0" lang="en-US" sz="1250" u="none" cap="none" strike="noStrike">
                <a:solidFill>
                  <a:srgbClr val="333333"/>
                </a:solidFill>
                <a:latin typeface="Arial"/>
                <a:ea typeface="Arial"/>
                <a:cs typeface="Arial"/>
                <a:sym typeface="Arial"/>
              </a:rPr>
              <a:t>Buổi học trực tuyến nhóm, giáo viên Star dạy live, 2 buổi/tuần, bám sát SGK Global Success, trong đó nâng cấp các tương tác của giáo viên: gọi tên con, động viên và tương tác với con</a:t>
            </a:r>
            <a:endParaRPr b="0" i="0" sz="1250" u="none" cap="none" strike="noStrike">
              <a:solidFill>
                <a:schemeClr val="dk1"/>
              </a:solidFill>
              <a:latin typeface="Calibri"/>
              <a:ea typeface="Calibri"/>
              <a:cs typeface="Calibri"/>
              <a:sym typeface="Calibri"/>
            </a:endParaRPr>
          </a:p>
        </p:txBody>
      </p:sp>
      <p:sp>
        <p:nvSpPr>
          <p:cNvPr id="239" name="Google Shape;239;g3f9fc709246_0_203"/>
          <p:cNvSpPr/>
          <p:nvPr/>
        </p:nvSpPr>
        <p:spPr>
          <a:xfrm>
            <a:off x="502925" y="2453651"/>
            <a:ext cx="11185800" cy="2094900"/>
          </a:xfrm>
          <a:prstGeom prst="rect">
            <a:avLst/>
          </a:prstGeom>
          <a:solidFill>
            <a:srgbClr val="F4F9FC"/>
          </a:solidFill>
          <a:ln cap="flat" cmpd="sng" w="12700">
            <a:solidFill>
              <a:srgbClr val="DCE8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0" name="Google Shape;240;g3f9fc709246_0_203"/>
          <p:cNvSpPr/>
          <p:nvPr/>
        </p:nvSpPr>
        <p:spPr>
          <a:xfrm>
            <a:off x="502925" y="2453647"/>
            <a:ext cx="82200" cy="17229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g3f9fc709246_0_203"/>
          <p:cNvSpPr/>
          <p:nvPr/>
        </p:nvSpPr>
        <p:spPr>
          <a:xfrm>
            <a:off x="777240" y="2581656"/>
            <a:ext cx="106371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18E0D"/>
              </a:buClr>
              <a:buSzPts val="900"/>
              <a:buFont typeface="Arial"/>
              <a:buNone/>
            </a:pPr>
            <a:r>
              <a:rPr b="1" i="0" lang="en-US" sz="1400" u="none" cap="none" strike="noStrike">
                <a:solidFill>
                  <a:srgbClr val="518E0D"/>
                </a:solidFill>
                <a:latin typeface="Arial"/>
                <a:ea typeface="Arial"/>
                <a:cs typeface="Arial"/>
                <a:sym typeface="Arial"/>
              </a:rPr>
              <a:t>CHỨC NĂNG CHÍNH</a:t>
            </a:r>
            <a:endParaRPr b="0" i="0" sz="1400" u="none" cap="none" strike="noStrike">
              <a:solidFill>
                <a:schemeClr val="dk1"/>
              </a:solidFill>
              <a:latin typeface="Calibri"/>
              <a:ea typeface="Calibri"/>
              <a:cs typeface="Calibri"/>
              <a:sym typeface="Calibri"/>
            </a:endParaRPr>
          </a:p>
        </p:txBody>
      </p:sp>
      <p:sp>
        <p:nvSpPr>
          <p:cNvPr id="242" name="Google Shape;242;g3f9fc709246_0_203"/>
          <p:cNvSpPr/>
          <p:nvPr/>
        </p:nvSpPr>
        <p:spPr>
          <a:xfrm>
            <a:off x="795525" y="2987051"/>
            <a:ext cx="10545900" cy="1225800"/>
          </a:xfrm>
          <a:prstGeom prst="rect">
            <a:avLst/>
          </a:prstGeom>
          <a:noFill/>
          <a:ln>
            <a:noFill/>
          </a:ln>
        </p:spPr>
        <p:txBody>
          <a:bodyPr anchorCtr="0" anchor="t" bIns="45700" lIns="91425" spcFirstLastPara="1" rIns="91425" wrap="square" tIns="45700">
            <a:noAutofit/>
          </a:bodyPr>
          <a:lstStyle/>
          <a:p>
            <a:pPr indent="-152400" lvl="0" marL="152400" marR="0" rtl="0" algn="l">
              <a:lnSpc>
                <a:spcPct val="115000"/>
              </a:lnSpc>
              <a:spcBef>
                <a:spcPts val="0"/>
              </a:spcBef>
              <a:spcAft>
                <a:spcPts val="0"/>
              </a:spcAft>
              <a:buClr>
                <a:srgbClr val="333333"/>
              </a:buClr>
              <a:buSzPts val="1200"/>
              <a:buFont typeface="Arial"/>
              <a:buChar char="•"/>
            </a:pPr>
            <a:r>
              <a:rPr b="0" i="0" lang="en-US" sz="1200" u="none" cap="none" strike="noStrike">
                <a:solidFill>
                  <a:srgbClr val="333333"/>
                </a:solidFill>
                <a:latin typeface="Arial"/>
                <a:ea typeface="Arial"/>
                <a:cs typeface="Arial"/>
                <a:sym typeface="Arial"/>
              </a:rPr>
              <a:t>GV Star giảng bài theo chương trình, tổ chức tương tác lớp.</a:t>
            </a:r>
            <a:endParaRPr b="0" i="0" sz="1200" u="none" cap="none" strike="noStrike">
              <a:solidFill>
                <a:schemeClr val="dk1"/>
              </a:solidFill>
              <a:latin typeface="Calibri"/>
              <a:ea typeface="Calibri"/>
              <a:cs typeface="Calibri"/>
              <a:sym typeface="Calibri"/>
            </a:endParaRPr>
          </a:p>
          <a:p>
            <a:pPr indent="-152400" lvl="0" marL="152400" marR="0" rtl="0" algn="l">
              <a:lnSpc>
                <a:spcPct val="115000"/>
              </a:lnSpc>
              <a:spcBef>
                <a:spcPts val="700"/>
              </a:spcBef>
              <a:spcAft>
                <a:spcPts val="0"/>
              </a:spcAft>
              <a:buClr>
                <a:srgbClr val="333333"/>
              </a:buClr>
              <a:buSzPts val="1200"/>
              <a:buFont typeface="Arial"/>
              <a:buChar char="•"/>
            </a:pPr>
            <a:r>
              <a:rPr b="0" i="0" lang="en-US" sz="1200" u="none" cap="none" strike="noStrike">
                <a:solidFill>
                  <a:srgbClr val="333333"/>
                </a:solidFill>
                <a:latin typeface="Arial"/>
                <a:ea typeface="Arial"/>
                <a:cs typeface="Arial"/>
                <a:sym typeface="Arial"/>
              </a:rPr>
              <a:t>Gán NLO cho từng học sinh dựa trên dữ liệu từ buổi học → sinh tín hiệu cho Gap Detection.</a:t>
            </a:r>
            <a:endParaRPr b="0" i="0" sz="1200" u="none" cap="none" strike="noStrike">
              <a:solidFill>
                <a:srgbClr val="333333"/>
              </a:solidFill>
              <a:latin typeface="Arial"/>
              <a:ea typeface="Arial"/>
              <a:cs typeface="Arial"/>
              <a:sym typeface="Arial"/>
            </a:endParaRPr>
          </a:p>
          <a:p>
            <a:pPr indent="-152400" lvl="0" marL="152400" marR="0" rtl="0" algn="l">
              <a:lnSpc>
                <a:spcPct val="115000"/>
              </a:lnSpc>
              <a:spcBef>
                <a:spcPts val="700"/>
              </a:spcBef>
              <a:spcAft>
                <a:spcPts val="0"/>
              </a:spcAft>
              <a:buClr>
                <a:srgbClr val="333333"/>
              </a:buClr>
              <a:buSzPts val="1200"/>
              <a:buFont typeface="Arial"/>
              <a:buChar char="•"/>
            </a:pPr>
            <a:r>
              <a:rPr b="0" i="0" lang="en-US" sz="1200" u="none" cap="none" strike="noStrike">
                <a:solidFill>
                  <a:srgbClr val="333333"/>
                </a:solidFill>
                <a:latin typeface="Arial"/>
                <a:ea typeface="Arial"/>
                <a:cs typeface="Arial"/>
                <a:sym typeface="Arial"/>
              </a:rPr>
              <a:t>Là điểm khởi đầu của vòng lặp: Big Class phát hiện lỗ hổng → Adaptive vá ngay sau đó.</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7" name="Shape 247"/>
        <p:cNvGrpSpPr/>
        <p:nvPr/>
      </p:nvGrpSpPr>
      <p:grpSpPr>
        <a:xfrm>
          <a:off x="0" y="0"/>
          <a:ext cx="0" cy="0"/>
          <a:chOff x="0" y="0"/>
          <a:chExt cx="0" cy="0"/>
        </a:xfrm>
      </p:grpSpPr>
      <p:sp>
        <p:nvSpPr>
          <p:cNvPr id="248" name="Google Shape;248;g3f9fc709246_0_218"/>
          <p:cNvSpPr/>
          <p:nvPr/>
        </p:nvSpPr>
        <p:spPr>
          <a:xfrm>
            <a:off x="8778240" y="301752"/>
            <a:ext cx="29079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EDUPIA</a:t>
            </a:r>
            <a:endParaRPr b="0" i="0" sz="1300" u="none" cap="none" strike="noStrike">
              <a:solidFill>
                <a:schemeClr val="dk1"/>
              </a:solidFill>
              <a:latin typeface="Calibri"/>
              <a:ea typeface="Calibri"/>
              <a:cs typeface="Calibri"/>
              <a:sym typeface="Calibri"/>
            </a:endParaRPr>
          </a:p>
        </p:txBody>
      </p:sp>
      <p:sp>
        <p:nvSpPr>
          <p:cNvPr id="249" name="Google Shape;249;g3f9fc709246_0_218"/>
          <p:cNvSpPr/>
          <p:nvPr/>
        </p:nvSpPr>
        <p:spPr>
          <a:xfrm>
            <a:off x="8778240" y="576072"/>
            <a:ext cx="2907900" cy="1830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1720A"/>
              </a:buClr>
              <a:buSzPts val="750"/>
              <a:buFont typeface="Arial"/>
              <a:buNone/>
            </a:pPr>
            <a:r>
              <a:rPr b="1" i="0" lang="en-US" sz="750" u="none" cap="none" strike="noStrike">
                <a:solidFill>
                  <a:srgbClr val="51720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
        <p:nvSpPr>
          <p:cNvPr id="250" name="Google Shape;250;g3f9fc709246_0_218"/>
          <p:cNvSpPr/>
          <p:nvPr/>
        </p:nvSpPr>
        <p:spPr>
          <a:xfrm>
            <a:off x="502920" y="365760"/>
            <a:ext cx="80925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2000"/>
              <a:buFont typeface="Arial"/>
              <a:buNone/>
            </a:pPr>
            <a:r>
              <a:rPr b="1" i="0" lang="en-US" sz="2200" u="none" cap="none" strike="noStrike">
                <a:solidFill>
                  <a:srgbClr val="004671"/>
                </a:solidFill>
                <a:latin typeface="Arial"/>
                <a:ea typeface="Arial"/>
                <a:cs typeface="Arial"/>
                <a:sym typeface="Arial"/>
              </a:rPr>
              <a:t>Thành phần 2: BTVN Adaptive &amp; AI Practice</a:t>
            </a:r>
            <a:endParaRPr b="0" i="0" sz="2200" u="none" cap="none" strike="noStrike">
              <a:solidFill>
                <a:schemeClr val="dk1"/>
              </a:solidFill>
              <a:latin typeface="Calibri"/>
              <a:ea typeface="Calibri"/>
              <a:cs typeface="Calibri"/>
              <a:sym typeface="Calibri"/>
            </a:endParaRPr>
          </a:p>
        </p:txBody>
      </p:sp>
      <p:cxnSp>
        <p:nvCxnSpPr>
          <p:cNvPr id="251" name="Google Shape;251;g3f9fc709246_0_218"/>
          <p:cNvCxnSpPr/>
          <p:nvPr/>
        </p:nvCxnSpPr>
        <p:spPr>
          <a:xfrm>
            <a:off x="502920" y="6437376"/>
            <a:ext cx="11185800" cy="0"/>
          </a:xfrm>
          <a:prstGeom prst="straightConnector1">
            <a:avLst/>
          </a:prstGeom>
          <a:noFill/>
          <a:ln cap="flat" cmpd="sng" w="19050">
            <a:solidFill>
              <a:srgbClr val="A5BE00"/>
            </a:solidFill>
            <a:prstDash val="solid"/>
            <a:round/>
            <a:headEnd len="sm" w="sm" type="none"/>
            <a:tailEnd len="sm" w="sm" type="none"/>
          </a:ln>
        </p:spPr>
      </p:cxnSp>
      <p:sp>
        <p:nvSpPr>
          <p:cNvPr id="252" name="Google Shape;252;g3f9fc709246_0_218"/>
          <p:cNvSpPr/>
          <p:nvPr/>
        </p:nvSpPr>
        <p:spPr>
          <a:xfrm>
            <a:off x="502920" y="6492240"/>
            <a:ext cx="7315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Edupia AI Class Plus · Concept 1.2 — Adaptive Learning</a:t>
            </a:r>
            <a:endParaRPr b="0" i="0" sz="800" u="none" cap="none" strike="noStrike">
              <a:solidFill>
                <a:schemeClr val="dk1"/>
              </a:solidFill>
              <a:latin typeface="Calibri"/>
              <a:ea typeface="Calibri"/>
              <a:cs typeface="Calibri"/>
              <a:sym typeface="Calibri"/>
            </a:endParaRPr>
          </a:p>
        </p:txBody>
      </p:sp>
      <p:sp>
        <p:nvSpPr>
          <p:cNvPr id="253" name="Google Shape;253;g3f9fc709246_0_218"/>
          <p:cNvSpPr/>
          <p:nvPr/>
        </p:nvSpPr>
        <p:spPr>
          <a:xfrm>
            <a:off x="9859975" y="6492240"/>
            <a:ext cx="1828800" cy="274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10 / 14</a:t>
            </a:r>
            <a:endParaRPr b="0" i="0" sz="800" u="none" cap="none" strike="noStrike">
              <a:solidFill>
                <a:schemeClr val="dk1"/>
              </a:solidFill>
              <a:latin typeface="Calibri"/>
              <a:ea typeface="Calibri"/>
              <a:cs typeface="Calibri"/>
              <a:sym typeface="Calibri"/>
            </a:endParaRPr>
          </a:p>
        </p:txBody>
      </p:sp>
      <p:sp>
        <p:nvSpPr>
          <p:cNvPr id="254" name="Google Shape;254;g3f9fc709246_0_218"/>
          <p:cNvSpPr/>
          <p:nvPr/>
        </p:nvSpPr>
        <p:spPr>
          <a:xfrm>
            <a:off x="502925" y="1463045"/>
            <a:ext cx="11185800" cy="678300"/>
          </a:xfrm>
          <a:prstGeom prst="rect">
            <a:avLst/>
          </a:prstGeom>
          <a:noFill/>
          <a:ln>
            <a:noFill/>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Clr>
                <a:srgbClr val="004671"/>
              </a:buClr>
              <a:buSzPts val="1250"/>
              <a:buFont typeface="Arial"/>
              <a:buNone/>
            </a:pPr>
            <a:r>
              <a:rPr b="1" i="0" lang="en-US" sz="1250" u="none" cap="none" strike="noStrike">
                <a:solidFill>
                  <a:srgbClr val="004671"/>
                </a:solidFill>
                <a:latin typeface="Arial"/>
                <a:ea typeface="Arial"/>
                <a:cs typeface="Arial"/>
                <a:sym typeface="Arial"/>
              </a:rPr>
              <a:t>Là gì:  </a:t>
            </a:r>
            <a:r>
              <a:rPr b="0" i="0" lang="en-US" sz="1250" u="none" cap="none" strike="noStrike">
                <a:solidFill>
                  <a:srgbClr val="333333"/>
                </a:solidFill>
                <a:latin typeface="Arial"/>
                <a:ea typeface="Arial"/>
                <a:cs typeface="Arial"/>
                <a:sym typeface="Arial"/>
              </a:rPr>
              <a:t>Hệ thống bài tập ôn luyện sau mỗi buổi + kho đề chuẩn theo SGK (Global Success, I Learn Smart Start, Family and Friends…) + kho đề thi (tháng, giữa kỳ, cuối kỳ).</a:t>
            </a:r>
            <a:endParaRPr b="0" i="0" sz="1250" u="none" cap="none" strike="noStrike">
              <a:solidFill>
                <a:schemeClr val="dk1"/>
              </a:solidFill>
              <a:latin typeface="Calibri"/>
              <a:ea typeface="Calibri"/>
              <a:cs typeface="Calibri"/>
              <a:sym typeface="Calibri"/>
            </a:endParaRPr>
          </a:p>
        </p:txBody>
      </p:sp>
      <p:sp>
        <p:nvSpPr>
          <p:cNvPr id="255" name="Google Shape;255;g3f9fc709246_0_218"/>
          <p:cNvSpPr/>
          <p:nvPr/>
        </p:nvSpPr>
        <p:spPr>
          <a:xfrm>
            <a:off x="502925" y="2225047"/>
            <a:ext cx="11185800" cy="1982700"/>
          </a:xfrm>
          <a:prstGeom prst="rect">
            <a:avLst/>
          </a:prstGeom>
          <a:solidFill>
            <a:srgbClr val="F4F9FC"/>
          </a:solidFill>
          <a:ln cap="flat" cmpd="sng" w="12700">
            <a:solidFill>
              <a:srgbClr val="DCE8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g3f9fc709246_0_218"/>
          <p:cNvSpPr/>
          <p:nvPr/>
        </p:nvSpPr>
        <p:spPr>
          <a:xfrm>
            <a:off x="502925" y="2225047"/>
            <a:ext cx="82200" cy="19827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 name="Google Shape;257;g3f9fc709246_0_218"/>
          <p:cNvSpPr/>
          <p:nvPr/>
        </p:nvSpPr>
        <p:spPr>
          <a:xfrm>
            <a:off x="777240" y="2353056"/>
            <a:ext cx="106371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18E0D"/>
              </a:buClr>
              <a:buSzPts val="900"/>
              <a:buFont typeface="Arial"/>
              <a:buNone/>
            </a:pPr>
            <a:r>
              <a:rPr b="1" i="0" lang="en-US" sz="1400" u="none" cap="none" strike="noStrike">
                <a:solidFill>
                  <a:srgbClr val="518E0D"/>
                </a:solidFill>
                <a:latin typeface="Arial"/>
                <a:ea typeface="Arial"/>
                <a:cs typeface="Arial"/>
                <a:sym typeface="Arial"/>
              </a:rPr>
              <a:t>CHỨC NĂNG CHÍNH</a:t>
            </a:r>
            <a:endParaRPr b="0" i="0" sz="1400" u="none" cap="none" strike="noStrike">
              <a:solidFill>
                <a:schemeClr val="dk1"/>
              </a:solidFill>
              <a:latin typeface="Calibri"/>
              <a:ea typeface="Calibri"/>
              <a:cs typeface="Calibri"/>
              <a:sym typeface="Calibri"/>
            </a:endParaRPr>
          </a:p>
        </p:txBody>
      </p:sp>
      <p:sp>
        <p:nvSpPr>
          <p:cNvPr id="258" name="Google Shape;258;g3f9fc709246_0_218"/>
          <p:cNvSpPr/>
          <p:nvPr/>
        </p:nvSpPr>
        <p:spPr>
          <a:xfrm>
            <a:off x="795525" y="2682246"/>
            <a:ext cx="10545900" cy="1263900"/>
          </a:xfrm>
          <a:prstGeom prst="rect">
            <a:avLst/>
          </a:prstGeom>
          <a:noFill/>
          <a:ln>
            <a:noFill/>
          </a:ln>
        </p:spPr>
        <p:txBody>
          <a:bodyPr anchorCtr="0" anchor="t" bIns="45700" lIns="91425" spcFirstLastPara="1" rIns="91425" wrap="square" tIns="45700">
            <a:noAutofit/>
          </a:bodyPr>
          <a:lstStyle/>
          <a:p>
            <a:pPr indent="-152400" lvl="0" marL="152400" marR="0" rtl="0" algn="l">
              <a:lnSpc>
                <a:spcPct val="115000"/>
              </a:lnSpc>
              <a:spcBef>
                <a:spcPts val="0"/>
              </a:spcBef>
              <a:spcAft>
                <a:spcPts val="0"/>
              </a:spcAft>
              <a:buClr>
                <a:srgbClr val="333333"/>
              </a:buClr>
              <a:buSzPts val="1200"/>
              <a:buFont typeface="Arial"/>
              <a:buChar char="•"/>
            </a:pPr>
            <a:r>
              <a:rPr b="0" i="0" lang="en-US" sz="1200" u="none" cap="none" strike="noStrike">
                <a:solidFill>
                  <a:srgbClr val="333333"/>
                </a:solidFill>
                <a:latin typeface="Arial"/>
                <a:ea typeface="Arial"/>
                <a:cs typeface="Arial"/>
                <a:sym typeface="Arial"/>
              </a:rPr>
              <a:t>AI chấm — chữa — giải thích lỗi ngay sau khi nộp; cho làm lại nhiều lần.</a:t>
            </a:r>
            <a:endParaRPr b="0" i="0" sz="1200" u="none" cap="none" strike="noStrike">
              <a:solidFill>
                <a:schemeClr val="dk1"/>
              </a:solidFill>
              <a:latin typeface="Calibri"/>
              <a:ea typeface="Calibri"/>
              <a:cs typeface="Calibri"/>
              <a:sym typeface="Calibri"/>
            </a:endParaRPr>
          </a:p>
          <a:p>
            <a:pPr indent="-152400" lvl="0" marL="152400" marR="0" rtl="0" algn="l">
              <a:lnSpc>
                <a:spcPct val="115000"/>
              </a:lnSpc>
              <a:spcBef>
                <a:spcPts val="700"/>
              </a:spcBef>
              <a:spcAft>
                <a:spcPts val="0"/>
              </a:spcAft>
              <a:buClr>
                <a:srgbClr val="333333"/>
              </a:buClr>
              <a:buSzPts val="1200"/>
              <a:buFont typeface="Arial"/>
              <a:buChar char="•"/>
            </a:pPr>
            <a:r>
              <a:rPr b="0" i="0" lang="en-US" sz="1200" u="none" cap="none" strike="noStrike">
                <a:solidFill>
                  <a:srgbClr val="333333"/>
                </a:solidFill>
                <a:latin typeface="Arial"/>
                <a:ea typeface="Arial"/>
                <a:cs typeface="Arial"/>
                <a:sym typeface="Arial"/>
              </a:rPr>
              <a:t>Staircase Difficulty: độ khó câu tự điều chỉnh trong lúc làm (E→M→H; đúng 2 câu liên tiếp tăng bậc, sai 1 câu giảm ngay).</a:t>
            </a:r>
            <a:endParaRPr b="0" i="0" sz="1200" u="none" cap="none" strike="noStrike">
              <a:solidFill>
                <a:schemeClr val="dk1"/>
              </a:solidFill>
              <a:latin typeface="Calibri"/>
              <a:ea typeface="Calibri"/>
              <a:cs typeface="Calibri"/>
              <a:sym typeface="Calibri"/>
            </a:endParaRPr>
          </a:p>
          <a:p>
            <a:pPr indent="-152400" lvl="0" marL="152400" marR="0" rtl="0" algn="l">
              <a:lnSpc>
                <a:spcPct val="115000"/>
              </a:lnSpc>
              <a:spcBef>
                <a:spcPts val="700"/>
              </a:spcBef>
              <a:spcAft>
                <a:spcPts val="0"/>
              </a:spcAft>
              <a:buClr>
                <a:srgbClr val="333333"/>
              </a:buClr>
              <a:buSzPts val="1200"/>
              <a:buFont typeface="Arial"/>
              <a:buChar char="•"/>
            </a:pPr>
            <a:r>
              <a:rPr b="0" i="0" lang="en-US" sz="1200" u="none" cap="none" strike="noStrike">
                <a:solidFill>
                  <a:srgbClr val="333333"/>
                </a:solidFill>
                <a:latin typeface="Arial"/>
                <a:ea typeface="Arial"/>
                <a:cs typeface="Arial"/>
                <a:sym typeface="Arial"/>
              </a:rPr>
              <a:t>Trộn NLO mỗi phiên: 40% NLO đang yếu · 40% NLO mới học · 20% NLO cũ (ôn chống quên).</a:t>
            </a:r>
            <a:endParaRPr b="0" i="0" sz="1200" u="none" cap="none" strike="noStrike">
              <a:solidFill>
                <a:schemeClr val="dk1"/>
              </a:solidFill>
              <a:latin typeface="Calibri"/>
              <a:ea typeface="Calibri"/>
              <a:cs typeface="Calibri"/>
              <a:sym typeface="Calibri"/>
            </a:endParaRPr>
          </a:p>
          <a:p>
            <a:pPr indent="-152400" lvl="0" marL="152400" marR="0" rtl="0" algn="l">
              <a:lnSpc>
                <a:spcPct val="115000"/>
              </a:lnSpc>
              <a:spcBef>
                <a:spcPts val="700"/>
              </a:spcBef>
              <a:spcAft>
                <a:spcPts val="0"/>
              </a:spcAft>
              <a:buClr>
                <a:srgbClr val="333333"/>
              </a:buClr>
              <a:buSzPts val="1200"/>
              <a:buFont typeface="Arial"/>
              <a:buChar char="•"/>
            </a:pPr>
            <a:r>
              <a:rPr b="0" i="0" lang="en-US" sz="1200" u="none" cap="none" strike="noStrike">
                <a:solidFill>
                  <a:srgbClr val="333333"/>
                </a:solidFill>
                <a:latin typeface="Arial"/>
                <a:ea typeface="Arial"/>
                <a:cs typeface="Arial"/>
                <a:sym typeface="Arial"/>
              </a:rPr>
              <a:t>Nâng cấp kho đề Practice + AI Mock test.</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2" name="Shape 262"/>
        <p:cNvGrpSpPr/>
        <p:nvPr/>
      </p:nvGrpSpPr>
      <p:grpSpPr>
        <a:xfrm>
          <a:off x="0" y="0"/>
          <a:ext cx="0" cy="0"/>
          <a:chOff x="0" y="0"/>
          <a:chExt cx="0" cy="0"/>
        </a:xfrm>
      </p:grpSpPr>
      <p:sp>
        <p:nvSpPr>
          <p:cNvPr id="263" name="Google Shape;263;g3f9fc709246_0_233"/>
          <p:cNvSpPr/>
          <p:nvPr/>
        </p:nvSpPr>
        <p:spPr>
          <a:xfrm>
            <a:off x="8778240" y="301752"/>
            <a:ext cx="29079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EDUPIA</a:t>
            </a:r>
            <a:endParaRPr b="0" i="0" sz="1300" u="none" cap="none" strike="noStrike">
              <a:solidFill>
                <a:schemeClr val="dk1"/>
              </a:solidFill>
              <a:latin typeface="Calibri"/>
              <a:ea typeface="Calibri"/>
              <a:cs typeface="Calibri"/>
              <a:sym typeface="Calibri"/>
            </a:endParaRPr>
          </a:p>
        </p:txBody>
      </p:sp>
      <p:sp>
        <p:nvSpPr>
          <p:cNvPr id="264" name="Google Shape;264;g3f9fc709246_0_233"/>
          <p:cNvSpPr/>
          <p:nvPr/>
        </p:nvSpPr>
        <p:spPr>
          <a:xfrm>
            <a:off x="8778240" y="576072"/>
            <a:ext cx="2907900" cy="1830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1720A"/>
              </a:buClr>
              <a:buSzPts val="750"/>
              <a:buFont typeface="Arial"/>
              <a:buNone/>
            </a:pPr>
            <a:r>
              <a:rPr b="1" i="0" lang="en-US" sz="750" u="none" cap="none" strike="noStrike">
                <a:solidFill>
                  <a:srgbClr val="51720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
        <p:nvSpPr>
          <p:cNvPr id="265" name="Google Shape;265;g3f9fc709246_0_233"/>
          <p:cNvSpPr/>
          <p:nvPr/>
        </p:nvSpPr>
        <p:spPr>
          <a:xfrm>
            <a:off x="502920" y="365760"/>
            <a:ext cx="80925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2000"/>
              <a:buFont typeface="Arial"/>
              <a:buNone/>
            </a:pPr>
            <a:r>
              <a:rPr b="1" i="0" lang="en-US" sz="2200" u="none" cap="none" strike="noStrike">
                <a:solidFill>
                  <a:srgbClr val="004671"/>
                </a:solidFill>
                <a:latin typeface="Arial"/>
                <a:ea typeface="Arial"/>
                <a:cs typeface="Arial"/>
                <a:sym typeface="Arial"/>
              </a:rPr>
              <a:t>Thành phần 3: Kèm riêng 30 phút cuối buổi (AI Tutor)</a:t>
            </a:r>
            <a:endParaRPr b="0" i="0" sz="2200" u="none" cap="none" strike="noStrike">
              <a:solidFill>
                <a:schemeClr val="dk1"/>
              </a:solidFill>
              <a:latin typeface="Calibri"/>
              <a:ea typeface="Calibri"/>
              <a:cs typeface="Calibri"/>
              <a:sym typeface="Calibri"/>
            </a:endParaRPr>
          </a:p>
        </p:txBody>
      </p:sp>
      <p:cxnSp>
        <p:nvCxnSpPr>
          <p:cNvPr id="266" name="Google Shape;266;g3f9fc709246_0_233"/>
          <p:cNvCxnSpPr/>
          <p:nvPr/>
        </p:nvCxnSpPr>
        <p:spPr>
          <a:xfrm>
            <a:off x="502920" y="6437376"/>
            <a:ext cx="11185800" cy="0"/>
          </a:xfrm>
          <a:prstGeom prst="straightConnector1">
            <a:avLst/>
          </a:prstGeom>
          <a:noFill/>
          <a:ln cap="flat" cmpd="sng" w="19050">
            <a:solidFill>
              <a:srgbClr val="A5BE00"/>
            </a:solidFill>
            <a:prstDash val="solid"/>
            <a:round/>
            <a:headEnd len="sm" w="sm" type="none"/>
            <a:tailEnd len="sm" w="sm" type="none"/>
          </a:ln>
        </p:spPr>
      </p:cxnSp>
      <p:sp>
        <p:nvSpPr>
          <p:cNvPr id="267" name="Google Shape;267;g3f9fc709246_0_233"/>
          <p:cNvSpPr/>
          <p:nvPr/>
        </p:nvSpPr>
        <p:spPr>
          <a:xfrm>
            <a:off x="502920" y="6492240"/>
            <a:ext cx="7315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Edupia AI Class Plus · Concept 1.2 — Adaptive Learning</a:t>
            </a:r>
            <a:endParaRPr b="0" i="0" sz="800" u="none" cap="none" strike="noStrike">
              <a:solidFill>
                <a:schemeClr val="dk1"/>
              </a:solidFill>
              <a:latin typeface="Calibri"/>
              <a:ea typeface="Calibri"/>
              <a:cs typeface="Calibri"/>
              <a:sym typeface="Calibri"/>
            </a:endParaRPr>
          </a:p>
        </p:txBody>
      </p:sp>
      <p:sp>
        <p:nvSpPr>
          <p:cNvPr id="268" name="Google Shape;268;g3f9fc709246_0_233"/>
          <p:cNvSpPr/>
          <p:nvPr/>
        </p:nvSpPr>
        <p:spPr>
          <a:xfrm>
            <a:off x="9859975" y="6492240"/>
            <a:ext cx="1828800" cy="274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11 / 14</a:t>
            </a:r>
            <a:endParaRPr b="0" i="0" sz="800" u="none" cap="none" strike="noStrike">
              <a:solidFill>
                <a:schemeClr val="dk1"/>
              </a:solidFill>
              <a:latin typeface="Calibri"/>
              <a:ea typeface="Calibri"/>
              <a:cs typeface="Calibri"/>
              <a:sym typeface="Calibri"/>
            </a:endParaRPr>
          </a:p>
        </p:txBody>
      </p:sp>
      <p:sp>
        <p:nvSpPr>
          <p:cNvPr id="269" name="Google Shape;269;g3f9fc709246_0_233"/>
          <p:cNvSpPr/>
          <p:nvPr/>
        </p:nvSpPr>
        <p:spPr>
          <a:xfrm>
            <a:off x="502925" y="1463045"/>
            <a:ext cx="11185800" cy="678300"/>
          </a:xfrm>
          <a:prstGeom prst="rect">
            <a:avLst/>
          </a:prstGeom>
          <a:noFill/>
          <a:ln>
            <a:noFill/>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Clr>
                <a:srgbClr val="004671"/>
              </a:buClr>
              <a:buSzPts val="1250"/>
              <a:buFont typeface="Arial"/>
              <a:buNone/>
            </a:pPr>
            <a:r>
              <a:rPr b="1" i="0" lang="en-US" sz="1250" u="none" cap="none" strike="noStrike">
                <a:solidFill>
                  <a:srgbClr val="004671"/>
                </a:solidFill>
                <a:latin typeface="Arial"/>
                <a:ea typeface="Arial"/>
                <a:cs typeface="Arial"/>
                <a:sym typeface="Arial"/>
              </a:rPr>
              <a:t>Là gì:  </a:t>
            </a:r>
            <a:r>
              <a:rPr b="0" i="0" lang="en-US" sz="1250" u="none" cap="none" strike="noStrike">
                <a:solidFill>
                  <a:srgbClr val="333333"/>
                </a:solidFill>
                <a:latin typeface="Arial"/>
                <a:ea typeface="Arial"/>
                <a:cs typeface="Arial"/>
                <a:sym typeface="Arial"/>
              </a:rPr>
              <a:t>Gia sư AI kèm 1-1 trong 30 phút cuối mỗi buổi Big Class Plus, vá đúng lỗ hổng NLO vừa phát hiện trong buổi học; đồng thời trợ giảng AI tổng kết cuối buổi và giao bài tập về nhà.</a:t>
            </a:r>
            <a:endParaRPr b="0" i="0" sz="1250" u="none" cap="none" strike="noStrike">
              <a:solidFill>
                <a:schemeClr val="dk1"/>
              </a:solidFill>
              <a:latin typeface="Calibri"/>
              <a:ea typeface="Calibri"/>
              <a:cs typeface="Calibri"/>
              <a:sym typeface="Calibri"/>
            </a:endParaRPr>
          </a:p>
        </p:txBody>
      </p:sp>
      <p:sp>
        <p:nvSpPr>
          <p:cNvPr id="270" name="Google Shape;270;g3f9fc709246_0_233"/>
          <p:cNvSpPr/>
          <p:nvPr/>
        </p:nvSpPr>
        <p:spPr>
          <a:xfrm>
            <a:off x="502925" y="2225047"/>
            <a:ext cx="11185800" cy="1982700"/>
          </a:xfrm>
          <a:prstGeom prst="rect">
            <a:avLst/>
          </a:prstGeom>
          <a:solidFill>
            <a:srgbClr val="F4F9FC"/>
          </a:solidFill>
          <a:ln cap="flat" cmpd="sng" w="12700">
            <a:solidFill>
              <a:srgbClr val="DCE8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1" name="Google Shape;271;g3f9fc709246_0_233"/>
          <p:cNvSpPr/>
          <p:nvPr/>
        </p:nvSpPr>
        <p:spPr>
          <a:xfrm>
            <a:off x="502925" y="2225047"/>
            <a:ext cx="82200" cy="19827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2" name="Google Shape;272;g3f9fc709246_0_233"/>
          <p:cNvSpPr/>
          <p:nvPr/>
        </p:nvSpPr>
        <p:spPr>
          <a:xfrm>
            <a:off x="777240" y="2353056"/>
            <a:ext cx="106371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18E0D"/>
              </a:buClr>
              <a:buSzPts val="900"/>
              <a:buFont typeface="Arial"/>
              <a:buNone/>
            </a:pPr>
            <a:r>
              <a:rPr b="1" i="0" lang="en-US" sz="1400" u="none" cap="none" strike="noStrike">
                <a:solidFill>
                  <a:srgbClr val="518E0D"/>
                </a:solidFill>
                <a:latin typeface="Arial"/>
                <a:ea typeface="Arial"/>
                <a:cs typeface="Arial"/>
                <a:sym typeface="Arial"/>
              </a:rPr>
              <a:t>CHỨC NĂNG CHÍNH</a:t>
            </a:r>
            <a:endParaRPr b="0" i="0" sz="1400" u="none" cap="none" strike="noStrike">
              <a:solidFill>
                <a:schemeClr val="dk1"/>
              </a:solidFill>
              <a:latin typeface="Calibri"/>
              <a:ea typeface="Calibri"/>
              <a:cs typeface="Calibri"/>
              <a:sym typeface="Calibri"/>
            </a:endParaRPr>
          </a:p>
        </p:txBody>
      </p:sp>
      <p:sp>
        <p:nvSpPr>
          <p:cNvPr id="273" name="Google Shape;273;g3f9fc709246_0_233"/>
          <p:cNvSpPr/>
          <p:nvPr/>
        </p:nvSpPr>
        <p:spPr>
          <a:xfrm>
            <a:off x="795525" y="2682246"/>
            <a:ext cx="10545900" cy="1263900"/>
          </a:xfrm>
          <a:prstGeom prst="rect">
            <a:avLst/>
          </a:prstGeom>
          <a:noFill/>
          <a:ln>
            <a:noFill/>
          </a:ln>
        </p:spPr>
        <p:txBody>
          <a:bodyPr anchorCtr="0" anchor="t" bIns="45700" lIns="91425" spcFirstLastPara="1" rIns="91425" wrap="square" tIns="45700">
            <a:noAutofit/>
          </a:bodyPr>
          <a:lstStyle/>
          <a:p>
            <a:pPr indent="-152400" lvl="0" marL="152400" marR="0" rtl="0" algn="l">
              <a:lnSpc>
                <a:spcPct val="115000"/>
              </a:lnSpc>
              <a:spcBef>
                <a:spcPts val="0"/>
              </a:spcBef>
              <a:spcAft>
                <a:spcPts val="0"/>
              </a:spcAft>
              <a:buClr>
                <a:srgbClr val="333333"/>
              </a:buClr>
              <a:buSzPts val="1200"/>
              <a:buFont typeface="Arial"/>
              <a:buChar char="•"/>
            </a:pPr>
            <a:r>
              <a:rPr b="0" i="0" lang="en-US" sz="1200" u="none" cap="none" strike="noStrike">
                <a:solidFill>
                  <a:srgbClr val="333333"/>
                </a:solidFill>
                <a:latin typeface="Arial"/>
                <a:ea typeface="Arial"/>
                <a:cs typeface="Arial"/>
                <a:sym typeface="Arial"/>
              </a:rPr>
              <a:t>Kích hoạt khi Gap Detection phát hiện học sinh chưa theo kịp nội dung buổi học (NLO chưa đạt).</a:t>
            </a:r>
            <a:endParaRPr b="0" i="0" sz="1200" u="none" cap="none" strike="noStrike">
              <a:solidFill>
                <a:schemeClr val="dk1"/>
              </a:solidFill>
              <a:latin typeface="Calibri"/>
              <a:ea typeface="Calibri"/>
              <a:cs typeface="Calibri"/>
              <a:sym typeface="Calibri"/>
            </a:endParaRPr>
          </a:p>
          <a:p>
            <a:pPr indent="-152400" lvl="0" marL="152400" marR="0" rtl="0" algn="l">
              <a:lnSpc>
                <a:spcPct val="115000"/>
              </a:lnSpc>
              <a:spcBef>
                <a:spcPts val="700"/>
              </a:spcBef>
              <a:spcAft>
                <a:spcPts val="0"/>
              </a:spcAft>
              <a:buClr>
                <a:srgbClr val="333333"/>
              </a:buClr>
              <a:buSzPts val="1200"/>
              <a:buFont typeface="Arial"/>
              <a:buChar char="•"/>
            </a:pPr>
            <a:r>
              <a:rPr b="0" i="0" lang="en-US" sz="1200" u="none" cap="none" strike="noStrike">
                <a:solidFill>
                  <a:srgbClr val="333333"/>
                </a:solidFill>
                <a:latin typeface="Arial"/>
                <a:ea typeface="Arial"/>
                <a:cs typeface="Arial"/>
                <a:sym typeface="Arial"/>
              </a:rPr>
              <a:t>Dạy 1-1 tập trung đúng NLO vừa hổng — không dạy lại toàn bộ nội dung buổi học.</a:t>
            </a:r>
            <a:endParaRPr b="0" i="0" sz="1200" u="none" cap="none" strike="noStrike">
              <a:solidFill>
                <a:schemeClr val="dk1"/>
              </a:solidFill>
              <a:latin typeface="Calibri"/>
              <a:ea typeface="Calibri"/>
              <a:cs typeface="Calibri"/>
              <a:sym typeface="Calibri"/>
            </a:endParaRPr>
          </a:p>
          <a:p>
            <a:pPr indent="-152400" lvl="0" marL="152400" marR="0" rtl="0" algn="l">
              <a:lnSpc>
                <a:spcPct val="115000"/>
              </a:lnSpc>
              <a:spcBef>
                <a:spcPts val="700"/>
              </a:spcBef>
              <a:spcAft>
                <a:spcPts val="0"/>
              </a:spcAft>
              <a:buClr>
                <a:srgbClr val="333333"/>
              </a:buClr>
              <a:buSzPts val="1200"/>
              <a:buFont typeface="Arial"/>
              <a:buChar char="•"/>
            </a:pPr>
            <a:r>
              <a:rPr b="0" i="0" lang="en-US" sz="1200" u="none" cap="none" strike="noStrike">
                <a:solidFill>
                  <a:srgbClr val="333333"/>
                </a:solidFill>
                <a:latin typeface="Arial"/>
                <a:ea typeface="Arial"/>
                <a:cs typeface="Arial"/>
                <a:sym typeface="Arial"/>
              </a:rPr>
              <a:t>Trợ giảng AI nhận xét kết quả học tập cuối buổi và nhắc bài tập về nhà (BTVN Adaptive) tương ứng.</a:t>
            </a:r>
            <a:endParaRPr b="0" i="0" sz="1200" u="none" cap="none" strike="noStrike">
              <a:solidFill>
                <a:schemeClr val="dk1"/>
              </a:solidFill>
              <a:latin typeface="Calibri"/>
              <a:ea typeface="Calibri"/>
              <a:cs typeface="Calibri"/>
              <a:sym typeface="Calibri"/>
            </a:endParaRPr>
          </a:p>
          <a:p>
            <a:pPr indent="-152400" lvl="0" marL="152400" marR="0" rtl="0" algn="l">
              <a:lnSpc>
                <a:spcPct val="115000"/>
              </a:lnSpc>
              <a:spcBef>
                <a:spcPts val="700"/>
              </a:spcBef>
              <a:spcAft>
                <a:spcPts val="0"/>
              </a:spcAft>
              <a:buClr>
                <a:srgbClr val="333333"/>
              </a:buClr>
              <a:buSzPts val="1200"/>
              <a:buFont typeface="Arial"/>
              <a:buChar char="•"/>
            </a:pPr>
            <a:r>
              <a:rPr b="0" i="0" lang="en-US" sz="1200" u="none" cap="none" strike="noStrike">
                <a:solidFill>
                  <a:srgbClr val="333333"/>
                </a:solidFill>
                <a:latin typeface="Arial"/>
                <a:ea typeface="Arial"/>
                <a:cs typeface="Arial"/>
                <a:sym typeface="Arial"/>
              </a:rPr>
              <a:t>Dữ liệu ghi thẳng vào Mastery Profile — nối tiếp vòng lặp Big Class → Adaptive.</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8" name="Shape 278"/>
        <p:cNvGrpSpPr/>
        <p:nvPr/>
      </p:nvGrpSpPr>
      <p:grpSpPr>
        <a:xfrm>
          <a:off x="0" y="0"/>
          <a:ext cx="0" cy="0"/>
          <a:chOff x="0" y="0"/>
          <a:chExt cx="0" cy="0"/>
        </a:xfrm>
      </p:grpSpPr>
      <p:sp>
        <p:nvSpPr>
          <p:cNvPr id="279" name="Google Shape;279;g3f9fc709246_0_247"/>
          <p:cNvSpPr/>
          <p:nvPr/>
        </p:nvSpPr>
        <p:spPr>
          <a:xfrm>
            <a:off x="8778240" y="301752"/>
            <a:ext cx="29079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EDUPIA</a:t>
            </a:r>
            <a:endParaRPr b="0" i="0" sz="1300" u="none" cap="none" strike="noStrike">
              <a:solidFill>
                <a:schemeClr val="dk1"/>
              </a:solidFill>
              <a:latin typeface="Calibri"/>
              <a:ea typeface="Calibri"/>
              <a:cs typeface="Calibri"/>
              <a:sym typeface="Calibri"/>
            </a:endParaRPr>
          </a:p>
        </p:txBody>
      </p:sp>
      <p:sp>
        <p:nvSpPr>
          <p:cNvPr id="280" name="Google Shape;280;g3f9fc709246_0_247"/>
          <p:cNvSpPr/>
          <p:nvPr/>
        </p:nvSpPr>
        <p:spPr>
          <a:xfrm>
            <a:off x="8778240" y="576072"/>
            <a:ext cx="2907900" cy="1830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1720A"/>
              </a:buClr>
              <a:buSzPts val="750"/>
              <a:buFont typeface="Arial"/>
              <a:buNone/>
            </a:pPr>
            <a:r>
              <a:rPr b="1" i="0" lang="en-US" sz="750" u="none" cap="none" strike="noStrike">
                <a:solidFill>
                  <a:srgbClr val="51720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
        <p:nvSpPr>
          <p:cNvPr id="281" name="Google Shape;281;g3f9fc709246_0_247"/>
          <p:cNvSpPr/>
          <p:nvPr/>
        </p:nvSpPr>
        <p:spPr>
          <a:xfrm>
            <a:off x="502920" y="365760"/>
            <a:ext cx="80925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Thành phần </a:t>
            </a:r>
            <a:r>
              <a:rPr b="1" lang="en-US" sz="2200">
                <a:solidFill>
                  <a:srgbClr val="004671"/>
                </a:solidFill>
              </a:rPr>
              <a:t>4</a:t>
            </a:r>
            <a:r>
              <a:rPr b="1" i="0" lang="en-US" sz="2200" u="none" cap="none" strike="noStrike">
                <a:solidFill>
                  <a:srgbClr val="004671"/>
                </a:solidFill>
                <a:latin typeface="Arial"/>
                <a:ea typeface="Arial"/>
                <a:cs typeface="Arial"/>
                <a:sym typeface="Arial"/>
              </a:rPr>
              <a:t>: AI Speak</a:t>
            </a:r>
            <a:endParaRPr b="0" i="0" sz="2200" u="none" cap="none" strike="noStrike">
              <a:solidFill>
                <a:schemeClr val="dk1"/>
              </a:solidFill>
              <a:latin typeface="Calibri"/>
              <a:ea typeface="Calibri"/>
              <a:cs typeface="Calibri"/>
              <a:sym typeface="Calibri"/>
            </a:endParaRPr>
          </a:p>
        </p:txBody>
      </p:sp>
      <p:cxnSp>
        <p:nvCxnSpPr>
          <p:cNvPr id="282" name="Google Shape;282;g3f9fc709246_0_247"/>
          <p:cNvCxnSpPr/>
          <p:nvPr/>
        </p:nvCxnSpPr>
        <p:spPr>
          <a:xfrm>
            <a:off x="502920" y="6437376"/>
            <a:ext cx="11185800" cy="0"/>
          </a:xfrm>
          <a:prstGeom prst="straightConnector1">
            <a:avLst/>
          </a:prstGeom>
          <a:noFill/>
          <a:ln cap="flat" cmpd="sng" w="19050">
            <a:solidFill>
              <a:srgbClr val="A5BE00"/>
            </a:solidFill>
            <a:prstDash val="solid"/>
            <a:round/>
            <a:headEnd len="sm" w="sm" type="none"/>
            <a:tailEnd len="sm" w="sm" type="none"/>
          </a:ln>
        </p:spPr>
      </p:cxnSp>
      <p:sp>
        <p:nvSpPr>
          <p:cNvPr id="283" name="Google Shape;283;g3f9fc709246_0_247"/>
          <p:cNvSpPr/>
          <p:nvPr/>
        </p:nvSpPr>
        <p:spPr>
          <a:xfrm>
            <a:off x="502920" y="6492240"/>
            <a:ext cx="7315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Edupia AI Class Plus · Concept 1.2 — Adaptive Learning</a:t>
            </a:r>
            <a:endParaRPr b="0" i="0" sz="800" u="none" cap="none" strike="noStrike">
              <a:solidFill>
                <a:schemeClr val="dk1"/>
              </a:solidFill>
              <a:latin typeface="Calibri"/>
              <a:ea typeface="Calibri"/>
              <a:cs typeface="Calibri"/>
              <a:sym typeface="Calibri"/>
            </a:endParaRPr>
          </a:p>
        </p:txBody>
      </p:sp>
      <p:sp>
        <p:nvSpPr>
          <p:cNvPr id="284" name="Google Shape;284;g3f9fc709246_0_247"/>
          <p:cNvSpPr/>
          <p:nvPr/>
        </p:nvSpPr>
        <p:spPr>
          <a:xfrm>
            <a:off x="9859975" y="6492240"/>
            <a:ext cx="1828800" cy="274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12 / 14</a:t>
            </a:r>
            <a:endParaRPr b="0" i="0" sz="800" u="none" cap="none" strike="noStrike">
              <a:solidFill>
                <a:schemeClr val="dk1"/>
              </a:solidFill>
              <a:latin typeface="Calibri"/>
              <a:ea typeface="Calibri"/>
              <a:cs typeface="Calibri"/>
              <a:sym typeface="Calibri"/>
            </a:endParaRPr>
          </a:p>
        </p:txBody>
      </p:sp>
      <p:sp>
        <p:nvSpPr>
          <p:cNvPr id="285" name="Google Shape;285;g3f9fc709246_0_247"/>
          <p:cNvSpPr/>
          <p:nvPr/>
        </p:nvSpPr>
        <p:spPr>
          <a:xfrm>
            <a:off x="502925" y="1463043"/>
            <a:ext cx="11185800" cy="452400"/>
          </a:xfrm>
          <a:prstGeom prst="rect">
            <a:avLst/>
          </a:prstGeom>
          <a:noFill/>
          <a:ln>
            <a:noFill/>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Clr>
                <a:srgbClr val="004671"/>
              </a:buClr>
              <a:buSzPts val="1250"/>
              <a:buFont typeface="Arial"/>
              <a:buNone/>
            </a:pPr>
            <a:r>
              <a:rPr b="1" i="0" lang="en-US" sz="1250" u="none" cap="none" strike="noStrike">
                <a:solidFill>
                  <a:srgbClr val="004671"/>
                </a:solidFill>
                <a:latin typeface="Arial"/>
                <a:ea typeface="Arial"/>
                <a:cs typeface="Arial"/>
                <a:sym typeface="Arial"/>
              </a:rPr>
              <a:t>Là gì:  </a:t>
            </a:r>
            <a:r>
              <a:rPr b="0" i="0" lang="en-US" sz="1250" u="none" cap="none" strike="noStrike">
                <a:solidFill>
                  <a:srgbClr val="333333"/>
                </a:solidFill>
                <a:latin typeface="Arial"/>
                <a:ea typeface="Arial"/>
                <a:cs typeface="Arial"/>
                <a:sym typeface="Arial"/>
              </a:rPr>
              <a:t>Phòng luyện nói với nhân vật ảo AI, mỗi ngày tối đa 1 giờ; học sinh nhập vai tình huống thực tế (mua sắm, du lịch, thể thao…).</a:t>
            </a:r>
            <a:endParaRPr b="0" i="0" sz="1250" u="none" cap="none" strike="noStrike">
              <a:solidFill>
                <a:schemeClr val="dk1"/>
              </a:solidFill>
              <a:latin typeface="Calibri"/>
              <a:ea typeface="Calibri"/>
              <a:cs typeface="Calibri"/>
              <a:sym typeface="Calibri"/>
            </a:endParaRPr>
          </a:p>
        </p:txBody>
      </p:sp>
      <p:sp>
        <p:nvSpPr>
          <p:cNvPr id="286" name="Google Shape;286;g3f9fc709246_0_247"/>
          <p:cNvSpPr/>
          <p:nvPr/>
        </p:nvSpPr>
        <p:spPr>
          <a:xfrm>
            <a:off x="502925" y="2072646"/>
            <a:ext cx="11185800" cy="1674600"/>
          </a:xfrm>
          <a:prstGeom prst="rect">
            <a:avLst/>
          </a:prstGeom>
          <a:solidFill>
            <a:srgbClr val="F4F9FC"/>
          </a:solidFill>
          <a:ln cap="flat" cmpd="sng" w="12700">
            <a:solidFill>
              <a:srgbClr val="DCE8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g3f9fc709246_0_247"/>
          <p:cNvSpPr/>
          <p:nvPr/>
        </p:nvSpPr>
        <p:spPr>
          <a:xfrm>
            <a:off x="502925" y="2072646"/>
            <a:ext cx="82200" cy="16746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g3f9fc709246_0_247"/>
          <p:cNvSpPr/>
          <p:nvPr/>
        </p:nvSpPr>
        <p:spPr>
          <a:xfrm>
            <a:off x="777240" y="2200656"/>
            <a:ext cx="106371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18E0D"/>
              </a:buClr>
              <a:buSzPts val="900"/>
              <a:buFont typeface="Arial"/>
              <a:buNone/>
            </a:pPr>
            <a:r>
              <a:rPr b="1" i="0" lang="en-US" sz="1400" u="none" cap="none" strike="noStrike">
                <a:solidFill>
                  <a:srgbClr val="518E0D"/>
                </a:solidFill>
                <a:latin typeface="Arial"/>
                <a:ea typeface="Arial"/>
                <a:cs typeface="Arial"/>
                <a:sym typeface="Arial"/>
              </a:rPr>
              <a:t>CHỨC NĂNG CHÍNH</a:t>
            </a:r>
            <a:endParaRPr b="0" i="0" sz="1400" u="none" cap="none" strike="noStrike">
              <a:solidFill>
                <a:schemeClr val="dk1"/>
              </a:solidFill>
              <a:latin typeface="Calibri"/>
              <a:ea typeface="Calibri"/>
              <a:cs typeface="Calibri"/>
              <a:sym typeface="Calibri"/>
            </a:endParaRPr>
          </a:p>
        </p:txBody>
      </p:sp>
      <p:sp>
        <p:nvSpPr>
          <p:cNvPr id="289" name="Google Shape;289;g3f9fc709246_0_247"/>
          <p:cNvSpPr/>
          <p:nvPr/>
        </p:nvSpPr>
        <p:spPr>
          <a:xfrm>
            <a:off x="795525" y="2529845"/>
            <a:ext cx="10545900" cy="1029000"/>
          </a:xfrm>
          <a:prstGeom prst="rect">
            <a:avLst/>
          </a:prstGeom>
          <a:noFill/>
          <a:ln>
            <a:noFill/>
          </a:ln>
        </p:spPr>
        <p:txBody>
          <a:bodyPr anchorCtr="0" anchor="t" bIns="45700" lIns="91425" spcFirstLastPara="1" rIns="91425" wrap="square" tIns="45700">
            <a:noAutofit/>
          </a:bodyPr>
          <a:lstStyle/>
          <a:p>
            <a:pPr indent="-152400" lvl="0" marL="152400" marR="0" rtl="0" algn="l">
              <a:lnSpc>
                <a:spcPct val="115000"/>
              </a:lnSpc>
              <a:spcBef>
                <a:spcPts val="0"/>
              </a:spcBef>
              <a:spcAft>
                <a:spcPts val="0"/>
              </a:spcAft>
              <a:buClr>
                <a:srgbClr val="333333"/>
              </a:buClr>
              <a:buSzPts val="1200"/>
              <a:buFont typeface="Arial"/>
              <a:buChar char="•"/>
            </a:pPr>
            <a:r>
              <a:rPr b="0" i="0" lang="en-US" sz="1200" u="none" cap="none" strike="noStrike">
                <a:solidFill>
                  <a:srgbClr val="333333"/>
                </a:solidFill>
                <a:latin typeface="Arial"/>
                <a:ea typeface="Arial"/>
                <a:cs typeface="Arial"/>
                <a:sym typeface="Arial"/>
              </a:rPr>
              <a:t>Gợi ý câu trả lời theo từng câu hỏi — giúp học sinh chưa tự tin vẫn bắt đầu nói được.</a:t>
            </a:r>
            <a:endParaRPr b="0" i="0" sz="1200" u="none" cap="none" strike="noStrike">
              <a:solidFill>
                <a:schemeClr val="dk1"/>
              </a:solidFill>
              <a:latin typeface="Calibri"/>
              <a:ea typeface="Calibri"/>
              <a:cs typeface="Calibri"/>
              <a:sym typeface="Calibri"/>
            </a:endParaRPr>
          </a:p>
          <a:p>
            <a:pPr indent="-152400" lvl="0" marL="152400" marR="0" rtl="0" algn="l">
              <a:lnSpc>
                <a:spcPct val="115000"/>
              </a:lnSpc>
              <a:spcBef>
                <a:spcPts val="700"/>
              </a:spcBef>
              <a:spcAft>
                <a:spcPts val="0"/>
              </a:spcAft>
              <a:buClr>
                <a:srgbClr val="333333"/>
              </a:buClr>
              <a:buSzPts val="1200"/>
              <a:buFont typeface="Arial"/>
              <a:buChar char="•"/>
            </a:pPr>
            <a:r>
              <a:rPr b="1" i="0" lang="en-US" sz="1200" u="none" cap="none" strike="noStrike">
                <a:solidFill>
                  <a:srgbClr val="333333"/>
                </a:solidFill>
                <a:latin typeface="Arial"/>
                <a:ea typeface="Arial"/>
                <a:cs typeface="Arial"/>
                <a:sym typeface="Arial"/>
              </a:rPr>
              <a:t>Chấm và chữa phát âm</a:t>
            </a:r>
            <a:r>
              <a:rPr b="0" i="0" lang="en-US" sz="1200" u="none" cap="none" strike="noStrike">
                <a:solidFill>
                  <a:srgbClr val="333333"/>
                </a:solidFill>
                <a:latin typeface="Arial"/>
                <a:ea typeface="Arial"/>
                <a:cs typeface="Arial"/>
                <a:sym typeface="Arial"/>
              </a:rPr>
              <a:t> — nâng độ chính xác của AI chấm điểm.</a:t>
            </a:r>
            <a:endParaRPr b="0" i="0" sz="1200" u="none" cap="none" strike="noStrike">
              <a:solidFill>
                <a:schemeClr val="dk1"/>
              </a:solidFill>
              <a:latin typeface="Calibri"/>
              <a:ea typeface="Calibri"/>
              <a:cs typeface="Calibri"/>
              <a:sym typeface="Calibri"/>
            </a:endParaRPr>
          </a:p>
          <a:p>
            <a:pPr indent="-152400" lvl="0" marL="152400" marR="0" rtl="0" algn="l">
              <a:lnSpc>
                <a:spcPct val="115000"/>
              </a:lnSpc>
              <a:spcBef>
                <a:spcPts val="700"/>
              </a:spcBef>
              <a:spcAft>
                <a:spcPts val="0"/>
              </a:spcAft>
              <a:buClr>
                <a:srgbClr val="333333"/>
              </a:buClr>
              <a:buSzPts val="1200"/>
              <a:buFont typeface="Arial"/>
              <a:buChar char="•"/>
            </a:pPr>
            <a:r>
              <a:rPr b="0" i="0" lang="en-US" sz="1200" u="none" cap="none" strike="noStrike">
                <a:solidFill>
                  <a:srgbClr val="333333"/>
                </a:solidFill>
                <a:latin typeface="Arial"/>
                <a:ea typeface="Arial"/>
                <a:cs typeface="Arial"/>
                <a:sym typeface="Arial"/>
              </a:rPr>
              <a:t>Chủ đề hội thoại do Routing Engine chọn theo đúng NLO đang yếu nhất — không ngẫu nhiên; số lượt nói ghi vào Mastery Profile như tín hiệu phụ.</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4" name="Shape 294"/>
        <p:cNvGrpSpPr/>
        <p:nvPr/>
      </p:nvGrpSpPr>
      <p:grpSpPr>
        <a:xfrm>
          <a:off x="0" y="0"/>
          <a:ext cx="0" cy="0"/>
          <a:chOff x="0" y="0"/>
          <a:chExt cx="0" cy="0"/>
        </a:xfrm>
      </p:grpSpPr>
      <p:sp>
        <p:nvSpPr>
          <p:cNvPr id="295" name="Google Shape;295;g3f9fc709246_0_262"/>
          <p:cNvSpPr/>
          <p:nvPr/>
        </p:nvSpPr>
        <p:spPr>
          <a:xfrm>
            <a:off x="8778240" y="301752"/>
            <a:ext cx="29079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EDUPIA</a:t>
            </a:r>
            <a:endParaRPr b="0" i="0" sz="1300" u="none" cap="none" strike="noStrike">
              <a:solidFill>
                <a:schemeClr val="dk1"/>
              </a:solidFill>
              <a:latin typeface="Calibri"/>
              <a:ea typeface="Calibri"/>
              <a:cs typeface="Calibri"/>
              <a:sym typeface="Calibri"/>
            </a:endParaRPr>
          </a:p>
        </p:txBody>
      </p:sp>
      <p:sp>
        <p:nvSpPr>
          <p:cNvPr id="296" name="Google Shape;296;g3f9fc709246_0_262"/>
          <p:cNvSpPr/>
          <p:nvPr/>
        </p:nvSpPr>
        <p:spPr>
          <a:xfrm>
            <a:off x="8778240" y="576072"/>
            <a:ext cx="2907900" cy="1830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1720A"/>
              </a:buClr>
              <a:buSzPts val="750"/>
              <a:buFont typeface="Arial"/>
              <a:buNone/>
            </a:pPr>
            <a:r>
              <a:rPr b="1" i="0" lang="en-US" sz="750" u="none" cap="none" strike="noStrike">
                <a:solidFill>
                  <a:srgbClr val="51720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
        <p:nvSpPr>
          <p:cNvPr id="297" name="Google Shape;297;g3f9fc709246_0_262"/>
          <p:cNvSpPr/>
          <p:nvPr/>
        </p:nvSpPr>
        <p:spPr>
          <a:xfrm>
            <a:off x="502920" y="365760"/>
            <a:ext cx="80925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2200"/>
              <a:buFont typeface="Arial"/>
              <a:buNone/>
            </a:pPr>
            <a:r>
              <a:rPr b="1" i="0" lang="en-US" sz="2200" u="none" cap="none" strike="noStrike">
                <a:solidFill>
                  <a:srgbClr val="004671"/>
                </a:solidFill>
                <a:latin typeface="Arial"/>
                <a:ea typeface="Arial"/>
                <a:cs typeface="Arial"/>
                <a:sym typeface="Arial"/>
              </a:rPr>
              <a:t>Thành phần </a:t>
            </a:r>
            <a:r>
              <a:rPr b="1" lang="en-US" sz="2200">
                <a:solidFill>
                  <a:srgbClr val="004671"/>
                </a:solidFill>
              </a:rPr>
              <a:t>5</a:t>
            </a:r>
            <a:r>
              <a:rPr b="1" i="0" lang="en-US" sz="2200" u="none" cap="none" strike="noStrike">
                <a:solidFill>
                  <a:srgbClr val="004671"/>
                </a:solidFill>
                <a:latin typeface="Arial"/>
                <a:ea typeface="Arial"/>
                <a:cs typeface="Arial"/>
                <a:sym typeface="Arial"/>
              </a:rPr>
              <a:t>: Edupia Club</a:t>
            </a:r>
            <a:endParaRPr b="0" i="0" sz="2200" u="none" cap="none" strike="noStrike">
              <a:solidFill>
                <a:schemeClr val="dk1"/>
              </a:solidFill>
              <a:latin typeface="Calibri"/>
              <a:ea typeface="Calibri"/>
              <a:cs typeface="Calibri"/>
              <a:sym typeface="Calibri"/>
            </a:endParaRPr>
          </a:p>
        </p:txBody>
      </p:sp>
      <p:cxnSp>
        <p:nvCxnSpPr>
          <p:cNvPr id="298" name="Google Shape;298;g3f9fc709246_0_262"/>
          <p:cNvCxnSpPr/>
          <p:nvPr/>
        </p:nvCxnSpPr>
        <p:spPr>
          <a:xfrm>
            <a:off x="502920" y="6437376"/>
            <a:ext cx="11185800" cy="0"/>
          </a:xfrm>
          <a:prstGeom prst="straightConnector1">
            <a:avLst/>
          </a:prstGeom>
          <a:noFill/>
          <a:ln cap="flat" cmpd="sng" w="19050">
            <a:solidFill>
              <a:srgbClr val="A5BE00"/>
            </a:solidFill>
            <a:prstDash val="solid"/>
            <a:round/>
            <a:headEnd len="sm" w="sm" type="none"/>
            <a:tailEnd len="sm" w="sm" type="none"/>
          </a:ln>
        </p:spPr>
      </p:cxnSp>
      <p:sp>
        <p:nvSpPr>
          <p:cNvPr id="299" name="Google Shape;299;g3f9fc709246_0_262"/>
          <p:cNvSpPr/>
          <p:nvPr/>
        </p:nvSpPr>
        <p:spPr>
          <a:xfrm>
            <a:off x="502920" y="6492240"/>
            <a:ext cx="7315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Edupia AI Class Plus · Concept 1.2 — Adaptive Learning</a:t>
            </a:r>
            <a:endParaRPr b="0" i="0" sz="800" u="none" cap="none" strike="noStrike">
              <a:solidFill>
                <a:schemeClr val="dk1"/>
              </a:solidFill>
              <a:latin typeface="Calibri"/>
              <a:ea typeface="Calibri"/>
              <a:cs typeface="Calibri"/>
              <a:sym typeface="Calibri"/>
            </a:endParaRPr>
          </a:p>
        </p:txBody>
      </p:sp>
      <p:sp>
        <p:nvSpPr>
          <p:cNvPr id="300" name="Google Shape;300;g3f9fc709246_0_262"/>
          <p:cNvSpPr/>
          <p:nvPr/>
        </p:nvSpPr>
        <p:spPr>
          <a:xfrm>
            <a:off x="9859975" y="6492240"/>
            <a:ext cx="1828800" cy="274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13 / 14</a:t>
            </a:r>
            <a:endParaRPr b="0" i="0" sz="800" u="none" cap="none" strike="noStrike">
              <a:solidFill>
                <a:schemeClr val="dk1"/>
              </a:solidFill>
              <a:latin typeface="Calibri"/>
              <a:ea typeface="Calibri"/>
              <a:cs typeface="Calibri"/>
              <a:sym typeface="Calibri"/>
            </a:endParaRPr>
          </a:p>
        </p:txBody>
      </p:sp>
      <p:sp>
        <p:nvSpPr>
          <p:cNvPr id="301" name="Google Shape;301;g3f9fc709246_0_262"/>
          <p:cNvSpPr/>
          <p:nvPr/>
        </p:nvSpPr>
        <p:spPr>
          <a:xfrm>
            <a:off x="502925" y="1463044"/>
            <a:ext cx="11185800" cy="483900"/>
          </a:xfrm>
          <a:prstGeom prst="rect">
            <a:avLst/>
          </a:prstGeom>
          <a:noFill/>
          <a:ln>
            <a:noFill/>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Clr>
                <a:srgbClr val="004671"/>
              </a:buClr>
              <a:buSzPts val="1250"/>
              <a:buFont typeface="Arial"/>
              <a:buNone/>
            </a:pPr>
            <a:r>
              <a:rPr b="1" i="0" lang="en-US" sz="1250" u="none" cap="none" strike="noStrike">
                <a:solidFill>
                  <a:srgbClr val="004671"/>
                </a:solidFill>
                <a:latin typeface="Arial"/>
                <a:ea typeface="Arial"/>
                <a:cs typeface="Arial"/>
                <a:sym typeface="Arial"/>
              </a:rPr>
              <a:t>Là gì:  </a:t>
            </a:r>
            <a:r>
              <a:rPr b="0" i="0" lang="en-US" sz="1250" u="none" cap="none" strike="noStrike">
                <a:solidFill>
                  <a:srgbClr val="333333"/>
                </a:solidFill>
                <a:latin typeface="Arial"/>
                <a:ea typeface="Arial"/>
                <a:cs typeface="Arial"/>
                <a:sym typeface="Arial"/>
              </a:rPr>
              <a:t>Câu lạc bộ hoạt động ngoại khoá trực tuyến theo mô hình CLB trường quốc tế — không phải hoạt động "cho vui" tách biệt.</a:t>
            </a:r>
            <a:endParaRPr b="0" i="0" sz="1250" u="none" cap="none" strike="noStrike">
              <a:solidFill>
                <a:schemeClr val="dk1"/>
              </a:solidFill>
              <a:latin typeface="Calibri"/>
              <a:ea typeface="Calibri"/>
              <a:cs typeface="Calibri"/>
              <a:sym typeface="Calibri"/>
            </a:endParaRPr>
          </a:p>
        </p:txBody>
      </p:sp>
      <p:sp>
        <p:nvSpPr>
          <p:cNvPr id="302" name="Google Shape;302;g3f9fc709246_0_262"/>
          <p:cNvSpPr/>
          <p:nvPr/>
        </p:nvSpPr>
        <p:spPr>
          <a:xfrm>
            <a:off x="502925" y="2072646"/>
            <a:ext cx="11185800" cy="1758300"/>
          </a:xfrm>
          <a:prstGeom prst="rect">
            <a:avLst/>
          </a:prstGeom>
          <a:solidFill>
            <a:srgbClr val="F4F9FC"/>
          </a:solidFill>
          <a:ln cap="flat" cmpd="sng" w="12700">
            <a:solidFill>
              <a:srgbClr val="DCE8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 name="Google Shape;303;g3f9fc709246_0_262"/>
          <p:cNvSpPr/>
          <p:nvPr/>
        </p:nvSpPr>
        <p:spPr>
          <a:xfrm>
            <a:off x="502925" y="2072646"/>
            <a:ext cx="82200" cy="17583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 name="Google Shape;304;g3f9fc709246_0_262"/>
          <p:cNvSpPr/>
          <p:nvPr/>
        </p:nvSpPr>
        <p:spPr>
          <a:xfrm>
            <a:off x="777240" y="2200656"/>
            <a:ext cx="106371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18E0D"/>
              </a:buClr>
              <a:buSzPts val="900"/>
              <a:buFont typeface="Arial"/>
              <a:buNone/>
            </a:pPr>
            <a:r>
              <a:rPr b="1" i="0" lang="en-US" sz="1400" u="none" cap="none" strike="noStrike">
                <a:solidFill>
                  <a:srgbClr val="518E0D"/>
                </a:solidFill>
                <a:latin typeface="Arial"/>
                <a:ea typeface="Arial"/>
                <a:cs typeface="Arial"/>
                <a:sym typeface="Arial"/>
              </a:rPr>
              <a:t>CHỨC NĂNG CHÍNH</a:t>
            </a:r>
            <a:endParaRPr b="0" i="0" sz="1400" u="none" cap="none" strike="noStrike">
              <a:solidFill>
                <a:schemeClr val="dk1"/>
              </a:solidFill>
              <a:latin typeface="Calibri"/>
              <a:ea typeface="Calibri"/>
              <a:cs typeface="Calibri"/>
              <a:sym typeface="Calibri"/>
            </a:endParaRPr>
          </a:p>
        </p:txBody>
      </p:sp>
      <p:sp>
        <p:nvSpPr>
          <p:cNvPr id="305" name="Google Shape;305;g3f9fc709246_0_262"/>
          <p:cNvSpPr/>
          <p:nvPr/>
        </p:nvSpPr>
        <p:spPr>
          <a:xfrm>
            <a:off x="795525" y="2529845"/>
            <a:ext cx="10545900" cy="1029000"/>
          </a:xfrm>
          <a:prstGeom prst="rect">
            <a:avLst/>
          </a:prstGeom>
          <a:noFill/>
          <a:ln>
            <a:noFill/>
          </a:ln>
        </p:spPr>
        <p:txBody>
          <a:bodyPr anchorCtr="0" anchor="t" bIns="45700" lIns="91425" spcFirstLastPara="1" rIns="91425" wrap="square" tIns="45700">
            <a:noAutofit/>
          </a:bodyPr>
          <a:lstStyle/>
          <a:p>
            <a:pPr indent="-152400" lvl="0" marL="152400" marR="0" rtl="0" algn="l">
              <a:lnSpc>
                <a:spcPct val="115000"/>
              </a:lnSpc>
              <a:spcBef>
                <a:spcPts val="0"/>
              </a:spcBef>
              <a:spcAft>
                <a:spcPts val="0"/>
              </a:spcAft>
              <a:buClr>
                <a:srgbClr val="333333"/>
              </a:buClr>
              <a:buSzPts val="1200"/>
              <a:buFont typeface="Arial"/>
              <a:buChar char="•"/>
            </a:pPr>
            <a:r>
              <a:rPr b="0" i="0" lang="en-US" sz="1200" u="none" cap="none" strike="noStrike">
                <a:solidFill>
                  <a:srgbClr val="333333"/>
                </a:solidFill>
                <a:latin typeface="Arial"/>
                <a:ea typeface="Arial"/>
                <a:cs typeface="Arial"/>
                <a:sym typeface="Arial"/>
              </a:rPr>
              <a:t>Chủ đề tháng: kỹ năng sống, STEM, công nghệ AI, khám phá thế giới… triển khai qua nhiệm vụ tuần, thử thách tích điểm, livestream.</a:t>
            </a:r>
            <a:endParaRPr b="0" i="0" sz="1200" u="none" cap="none" strike="noStrike">
              <a:solidFill>
                <a:schemeClr val="dk1"/>
              </a:solidFill>
              <a:latin typeface="Calibri"/>
              <a:ea typeface="Calibri"/>
              <a:cs typeface="Calibri"/>
              <a:sym typeface="Calibri"/>
            </a:endParaRPr>
          </a:p>
          <a:p>
            <a:pPr indent="-152400" lvl="0" marL="152400" marR="0" rtl="0" algn="l">
              <a:lnSpc>
                <a:spcPct val="115000"/>
              </a:lnSpc>
              <a:spcBef>
                <a:spcPts val="700"/>
              </a:spcBef>
              <a:spcAft>
                <a:spcPts val="0"/>
              </a:spcAft>
              <a:buClr>
                <a:srgbClr val="333333"/>
              </a:buClr>
              <a:buSzPts val="1200"/>
              <a:buFont typeface="Arial"/>
              <a:buChar char="•"/>
            </a:pPr>
            <a:r>
              <a:rPr b="0" i="0" lang="en-US" sz="1200" u="none" cap="none" strike="noStrike">
                <a:solidFill>
                  <a:srgbClr val="333333"/>
                </a:solidFill>
                <a:latin typeface="Arial"/>
                <a:ea typeface="Arial"/>
                <a:cs typeface="Arial"/>
                <a:sym typeface="Arial"/>
              </a:rPr>
              <a:t>Thử thách từ vựng bám đúng NLO đang học ở Big Class tuần đó.</a:t>
            </a:r>
            <a:endParaRPr b="0" i="0" sz="1200" u="none" cap="none" strike="noStrike">
              <a:solidFill>
                <a:schemeClr val="dk1"/>
              </a:solidFill>
              <a:latin typeface="Calibri"/>
              <a:ea typeface="Calibri"/>
              <a:cs typeface="Calibri"/>
              <a:sym typeface="Calibri"/>
            </a:endParaRPr>
          </a:p>
          <a:p>
            <a:pPr indent="-152400" lvl="0" marL="152400" marR="0" rtl="0" algn="l">
              <a:lnSpc>
                <a:spcPct val="115000"/>
              </a:lnSpc>
              <a:spcBef>
                <a:spcPts val="700"/>
              </a:spcBef>
              <a:spcAft>
                <a:spcPts val="0"/>
              </a:spcAft>
              <a:buClr>
                <a:srgbClr val="333333"/>
              </a:buClr>
              <a:buSzPts val="1200"/>
              <a:buFont typeface="Arial"/>
              <a:buChar char="•"/>
            </a:pPr>
            <a:r>
              <a:rPr b="0" i="0" lang="en-US" sz="1200" u="none" cap="none" strike="noStrike">
                <a:solidFill>
                  <a:srgbClr val="333333"/>
                </a:solidFill>
                <a:latin typeface="Arial"/>
                <a:ea typeface="Arial"/>
                <a:cs typeface="Arial"/>
                <a:sym typeface="Arial"/>
              </a:rPr>
              <a:t>Điểm cộng chung 1 bảng xếp hạng; cùng ghi tín hiệu vào Mastery Profile.</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0" name="Shape 310"/>
        <p:cNvGrpSpPr/>
        <p:nvPr/>
      </p:nvGrpSpPr>
      <p:grpSpPr>
        <a:xfrm>
          <a:off x="0" y="0"/>
          <a:ext cx="0" cy="0"/>
          <a:chOff x="0" y="0"/>
          <a:chExt cx="0" cy="0"/>
        </a:xfrm>
      </p:grpSpPr>
      <p:sp>
        <p:nvSpPr>
          <p:cNvPr id="311" name="Google Shape;311;g3f9fc709246_0_277"/>
          <p:cNvSpPr/>
          <p:nvPr/>
        </p:nvSpPr>
        <p:spPr>
          <a:xfrm>
            <a:off x="8778240" y="301752"/>
            <a:ext cx="2907900" cy="2559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4671"/>
              </a:buClr>
              <a:buSzPts val="1300"/>
              <a:buFont typeface="Arial"/>
              <a:buNone/>
            </a:pPr>
            <a:r>
              <a:rPr b="1" i="0" lang="en-US" sz="1300" u="none" cap="none" strike="noStrike">
                <a:solidFill>
                  <a:srgbClr val="004671"/>
                </a:solidFill>
                <a:latin typeface="Arial"/>
                <a:ea typeface="Arial"/>
                <a:cs typeface="Arial"/>
                <a:sym typeface="Arial"/>
              </a:rPr>
              <a:t>EDUPIA</a:t>
            </a:r>
            <a:endParaRPr b="0" i="0" sz="1300" u="none" cap="none" strike="noStrike">
              <a:solidFill>
                <a:schemeClr val="dk1"/>
              </a:solidFill>
              <a:latin typeface="Calibri"/>
              <a:ea typeface="Calibri"/>
              <a:cs typeface="Calibri"/>
              <a:sym typeface="Calibri"/>
            </a:endParaRPr>
          </a:p>
        </p:txBody>
      </p:sp>
      <p:sp>
        <p:nvSpPr>
          <p:cNvPr id="312" name="Google Shape;312;g3f9fc709246_0_277"/>
          <p:cNvSpPr/>
          <p:nvPr/>
        </p:nvSpPr>
        <p:spPr>
          <a:xfrm>
            <a:off x="8778240" y="576072"/>
            <a:ext cx="2907900" cy="1830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1720A"/>
              </a:buClr>
              <a:buSzPts val="750"/>
              <a:buFont typeface="Arial"/>
              <a:buNone/>
            </a:pPr>
            <a:r>
              <a:rPr b="1" i="0" lang="en-US" sz="750" u="none" cap="none" strike="noStrike">
                <a:solidFill>
                  <a:srgbClr val="51720A"/>
                </a:solidFill>
                <a:latin typeface="Arial"/>
                <a:ea typeface="Arial"/>
                <a:cs typeface="Arial"/>
                <a:sym typeface="Arial"/>
              </a:rPr>
              <a:t>AI CLASS PLUS</a:t>
            </a:r>
            <a:endParaRPr b="0" i="0" sz="750" u="none" cap="none" strike="noStrike">
              <a:solidFill>
                <a:schemeClr val="dk1"/>
              </a:solidFill>
              <a:latin typeface="Calibri"/>
              <a:ea typeface="Calibri"/>
              <a:cs typeface="Calibri"/>
              <a:sym typeface="Calibri"/>
            </a:endParaRPr>
          </a:p>
        </p:txBody>
      </p:sp>
      <p:sp>
        <p:nvSpPr>
          <p:cNvPr id="313" name="Google Shape;313;g3f9fc709246_0_277"/>
          <p:cNvSpPr/>
          <p:nvPr/>
        </p:nvSpPr>
        <p:spPr>
          <a:xfrm>
            <a:off x="502920" y="365760"/>
            <a:ext cx="8092500" cy="914400"/>
          </a:xfrm>
          <a:prstGeom prst="rect">
            <a:avLst/>
          </a:prstGeom>
          <a:noFill/>
          <a:ln>
            <a:noFill/>
          </a:ln>
        </p:spPr>
        <p:txBody>
          <a:bodyPr anchorCtr="0" anchor="t" bIns="45700" lIns="91425" spcFirstLastPara="1" rIns="91425" wrap="square" tIns="45700">
            <a:noAutofit/>
          </a:bodyPr>
          <a:lstStyle/>
          <a:p>
            <a:pPr indent="0" lvl="0" marL="0" marR="0" rtl="0" algn="l">
              <a:lnSpc>
                <a:spcPct val="104000"/>
              </a:lnSpc>
              <a:spcBef>
                <a:spcPts val="0"/>
              </a:spcBef>
              <a:spcAft>
                <a:spcPts val="0"/>
              </a:spcAft>
              <a:buClr>
                <a:srgbClr val="004671"/>
              </a:buClr>
              <a:buSzPts val="2100"/>
              <a:buFont typeface="Arial"/>
              <a:buNone/>
            </a:pPr>
            <a:r>
              <a:rPr b="1" i="0" lang="en-US" sz="2200" u="none" cap="none" strike="noStrike">
                <a:solidFill>
                  <a:srgbClr val="004671"/>
                </a:solidFill>
                <a:latin typeface="Arial"/>
                <a:ea typeface="Arial"/>
                <a:cs typeface="Arial"/>
                <a:sym typeface="Arial"/>
              </a:rPr>
              <a:t>Thành phần </a:t>
            </a:r>
            <a:r>
              <a:rPr b="1" lang="en-US" sz="2200">
                <a:solidFill>
                  <a:srgbClr val="004671"/>
                </a:solidFill>
              </a:rPr>
              <a:t>6</a:t>
            </a:r>
            <a:r>
              <a:rPr b="1" i="0" lang="en-US" sz="2200" u="none" cap="none" strike="noStrike">
                <a:solidFill>
                  <a:srgbClr val="004671"/>
                </a:solidFill>
                <a:latin typeface="Arial"/>
                <a:ea typeface="Arial"/>
                <a:cs typeface="Arial"/>
                <a:sym typeface="Arial"/>
              </a:rPr>
              <a:t>: Giáo viên chủ nhiệm &amp; Parent Mode</a:t>
            </a:r>
            <a:endParaRPr b="0" i="0" sz="2200" u="none" cap="none" strike="noStrike">
              <a:solidFill>
                <a:schemeClr val="dk1"/>
              </a:solidFill>
              <a:latin typeface="Calibri"/>
              <a:ea typeface="Calibri"/>
              <a:cs typeface="Calibri"/>
              <a:sym typeface="Calibri"/>
            </a:endParaRPr>
          </a:p>
        </p:txBody>
      </p:sp>
      <p:cxnSp>
        <p:nvCxnSpPr>
          <p:cNvPr id="314" name="Google Shape;314;g3f9fc709246_0_277"/>
          <p:cNvCxnSpPr/>
          <p:nvPr/>
        </p:nvCxnSpPr>
        <p:spPr>
          <a:xfrm>
            <a:off x="502920" y="6437376"/>
            <a:ext cx="11185800" cy="0"/>
          </a:xfrm>
          <a:prstGeom prst="straightConnector1">
            <a:avLst/>
          </a:prstGeom>
          <a:noFill/>
          <a:ln cap="flat" cmpd="sng" w="19050">
            <a:solidFill>
              <a:srgbClr val="A5BE00"/>
            </a:solidFill>
            <a:prstDash val="solid"/>
            <a:round/>
            <a:headEnd len="sm" w="sm" type="none"/>
            <a:tailEnd len="sm" w="sm" type="none"/>
          </a:ln>
        </p:spPr>
      </p:cxnSp>
      <p:sp>
        <p:nvSpPr>
          <p:cNvPr id="315" name="Google Shape;315;g3f9fc709246_0_277"/>
          <p:cNvSpPr/>
          <p:nvPr/>
        </p:nvSpPr>
        <p:spPr>
          <a:xfrm>
            <a:off x="502920" y="6492240"/>
            <a:ext cx="73152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Edupia AI Class Plus · Concept 1.2 — Adaptive Learning</a:t>
            </a:r>
            <a:endParaRPr b="0" i="0" sz="800" u="none" cap="none" strike="noStrike">
              <a:solidFill>
                <a:schemeClr val="dk1"/>
              </a:solidFill>
              <a:latin typeface="Calibri"/>
              <a:ea typeface="Calibri"/>
              <a:cs typeface="Calibri"/>
              <a:sym typeface="Calibri"/>
            </a:endParaRPr>
          </a:p>
        </p:txBody>
      </p:sp>
      <p:sp>
        <p:nvSpPr>
          <p:cNvPr id="316" name="Google Shape;316;g3f9fc709246_0_277"/>
          <p:cNvSpPr/>
          <p:nvPr/>
        </p:nvSpPr>
        <p:spPr>
          <a:xfrm>
            <a:off x="9859975" y="6492240"/>
            <a:ext cx="1828800" cy="274200"/>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5B6472"/>
              </a:buClr>
              <a:buSzPts val="800"/>
              <a:buFont typeface="Arial"/>
              <a:buNone/>
            </a:pPr>
            <a:r>
              <a:rPr b="0" i="0" lang="en-US" sz="800" u="none" cap="none" strike="noStrike">
                <a:solidFill>
                  <a:srgbClr val="5B6472"/>
                </a:solidFill>
                <a:latin typeface="Arial"/>
                <a:ea typeface="Arial"/>
                <a:cs typeface="Arial"/>
                <a:sym typeface="Arial"/>
              </a:rPr>
              <a:t>14 / 14</a:t>
            </a:r>
            <a:endParaRPr b="0" i="0" sz="800" u="none" cap="none" strike="noStrike">
              <a:solidFill>
                <a:schemeClr val="dk1"/>
              </a:solidFill>
              <a:latin typeface="Calibri"/>
              <a:ea typeface="Calibri"/>
              <a:cs typeface="Calibri"/>
              <a:sym typeface="Calibri"/>
            </a:endParaRPr>
          </a:p>
        </p:txBody>
      </p:sp>
      <p:sp>
        <p:nvSpPr>
          <p:cNvPr id="317" name="Google Shape;317;g3f9fc709246_0_277"/>
          <p:cNvSpPr/>
          <p:nvPr/>
        </p:nvSpPr>
        <p:spPr>
          <a:xfrm>
            <a:off x="502925" y="1417322"/>
            <a:ext cx="11185800" cy="686400"/>
          </a:xfrm>
          <a:prstGeom prst="rect">
            <a:avLst/>
          </a:prstGeom>
          <a:noFill/>
          <a:ln>
            <a:noFill/>
          </a:ln>
        </p:spPr>
        <p:txBody>
          <a:bodyPr anchorCtr="0" anchor="t" bIns="45700" lIns="91425" spcFirstLastPara="1" rIns="91425" wrap="square" tIns="45700">
            <a:noAutofit/>
          </a:bodyPr>
          <a:lstStyle/>
          <a:p>
            <a:pPr indent="0" lvl="0" marL="0" marR="0" rtl="0" algn="l">
              <a:lnSpc>
                <a:spcPct val="120000"/>
              </a:lnSpc>
              <a:spcBef>
                <a:spcPts val="0"/>
              </a:spcBef>
              <a:spcAft>
                <a:spcPts val="0"/>
              </a:spcAft>
              <a:buClr>
                <a:srgbClr val="004671"/>
              </a:buClr>
              <a:buSzPts val="1250"/>
              <a:buFont typeface="Arial"/>
              <a:buNone/>
            </a:pPr>
            <a:r>
              <a:rPr b="1" i="0" lang="en-US" sz="1250" u="none" cap="none" strike="noStrike">
                <a:solidFill>
                  <a:srgbClr val="004671"/>
                </a:solidFill>
                <a:latin typeface="Arial"/>
                <a:ea typeface="Arial"/>
                <a:cs typeface="Arial"/>
                <a:sym typeface="Arial"/>
              </a:rPr>
              <a:t>Giáo viên chủ nhiệm (GVCN): </a:t>
            </a:r>
            <a:r>
              <a:rPr b="0" i="0" lang="en-US" sz="1250" u="none" cap="none" strike="noStrike">
                <a:solidFill>
                  <a:srgbClr val="333333"/>
                </a:solidFill>
                <a:latin typeface="Arial"/>
                <a:ea typeface="Arial"/>
                <a:cs typeface="Arial"/>
                <a:sym typeface="Arial"/>
              </a:rPr>
              <a:t>đồng hành, theo dõi tiến độ, hỗ trợ, nhắc lịch, gọi điện báo kết quả — dùng cùng bộ số với báo cáo phụ huynh.</a:t>
            </a:r>
            <a:br>
              <a:rPr b="0" i="0" lang="en-US" sz="1250" u="none" cap="none" strike="noStrike">
                <a:solidFill>
                  <a:srgbClr val="333333"/>
                </a:solidFill>
                <a:latin typeface="Arial"/>
                <a:ea typeface="Arial"/>
                <a:cs typeface="Arial"/>
                <a:sym typeface="Arial"/>
              </a:rPr>
            </a:br>
            <a:r>
              <a:rPr b="1" i="0" lang="en-US" sz="1250" u="none" cap="none" strike="noStrike">
                <a:solidFill>
                  <a:srgbClr val="004671"/>
                </a:solidFill>
                <a:latin typeface="Arial"/>
                <a:ea typeface="Arial"/>
                <a:cs typeface="Arial"/>
                <a:sym typeface="Arial"/>
              </a:rPr>
              <a:t>Parent Mode — Mastery Map: </a:t>
            </a:r>
            <a:r>
              <a:rPr b="0" i="0" lang="en-US" sz="1250" u="none" cap="none" strike="noStrike">
                <a:solidFill>
                  <a:srgbClr val="333333"/>
                </a:solidFill>
                <a:latin typeface="Arial"/>
                <a:ea typeface="Arial"/>
                <a:cs typeface="Arial"/>
                <a:sym typeface="Arial"/>
              </a:rPr>
              <a:t>giao diện cho phụ huynh theo dõi tiến bộ của con theo các đơn vị kiến thức NLO.</a:t>
            </a:r>
            <a:endParaRPr b="0" i="0" sz="1250" u="none" cap="none" strike="noStrike">
              <a:solidFill>
                <a:schemeClr val="dk1"/>
              </a:solidFill>
              <a:latin typeface="Calibri"/>
              <a:ea typeface="Calibri"/>
              <a:cs typeface="Calibri"/>
              <a:sym typeface="Calibri"/>
            </a:endParaRPr>
          </a:p>
        </p:txBody>
      </p:sp>
      <p:sp>
        <p:nvSpPr>
          <p:cNvPr id="318" name="Google Shape;318;g3f9fc709246_0_277"/>
          <p:cNvSpPr/>
          <p:nvPr/>
        </p:nvSpPr>
        <p:spPr>
          <a:xfrm>
            <a:off x="502925" y="2225047"/>
            <a:ext cx="11185800" cy="2304900"/>
          </a:xfrm>
          <a:prstGeom prst="rect">
            <a:avLst/>
          </a:prstGeom>
          <a:solidFill>
            <a:srgbClr val="F4F9FC"/>
          </a:solidFill>
          <a:ln cap="flat" cmpd="sng" w="12700">
            <a:solidFill>
              <a:srgbClr val="DCE8F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9" name="Google Shape;319;g3f9fc709246_0_277"/>
          <p:cNvSpPr/>
          <p:nvPr/>
        </p:nvSpPr>
        <p:spPr>
          <a:xfrm>
            <a:off x="502925" y="2225047"/>
            <a:ext cx="82200" cy="2304900"/>
          </a:xfrm>
          <a:prstGeom prst="rect">
            <a:avLst/>
          </a:prstGeom>
          <a:solidFill>
            <a:srgbClr val="A5BE00"/>
          </a:solidFill>
          <a:ln cap="flat" cmpd="sng" w="12700">
            <a:solidFill>
              <a:srgbClr val="A5BE0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0" name="Google Shape;320;g3f9fc709246_0_277"/>
          <p:cNvSpPr/>
          <p:nvPr/>
        </p:nvSpPr>
        <p:spPr>
          <a:xfrm>
            <a:off x="777240" y="2353056"/>
            <a:ext cx="10637100" cy="274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518E0D"/>
              </a:buClr>
              <a:buSzPts val="900"/>
              <a:buFont typeface="Arial"/>
              <a:buNone/>
            </a:pPr>
            <a:r>
              <a:rPr b="1" i="0" lang="en-US" sz="1400" u="none" cap="none" strike="noStrike">
                <a:solidFill>
                  <a:srgbClr val="518E0D"/>
                </a:solidFill>
                <a:latin typeface="Arial"/>
                <a:ea typeface="Arial"/>
                <a:cs typeface="Arial"/>
                <a:sym typeface="Arial"/>
              </a:rPr>
              <a:t>CHỨC NĂNG CHÍNH</a:t>
            </a:r>
            <a:endParaRPr b="0" i="0" sz="1400" u="none" cap="none" strike="noStrike">
              <a:solidFill>
                <a:schemeClr val="dk1"/>
              </a:solidFill>
              <a:latin typeface="Calibri"/>
              <a:ea typeface="Calibri"/>
              <a:cs typeface="Calibri"/>
              <a:sym typeface="Calibri"/>
            </a:endParaRPr>
          </a:p>
        </p:txBody>
      </p:sp>
      <p:sp>
        <p:nvSpPr>
          <p:cNvPr id="321" name="Google Shape;321;g3f9fc709246_0_277"/>
          <p:cNvSpPr/>
          <p:nvPr/>
        </p:nvSpPr>
        <p:spPr>
          <a:xfrm>
            <a:off x="795525" y="2727955"/>
            <a:ext cx="10545900" cy="661500"/>
          </a:xfrm>
          <a:prstGeom prst="rect">
            <a:avLst/>
          </a:prstGeom>
          <a:noFill/>
          <a:ln>
            <a:noFill/>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Clr>
                <a:srgbClr val="333333"/>
              </a:buClr>
              <a:buSzPts val="1150"/>
              <a:buFont typeface="Arial"/>
              <a:buNone/>
            </a:pPr>
            <a:r>
              <a:rPr b="0" i="0" lang="en-US" sz="1200" u="none" cap="none" strike="noStrike">
                <a:solidFill>
                  <a:srgbClr val="333333"/>
                </a:solidFill>
                <a:latin typeface="Arial"/>
                <a:ea typeface="Arial"/>
                <a:cs typeface="Arial"/>
                <a:sym typeface="Arial"/>
              </a:rPr>
              <a:t>Dịch dữ liệu thô → ngôn ngữ phụ huynh hiểu: "Con đang ở mức HIỂU (chưa tới VẬN DỤNG)… khớp học bạ ở trường." (mapping Bloom, chiều ngược).</a:t>
            </a:r>
            <a:endParaRPr b="0" i="0" sz="1200" u="none" cap="none" strike="noStrike">
              <a:solidFill>
                <a:schemeClr val="dk1"/>
              </a:solidFill>
              <a:latin typeface="Calibri"/>
              <a:ea typeface="Calibri"/>
              <a:cs typeface="Calibri"/>
              <a:sym typeface="Calibri"/>
            </a:endParaRPr>
          </a:p>
        </p:txBody>
      </p:sp>
      <p:sp>
        <p:nvSpPr>
          <p:cNvPr id="322" name="Google Shape;322;g3f9fc709246_0_277"/>
          <p:cNvSpPr/>
          <p:nvPr/>
        </p:nvSpPr>
        <p:spPr>
          <a:xfrm>
            <a:off x="795525" y="3368045"/>
            <a:ext cx="10545900" cy="924900"/>
          </a:xfrm>
          <a:prstGeom prst="rect">
            <a:avLst/>
          </a:prstGeom>
          <a:noFill/>
          <a:ln>
            <a:noFill/>
          </a:ln>
        </p:spPr>
        <p:txBody>
          <a:bodyPr anchorCtr="0" anchor="t" bIns="45700" lIns="91425" spcFirstLastPara="1" rIns="91425" wrap="square" tIns="45700">
            <a:noAutofit/>
          </a:bodyPr>
          <a:lstStyle/>
          <a:p>
            <a:pPr indent="0" lvl="0" marL="0" marR="0" rtl="0" algn="l">
              <a:lnSpc>
                <a:spcPct val="115000"/>
              </a:lnSpc>
              <a:spcBef>
                <a:spcPts val="0"/>
              </a:spcBef>
              <a:spcAft>
                <a:spcPts val="0"/>
              </a:spcAft>
              <a:buClr>
                <a:srgbClr val="333333"/>
              </a:buClr>
              <a:buSzPts val="1150"/>
              <a:buFont typeface="Arial"/>
              <a:buNone/>
            </a:pPr>
            <a:r>
              <a:rPr b="1" i="0" lang="en-US" sz="1150" u="none" cap="none" strike="noStrike">
                <a:solidFill>
                  <a:srgbClr val="333333"/>
                </a:solidFill>
                <a:latin typeface="Arial"/>
                <a:ea typeface="Arial"/>
                <a:cs typeface="Arial"/>
                <a:sym typeface="Arial"/>
              </a:rPr>
              <a:t>Tách bạch 2 loại tín hiệu: </a:t>
            </a:r>
            <a:r>
              <a:rPr b="0" i="0" lang="en-US" sz="1150" u="none" cap="none" strike="noStrike">
                <a:solidFill>
                  <a:srgbClr val="333333"/>
                </a:solidFill>
                <a:latin typeface="Arial"/>
                <a:ea typeface="Arial"/>
                <a:cs typeface="Arial"/>
                <a:sym typeface="Arial"/>
              </a:rPr>
              <a:t>mastery hằng ngày (nhiễu) ≠ đánh giá 3–6 tháng chính thức (đề riêng, đáng tin) — nền tảng cho Khoá cải thiện gắn TLGH60.</a:t>
            </a:r>
            <a:endParaRPr b="0" i="0" sz="1150" u="none" cap="none" strike="noStrike">
              <a:solidFill>
                <a:schemeClr val="dk1"/>
              </a:solidFill>
              <a:latin typeface="Calibri"/>
              <a:ea typeface="Calibri"/>
              <a:cs typeface="Calibri"/>
              <a:sym typeface="Calibri"/>
            </a:endParaRPr>
          </a:p>
          <a:p>
            <a:pPr indent="0" lvl="0" marL="0" marR="0" rtl="0" algn="l">
              <a:lnSpc>
                <a:spcPct val="115000"/>
              </a:lnSpc>
              <a:spcBef>
                <a:spcPts val="700"/>
              </a:spcBef>
              <a:spcAft>
                <a:spcPts val="0"/>
              </a:spcAft>
              <a:buClr>
                <a:srgbClr val="333333"/>
              </a:buClr>
              <a:buSzPts val="1150"/>
              <a:buFont typeface="Arial"/>
              <a:buNone/>
            </a:pPr>
            <a:r>
              <a:rPr b="0" i="0" lang="en-US" sz="1150" u="none" cap="none" strike="noStrike">
                <a:solidFill>
                  <a:srgbClr val="333333"/>
                </a:solidFill>
                <a:latin typeface="Arial"/>
                <a:ea typeface="Arial"/>
                <a:cs typeface="Arial"/>
                <a:sym typeface="Arial"/>
              </a:rPr>
              <a:t>Điểm danh đầu &amp; cuối buổi: hệ thống ghi nhận học sinh tham gia buổi học Big Class Plus, gửi thông báo tới điện thoại phụ huynh khi con vào lớp và khi kết thúc buổi.</a:t>
            </a:r>
            <a:endParaRPr b="0" i="0" sz="115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2026-08-27T04:31:13Z</dcterms:created>
  <dc:creator>Khối Sản phẩm &amp; Công nghệ — Edupia</dc:creator>
</cp:coreProperties>
</file>