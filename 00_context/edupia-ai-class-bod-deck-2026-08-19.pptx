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1005840"/>
            <a:ext cx="9144000" cy="320040"/>
          </a:xfrm>
          <a:prstGeom prst="rect">
            <a:avLst/>
          </a:prstGeom>
          <a:noFill/>
          <a:ln/>
        </p:spPr>
        <p:txBody>
          <a:bodyPr wrap="square" rtlCol="0" anchor="ctr"/>
          <a:lstStyle/>
          <a:p>
            <a:pPr indent="0" marL="0">
              <a:buNone/>
            </a:pPr>
            <a:r>
              <a:rPr lang="en-US" sz="1200" b="1" spc="300" kern="0" dirty="0">
                <a:solidFill>
                  <a:srgbClr val="A9782E"/>
                </a:solidFill>
                <a:latin typeface="Segoe UI" pitchFamily="34" charset="0"/>
                <a:ea typeface="Segoe UI" pitchFamily="34" charset="-122"/>
                <a:cs typeface="Segoe UI" pitchFamily="34" charset="-120"/>
              </a:rPr>
              <a:t>EDUPIA CLASS  ·  ĐỀ XUẤT TRÌNH BOD</a:t>
            </a:r>
            <a:endParaRPr lang="en-US" sz="1200" dirty="0"/>
          </a:p>
        </p:txBody>
      </p:sp>
      <p:sp>
        <p:nvSpPr>
          <p:cNvPr id="3" name="Text 1"/>
          <p:cNvSpPr/>
          <p:nvPr/>
        </p:nvSpPr>
        <p:spPr>
          <a:xfrm>
            <a:off x="548640" y="1417320"/>
            <a:ext cx="9601200" cy="1737360"/>
          </a:xfrm>
          <a:prstGeom prst="rect">
            <a:avLst/>
          </a:prstGeom>
          <a:noFill/>
          <a:ln/>
        </p:spPr>
        <p:txBody>
          <a:bodyPr wrap="square" rtlCol="0" anchor="ctr"/>
          <a:lstStyle/>
          <a:p>
            <a:pPr indent="0" marL="0">
              <a:lnSpc>
                <a:spcPct val="105000"/>
              </a:lnSpc>
              <a:buNone/>
            </a:pPr>
            <a:r>
              <a:rPr lang="en-US" sz="4400" b="1" dirty="0">
                <a:solidFill>
                  <a:srgbClr val="1B2430"/>
                </a:solidFill>
                <a:latin typeface="Georgia" pitchFamily="34" charset="0"/>
                <a:ea typeface="Georgia" pitchFamily="34" charset="-122"/>
                <a:cs typeface="Georgia" pitchFamily="34" charset="-120"/>
              </a:rPr>
              <a:t>Concept mới</a:t>
            </a:r>
            <a:endParaRPr lang="en-US" sz="4400" dirty="0"/>
          </a:p>
          <a:p>
            <a:pPr indent="0" marL="0">
              <a:lnSpc>
                <a:spcPct val="105000"/>
              </a:lnSpc>
              <a:buNone/>
            </a:pPr>
            <a:r>
              <a:rPr lang="en-US" sz="4400" b="1" dirty="0">
                <a:solidFill>
                  <a:srgbClr val="1B2430"/>
                </a:solidFill>
                <a:latin typeface="Georgia" pitchFamily="34" charset="0"/>
                <a:ea typeface="Georgia" pitchFamily="34" charset="-122"/>
                <a:cs typeface="Georgia" pitchFamily="34" charset="-120"/>
              </a:rPr>
              <a:t>Edupia AI Class</a:t>
            </a:r>
            <a:endParaRPr lang="en-US" sz="4400" dirty="0"/>
          </a:p>
        </p:txBody>
      </p:sp>
      <p:sp>
        <p:nvSpPr>
          <p:cNvPr id="4" name="Text 2"/>
          <p:cNvSpPr/>
          <p:nvPr/>
        </p:nvSpPr>
        <p:spPr>
          <a:xfrm>
            <a:off x="548640" y="3246120"/>
            <a:ext cx="8686800" cy="457200"/>
          </a:xfrm>
          <a:prstGeom prst="rect">
            <a:avLst/>
          </a:prstGeom>
          <a:noFill/>
          <a:ln/>
        </p:spPr>
        <p:txBody>
          <a:bodyPr wrap="square" rtlCol="0" anchor="ctr"/>
          <a:lstStyle/>
          <a:p>
            <a:pPr indent="0" marL="0">
              <a:buNone/>
            </a:pPr>
            <a:r>
              <a:rPr lang="en-US" sz="1600" dirty="0">
                <a:solidFill>
                  <a:srgbClr val="57616B"/>
                </a:solidFill>
                <a:latin typeface="Segoe UI" pitchFamily="34" charset="0"/>
                <a:ea typeface="Segoe UI" pitchFamily="34" charset="-122"/>
                <a:cs typeface="Segoe UI" pitchFamily="34" charset="-120"/>
              </a:rPr>
              <a:t>Phân khúc giá 390.000–400.000đ/tháng · 3 định hướng sản phẩm dự kiến</a:t>
            </a:r>
            <a:endParaRPr lang="en-US" sz="1600" dirty="0"/>
          </a:p>
        </p:txBody>
      </p:sp>
      <p:sp>
        <p:nvSpPr>
          <p:cNvPr id="5" name="Shape 3"/>
          <p:cNvSpPr/>
          <p:nvPr/>
        </p:nvSpPr>
        <p:spPr>
          <a:xfrm>
            <a:off x="548640" y="3977640"/>
            <a:ext cx="41148" cy="1005840"/>
          </a:xfrm>
          <a:prstGeom prst="rect">
            <a:avLst/>
          </a:prstGeom>
          <a:solidFill>
            <a:srgbClr val="A9782E"/>
          </a:solidFill>
          <a:ln/>
        </p:spPr>
      </p:sp>
      <p:sp>
        <p:nvSpPr>
          <p:cNvPr id="6" name="Text 4"/>
          <p:cNvSpPr/>
          <p:nvPr/>
        </p:nvSpPr>
        <p:spPr>
          <a:xfrm>
            <a:off x="731520" y="3977640"/>
            <a:ext cx="8458200" cy="1005840"/>
          </a:xfrm>
          <a:prstGeom prst="rect">
            <a:avLst/>
          </a:prstGeom>
          <a:noFill/>
          <a:ln/>
        </p:spPr>
        <p:txBody>
          <a:bodyPr wrap="square" rtlCol="0" anchor="t"/>
          <a:lstStyle/>
          <a:p>
            <a:pPr indent="0" marL="0">
              <a:buNone/>
            </a:pPr>
            <a:r>
              <a:rPr lang="en-US" sz="1300" i="1" dirty="0">
                <a:solidFill>
                  <a:srgbClr val="1B2430"/>
                </a:solidFill>
                <a:latin typeface="Georgia" pitchFamily="34" charset="0"/>
                <a:ea typeface="Georgia" pitchFamily="34" charset="-122"/>
                <a:cs typeface="Georgia" pitchFamily="34" charset="-120"/>
              </a:rPr>
              <a:t>“…một ao cá cực kỳ lớn ở phân khúc giá 390.000đ–400.000đ.”</a:t>
            </a:r>
            <a:pPr indent="0" marL="0">
              <a:buNone/>
            </a:pPr>
            <a:endParaRPr lang="en-US" sz="1300" dirty="0"/>
          </a:p>
          <a:p>
            <a:pPr indent="0" marL="0">
              <a:buNone/>
            </a:pPr>
            <a:r>
              <a:rPr lang="en-US" sz="950" dirty="0">
                <a:solidFill>
                  <a:srgbClr val="57616B"/>
                </a:solidFill>
                <a:latin typeface="Segoe UI" pitchFamily="34" charset="0"/>
                <a:ea typeface="Segoe UI" pitchFamily="34" charset="-122"/>
                <a:cs typeface="Segoe UI" pitchFamily="34" charset="-120"/>
              </a:rPr>
              <a:t>— Phân tích bộ phận Chiến lược, Chiến lược Educa 2026–2028</a:t>
            </a:r>
            <a:endParaRPr lang="en-US" sz="1300" dirty="0"/>
          </a:p>
        </p:txBody>
      </p:sp>
      <p:sp>
        <p:nvSpPr>
          <p:cNvPr id="7" name="Shape 5"/>
          <p:cNvSpPr/>
          <p:nvPr/>
        </p:nvSpPr>
        <p:spPr>
          <a:xfrm>
            <a:off x="548640" y="5989320"/>
            <a:ext cx="9601200" cy="0"/>
          </a:xfrm>
          <a:prstGeom prst="line">
            <a:avLst/>
          </a:prstGeom>
          <a:noFill/>
          <a:ln w="9525">
            <a:solidFill>
              <a:srgbClr val="D9DBD3"/>
            </a:solidFill>
            <a:prstDash val="solid"/>
          </a:ln>
        </p:spPr>
      </p:sp>
      <p:sp>
        <p:nvSpPr>
          <p:cNvPr id="8" name="Text 6"/>
          <p:cNvSpPr/>
          <p:nvPr/>
        </p:nvSpPr>
        <p:spPr>
          <a:xfrm>
            <a:off x="548640" y="6108192"/>
            <a:ext cx="10058400" cy="548640"/>
          </a:xfrm>
          <a:prstGeom prst="rect">
            <a:avLst/>
          </a:prstGeom>
          <a:noFill/>
          <a:ln/>
        </p:spPr>
        <p:txBody>
          <a:bodyPr wrap="square" rtlCol="0" anchor="t"/>
          <a:lstStyle/>
          <a:p>
            <a:pPr indent="0" marL="0">
              <a:buNone/>
            </a:pPr>
            <a:r>
              <a:rPr lang="en-US" sz="950" dirty="0">
                <a:solidFill>
                  <a:srgbClr val="57616B"/>
                </a:solidFill>
                <a:latin typeface="Segoe UI" pitchFamily="34" charset="0"/>
                <a:ea typeface="Segoe UI" pitchFamily="34" charset="-122"/>
                <a:cs typeface="Segoe UI" pitchFamily="34" charset="-120"/>
              </a:rPr>
              <a:t>Tháng 8/2026  ·  Nguồn: product-brief-2026-08-13.md (v2.1, cập nhật 18/8/2026) · concept-evaluation-scorecard-2026-08-15.md · 3 gói nghiên cứu thị trường độc lập (14/8–18/8/2026)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NỘI DUNG TRÌNH BÀY</a:t>
            </a:r>
            <a:endParaRPr lang="en-US" sz="1100" dirty="0"/>
          </a:p>
        </p:txBody>
      </p:sp>
      <p:sp>
        <p:nvSpPr>
          <p:cNvPr id="3" name="Text 1"/>
          <p:cNvSpPr/>
          <p:nvPr/>
        </p:nvSpPr>
        <p:spPr>
          <a:xfrm>
            <a:off x="548640" y="566928"/>
            <a:ext cx="10607040" cy="777240"/>
          </a:xfrm>
          <a:prstGeom prst="rect">
            <a:avLst/>
          </a:prstGeom>
          <a:noFill/>
          <a:ln/>
        </p:spPr>
        <p:txBody>
          <a:bodyPr wrap="square" rtlCol="0" anchor="t"/>
          <a:lstStyle/>
          <a:p>
            <a:pPr indent="0" marL="0">
              <a:buNone/>
            </a:pPr>
            <a:r>
              <a:rPr lang="en-US" sz="2500" b="1" dirty="0">
                <a:solidFill>
                  <a:srgbClr val="1B2430"/>
                </a:solidFill>
                <a:latin typeface="Georgia" pitchFamily="34" charset="0"/>
                <a:ea typeface="Georgia" pitchFamily="34" charset="-122"/>
                <a:cs typeface="Georgia" pitchFamily="34" charset="-120"/>
              </a:rPr>
              <a:t>6 phần nội dung</a:t>
            </a:r>
            <a:endParaRPr lang="en-US" sz="25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600200"/>
            <a:ext cx="5362956" cy="4480560"/>
          </a:xfrm>
          <a:prstGeom prst="roundRect">
            <a:avLst>
              <a:gd name="adj" fmla="val 1224"/>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7" name="Text 5"/>
          <p:cNvSpPr/>
          <p:nvPr/>
        </p:nvSpPr>
        <p:spPr>
          <a:xfrm>
            <a:off x="749808" y="1746504"/>
            <a:ext cx="4960620" cy="365760"/>
          </a:xfrm>
          <a:prstGeom prst="rect">
            <a:avLst/>
          </a:prstGeom>
          <a:noFill/>
          <a:ln/>
        </p:spPr>
        <p:txBody>
          <a:bodyPr wrap="square" rtlCol="0" anchor="ctr"/>
          <a:lstStyle/>
          <a:p>
            <a:pPr indent="0" marL="0">
              <a:buNone/>
            </a:pPr>
            <a:endParaRPr lang="en-US" sz="1350" dirty="0"/>
          </a:p>
        </p:txBody>
      </p:sp>
      <p:sp>
        <p:nvSpPr>
          <p:cNvPr id="8" name="Text 6"/>
          <p:cNvSpPr/>
          <p:nvPr/>
        </p:nvSpPr>
        <p:spPr>
          <a:xfrm>
            <a:off x="749808" y="2130552"/>
            <a:ext cx="4960620" cy="3785616"/>
          </a:xfrm>
          <a:prstGeom prst="rect">
            <a:avLst/>
          </a:prstGeom>
          <a:noFill/>
          <a:ln/>
        </p:spPr>
        <p:txBody>
          <a:bodyPr wrap="square" rtlCol="0" anchor="t"/>
          <a:lstStyle/>
          <a:p>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1. Mục tiêu chiến lược
</a:t>
            </a:r>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2. Chi tiết 3 concept sản phẩm dự kiến
</a:t>
            </a:r>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3. Nghiên cứu mô hình thành công trên thế giới
</a:t>
            </a:r>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4. Kế hoạch triển khai
</a:t>
            </a:r>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5. Sơ đồ phân chia trách nhiệm
</a:t>
            </a:r>
            <a:pPr indent="0" marL="0">
              <a:lnSpc>
                <a:spcPct val="115000"/>
              </a:lnSpc>
              <a:buNone/>
            </a:pPr>
            <a:r>
              <a:rPr lang="en-US" sz="1200" b="1" dirty="0">
                <a:solidFill>
                  <a:srgbClr val="1B2430"/>
                </a:solidFill>
                <a:latin typeface="Segoe UI" pitchFamily="34" charset="0"/>
                <a:ea typeface="Segoe UI" pitchFamily="34" charset="-122"/>
                <a:cs typeface="Segoe UI" pitchFamily="34" charset="-120"/>
              </a:rPr>
              <a:t>6. Câu hỏi cần BOD quyết định (kết)</a:t>
            </a:r>
            <a:endParaRPr lang="en-US" sz="1050" dirty="0"/>
          </a:p>
        </p:txBody>
      </p:sp>
      <p:sp>
        <p:nvSpPr>
          <p:cNvPr id="9" name="Shape 7"/>
          <p:cNvSpPr/>
          <p:nvPr/>
        </p:nvSpPr>
        <p:spPr>
          <a:xfrm>
            <a:off x="6277356" y="1600200"/>
            <a:ext cx="5362956" cy="4480560"/>
          </a:xfrm>
          <a:prstGeom prst="roundRect">
            <a:avLst>
              <a:gd name="adj" fmla="val 1224"/>
            </a:avLst>
          </a:prstGeom>
          <a:solidFill>
            <a:srgbClr val="FFFFFF"/>
          </a:solidFill>
          <a:ln w="9525">
            <a:solidFill>
              <a:srgbClr val="D9DBD3"/>
            </a:solidFill>
            <a:prstDash val="solid"/>
          </a:ln>
        </p:spPr>
      </p:sp>
      <p:sp>
        <p:nvSpPr>
          <p:cNvPr id="10" name="Text 8"/>
          <p:cNvSpPr/>
          <p:nvPr/>
        </p:nvSpPr>
        <p:spPr>
          <a:xfrm>
            <a:off x="6505956" y="1783080"/>
            <a:ext cx="4937760" cy="365760"/>
          </a:xfrm>
          <a:prstGeom prst="rect">
            <a:avLst/>
          </a:prstGeom>
          <a:noFill/>
          <a:ln/>
        </p:spPr>
        <p:txBody>
          <a:bodyPr wrap="square" rtlCol="0" anchor="ctr"/>
          <a:lstStyle/>
          <a:p>
            <a:pPr indent="0" marL="0">
              <a:buNone/>
            </a:pPr>
            <a:r>
              <a:rPr lang="en-US" sz="1400" b="1" dirty="0">
                <a:solidFill>
                  <a:srgbClr val="1E3A5F"/>
                </a:solidFill>
                <a:latin typeface="Georgia" pitchFamily="34" charset="0"/>
                <a:ea typeface="Georgia" pitchFamily="34" charset="-122"/>
                <a:cs typeface="Georgia" pitchFamily="34" charset="-120"/>
              </a:rPr>
              <a:t>Quy ước đọc slide</a:t>
            </a:r>
            <a:endParaRPr lang="en-US" sz="1400" dirty="0"/>
          </a:p>
        </p:txBody>
      </p:sp>
      <p:sp>
        <p:nvSpPr>
          <p:cNvPr id="11" name="Shape 9"/>
          <p:cNvSpPr/>
          <p:nvPr/>
        </p:nvSpPr>
        <p:spPr>
          <a:xfrm>
            <a:off x="6505956" y="2286000"/>
            <a:ext cx="310896" cy="237744"/>
          </a:xfrm>
          <a:prstGeom prst="roundRect">
            <a:avLst>
              <a:gd name="adj" fmla="val 15385"/>
            </a:avLst>
          </a:prstGeom>
          <a:solidFill>
            <a:srgbClr val="E3F1EA"/>
          </a:solidFill>
          <a:ln/>
        </p:spPr>
      </p:sp>
      <p:sp>
        <p:nvSpPr>
          <p:cNvPr id="12" name="Text 10"/>
          <p:cNvSpPr/>
          <p:nvPr/>
        </p:nvSpPr>
        <p:spPr>
          <a:xfrm>
            <a:off x="6505956" y="2267712"/>
            <a:ext cx="310896" cy="274320"/>
          </a:xfrm>
          <a:prstGeom prst="rect">
            <a:avLst/>
          </a:prstGeom>
          <a:noFill/>
          <a:ln/>
        </p:spPr>
        <p:txBody>
          <a:bodyPr wrap="square" rtlCol="0" anchor="ctr"/>
          <a:lstStyle/>
          <a:p>
            <a:pPr algn="ctr" indent="0" marL="0">
              <a:buNone/>
            </a:pPr>
            <a:r>
              <a:rPr lang="en-US" sz="1000" b="1" dirty="0">
                <a:solidFill>
                  <a:srgbClr val="2E7D63"/>
                </a:solidFill>
                <a:latin typeface="Segoe UI" pitchFamily="34" charset="0"/>
                <a:ea typeface="Segoe UI" pitchFamily="34" charset="-122"/>
                <a:cs typeface="Segoe UI" pitchFamily="34" charset="-120"/>
              </a:rPr>
              <a:t>●</a:t>
            </a:r>
            <a:endParaRPr lang="en-US" sz="1000" dirty="0"/>
          </a:p>
        </p:txBody>
      </p:sp>
      <p:sp>
        <p:nvSpPr>
          <p:cNvPr id="13" name="Text 11"/>
          <p:cNvSpPr/>
          <p:nvPr/>
        </p:nvSpPr>
        <p:spPr>
          <a:xfrm>
            <a:off x="6917436" y="2249424"/>
            <a:ext cx="4480560" cy="365760"/>
          </a:xfrm>
          <a:prstGeom prst="rect">
            <a:avLst/>
          </a:prstGeom>
          <a:noFill/>
          <a:ln/>
        </p:spPr>
        <p:txBody>
          <a:bodyPr wrap="square" rtlCol="0" anchor="t"/>
          <a:lstStyle/>
          <a:p>
            <a:pPr indent="0" marL="0">
              <a:buNone/>
            </a:pPr>
            <a:r>
              <a:rPr lang="en-US" sz="1100" dirty="0">
                <a:solidFill>
                  <a:srgbClr val="1B2430"/>
                </a:solidFill>
                <a:latin typeface="Segoe UI" pitchFamily="34" charset="0"/>
                <a:ea typeface="Segoe UI" pitchFamily="34" charset="-122"/>
                <a:cs typeface="Segoe UI" pitchFamily="34" charset="-120"/>
              </a:rPr>
              <a:t>Đã xác nhận — dữ liệu có nguồn, đã kiểm chứng</a:t>
            </a:r>
            <a:endParaRPr lang="en-US" sz="1100" dirty="0"/>
          </a:p>
        </p:txBody>
      </p:sp>
      <p:sp>
        <p:nvSpPr>
          <p:cNvPr id="14" name="Shape 12"/>
          <p:cNvSpPr/>
          <p:nvPr/>
        </p:nvSpPr>
        <p:spPr>
          <a:xfrm>
            <a:off x="6505956" y="2743200"/>
            <a:ext cx="310896" cy="237744"/>
          </a:xfrm>
          <a:prstGeom prst="roundRect">
            <a:avLst>
              <a:gd name="adj" fmla="val 15385"/>
            </a:avLst>
          </a:prstGeom>
          <a:solidFill>
            <a:srgbClr val="F6EEDC"/>
          </a:solidFill>
          <a:ln/>
        </p:spPr>
      </p:sp>
      <p:sp>
        <p:nvSpPr>
          <p:cNvPr id="15" name="Text 13"/>
          <p:cNvSpPr/>
          <p:nvPr/>
        </p:nvSpPr>
        <p:spPr>
          <a:xfrm>
            <a:off x="6505956" y="2724912"/>
            <a:ext cx="310896" cy="274320"/>
          </a:xfrm>
          <a:prstGeom prst="rect">
            <a:avLst/>
          </a:prstGeom>
          <a:noFill/>
          <a:ln/>
        </p:spPr>
        <p:txBody>
          <a:bodyPr wrap="square" rtlCol="0" anchor="ctr"/>
          <a:lstStyle/>
          <a:p>
            <a:pPr algn="ctr" indent="0" marL="0">
              <a:buNone/>
            </a:pPr>
            <a:r>
              <a:rPr lang="en-US" sz="1000" b="1" dirty="0">
                <a:solidFill>
                  <a:srgbClr val="A9782E"/>
                </a:solidFill>
                <a:latin typeface="Segoe UI" pitchFamily="34" charset="0"/>
                <a:ea typeface="Segoe UI" pitchFamily="34" charset="-122"/>
                <a:cs typeface="Segoe UI" pitchFamily="34" charset="-120"/>
              </a:rPr>
              <a:t>◆</a:t>
            </a:r>
            <a:endParaRPr lang="en-US" sz="1000" dirty="0"/>
          </a:p>
        </p:txBody>
      </p:sp>
      <p:sp>
        <p:nvSpPr>
          <p:cNvPr id="16" name="Text 14"/>
          <p:cNvSpPr/>
          <p:nvPr/>
        </p:nvSpPr>
        <p:spPr>
          <a:xfrm>
            <a:off x="6917436" y="2706624"/>
            <a:ext cx="4480560" cy="365760"/>
          </a:xfrm>
          <a:prstGeom prst="rect">
            <a:avLst/>
          </a:prstGeom>
          <a:noFill/>
          <a:ln/>
        </p:spPr>
        <p:txBody>
          <a:bodyPr wrap="square" rtlCol="0" anchor="t"/>
          <a:lstStyle/>
          <a:p>
            <a:pPr indent="0" marL="0">
              <a:buNone/>
            </a:pPr>
            <a:r>
              <a:rPr lang="en-US" sz="1100" dirty="0">
                <a:solidFill>
                  <a:srgbClr val="1B2430"/>
                </a:solidFill>
                <a:latin typeface="Segoe UI" pitchFamily="34" charset="0"/>
                <a:ea typeface="Segoe UI" pitchFamily="34" charset="-122"/>
                <a:cs typeface="Segoe UI" pitchFamily="34" charset="-120"/>
              </a:rPr>
              <a:t>Giả định / ước tính — cần khảo sát hoặc Pilot xác nhận</a:t>
            </a:r>
            <a:endParaRPr lang="en-US" sz="1100" dirty="0"/>
          </a:p>
        </p:txBody>
      </p:sp>
      <p:sp>
        <p:nvSpPr>
          <p:cNvPr id="17" name="Shape 15"/>
          <p:cNvSpPr/>
          <p:nvPr/>
        </p:nvSpPr>
        <p:spPr>
          <a:xfrm>
            <a:off x="6505956" y="3200400"/>
            <a:ext cx="310896" cy="237744"/>
          </a:xfrm>
          <a:prstGeom prst="roundRect">
            <a:avLst>
              <a:gd name="adj" fmla="val 15385"/>
            </a:avLst>
          </a:prstGeom>
          <a:solidFill>
            <a:srgbClr val="FBEAE4"/>
          </a:solidFill>
          <a:ln/>
        </p:spPr>
      </p:sp>
      <p:sp>
        <p:nvSpPr>
          <p:cNvPr id="18" name="Text 16"/>
          <p:cNvSpPr/>
          <p:nvPr/>
        </p:nvSpPr>
        <p:spPr>
          <a:xfrm>
            <a:off x="6505956" y="3182112"/>
            <a:ext cx="310896" cy="274320"/>
          </a:xfrm>
          <a:prstGeom prst="rect">
            <a:avLst/>
          </a:prstGeom>
          <a:noFill/>
          <a:ln/>
        </p:spPr>
        <p:txBody>
          <a:bodyPr wrap="square" rtlCol="0" anchor="ctr"/>
          <a:lstStyle/>
          <a:p>
            <a:pPr algn="ctr" indent="0" marL="0">
              <a:buNone/>
            </a:pPr>
            <a:r>
              <a:rPr lang="en-US" sz="1000" b="1" dirty="0">
                <a:solidFill>
                  <a:srgbClr val="B2452F"/>
                </a:solidFill>
                <a:latin typeface="Segoe UI" pitchFamily="34" charset="0"/>
                <a:ea typeface="Segoe UI" pitchFamily="34" charset="-122"/>
                <a:cs typeface="Segoe UI" pitchFamily="34" charset="-120"/>
              </a:rPr>
              <a:t>⚠</a:t>
            </a:r>
            <a:endParaRPr lang="en-US" sz="1000" dirty="0"/>
          </a:p>
        </p:txBody>
      </p:sp>
      <p:sp>
        <p:nvSpPr>
          <p:cNvPr id="19" name="Text 17"/>
          <p:cNvSpPr/>
          <p:nvPr/>
        </p:nvSpPr>
        <p:spPr>
          <a:xfrm>
            <a:off x="6917436" y="3163824"/>
            <a:ext cx="4480560" cy="365760"/>
          </a:xfrm>
          <a:prstGeom prst="rect">
            <a:avLst/>
          </a:prstGeom>
          <a:noFill/>
          <a:ln/>
        </p:spPr>
        <p:txBody>
          <a:bodyPr wrap="square" rtlCol="0" anchor="t"/>
          <a:lstStyle/>
          <a:p>
            <a:pPr indent="0" marL="0">
              <a:buNone/>
            </a:pPr>
            <a:r>
              <a:rPr lang="en-US" sz="1100" dirty="0">
                <a:solidFill>
                  <a:srgbClr val="1B2430"/>
                </a:solidFill>
                <a:latin typeface="Segoe UI" pitchFamily="34" charset="0"/>
                <a:ea typeface="Segoe UI" pitchFamily="34" charset="-122"/>
                <a:cs typeface="Segoe UI" pitchFamily="34" charset="-120"/>
              </a:rPr>
              <a:t>Rủi ro hoặc mâu thuẫn cần BOD lưu ý</a:t>
            </a:r>
            <a:endParaRPr lang="en-US" sz="1100" dirty="0"/>
          </a:p>
        </p:txBody>
      </p:sp>
      <p:sp>
        <p:nvSpPr>
          <p:cNvPr id="20" name="Text 18"/>
          <p:cNvSpPr/>
          <p:nvPr/>
        </p:nvSpPr>
        <p:spPr>
          <a:xfrm>
            <a:off x="6505956" y="3794760"/>
            <a:ext cx="4937760" cy="2103120"/>
          </a:xfrm>
          <a:prstGeom prst="rect">
            <a:avLst/>
          </a:prstGeom>
          <a:noFill/>
          <a:ln/>
        </p:spPr>
        <p:txBody>
          <a:bodyPr wrap="square" rtlCol="0" anchor="t"/>
          <a:lstStyle/>
          <a:p>
            <a:pPr indent="0" marL="0">
              <a:buNone/>
            </a:pPr>
            <a:r>
              <a:rPr lang="en-US" sz="1000" i="1" dirty="0">
                <a:solidFill>
                  <a:srgbClr val="57616B"/>
                </a:solidFill>
                <a:latin typeface="Segoe UI" pitchFamily="34" charset="0"/>
                <a:ea typeface="Segoe UI" pitchFamily="34" charset="-122"/>
                <a:cs typeface="Segoe UI" pitchFamily="34" charset="-120"/>
              </a:rPr>
              <a:t>Giữ nguyên quy ước từ tài liệu nghiên cứu nội bộ để phân biệt rõ dữ liệu đã có với giả định đang chờ khảo sát T9/2026 — tránh trình bày giả định như sự thật đã chốt.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1 — MỤC TIÊU CHIẾN LƯỢC</a:t>
            </a:r>
            <a:endParaRPr lang="en-US" sz="1100" dirty="0"/>
          </a:p>
        </p:txBody>
      </p:sp>
      <p:sp>
        <p:nvSpPr>
          <p:cNvPr id="3" name="Text 1"/>
          <p:cNvSpPr/>
          <p:nvPr/>
        </p:nvSpPr>
        <p:spPr>
          <a:xfrm>
            <a:off x="548640" y="566928"/>
            <a:ext cx="10607040" cy="64008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Edupia Class: Product Growth Engine duy nhất ở phân khúc mass</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2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508760"/>
            <a:ext cx="41148" cy="1051560"/>
          </a:xfrm>
          <a:prstGeom prst="rect">
            <a:avLst/>
          </a:prstGeom>
          <a:solidFill>
            <a:srgbClr val="A9782E"/>
          </a:solidFill>
          <a:ln/>
        </p:spPr>
      </p:sp>
      <p:sp>
        <p:nvSpPr>
          <p:cNvPr id="7" name="Text 5"/>
          <p:cNvSpPr/>
          <p:nvPr/>
        </p:nvSpPr>
        <p:spPr>
          <a:xfrm>
            <a:off x="731520" y="1508760"/>
            <a:ext cx="5134356" cy="1051560"/>
          </a:xfrm>
          <a:prstGeom prst="rect">
            <a:avLst/>
          </a:prstGeom>
          <a:noFill/>
          <a:ln/>
        </p:spPr>
        <p:txBody>
          <a:bodyPr wrap="square" rtlCol="0" anchor="t"/>
          <a:lstStyle/>
          <a:p>
            <a:pPr indent="0" marL="0">
              <a:buNone/>
            </a:pPr>
            <a:r>
              <a:rPr lang="en-US" sz="1300" i="1" dirty="0">
                <a:solidFill>
                  <a:srgbClr val="1B2430"/>
                </a:solidFill>
                <a:latin typeface="Georgia" pitchFamily="34" charset="0"/>
                <a:ea typeface="Georgia" pitchFamily="34" charset="-122"/>
                <a:cs typeface="Georgia" pitchFamily="34" charset="-120"/>
              </a:rPr>
              <a:t>“Educa lựa chọn tập trung nguồn lực vào phân khúc đại trà… tái định vị AI Class và Uniclass theo hướng nâng cao chất lượng và hiệu quả học tập thông qua công nghệ AI, từ đó dịch chuyển lên phân khúc giá cao hơn nhưng vẫn nằm trong khả năng chi trả của đại đa số gia đình Việt Nam.”</a:t>
            </a:r>
            <a:endParaRPr lang="en-US" sz="1300" dirty="0"/>
          </a:p>
        </p:txBody>
      </p:sp>
      <p:sp>
        <p:nvSpPr>
          <p:cNvPr id="8" name="Shape 6"/>
          <p:cNvSpPr/>
          <p:nvPr/>
        </p:nvSpPr>
        <p:spPr>
          <a:xfrm>
            <a:off x="548640" y="2697480"/>
            <a:ext cx="41148" cy="1417320"/>
          </a:xfrm>
          <a:prstGeom prst="rect">
            <a:avLst/>
          </a:prstGeom>
          <a:solidFill>
            <a:srgbClr val="A9782E"/>
          </a:solidFill>
          <a:ln/>
        </p:spPr>
      </p:sp>
      <p:sp>
        <p:nvSpPr>
          <p:cNvPr id="9" name="Text 7"/>
          <p:cNvSpPr/>
          <p:nvPr/>
        </p:nvSpPr>
        <p:spPr>
          <a:xfrm>
            <a:off x="731520" y="2697480"/>
            <a:ext cx="5134356" cy="1417320"/>
          </a:xfrm>
          <a:prstGeom prst="rect">
            <a:avLst/>
          </a:prstGeom>
          <a:noFill/>
          <a:ln/>
        </p:spPr>
        <p:txBody>
          <a:bodyPr wrap="square" rtlCol="0" anchor="t"/>
          <a:lstStyle/>
          <a:p>
            <a:pPr indent="0" marL="0">
              <a:buNone/>
            </a:pPr>
            <a:r>
              <a:rPr lang="en-US" sz="1300" i="1" dirty="0">
                <a:solidFill>
                  <a:srgbClr val="1B2430"/>
                </a:solidFill>
                <a:latin typeface="Georgia" pitchFamily="34" charset="0"/>
                <a:ea typeface="Georgia" pitchFamily="34" charset="-122"/>
                <a:cs typeface="Georgia" pitchFamily="34" charset="-120"/>
              </a:rPr>
              <a:t>“…ở khả năng tạo ra hiệu quả học tập vượt trội nhất thông qua việc ứng dụng AI/Dữ liệu vào tất cả các công đoạn — không phải thu hút giáo viên nổi tiếng nhất hay công nghệ cá nhân hóa trưởng thành nhất.”</a:t>
            </a:r>
            <a:pPr indent="0" marL="0">
              <a:buNone/>
            </a:pPr>
            <a:endParaRPr lang="en-US" sz="1300" dirty="0"/>
          </a:p>
          <a:p>
            <a:pPr indent="0" marL="0">
              <a:buNone/>
            </a:pPr>
            <a:r>
              <a:rPr lang="en-US" sz="950" dirty="0">
                <a:solidFill>
                  <a:srgbClr val="57616B"/>
                </a:solidFill>
                <a:latin typeface="Segoe UI" pitchFamily="34" charset="0"/>
                <a:ea typeface="Segoe UI" pitchFamily="34" charset="-122"/>
                <a:cs typeface="Segoe UI" pitchFamily="34" charset="-120"/>
              </a:rPr>
              <a:t>— Chiến lược Educa 2026–2028</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77356" y="1508760"/>
          <a:ext cx="5362956" cy="914400"/>
        </p:xfrm>
        <a:graphic>
          <a:graphicData uri="http://schemas.openxmlformats.org/drawingml/2006/table">
            <a:tbl>
              <a:tblPr/>
              <a:tblGrid>
                <a:gridCol w="1188720"/>
                <a:gridCol w="2194560"/>
                <a:gridCol w="1979676"/>
              </a:tblGrid>
              <a:tr h="594360">
                <a:tc>
                  <a:txBody>
                    <a:bodyPr/>
                    <a:lstStyle/>
                    <a:p>
                      <a:pPr algn="l" indent="0" marL="0">
                        <a:buNone/>
                      </a:pP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Edupia Class (390k)</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Edupia Tutor 1-4 / 1-1</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59436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Phân khúc</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Đại trà — quy mô thị trường lớn nhất</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Cao cấp — cá nhân hóa cao</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Vai trò</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Product Growth Engine — dẫn dắt tăng trưởng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Duy trì tốc độ tăng trưởng hiện tại</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Cách thắng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AI/dữ liệu ở mọi công đoạn ảnh hưởng hiệu quả học</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Nâng chất lượng GV, tối ưu vận hành, tăng gia hạn</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11" name="Text 8"/>
          <p:cNvSpPr/>
          <p:nvPr/>
        </p:nvSpPr>
        <p:spPr>
          <a:xfrm>
            <a:off x="548640" y="4572000"/>
            <a:ext cx="201168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20 tỷ</a:t>
            </a:r>
            <a:endParaRPr lang="en-US" sz="2600" dirty="0"/>
          </a:p>
        </p:txBody>
      </p:sp>
      <p:sp>
        <p:nvSpPr>
          <p:cNvPr id="12" name="Text 9"/>
          <p:cNvSpPr/>
          <p:nvPr/>
        </p:nvSpPr>
        <p:spPr>
          <a:xfrm>
            <a:off x="548640" y="5029200"/>
            <a:ext cx="201168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Lợi nhuận mục tiêu 2026</a:t>
            </a:r>
            <a:endParaRPr lang="en-US" sz="900" dirty="0"/>
          </a:p>
        </p:txBody>
      </p:sp>
      <p:sp>
        <p:nvSpPr>
          <p:cNvPr id="13" name="Text 10"/>
          <p:cNvSpPr/>
          <p:nvPr/>
        </p:nvSpPr>
        <p:spPr>
          <a:xfrm>
            <a:off x="2743200" y="4572000"/>
            <a:ext cx="201168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70 tỷ</a:t>
            </a:r>
            <a:endParaRPr lang="en-US" sz="2600" dirty="0"/>
          </a:p>
        </p:txBody>
      </p:sp>
      <p:sp>
        <p:nvSpPr>
          <p:cNvPr id="14" name="Text 11"/>
          <p:cNvSpPr/>
          <p:nvPr/>
        </p:nvSpPr>
        <p:spPr>
          <a:xfrm>
            <a:off x="2743200" y="5029200"/>
            <a:ext cx="201168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Mục tiêu 2027</a:t>
            </a:r>
            <a:endParaRPr lang="en-US" sz="900" dirty="0"/>
          </a:p>
        </p:txBody>
      </p:sp>
      <p:sp>
        <p:nvSpPr>
          <p:cNvPr id="15" name="Text 12"/>
          <p:cNvSpPr/>
          <p:nvPr/>
        </p:nvSpPr>
        <p:spPr>
          <a:xfrm>
            <a:off x="4937760" y="4572000"/>
            <a:ext cx="201168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130 tỷ</a:t>
            </a:r>
            <a:endParaRPr lang="en-US" sz="2600" dirty="0"/>
          </a:p>
        </p:txBody>
      </p:sp>
      <p:sp>
        <p:nvSpPr>
          <p:cNvPr id="16" name="Text 13"/>
          <p:cNvSpPr/>
          <p:nvPr/>
        </p:nvSpPr>
        <p:spPr>
          <a:xfrm>
            <a:off x="4937760" y="5029200"/>
            <a:ext cx="201168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Mục tiêu 2028</a:t>
            </a:r>
            <a:endParaRPr lang="en-US" sz="900" dirty="0"/>
          </a:p>
        </p:txBody>
      </p:sp>
      <p:sp>
        <p:nvSpPr>
          <p:cNvPr id="17" name="Shape 14"/>
          <p:cNvSpPr/>
          <p:nvPr/>
        </p:nvSpPr>
        <p:spPr>
          <a:xfrm>
            <a:off x="548640" y="5486400"/>
            <a:ext cx="10908792" cy="777240"/>
          </a:xfrm>
          <a:prstGeom prst="roundRect">
            <a:avLst>
              <a:gd name="adj" fmla="val 5882"/>
            </a:avLst>
          </a:prstGeom>
          <a:solidFill>
            <a:srgbClr val="FBEAE4"/>
          </a:solidFill>
          <a:ln/>
        </p:spPr>
      </p:sp>
      <p:sp>
        <p:nvSpPr>
          <p:cNvPr id="18" name="Shape 15"/>
          <p:cNvSpPr/>
          <p:nvPr/>
        </p:nvSpPr>
        <p:spPr>
          <a:xfrm>
            <a:off x="548640" y="5486400"/>
            <a:ext cx="54864" cy="777240"/>
          </a:xfrm>
          <a:prstGeom prst="rect">
            <a:avLst/>
          </a:prstGeom>
          <a:solidFill>
            <a:srgbClr val="B2452F"/>
          </a:solidFill>
          <a:ln/>
        </p:spPr>
      </p:sp>
      <p:sp>
        <p:nvSpPr>
          <p:cNvPr id="19" name="Text 16"/>
          <p:cNvSpPr/>
          <p:nvPr/>
        </p:nvSpPr>
        <p:spPr>
          <a:xfrm>
            <a:off x="749808" y="5559552"/>
            <a:ext cx="10543032" cy="63093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 Deadline chính thức: </a:t>
            </a:r>
            <a:pPr indent="0" marL="0">
              <a:buNone/>
            </a:pPr>
            <a:r>
              <a:rPr lang="en-US" sz="1100" dirty="0">
                <a:solidFill>
                  <a:srgbClr val="1B2430"/>
                </a:solidFill>
                <a:latin typeface="Segoe UI" pitchFamily="34" charset="0"/>
                <a:ea typeface="Segoe UI" pitchFamily="34" charset="-122"/>
                <a:cs typeface="Segoe UI" pitchFamily="34" charset="-120"/>
              </a:rPr>
              <a:t>hoàn thiện phương án định vị AI Class mới trước 01/11/2026 (PIC: Liêm — Kế hoạch H2/2026). Lợi nhuận là KPI cao nhất của công 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1 — MỤC TIÊU CHIẾN LƯỢC</a:t>
            </a:r>
            <a:endParaRPr lang="en-US" sz="1100" dirty="0"/>
          </a:p>
        </p:txBody>
      </p:sp>
      <p:sp>
        <p:nvSpPr>
          <p:cNvPr id="3" name="Text 1"/>
          <p:cNvSpPr/>
          <p:nvPr/>
        </p:nvSpPr>
        <p:spPr>
          <a:xfrm>
            <a:off x="548640" y="566928"/>
            <a:ext cx="10607040" cy="64008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“Ao cá” 390–400k: khoảng trống cạnh tranh có thật</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3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508760"/>
            <a:ext cx="310896" cy="237744"/>
          </a:xfrm>
          <a:prstGeom prst="roundRect">
            <a:avLst>
              <a:gd name="adj" fmla="val 15385"/>
            </a:avLst>
          </a:prstGeom>
          <a:solidFill>
            <a:srgbClr val="E3F1EA"/>
          </a:solidFill>
          <a:ln/>
        </p:spPr>
      </p:sp>
      <p:sp>
        <p:nvSpPr>
          <p:cNvPr id="7" name="Text 5"/>
          <p:cNvSpPr/>
          <p:nvPr/>
        </p:nvSpPr>
        <p:spPr>
          <a:xfrm>
            <a:off x="548640" y="1490472"/>
            <a:ext cx="310896" cy="274320"/>
          </a:xfrm>
          <a:prstGeom prst="rect">
            <a:avLst/>
          </a:prstGeom>
          <a:noFill/>
          <a:ln/>
        </p:spPr>
        <p:txBody>
          <a:bodyPr wrap="square" rtlCol="0" anchor="ctr"/>
          <a:lstStyle/>
          <a:p>
            <a:pPr algn="ctr" indent="0" marL="0">
              <a:buNone/>
            </a:pPr>
            <a:r>
              <a:rPr lang="en-US" sz="1000" b="1" dirty="0">
                <a:solidFill>
                  <a:srgbClr val="2E7D63"/>
                </a:solidFill>
                <a:latin typeface="Segoe UI" pitchFamily="34" charset="0"/>
                <a:ea typeface="Segoe UI" pitchFamily="34" charset="-122"/>
                <a:cs typeface="Segoe UI" pitchFamily="34" charset="-120"/>
              </a:rPr>
              <a:t>●</a:t>
            </a:r>
            <a:endParaRPr lang="en-US" sz="1000" dirty="0"/>
          </a:p>
        </p:txBody>
      </p:sp>
      <p:sp>
        <p:nvSpPr>
          <p:cNvPr id="8" name="Text 6"/>
          <p:cNvSpPr/>
          <p:nvPr/>
        </p:nvSpPr>
        <p:spPr>
          <a:xfrm>
            <a:off x="960120" y="1463040"/>
            <a:ext cx="10332720" cy="457200"/>
          </a:xfrm>
          <a:prstGeom prst="rect">
            <a:avLst/>
          </a:prstGeom>
          <a:noFill/>
          <a:ln/>
        </p:spPr>
        <p:txBody>
          <a:bodyPr wrap="square" rtlCol="0" anchor="t"/>
          <a:lstStyle/>
          <a:p>
            <a:pPr indent="0" marL="0">
              <a:buNone/>
            </a:pPr>
            <a:r>
              <a:rPr lang="en-US" sz="1200" dirty="0">
                <a:solidFill>
                  <a:srgbClr val="1B2430"/>
                </a:solidFill>
                <a:latin typeface="Segoe UI" pitchFamily="34" charset="0"/>
                <a:ea typeface="Segoe UI" pitchFamily="34" charset="-122"/>
                <a:cs typeface="Segoe UI" pitchFamily="34" charset="-120"/>
              </a:rPr>
              <a:t>Rà soát ~17 đối thủ trực tiếp (nghiên cứu cạnh tranh, 14/8/2026) — không ai kết hợp giáo viên cố định + giá 300.000–500.000đ/tháng.</a:t>
            </a:r>
            <a:endParaRPr lang="en-US" sz="1200" dirty="0"/>
          </a:p>
        </p:txBody>
      </p:sp>
      <p:sp>
        <p:nvSpPr>
          <p:cNvPr id="9" name="Shape 7"/>
          <p:cNvSpPr/>
          <p:nvPr/>
        </p:nvSpPr>
        <p:spPr>
          <a:xfrm>
            <a:off x="548640" y="2148840"/>
            <a:ext cx="3617976" cy="914400"/>
          </a:xfrm>
          <a:prstGeom prst="rect">
            <a:avLst/>
          </a:prstGeom>
          <a:solidFill>
            <a:srgbClr val="E9ECE5"/>
          </a:solidFill>
          <a:ln/>
        </p:spPr>
      </p:sp>
      <p:sp>
        <p:nvSpPr>
          <p:cNvPr id="10" name="Text 8"/>
          <p:cNvSpPr/>
          <p:nvPr/>
        </p:nvSpPr>
        <p:spPr>
          <a:xfrm>
            <a:off x="658368" y="2203704"/>
            <a:ext cx="3398520" cy="80467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 390k</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Tự học thuần — không giáo viên</a:t>
            </a: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Monkey, ELSA, app rẻ (6–10 lần rẻ hơn 390k)</a:t>
            </a:r>
            <a:endParaRPr lang="en-US" sz="950" dirty="0"/>
          </a:p>
        </p:txBody>
      </p:sp>
      <p:sp>
        <p:nvSpPr>
          <p:cNvPr id="11" name="Shape 9"/>
          <p:cNvSpPr/>
          <p:nvPr/>
        </p:nvSpPr>
        <p:spPr>
          <a:xfrm>
            <a:off x="4184904" y="2148840"/>
            <a:ext cx="2956837" cy="914400"/>
          </a:xfrm>
          <a:prstGeom prst="rect">
            <a:avLst/>
          </a:prstGeom>
          <a:solidFill>
            <a:srgbClr val="A9782E"/>
          </a:solidFill>
          <a:ln/>
        </p:spPr>
      </p:sp>
      <p:sp>
        <p:nvSpPr>
          <p:cNvPr id="12" name="Text 10"/>
          <p:cNvSpPr/>
          <p:nvPr/>
        </p:nvSpPr>
        <p:spPr>
          <a:xfrm>
            <a:off x="4294632" y="2203704"/>
            <a:ext cx="2737381" cy="804672"/>
          </a:xfrm>
          <a:prstGeom prst="rect">
            <a:avLst/>
          </a:prstGeom>
          <a:noFill/>
          <a:ln/>
        </p:spPr>
        <p:txBody>
          <a:bodyPr wrap="square" rtlCol="0" anchor="ctr"/>
          <a:lstStyle/>
          <a:p>
            <a:pPr algn="ctr" indent="0" marL="0">
              <a:buNone/>
            </a:pPr>
            <a:r>
              <a:rPr lang="en-US" sz="950" b="1" dirty="0">
                <a:solidFill>
                  <a:srgbClr val="1B140A"/>
                </a:solidFill>
                <a:latin typeface="Segoe UI" pitchFamily="34" charset="0"/>
                <a:ea typeface="Segoe UI" pitchFamily="34" charset="-122"/>
                <a:cs typeface="Segoe UI" pitchFamily="34" charset="-120"/>
              </a:rPr>
              <a:t>390–400k</a:t>
            </a:r>
            <a:endParaRPr lang="en-US" sz="950" dirty="0"/>
          </a:p>
          <a:p>
            <a:pPr algn="ctr" indent="0" marL="0">
              <a:buNone/>
            </a:pPr>
            <a:r>
              <a:rPr lang="en-US" sz="950" b="1" dirty="0">
                <a:solidFill>
                  <a:srgbClr val="1B140A"/>
                </a:solidFill>
                <a:latin typeface="Segoe UI" pitchFamily="34" charset="0"/>
                <a:ea typeface="Segoe UI" pitchFamily="34" charset="-122"/>
                <a:cs typeface="Segoe UI" pitchFamily="34" charset="-120"/>
              </a:rPr>
              <a:t>Edupia Class hướng tới đây</a:t>
            </a:r>
            <a:endParaRPr lang="en-US" sz="950" dirty="0"/>
          </a:p>
        </p:txBody>
      </p:sp>
      <p:sp>
        <p:nvSpPr>
          <p:cNvPr id="13" name="Shape 11"/>
          <p:cNvSpPr/>
          <p:nvPr/>
        </p:nvSpPr>
        <p:spPr>
          <a:xfrm>
            <a:off x="7160029" y="2148840"/>
            <a:ext cx="4279115" cy="914400"/>
          </a:xfrm>
          <a:prstGeom prst="rect">
            <a:avLst/>
          </a:prstGeom>
          <a:solidFill>
            <a:srgbClr val="E9ECE5"/>
          </a:solidFill>
          <a:ln/>
        </p:spPr>
      </p:sp>
      <p:sp>
        <p:nvSpPr>
          <p:cNvPr id="14" name="Text 12"/>
          <p:cNvSpPr/>
          <p:nvPr/>
        </p:nvSpPr>
        <p:spPr>
          <a:xfrm>
            <a:off x="7269757" y="2203704"/>
            <a:ext cx="4059659" cy="80467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 600k</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Có giáo viên thật</a:t>
            </a: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Biên gần nhất: Kyna 520k (giá mồi)</a:t>
            </a:r>
            <a:endParaRPr lang="en-US" sz="950" dirty="0"/>
          </a:p>
        </p:txBody>
      </p:sp>
      <p:sp>
        <p:nvSpPr>
          <p:cNvPr id="15" name="Shape 13"/>
          <p:cNvSpPr/>
          <p:nvPr/>
        </p:nvSpPr>
        <p:spPr>
          <a:xfrm>
            <a:off x="548640" y="3383280"/>
            <a:ext cx="5362956" cy="1417320"/>
          </a:xfrm>
          <a:prstGeom prst="roundRect">
            <a:avLst>
              <a:gd name="adj" fmla="val 3226"/>
            </a:avLst>
          </a:prstGeom>
          <a:solidFill>
            <a:srgbClr val="E7ECF1"/>
          </a:solidFill>
          <a:ln/>
        </p:spPr>
      </p:sp>
      <p:sp>
        <p:nvSpPr>
          <p:cNvPr id="16" name="Shape 14"/>
          <p:cNvSpPr/>
          <p:nvPr/>
        </p:nvSpPr>
        <p:spPr>
          <a:xfrm>
            <a:off x="548640" y="3383280"/>
            <a:ext cx="54864" cy="1417320"/>
          </a:xfrm>
          <a:prstGeom prst="rect">
            <a:avLst/>
          </a:prstGeom>
          <a:solidFill>
            <a:srgbClr val="1E3A5F"/>
          </a:solidFill>
          <a:ln/>
        </p:spPr>
      </p:sp>
      <p:sp>
        <p:nvSpPr>
          <p:cNvPr id="17" name="Text 15"/>
          <p:cNvSpPr/>
          <p:nvPr/>
        </p:nvSpPr>
        <p:spPr>
          <a:xfrm>
            <a:off x="749808" y="3456432"/>
            <a:ext cx="4997196" cy="1271016"/>
          </a:xfrm>
          <a:prstGeom prst="rect">
            <a:avLst/>
          </a:prstGeom>
          <a:noFill/>
          <a:ln/>
        </p:spPr>
        <p:txBody>
          <a:bodyPr wrap="square" rtlCol="0" anchor="t"/>
          <a:lstStyle/>
          <a:p>
            <a:pPr indent="0" marL="0">
              <a:buNone/>
            </a:pPr>
            <a:r>
              <a:rPr lang="en-US" sz="1100" b="1" dirty="0">
                <a:solidFill>
                  <a:srgbClr val="A9782E"/>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Không đối thủ nào công bố cơ chế cá nhân hoá AI chi tiết gần bằng quy mô 1.473 NLO mà Edupia đang xây — tiềm năng khác biệt hoá thật ở tầng truyền thông, nhưng thị trường nói chung mù mờ nên chưa loại trừ đối thủ có công nghệ tương đương chưa công bố.</a:t>
            </a:r>
            <a:endParaRPr lang="en-US" sz="1100" dirty="0"/>
          </a:p>
        </p:txBody>
      </p:sp>
      <p:sp>
        <p:nvSpPr>
          <p:cNvPr id="18" name="Shape 16"/>
          <p:cNvSpPr/>
          <p:nvPr/>
        </p:nvSpPr>
        <p:spPr>
          <a:xfrm>
            <a:off x="6277356" y="3383280"/>
            <a:ext cx="5362956" cy="1417320"/>
          </a:xfrm>
          <a:prstGeom prst="roundRect">
            <a:avLst>
              <a:gd name="adj" fmla="val 3226"/>
            </a:avLst>
          </a:prstGeom>
          <a:solidFill>
            <a:srgbClr val="FBEAE4"/>
          </a:solidFill>
          <a:ln/>
        </p:spPr>
      </p:sp>
      <p:sp>
        <p:nvSpPr>
          <p:cNvPr id="19" name="Shape 17"/>
          <p:cNvSpPr/>
          <p:nvPr/>
        </p:nvSpPr>
        <p:spPr>
          <a:xfrm>
            <a:off x="6277356" y="3383280"/>
            <a:ext cx="54864" cy="1417320"/>
          </a:xfrm>
          <a:prstGeom prst="rect">
            <a:avLst/>
          </a:prstGeom>
          <a:solidFill>
            <a:srgbClr val="B2452F"/>
          </a:solidFill>
          <a:ln/>
        </p:spPr>
      </p:sp>
      <p:sp>
        <p:nvSpPr>
          <p:cNvPr id="20" name="Text 18"/>
          <p:cNvSpPr/>
          <p:nvPr/>
        </p:nvSpPr>
        <p:spPr>
          <a:xfrm>
            <a:off x="6478524" y="3456432"/>
            <a:ext cx="4997196" cy="127101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Cả hai khoảng trống (giá + công nghệ) chưa từng được ai kiểm chứng tại thị trường Việt Nam — Edupia Class sẽ là người đi đầu, không phải người đi theo một công thức đã có sẵn.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1 — MỤC TIÊU CHIẾN LƯỢC</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100" b="1" dirty="0">
                <a:solidFill>
                  <a:srgbClr val="1B2430"/>
                </a:solidFill>
                <a:latin typeface="Georgia" pitchFamily="34" charset="0"/>
                <a:ea typeface="Georgia" pitchFamily="34" charset="-122"/>
                <a:cs typeface="Georgia" pitchFamily="34" charset="-120"/>
              </a:rPr>
              <a:t>Quy mô cơ hội: góc nhìn thu nhập, chưa phải TAM đã chốt</a:t>
            </a:r>
            <a:endParaRPr lang="en-US" sz="21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4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417320"/>
            <a:ext cx="10908792" cy="777240"/>
          </a:xfrm>
          <a:prstGeom prst="roundRect">
            <a:avLst>
              <a:gd name="adj" fmla="val 5882"/>
            </a:avLst>
          </a:prstGeom>
          <a:solidFill>
            <a:srgbClr val="FBEAE4"/>
          </a:solidFill>
          <a:ln/>
        </p:spPr>
      </p:sp>
      <p:sp>
        <p:nvSpPr>
          <p:cNvPr id="7" name="Shape 5"/>
          <p:cNvSpPr/>
          <p:nvPr/>
        </p:nvSpPr>
        <p:spPr>
          <a:xfrm>
            <a:off x="548640" y="1417320"/>
            <a:ext cx="54864" cy="777240"/>
          </a:xfrm>
          <a:prstGeom prst="rect">
            <a:avLst/>
          </a:prstGeom>
          <a:solidFill>
            <a:srgbClr val="B2452F"/>
          </a:solidFill>
          <a:ln/>
        </p:spPr>
      </p:sp>
      <p:sp>
        <p:nvSpPr>
          <p:cNvPr id="8" name="Text 6"/>
          <p:cNvSpPr/>
          <p:nvPr/>
        </p:nvSpPr>
        <p:spPr>
          <a:xfrm>
            <a:off x="749808" y="1490472"/>
            <a:ext cx="10543032" cy="63093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Không có hệ thống phân loại “tier 1–4” chính thức nào cho Việt Nam (GSO, Nielsen, Kantar đều không công bố). Số liệu dưới đây là ước tính suy luận từ dữ liệu thu nhập GSO — dùng làm giả thuyết đầu vào cho khảo sát WTP T9/2026, chưa phải quy mô thị trường đã xác nhận.</a:t>
            </a:r>
            <a:endParaRPr lang="en-US" sz="1100" dirty="0"/>
          </a:p>
        </p:txBody>
      </p:sp>
      <p:sp>
        <p:nvSpPr>
          <p:cNvPr id="9" name="Text 7"/>
          <p:cNvSpPr/>
          <p:nvPr/>
        </p:nvSpPr>
        <p:spPr>
          <a:xfrm>
            <a:off x="548640" y="2331720"/>
            <a:ext cx="347472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~75–78tr</a:t>
            </a:r>
            <a:endParaRPr lang="en-US" sz="2600" dirty="0"/>
          </a:p>
        </p:txBody>
      </p:sp>
      <p:sp>
        <p:nvSpPr>
          <p:cNvPr id="10" name="Text 8"/>
          <p:cNvSpPr/>
          <p:nvPr/>
        </p:nvSpPr>
        <p:spPr>
          <a:xfrm>
            <a:off x="548640" y="2788920"/>
            <a:ext cx="347472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người ngoài 5 TP trực thuộc TW (ước tính thô) / tổng ~96,2tr dân số</a:t>
            </a:r>
            <a:endParaRPr lang="en-US" sz="900" dirty="0"/>
          </a:p>
        </p:txBody>
      </p:sp>
      <p:sp>
        <p:nvSpPr>
          <p:cNvPr id="11" name="Text 9"/>
          <p:cNvSpPr/>
          <p:nvPr/>
        </p:nvSpPr>
        <p:spPr>
          <a:xfrm>
            <a:off x="4206240" y="2331720"/>
            <a:ext cx="347472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4,50tr đ</a:t>
            </a:r>
            <a:endParaRPr lang="en-US" sz="2600" dirty="0"/>
          </a:p>
        </p:txBody>
      </p:sp>
      <p:sp>
        <p:nvSpPr>
          <p:cNvPr id="12" name="Text 10"/>
          <p:cNvSpPr/>
          <p:nvPr/>
        </p:nvSpPr>
        <p:spPr>
          <a:xfrm>
            <a:off x="4206240" y="2788920"/>
            <a:ext cx="347472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Thu nhập BQ đầu người nông thôn/tháng, 2024</a:t>
            </a:r>
            <a:endParaRPr lang="en-US" sz="900" dirty="0"/>
          </a:p>
        </p:txBody>
      </p:sp>
      <p:sp>
        <p:nvSpPr>
          <p:cNvPr id="13" name="Text 11"/>
          <p:cNvSpPr/>
          <p:nvPr/>
        </p:nvSpPr>
        <p:spPr>
          <a:xfrm>
            <a:off x="7863840" y="2331720"/>
            <a:ext cx="356616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3,6</a:t>
            </a:r>
            <a:endParaRPr lang="en-US" sz="2600" dirty="0"/>
          </a:p>
        </p:txBody>
      </p:sp>
      <p:sp>
        <p:nvSpPr>
          <p:cNvPr id="14" name="Text 12"/>
          <p:cNvSpPr/>
          <p:nvPr/>
        </p:nvSpPr>
        <p:spPr>
          <a:xfrm>
            <a:off x="7863840" y="2788920"/>
            <a:ext cx="356616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Người/hộ nông thôn trung bình</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0908792" cy="914400"/>
        </p:xfrm>
        <a:graphic>
          <a:graphicData uri="http://schemas.openxmlformats.org/drawingml/2006/table">
            <a:tbl>
              <a:tblPr/>
              <a:tblGrid>
                <a:gridCol w="4023360"/>
                <a:gridCol w="3383280"/>
                <a:gridCol w="3502152"/>
              </a:tblGrid>
              <a:tr h="384048">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Vùng</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Thu nhập BQ đầu người/tháng</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390–400k chiếm</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384048">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Đông Nam Bộ (cao nhất)</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~7,1 triệu</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~5,5%</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Trung bình nông thôn toàn quốc</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4,50 triệu</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8,7–8,9% đầu người (~2,4–2,5% thu nhập hộ)</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384048">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Trung du &amp; miền núi phía Bắc (thấp nhất)</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~3,8 triệu</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10,3–10,5%</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16" name="Shape 13"/>
          <p:cNvSpPr/>
          <p:nvPr/>
        </p:nvSpPr>
        <p:spPr>
          <a:xfrm>
            <a:off x="548640" y="4892040"/>
            <a:ext cx="5362956" cy="1051560"/>
          </a:xfrm>
          <a:prstGeom prst="roundRect">
            <a:avLst>
              <a:gd name="adj" fmla="val 5217"/>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7" name="Text 14"/>
          <p:cNvSpPr/>
          <p:nvPr/>
        </p:nvSpPr>
        <p:spPr>
          <a:xfrm>
            <a:off x="749808" y="503834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Persona A — Tỉnh/huyện khá giả</a:t>
            </a:r>
            <a:endParaRPr lang="en-US" sz="1350" dirty="0"/>
          </a:p>
        </p:txBody>
      </p:sp>
      <p:sp>
        <p:nvSpPr>
          <p:cNvPr id="18" name="Text 15"/>
          <p:cNvSpPr/>
          <p:nvPr/>
        </p:nvSpPr>
        <p:spPr>
          <a:xfrm>
            <a:off x="749808" y="5422392"/>
            <a:ext cx="4960620" cy="35661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Thu nhập gần/vượt trung bình toàn quốc. Rào cản chính là niềm tin (hoài nghi marketing “cam kết đầu ra”), không phải giá.</a:t>
            </a:r>
            <a:endParaRPr lang="en-US" sz="1050" dirty="0"/>
          </a:p>
        </p:txBody>
      </p:sp>
      <p:sp>
        <p:nvSpPr>
          <p:cNvPr id="19" name="Shape 16"/>
          <p:cNvSpPr/>
          <p:nvPr/>
        </p:nvSpPr>
        <p:spPr>
          <a:xfrm>
            <a:off x="6277356" y="4892040"/>
            <a:ext cx="5362956" cy="1051560"/>
          </a:xfrm>
          <a:prstGeom prst="roundRect">
            <a:avLst>
              <a:gd name="adj" fmla="val 5217"/>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20" name="Text 17"/>
          <p:cNvSpPr/>
          <p:nvPr/>
        </p:nvSpPr>
        <p:spPr>
          <a:xfrm>
            <a:off x="6478524" y="503834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Persona B — Vùng khó khăn</a:t>
            </a:r>
            <a:endParaRPr lang="en-US" sz="1350" dirty="0"/>
          </a:p>
        </p:txBody>
      </p:sp>
      <p:sp>
        <p:nvSpPr>
          <p:cNvPr id="21" name="Text 18"/>
          <p:cNvSpPr/>
          <p:nvPr/>
        </p:nvSpPr>
        <p:spPr>
          <a:xfrm>
            <a:off x="6478524" y="5422392"/>
            <a:ext cx="4960620" cy="35661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Thu nhập thấp nhất cả nước. Rào cản kép: nhận thức + khả năng chi trả. Thanh Hóa: 418 học sinh/2 GV; Lào Cai: lớp ghép tới 70 học sinh/lớp.</a:t>
            </a:r>
            <a:endParaRPr lang="en-US" sz="1050" dirty="0"/>
          </a:p>
        </p:txBody>
      </p:sp>
      <p:sp>
        <p:nvSpPr>
          <p:cNvPr id="22" name="Shape 19"/>
          <p:cNvSpPr/>
          <p:nvPr/>
        </p:nvSpPr>
        <p:spPr>
          <a:xfrm>
            <a:off x="548640" y="6053328"/>
            <a:ext cx="10908792" cy="384048"/>
          </a:xfrm>
          <a:prstGeom prst="roundRect">
            <a:avLst>
              <a:gd name="adj" fmla="val 11905"/>
            </a:avLst>
          </a:prstGeom>
          <a:solidFill>
            <a:srgbClr val="F6EEDC"/>
          </a:solidFill>
          <a:ln/>
        </p:spPr>
      </p:sp>
      <p:sp>
        <p:nvSpPr>
          <p:cNvPr id="23" name="Shape 20"/>
          <p:cNvSpPr/>
          <p:nvPr/>
        </p:nvSpPr>
        <p:spPr>
          <a:xfrm>
            <a:off x="548640" y="6053328"/>
            <a:ext cx="54864" cy="384048"/>
          </a:xfrm>
          <a:prstGeom prst="rect">
            <a:avLst/>
          </a:prstGeom>
          <a:solidFill>
            <a:srgbClr val="A9782E"/>
          </a:solidFill>
          <a:ln/>
        </p:spPr>
      </p:sp>
      <p:sp>
        <p:nvSpPr>
          <p:cNvPr id="24" name="Text 21"/>
          <p:cNvSpPr/>
          <p:nvPr/>
        </p:nvSpPr>
        <p:spPr>
          <a:xfrm>
            <a:off x="749808" y="6126480"/>
            <a:ext cx="10543032" cy="237744"/>
          </a:xfrm>
          <a:prstGeom prst="rect">
            <a:avLst/>
          </a:prstGeom>
          <a:noFill/>
          <a:ln/>
        </p:spPr>
        <p:txBody>
          <a:bodyPr wrap="square" rtlCol="0" anchor="t"/>
          <a:lstStyle/>
          <a:p>
            <a:pPr indent="0" marL="0">
              <a:buNone/>
            </a:pPr>
            <a:r>
              <a:rPr lang="en-US" sz="1000" dirty="0">
                <a:solidFill>
                  <a:srgbClr val="1B2430"/>
                </a:solidFill>
                <a:latin typeface="Segoe UI" pitchFamily="34" charset="0"/>
                <a:ea typeface="Segoe UI" pitchFamily="34" charset="-122"/>
                <a:cs typeface="Segoe UI" pitchFamily="34" charset="-120"/>
              </a:rPr>
              <a:t>→ Khảo sát Van Westendorp T9/2026 là bước bắt buộc để xác nhận vùng giá chấp nhận theo từng vùng thu nhập — chưa nên chốt quy mô thị trường trước thời điểm đó.</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1 — MỤC TIÊU CHIẾN LƯỢC</a:t>
            </a:r>
            <a:endParaRPr lang="en-US" sz="1100" dirty="0"/>
          </a:p>
        </p:txBody>
      </p:sp>
      <p:sp>
        <p:nvSpPr>
          <p:cNvPr id="3" name="Text 1"/>
          <p:cNvSpPr/>
          <p:nvPr/>
        </p:nvSpPr>
        <p:spPr>
          <a:xfrm>
            <a:off x="548640" y="566928"/>
            <a:ext cx="10607040" cy="64008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Mục tiêu tài chính: lợi nhuận là điều kiện bắt buộc</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5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481328"/>
            <a:ext cx="41148" cy="658368"/>
          </a:xfrm>
          <a:prstGeom prst="rect">
            <a:avLst/>
          </a:prstGeom>
          <a:solidFill>
            <a:srgbClr val="A9782E"/>
          </a:solidFill>
          <a:ln/>
        </p:spPr>
      </p:sp>
      <p:sp>
        <p:nvSpPr>
          <p:cNvPr id="7" name="Text 5"/>
          <p:cNvSpPr/>
          <p:nvPr/>
        </p:nvSpPr>
        <p:spPr>
          <a:xfrm>
            <a:off x="731520" y="1481328"/>
            <a:ext cx="10680192" cy="658368"/>
          </a:xfrm>
          <a:prstGeom prst="rect">
            <a:avLst/>
          </a:prstGeom>
          <a:noFill/>
          <a:ln/>
        </p:spPr>
        <p:txBody>
          <a:bodyPr wrap="square" rtlCol="0" anchor="t"/>
          <a:lstStyle/>
          <a:p>
            <a:pPr indent="0" marL="0">
              <a:buNone/>
            </a:pPr>
            <a:r>
              <a:rPr lang="en-US" sz="1300" i="1" dirty="0">
                <a:solidFill>
                  <a:srgbClr val="1B2430"/>
                </a:solidFill>
                <a:latin typeface="Georgia" pitchFamily="34" charset="0"/>
                <a:ea typeface="Georgia" pitchFamily="34" charset="-122"/>
                <a:cs typeface="Georgia" pitchFamily="34" charset="-120"/>
              </a:rPr>
              <a:t>“Lợi nhuận là KPI cao nhất của công ty — mọi phương án bắt buộc chứng minh khả năng tạo lợi nhuận bằng số liệu cụ thể (giá vốn/buổi, biên lợi nhuận).”</a:t>
            </a:r>
            <a:pPr indent="0" marL="0">
              <a:buNone/>
            </a:pPr>
            <a:endParaRPr lang="en-US" sz="1300" dirty="0"/>
          </a:p>
          <a:p>
            <a:pPr indent="0" marL="0">
              <a:buNone/>
            </a:pPr>
            <a:r>
              <a:rPr lang="en-US" sz="950" dirty="0">
                <a:solidFill>
                  <a:srgbClr val="57616B"/>
                </a:solidFill>
                <a:latin typeface="Segoe UI" pitchFamily="34" charset="0"/>
                <a:ea typeface="Segoe UI" pitchFamily="34" charset="-122"/>
                <a:cs typeface="Segoe UI" pitchFamily="34" charset="-120"/>
              </a:rPr>
              <a:t>— Nguyên tắc chung áp dụng cho cả 3 định hướng, product-brief §1.3</a:t>
            </a:r>
            <a:endParaRPr lang="en-US" sz="1300" dirty="0"/>
          </a:p>
        </p:txBody>
      </p:sp>
      <p:sp>
        <p:nvSpPr>
          <p:cNvPr id="8" name="Shape 6"/>
          <p:cNvSpPr/>
          <p:nvPr/>
        </p:nvSpPr>
        <p:spPr>
          <a:xfrm>
            <a:off x="548640" y="2286000"/>
            <a:ext cx="10908792" cy="457200"/>
          </a:xfrm>
          <a:prstGeom prst="roundRect">
            <a:avLst>
              <a:gd name="adj" fmla="val 10000"/>
            </a:avLst>
          </a:prstGeom>
          <a:solidFill>
            <a:srgbClr val="FBEAE4"/>
          </a:solidFill>
          <a:ln/>
        </p:spPr>
      </p:sp>
      <p:sp>
        <p:nvSpPr>
          <p:cNvPr id="9" name="Shape 7"/>
          <p:cNvSpPr/>
          <p:nvPr/>
        </p:nvSpPr>
        <p:spPr>
          <a:xfrm>
            <a:off x="548640" y="2286000"/>
            <a:ext cx="54864" cy="457200"/>
          </a:xfrm>
          <a:prstGeom prst="rect">
            <a:avLst/>
          </a:prstGeom>
          <a:solidFill>
            <a:srgbClr val="B2452F"/>
          </a:solidFill>
          <a:ln/>
        </p:spPr>
      </p:sp>
      <p:sp>
        <p:nvSpPr>
          <p:cNvPr id="10" name="Text 8"/>
          <p:cNvSpPr/>
          <p:nvPr/>
        </p:nvSpPr>
        <p:spPr>
          <a:xfrm>
            <a:off x="749808" y="2359152"/>
            <a:ext cx="10543032" cy="31089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Giá vốn/buổi cụ thể theo từng mức đầu tư chưa được Finance chốt — câu hỏi mở lặp lại xuyên suốt cả 3 concept.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10908792" cy="914400"/>
        </p:xfrm>
        <a:graphic>
          <a:graphicData uri="http://schemas.openxmlformats.org/drawingml/2006/table">
            <a:tbl>
              <a:tblPr/>
              <a:tblGrid>
                <a:gridCol w="1097280"/>
                <a:gridCol w="6245352"/>
                <a:gridCol w="1828800"/>
                <a:gridCol w="1737360"/>
              </a:tblGrid>
              <a:tr h="548640">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Concept</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Câu hỏi tài chính mở</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Owner</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Deadline</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548640">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Mức 1.3</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Giá vốn/buổi ở cấu trúc đầy đủ (AI + GVCN mở rộng), đối chiếu sàn margin công ty yêu cầu</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Finance</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Trước 1/12/2026</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48640">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Mức 1.2</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Đối chiếu quy mô đầu tư AI/R&amp;D với triết lý “AI nhanh, không R&amp;D lớn” — có phương án hợp tác/mua ngoài?</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Product + AI Lead</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Trước 1/12/2026</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48640">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Biến thể 2.x</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Chi phí biên buổi học thêm (GV + vận hành)/học sinh, đối chiếu biên lợi nhuận</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Finance</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Trước T9/2026</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48640">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Concept 3</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Chi phí xây “chân dung” AI tăng theo độ sâu cá nhân hoá, giá bán cố định 390k — hướng gỡ: coi dữ liệu là tài sản riêng, khấu hao qua vòng đời</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Finance</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Trước khi viết PRD</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12" name="Shape 9"/>
          <p:cNvSpPr/>
          <p:nvPr/>
        </p:nvSpPr>
        <p:spPr>
          <a:xfrm>
            <a:off x="548640" y="5760720"/>
            <a:ext cx="10908792" cy="566928"/>
          </a:xfrm>
          <a:prstGeom prst="roundRect">
            <a:avLst>
              <a:gd name="adj" fmla="val 8065"/>
            </a:avLst>
          </a:prstGeom>
          <a:solidFill>
            <a:srgbClr val="F6EEDC"/>
          </a:solidFill>
          <a:ln/>
        </p:spPr>
      </p:sp>
      <p:sp>
        <p:nvSpPr>
          <p:cNvPr id="13" name="Shape 10"/>
          <p:cNvSpPr/>
          <p:nvPr/>
        </p:nvSpPr>
        <p:spPr>
          <a:xfrm>
            <a:off x="548640" y="5760720"/>
            <a:ext cx="54864" cy="566928"/>
          </a:xfrm>
          <a:prstGeom prst="rect">
            <a:avLst/>
          </a:prstGeom>
          <a:solidFill>
            <a:srgbClr val="A9782E"/>
          </a:solidFill>
          <a:ln/>
        </p:spPr>
      </p:sp>
      <p:sp>
        <p:nvSpPr>
          <p:cNvPr id="14" name="Text 11"/>
          <p:cNvSpPr/>
          <p:nvPr/>
        </p:nvSpPr>
        <p:spPr>
          <a:xfrm>
            <a:off x="749808" y="5833872"/>
            <a:ext cx="10543032" cy="420624"/>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Đề xuất trình BOD: </a:t>
            </a:r>
            <a:pPr indent="0" marL="0">
              <a:buNone/>
            </a:pPr>
            <a:r>
              <a:rPr lang="en-US" sz="1100" dirty="0">
                <a:solidFill>
                  <a:srgbClr val="1B2430"/>
                </a:solidFill>
                <a:latin typeface="Segoe UI" pitchFamily="34" charset="0"/>
                <a:ea typeface="Segoe UI" pitchFamily="34" charset="-122"/>
                <a:cs typeface="Segoe UI" pitchFamily="34" charset="-120"/>
              </a:rPr>
              <a:t>phê duyệt để Finance chốt sàn margin &amp; giá vốn mục tiêu theo từng mức đầu tư trước 1/12/2026 — làm điều kiện exit chính thức của PRD.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2 — 3 CONCEPT SẢN PHẨM</a:t>
            </a:r>
            <a:endParaRPr lang="en-US" sz="1100" dirty="0"/>
          </a:p>
        </p:txBody>
      </p:sp>
      <p:sp>
        <p:nvSpPr>
          <p:cNvPr id="3" name="Text 1"/>
          <p:cNvSpPr/>
          <p:nvPr/>
        </p:nvSpPr>
        <p:spPr>
          <a:xfrm>
            <a:off x="548640" y="566928"/>
            <a:ext cx="10607040" cy="64008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3 định hướng, không phải 3 lựa chọn loại trừ nhau</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6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417320"/>
            <a:ext cx="10908792" cy="365760"/>
          </a:xfrm>
          <a:prstGeom prst="rect">
            <a:avLst/>
          </a:prstGeom>
          <a:noFill/>
          <a:ln/>
        </p:spPr>
        <p:txBody>
          <a:bodyPr wrap="square" rtlCol="0" anchor="ctr"/>
          <a:lstStyle/>
          <a:p>
            <a:pPr indent="0" marL="0">
              <a:buNone/>
            </a:pPr>
            <a:r>
              <a:rPr lang="en-US" sz="1150" dirty="0">
                <a:solidFill>
                  <a:srgbClr val="57616B"/>
                </a:solidFill>
                <a:latin typeface="Segoe UI" pitchFamily="34" charset="0"/>
                <a:ea typeface="Segoe UI" pitchFamily="34" charset="-122"/>
                <a:cs typeface="Segoe UI" pitchFamily="34" charset="-120"/>
              </a:rPr>
              <a:t>Mỗi định hướng có nhiều mức đầu tư/biến thể nội bộ. Quyết định thật là “chọn định hướng + chọn mức đầu tư”, không chỉ chọn 1 trong 3 concept.</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0908792" cy="914400"/>
        </p:xfrm>
        <a:graphic>
          <a:graphicData uri="http://schemas.openxmlformats.org/drawingml/2006/table">
            <a:tbl>
              <a:tblPr/>
              <a:tblGrid>
                <a:gridCol w="1554480"/>
                <a:gridCol w="3118104"/>
                <a:gridCol w="3118104"/>
                <a:gridCol w="3118104"/>
              </a:tblGrid>
              <a:tr h="566928">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Tiêu chí</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C1 — Làm mịn &amp; nâng cấp</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C2 — Làm mịn + thêm môn</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850" b="1" dirty="0">
                          <a:solidFill>
                            <a:srgbClr val="57616B"/>
                          </a:solidFill>
                          <a:latin typeface="Segoe UI" pitchFamily="34" charset="0"/>
                          <a:ea typeface="Segoe UI" pitchFamily="34" charset="-122"/>
                          <a:cs typeface="Segoe UI" pitchFamily="34" charset="-120"/>
                        </a:rPr>
                        <a:t>C3 — Gia sư AI 1:1</a:t>
                      </a:r>
                      <a:endParaRPr lang="en-US" sz="8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566928">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Số phương án</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3 mức: 1.1→1.2→1.3 (mỗi mức chứa trọn mức trước)</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3 biến thể theo môn, không loại trừ nhau: 2.1/2.2/2.3</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2 phương án kỹ thuật thay thế nhau: A/B</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66928">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AI/dữ liệu</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Tăng dần theo mức</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Không tự thêm tầng AI mới</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 Về lý thuyết mạnh nhất — AI là toàn bộ giá trị cốt lõi</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66928">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Bằng chứng nội bộ</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 Pilot GVCN đang chạy (T8–T9)</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 Có case cạnh tranh tham chiếu</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 Chưa có Pilot nội bộ — dựa nghiên cứu thị trường ngoài</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66928">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Scorecard Vòng 1</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Stop (mức 1.1) · Validate (1.2, 1.3)</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Stop</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00" dirty="0">
                          <a:solidFill>
                            <a:srgbClr val="1B2430"/>
                          </a:solidFill>
                          <a:latin typeface="Segoe UI" pitchFamily="34" charset="0"/>
                          <a:ea typeface="Segoe UI" pitchFamily="34" charset="-122"/>
                          <a:cs typeface="Segoe UI" pitchFamily="34" charset="-120"/>
                        </a:rPr>
                        <a:t>Validate</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8" name="Text 5"/>
          <p:cNvSpPr/>
          <p:nvPr/>
        </p:nvSpPr>
        <p:spPr>
          <a:xfrm>
            <a:off x="548640" y="5257800"/>
            <a:ext cx="265176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37,0</a:t>
            </a:r>
            <a:endParaRPr lang="en-US" sz="2600" dirty="0"/>
          </a:p>
        </p:txBody>
      </p:sp>
      <p:sp>
        <p:nvSpPr>
          <p:cNvPr id="9" name="Text 6"/>
          <p:cNvSpPr/>
          <p:nvPr/>
        </p:nvSpPr>
        <p:spPr>
          <a:xfrm>
            <a:off x="548640" y="5715000"/>
            <a:ext cx="265176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Raw score — C1 làm mịn</a:t>
            </a:r>
            <a:endParaRPr lang="en-US" sz="900" dirty="0"/>
          </a:p>
        </p:txBody>
      </p:sp>
      <p:sp>
        <p:nvSpPr>
          <p:cNvPr id="10" name="Text 7"/>
          <p:cNvSpPr/>
          <p:nvPr/>
        </p:nvSpPr>
        <p:spPr>
          <a:xfrm>
            <a:off x="3291840" y="5257800"/>
            <a:ext cx="265176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38,2</a:t>
            </a:r>
            <a:endParaRPr lang="en-US" sz="2600" dirty="0"/>
          </a:p>
        </p:txBody>
      </p:sp>
      <p:sp>
        <p:nvSpPr>
          <p:cNvPr id="11" name="Text 8"/>
          <p:cNvSpPr/>
          <p:nvPr/>
        </p:nvSpPr>
        <p:spPr>
          <a:xfrm>
            <a:off x="3291840" y="5715000"/>
            <a:ext cx="265176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Raw score — C2 thêm môn</a:t>
            </a:r>
            <a:endParaRPr lang="en-US" sz="900" dirty="0"/>
          </a:p>
        </p:txBody>
      </p:sp>
      <p:sp>
        <p:nvSpPr>
          <p:cNvPr id="12" name="Text 9"/>
          <p:cNvSpPr/>
          <p:nvPr/>
        </p:nvSpPr>
        <p:spPr>
          <a:xfrm>
            <a:off x="6035040" y="5257800"/>
            <a:ext cx="265176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62,6</a:t>
            </a:r>
            <a:endParaRPr lang="en-US" sz="2600" dirty="0"/>
          </a:p>
        </p:txBody>
      </p:sp>
      <p:sp>
        <p:nvSpPr>
          <p:cNvPr id="13" name="Text 10"/>
          <p:cNvSpPr/>
          <p:nvPr/>
        </p:nvSpPr>
        <p:spPr>
          <a:xfrm>
            <a:off x="6035040" y="5715000"/>
            <a:ext cx="265176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Raw score — mức 1.2 (AI mạnh)</a:t>
            </a:r>
            <a:endParaRPr lang="en-US" sz="900" dirty="0"/>
          </a:p>
        </p:txBody>
      </p:sp>
      <p:sp>
        <p:nvSpPr>
          <p:cNvPr id="14" name="Text 11"/>
          <p:cNvSpPr/>
          <p:nvPr/>
        </p:nvSpPr>
        <p:spPr>
          <a:xfrm>
            <a:off x="8778240" y="5257800"/>
            <a:ext cx="2651760" cy="502920"/>
          </a:xfrm>
          <a:prstGeom prst="rect">
            <a:avLst/>
          </a:prstGeom>
          <a:noFill/>
          <a:ln/>
        </p:spPr>
        <p:txBody>
          <a:bodyPr wrap="square" rtlCol="0" anchor="ctr"/>
          <a:lstStyle/>
          <a:p>
            <a:pPr indent="0" marL="0">
              <a:buNone/>
            </a:pPr>
            <a:r>
              <a:rPr lang="en-US" sz="2600" b="1" dirty="0">
                <a:solidFill>
                  <a:srgbClr val="A9782E"/>
                </a:solidFill>
                <a:latin typeface="Georgia" pitchFamily="34" charset="0"/>
                <a:ea typeface="Georgia" pitchFamily="34" charset="-122"/>
                <a:cs typeface="Georgia" pitchFamily="34" charset="-120"/>
              </a:rPr>
              <a:t>64,0</a:t>
            </a:r>
            <a:endParaRPr lang="en-US" sz="2600" dirty="0"/>
          </a:p>
        </p:txBody>
      </p:sp>
      <p:sp>
        <p:nvSpPr>
          <p:cNvPr id="15" name="Text 12"/>
          <p:cNvSpPr/>
          <p:nvPr/>
        </p:nvSpPr>
        <p:spPr>
          <a:xfrm>
            <a:off x="8778240" y="5715000"/>
            <a:ext cx="2651760" cy="5029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Raw score — mức 1.3 (người mạnh)</a:t>
            </a:r>
            <a:endParaRPr lang="en-US" sz="900" dirty="0"/>
          </a:p>
        </p:txBody>
      </p:sp>
      <p:sp>
        <p:nvSpPr>
          <p:cNvPr id="16" name="Text 13"/>
          <p:cNvSpPr/>
          <p:nvPr/>
        </p:nvSpPr>
        <p:spPr>
          <a:xfrm>
            <a:off x="548640" y="6126480"/>
            <a:ext cx="10908792" cy="320040"/>
          </a:xfrm>
          <a:prstGeom prst="rect">
            <a:avLst/>
          </a:prstGeom>
          <a:noFill/>
          <a:ln/>
        </p:spPr>
        <p:txBody>
          <a:bodyPr wrap="square" rtlCol="0" anchor="ctr"/>
          <a:lstStyle/>
          <a:p>
            <a:pPr indent="0" marL="0">
              <a:buNone/>
            </a:pPr>
            <a:r>
              <a:rPr lang="en-US" sz="850" i="1" dirty="0">
                <a:solidFill>
                  <a:srgbClr val="57616B"/>
                </a:solidFill>
                <a:latin typeface="Segoe UI" pitchFamily="34" charset="0"/>
                <a:ea typeface="Segoe UI" pitchFamily="34" charset="-122"/>
                <a:cs typeface="Segoe UI" pitchFamily="34" charset="-120"/>
              </a:rPr>
              <a:t>Bảng điểm Vòng 1 — bản nháp một người chấm, chưa qua calibration chính thức. Dùng làm điểm khởi đầu, không phải kết luận cuối. Nguồn: concept-evaluation-scorecard-2026-08-15.md.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2 — CONCEPT 1</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300" b="1" dirty="0">
                <a:solidFill>
                  <a:srgbClr val="1B2430"/>
                </a:solidFill>
                <a:latin typeface="Georgia" pitchFamily="34" charset="0"/>
                <a:ea typeface="Georgia" pitchFamily="34" charset="-122"/>
                <a:cs typeface="Georgia" pitchFamily="34" charset="-120"/>
              </a:rPr>
              <a:t>Concept 1 — Làm mịn và nâng cấp</a:t>
            </a:r>
            <a:endParaRPr lang="en-US" sz="23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7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371600"/>
            <a:ext cx="10908792" cy="365760"/>
          </a:xfrm>
          <a:prstGeom prst="rect">
            <a:avLst/>
          </a:prstGeom>
          <a:noFill/>
          <a:ln/>
        </p:spPr>
        <p:txBody>
          <a:bodyPr wrap="square" rtlCol="0" anchor="ctr"/>
          <a:lstStyle/>
          <a:p>
            <a:pPr indent="0" marL="0">
              <a:buNone/>
            </a:pPr>
            <a:r>
              <a:rPr lang="en-US" sz="1100" dirty="0">
                <a:solidFill>
                  <a:srgbClr val="57616B"/>
                </a:solidFill>
                <a:latin typeface="Segoe UI" pitchFamily="34" charset="0"/>
                <a:ea typeface="Segoe UI" pitchFamily="34" charset="-122"/>
                <a:cs typeface="Segoe UI" pitchFamily="34" charset="-120"/>
              </a:rPr>
              <a:t>Giữ nguyên cấu trúc Big Class + Practice + Speak + Club + GVCN hiện có. 3 mức khác nhau ở độ sâu AI và đầu tư con người — mỗi mức chứa trọn mức trước.</a:t>
            </a:r>
            <a:endParaRPr lang="en-US" sz="1100" dirty="0"/>
          </a:p>
        </p:txBody>
      </p:sp>
      <p:sp>
        <p:nvSpPr>
          <p:cNvPr id="7" name="Shape 5"/>
          <p:cNvSpPr/>
          <p:nvPr/>
        </p:nvSpPr>
        <p:spPr>
          <a:xfrm>
            <a:off x="548640"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8" name="Text 6"/>
          <p:cNvSpPr/>
          <p:nvPr/>
        </p:nvSpPr>
        <p:spPr>
          <a:xfrm>
            <a:off x="749808"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Mức 1.1 — Làm mịn</a:t>
            </a:r>
            <a:endParaRPr lang="en-US" sz="1350" dirty="0"/>
          </a:p>
        </p:txBody>
      </p:sp>
      <p:sp>
        <p:nvSpPr>
          <p:cNvPr id="9" name="Text 7"/>
          <p:cNvSpPr/>
          <p:nvPr/>
        </p:nvSpPr>
        <p:spPr>
          <a:xfrm>
            <a:off x="749808" y="2359152"/>
            <a:ext cx="3051353" cy="300837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 Practice + Speak nâng cấp chất lượng
</a:t>
            </a:r>
            <a:pPr indent="0" marL="0">
              <a:lnSpc>
                <a:spcPct val="115000"/>
              </a:lnSpc>
              <a:buNone/>
            </a:pPr>
            <a:r>
              <a:rPr lang="en-US" sz="1050" i="1" dirty="0">
                <a:solidFill>
                  <a:srgbClr val="1B2430"/>
                </a:solidFill>
                <a:latin typeface="Segoe UI" pitchFamily="34" charset="0"/>
                <a:ea typeface="Segoe UI" pitchFamily="34" charset="-122"/>
                <a:cs typeface="Segoe UI" pitchFamily="34" charset="-120"/>
              </a:rPr>
              <a:t>USP: “GV thật + luyện tập/luyện nói tối ưu bằng AI”
</a:t>
            </a:r>
            <a:pPr indent="0" marL="0">
              <a:lnSpc>
                <a:spcPct val="115000"/>
              </a:lnSpc>
              <a:buNone/>
            </a:pPr>
            <a:r>
              <a:rPr lang="en-US" sz="1050" b="1" dirty="0">
                <a:solidFill>
                  <a:srgbClr val="B2452F"/>
                </a:solidFill>
                <a:latin typeface="Segoe UI" pitchFamily="34" charset="0"/>
                <a:ea typeface="Segoe UI" pitchFamily="34" charset="-122"/>
                <a:cs typeface="Segoe UI" pitchFamily="34" charset="-120"/>
              </a:rPr>
              <a:t>⚠ Stop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USP mô tả tính năng, không phải USP cạnh tranh. Kill Criteria kép: outcome value + lý do tin cho 390k.</a:t>
            </a:r>
            <a:endParaRPr lang="en-US" sz="1050" dirty="0"/>
          </a:p>
        </p:txBody>
      </p:sp>
      <p:sp>
        <p:nvSpPr>
          <p:cNvPr id="10" name="Shape 8"/>
          <p:cNvSpPr/>
          <p:nvPr/>
        </p:nvSpPr>
        <p:spPr>
          <a:xfrm>
            <a:off x="4368089"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1" name="Text 9"/>
          <p:cNvSpPr/>
          <p:nvPr/>
        </p:nvSpPr>
        <p:spPr>
          <a:xfrm>
            <a:off x="4569257"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Mức 1.2 — Nâng cấp mạnh AI</a:t>
            </a:r>
            <a:endParaRPr lang="en-US" sz="1350" dirty="0"/>
          </a:p>
        </p:txBody>
      </p:sp>
      <p:sp>
        <p:nvSpPr>
          <p:cNvPr id="12" name="Text 10"/>
          <p:cNvSpPr/>
          <p:nvPr/>
        </p:nvSpPr>
        <p:spPr>
          <a:xfrm>
            <a:off x="4569257" y="2359152"/>
            <a:ext cx="3051353" cy="3008376"/>
          </a:xfrm>
          <a:prstGeom prst="rect">
            <a:avLst/>
          </a:prstGeom>
          <a:noFill/>
          <a:ln/>
        </p:spPr>
        <p:txBody>
          <a:bodyPr wrap="square" rtlCol="0" anchor="t"/>
          <a:lstStyle/>
          <a:p>
            <a:pPr indent="0" marL="0">
              <a:lnSpc>
                <a:spcPct val="115000"/>
              </a:lnSpc>
              <a:buNone/>
            </a:pPr>
            <a:r>
              <a:rPr lang="en-US" sz="900" dirty="0">
                <a:solidFill>
                  <a:srgbClr val="57616B"/>
                </a:solidFill>
                <a:latin typeface="Segoe UI" pitchFamily="34" charset="0"/>
                <a:ea typeface="Segoe UI" pitchFamily="34" charset="-122"/>
                <a:cs typeface="Segoe UI" pitchFamily="34" charset="-120"/>
              </a:rPr>
              <a:t>Kế thừa 1.1, cộng thêm:
</a:t>
            </a:r>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 AI Tutor 30' cố định sau Big Class
• Adaptive Learning — chẩn đoán theo 1.473 NLO (≈ ALEKS ~1.000)
• Parent Mode — Mastery Map
</a:t>
            </a:r>
            <a:pPr indent="0" marL="0">
              <a:lnSpc>
                <a:spcPct val="115000"/>
              </a:lnSpc>
              <a:buNone/>
            </a:pPr>
            <a:r>
              <a:rPr lang="en-US" sz="1050" i="1" dirty="0">
                <a:solidFill>
                  <a:srgbClr val="1B2430"/>
                </a:solidFill>
                <a:latin typeface="Segoe UI" pitchFamily="34" charset="0"/>
                <a:ea typeface="Segoe UI" pitchFamily="34" charset="-122"/>
                <a:cs typeface="Segoe UI" pitchFamily="34" charset="-120"/>
              </a:rPr>
              <a:t>USP: “Chẩn đoán &gt;1.400 đơn vị kiến thức”
</a:t>
            </a:r>
            <a:pPr indent="0" marL="0">
              <a:lnSpc>
                <a:spcPct val="115000"/>
              </a:lnSpc>
              <a:buNone/>
            </a:pPr>
            <a:r>
              <a:rPr lang="en-US" sz="1050" b="1" dirty="0">
                <a:solidFill>
                  <a:srgbClr val="A9782E"/>
                </a:solidFill>
                <a:latin typeface="Segoe UI" pitchFamily="34" charset="0"/>
                <a:ea typeface="Segoe UI" pitchFamily="34" charset="-122"/>
                <a:cs typeface="Segoe UI" pitchFamily="34" charset="-120"/>
              </a:rPr>
              <a:t>◆ Validate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Raw 62,6 — chặn bởi quyết định BOD về phạm vi Mastery Profile.</a:t>
            </a:r>
            <a:endParaRPr lang="en-US" sz="1050" dirty="0"/>
          </a:p>
        </p:txBody>
      </p:sp>
      <p:sp>
        <p:nvSpPr>
          <p:cNvPr id="13" name="Shape 11"/>
          <p:cNvSpPr/>
          <p:nvPr/>
        </p:nvSpPr>
        <p:spPr>
          <a:xfrm>
            <a:off x="8187538"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4" name="Text 12"/>
          <p:cNvSpPr/>
          <p:nvPr/>
        </p:nvSpPr>
        <p:spPr>
          <a:xfrm>
            <a:off x="8388706"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Mức 1.3 — Nâng cấp mạnh con người</a:t>
            </a:r>
            <a:endParaRPr lang="en-US" sz="1350" dirty="0"/>
          </a:p>
        </p:txBody>
      </p:sp>
      <p:sp>
        <p:nvSpPr>
          <p:cNvPr id="15" name="Text 13"/>
          <p:cNvSpPr/>
          <p:nvPr/>
        </p:nvSpPr>
        <p:spPr>
          <a:xfrm>
            <a:off x="8388706" y="2359152"/>
            <a:ext cx="3051353" cy="3008376"/>
          </a:xfrm>
          <a:prstGeom prst="rect">
            <a:avLst/>
          </a:prstGeom>
          <a:noFill/>
          <a:ln/>
        </p:spPr>
        <p:txBody>
          <a:bodyPr wrap="square" rtlCol="0" anchor="t"/>
          <a:lstStyle/>
          <a:p>
            <a:pPr indent="0" marL="0">
              <a:lnSpc>
                <a:spcPct val="115000"/>
              </a:lnSpc>
              <a:buNone/>
            </a:pPr>
            <a:r>
              <a:rPr lang="en-US" sz="900" dirty="0">
                <a:solidFill>
                  <a:srgbClr val="57616B"/>
                </a:solidFill>
                <a:latin typeface="Segoe UI" pitchFamily="34" charset="0"/>
                <a:ea typeface="Segoe UI" pitchFamily="34" charset="-122"/>
                <a:cs typeface="Segoe UI" pitchFamily="34" charset="-120"/>
              </a:rPr>
              <a:t>Kế thừa 1.2, cộng thêm:
</a:t>
            </a:r>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 Big Class buổi thứ 3/tuần
• GVCN mở rộng: đổi GV ≤2 lần/6 tháng, tỷ lệ 1:2.000
• AI Tutor vá lỗ hổng liên tục
</a:t>
            </a:r>
            <a:pPr indent="0" marL="0">
              <a:lnSpc>
                <a:spcPct val="115000"/>
              </a:lnSpc>
              <a:buNone/>
            </a:pPr>
            <a:r>
              <a:rPr lang="en-US" sz="1050" i="1" dirty="0">
                <a:solidFill>
                  <a:srgbClr val="1B2430"/>
                </a:solidFill>
                <a:latin typeface="Segoe UI" pitchFamily="34" charset="0"/>
                <a:ea typeface="Segoe UI" pitchFamily="34" charset="-122"/>
                <a:cs typeface="Segoe UI" pitchFamily="34" charset="-120"/>
              </a:rPr>
              <a:t>USP: “GVCN theo dõi xuyên suốt”
</a:t>
            </a:r>
            <a:pPr indent="0" marL="0">
              <a:lnSpc>
                <a:spcPct val="115000"/>
              </a:lnSpc>
              <a:buNone/>
            </a:pPr>
            <a:r>
              <a:rPr lang="en-US" sz="1050" b="1" dirty="0">
                <a:solidFill>
                  <a:srgbClr val="A9782E"/>
                </a:solidFill>
                <a:latin typeface="Segoe UI" pitchFamily="34" charset="0"/>
                <a:ea typeface="Segoe UI" pitchFamily="34" charset="-122"/>
                <a:cs typeface="Segoe UI" pitchFamily="34" charset="-120"/>
              </a:rPr>
              <a:t>◆ Validate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Raw 64,0 cao nhất — nhưng F3 (vận hành) chạm Kill Criterion K6 → chờ Pilot GVCN GĐ0.</a:t>
            </a:r>
            <a:endParaRPr lang="en-US" sz="1050" dirty="0"/>
          </a:p>
        </p:txBody>
      </p:sp>
      <p:sp>
        <p:nvSpPr>
          <p:cNvPr id="16" name="Shape 14"/>
          <p:cNvSpPr/>
          <p:nvPr/>
        </p:nvSpPr>
        <p:spPr>
          <a:xfrm>
            <a:off x="548640" y="5669280"/>
            <a:ext cx="10908792" cy="640080"/>
          </a:xfrm>
          <a:prstGeom prst="roundRect">
            <a:avLst>
              <a:gd name="adj" fmla="val 7143"/>
            </a:avLst>
          </a:prstGeom>
          <a:solidFill>
            <a:srgbClr val="E7ECF1"/>
          </a:solidFill>
          <a:ln/>
        </p:spPr>
      </p:sp>
      <p:sp>
        <p:nvSpPr>
          <p:cNvPr id="17" name="Shape 15"/>
          <p:cNvSpPr/>
          <p:nvPr/>
        </p:nvSpPr>
        <p:spPr>
          <a:xfrm>
            <a:off x="548640" y="5669280"/>
            <a:ext cx="54864" cy="640080"/>
          </a:xfrm>
          <a:prstGeom prst="rect">
            <a:avLst/>
          </a:prstGeom>
          <a:solidFill>
            <a:srgbClr val="1E3A5F"/>
          </a:solidFill>
          <a:ln/>
        </p:spPr>
      </p:sp>
      <p:sp>
        <p:nvSpPr>
          <p:cNvPr id="18" name="Text 16"/>
          <p:cNvSpPr/>
          <p:nvPr/>
        </p:nvSpPr>
        <p:spPr>
          <a:xfrm>
            <a:off x="749808" y="5742432"/>
            <a:ext cx="10543032" cy="493776"/>
          </a:xfrm>
          <a:prstGeom prst="rect">
            <a:avLst/>
          </a:prstGeom>
          <a:noFill/>
          <a:ln/>
        </p:spPr>
        <p:txBody>
          <a:bodyPr wrap="square" rtlCol="0" anchor="t"/>
          <a:lstStyle/>
          <a:p>
            <a:pPr indent="0" marL="0">
              <a:buNone/>
            </a:pPr>
            <a:r>
              <a:rPr lang="en-US" sz="1100" dirty="0">
                <a:solidFill>
                  <a:srgbClr val="1B2430"/>
                </a:solidFill>
                <a:latin typeface="Segoe UI" pitchFamily="34" charset="0"/>
                <a:ea typeface="Segoe UI" pitchFamily="34" charset="-122"/>
                <a:cs typeface="Segoe UI" pitchFamily="34" charset="-120"/>
              </a:rPr>
              <a:t>Mức 1.2 và 1.3 cách nhau 1,4 điểm — dưới ngưỡng phân định 5 điểm → không chọn theo điểm số, chờ kết quả Pilot GVCN (đang chạy song song T8–T9).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2 — CONCEPT 2</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300" b="1" dirty="0">
                <a:solidFill>
                  <a:srgbClr val="1B2430"/>
                </a:solidFill>
                <a:latin typeface="Georgia" pitchFamily="34" charset="0"/>
                <a:ea typeface="Georgia" pitchFamily="34" charset="-122"/>
                <a:cs typeface="Georgia" pitchFamily="34" charset="-120"/>
              </a:rPr>
              <a:t>Concept 2 — Làm mịn và thêm môn</a:t>
            </a:r>
            <a:endParaRPr lang="en-US" sz="23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8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371600"/>
            <a:ext cx="10908792" cy="365760"/>
          </a:xfrm>
          <a:prstGeom prst="rect">
            <a:avLst/>
          </a:prstGeom>
          <a:noFill/>
          <a:ln/>
        </p:spPr>
        <p:txBody>
          <a:bodyPr wrap="square" rtlCol="0" anchor="ctr"/>
          <a:lstStyle/>
          <a:p>
            <a:pPr indent="0" marL="0">
              <a:buNone/>
            </a:pPr>
            <a:r>
              <a:rPr lang="en-US" sz="1100" dirty="0">
                <a:solidFill>
                  <a:srgbClr val="57616B"/>
                </a:solidFill>
                <a:latin typeface="Segoe UI" pitchFamily="34" charset="0"/>
                <a:ea typeface="Segoe UI" pitchFamily="34" charset="-122"/>
                <a:cs typeface="Segoe UI" pitchFamily="34" charset="-120"/>
              </a:rPr>
              <a:t>Giữ nguyên mức Concept 1 làm nền, cộng 1 buổi Live/tuần môn khác (3 buổi/tuần). 3 biến thể không nhất thiết loại trừ nhau.</a:t>
            </a:r>
            <a:endParaRPr lang="en-US" sz="1100" dirty="0"/>
          </a:p>
        </p:txBody>
      </p:sp>
      <p:sp>
        <p:nvSpPr>
          <p:cNvPr id="7" name="Shape 5"/>
          <p:cNvSpPr/>
          <p:nvPr/>
        </p:nvSpPr>
        <p:spPr>
          <a:xfrm>
            <a:off x="548640"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8" name="Text 6"/>
          <p:cNvSpPr/>
          <p:nvPr/>
        </p:nvSpPr>
        <p:spPr>
          <a:xfrm>
            <a:off x="749808"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2.1 — Thêm môn phổ thông</a:t>
            </a:r>
            <a:endParaRPr lang="en-US" sz="1350" dirty="0"/>
          </a:p>
        </p:txBody>
      </p:sp>
      <p:sp>
        <p:nvSpPr>
          <p:cNvPr id="9" name="Text 7"/>
          <p:cNvSpPr/>
          <p:nvPr/>
        </p:nvSpPr>
        <p:spPr>
          <a:xfrm>
            <a:off x="749808" y="2359152"/>
            <a:ext cx="3051353" cy="300837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Toán, Tiếng Việt…
</a:t>
            </a:r>
            <a:pPr indent="0" marL="0">
              <a:lnSpc>
                <a:spcPct val="115000"/>
              </a:lnSpc>
              <a:buNone/>
            </a:pPr>
            <a:r>
              <a:rPr lang="en-US" sz="1050" b="1" dirty="0">
                <a:solidFill>
                  <a:srgbClr val="B2452F"/>
                </a:solidFill>
                <a:latin typeface="Segoe UI" pitchFamily="34" charset="0"/>
                <a:ea typeface="Segoe UI" pitchFamily="34" charset="-122"/>
                <a:cs typeface="Segoe UI" pitchFamily="34" charset="-120"/>
              </a:rPr>
              <a:t>⚠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Đảo ngược có chủ đích quyết định v1.0 “không chọn Toán để tránh cạnh tranh UniClass” — lý do kinh doanh cụ thể chưa được cung cấp. Rủi ro cannibalization nội bộ với UniClass.
</a:t>
            </a:r>
            <a:pPr indent="0" marL="0">
              <a:lnSpc>
                <a:spcPct val="115000"/>
              </a:lnSpc>
              <a:buNone/>
            </a:pPr>
            <a:r>
              <a:rPr lang="en-US" sz="950" i="1" dirty="0">
                <a:solidFill>
                  <a:srgbClr val="57616B"/>
                </a:solidFill>
                <a:latin typeface="Segoe UI" pitchFamily="34" charset="0"/>
                <a:ea typeface="Segoe UI" pitchFamily="34" charset="-122"/>
                <a:cs typeface="Segoe UI" pitchFamily="34" charset="-120"/>
              </a:rPr>
              <a:t>USP: ◆ chưa soạn được.</a:t>
            </a:r>
            <a:endParaRPr lang="en-US" sz="1050" dirty="0"/>
          </a:p>
        </p:txBody>
      </p:sp>
      <p:sp>
        <p:nvSpPr>
          <p:cNvPr id="10" name="Shape 8"/>
          <p:cNvSpPr/>
          <p:nvPr/>
        </p:nvSpPr>
        <p:spPr>
          <a:xfrm>
            <a:off x="4368089"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1" name="Text 9"/>
          <p:cNvSpPr/>
          <p:nvPr/>
        </p:nvSpPr>
        <p:spPr>
          <a:xfrm>
            <a:off x="4569257"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2.2 — Thêm STEM/STEAM/AI</a:t>
            </a:r>
            <a:endParaRPr lang="en-US" sz="1350" dirty="0"/>
          </a:p>
        </p:txBody>
      </p:sp>
      <p:sp>
        <p:nvSpPr>
          <p:cNvPr id="12" name="Text 10"/>
          <p:cNvSpPr/>
          <p:nvPr/>
        </p:nvSpPr>
        <p:spPr>
          <a:xfrm>
            <a:off x="4569257" y="2359152"/>
            <a:ext cx="3051353" cy="300837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Nhắm phụ huynh thành thị quan tâm tư duy công nghệ sớm.
</a:t>
            </a:r>
            <a:pPr indent="0" marL="0">
              <a:lnSpc>
                <a:spcPct val="115000"/>
              </a:lnSpc>
              <a:buNone/>
            </a:pPr>
            <a:r>
              <a:rPr lang="en-US" sz="1050" b="1" dirty="0">
                <a:solidFill>
                  <a:srgbClr val="B2452F"/>
                </a:solidFill>
                <a:latin typeface="Segoe UI" pitchFamily="34" charset="0"/>
                <a:ea typeface="Segoe UI" pitchFamily="34" charset="-122"/>
                <a:cs typeface="Segoe UI" pitchFamily="34" charset="-120"/>
              </a:rPr>
              <a:t>⚠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Rủi ro “AI gắn nhãn” nếu nội dung không có chiều sâu thật.
</a:t>
            </a:r>
            <a:pPr indent="0" marL="0">
              <a:lnSpc>
                <a:spcPct val="115000"/>
              </a:lnSpc>
              <a:buNone/>
            </a:pPr>
            <a:r>
              <a:rPr lang="en-US" sz="950" i="1" dirty="0">
                <a:solidFill>
                  <a:srgbClr val="57616B"/>
                </a:solidFill>
                <a:latin typeface="Segoe UI" pitchFamily="34" charset="0"/>
                <a:ea typeface="Segoe UI" pitchFamily="34" charset="-122"/>
                <a:cs typeface="Segoe UI" pitchFamily="34" charset="-120"/>
              </a:rPr>
              <a:t>USP dạng bundling — độ bền cạnh tranh thấp, dễ sao chép.</a:t>
            </a:r>
            <a:endParaRPr lang="en-US" sz="1050" dirty="0"/>
          </a:p>
        </p:txBody>
      </p:sp>
      <p:sp>
        <p:nvSpPr>
          <p:cNvPr id="13" name="Shape 11"/>
          <p:cNvSpPr/>
          <p:nvPr/>
        </p:nvSpPr>
        <p:spPr>
          <a:xfrm>
            <a:off x="8187538" y="1828800"/>
            <a:ext cx="3453689" cy="3703320"/>
          </a:xfrm>
          <a:prstGeom prst="roundRect">
            <a:avLst>
              <a:gd name="adj" fmla="val 1589"/>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4" name="Text 12"/>
          <p:cNvSpPr/>
          <p:nvPr/>
        </p:nvSpPr>
        <p:spPr>
          <a:xfrm>
            <a:off x="8388706" y="1975104"/>
            <a:ext cx="3051353"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2.3 — Kỹ năng sống &amp; STEAM</a:t>
            </a:r>
            <a:endParaRPr lang="en-US" sz="1350" dirty="0"/>
          </a:p>
        </p:txBody>
      </p:sp>
      <p:sp>
        <p:nvSpPr>
          <p:cNvPr id="15" name="Text 13"/>
          <p:cNvSpPr/>
          <p:nvPr/>
        </p:nvSpPr>
        <p:spPr>
          <a:xfrm>
            <a:off x="8388706" y="2359152"/>
            <a:ext cx="3051353" cy="300837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Không chọn Toán (tránh UniClass); không chọn Tiếng Việt/KHTN (chỉ phủ 1 cấp học).
</a:t>
            </a:r>
            <a:pPr indent="0" marL="0">
              <a:lnSpc>
                <a:spcPct val="115000"/>
              </a:lnSpc>
              <a:buNone/>
            </a:pPr>
            <a:r>
              <a:rPr lang="en-US" sz="1050" b="1" dirty="0">
                <a:solidFill>
                  <a:srgbClr val="B2452F"/>
                </a:solidFill>
                <a:latin typeface="Segoe UI" pitchFamily="34" charset="0"/>
                <a:ea typeface="Segoe UI" pitchFamily="34" charset="-122"/>
                <a:cs typeface="Segoe UI" pitchFamily="34" charset="-120"/>
              </a:rPr>
              <a:t>⚠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Case Đắk Lắk (Tuổi Trẻ, 4/2025): phụ huynh phản ứng dữ dội khi môn “kỹ năng” bundled bị đưa vào giờ chính khoá bắt buộc. Chỉ áp dụng nếu GTM qua trường học.</a:t>
            </a:r>
            <a:endParaRPr lang="en-US" sz="1050" dirty="0"/>
          </a:p>
        </p:txBody>
      </p:sp>
      <p:sp>
        <p:nvSpPr>
          <p:cNvPr id="16" name="Shape 14"/>
          <p:cNvSpPr/>
          <p:nvPr/>
        </p:nvSpPr>
        <p:spPr>
          <a:xfrm>
            <a:off x="548640" y="5669280"/>
            <a:ext cx="10908792" cy="640080"/>
          </a:xfrm>
          <a:prstGeom prst="roundRect">
            <a:avLst>
              <a:gd name="adj" fmla="val 7143"/>
            </a:avLst>
          </a:prstGeom>
          <a:solidFill>
            <a:srgbClr val="FBEAE4"/>
          </a:solidFill>
          <a:ln/>
        </p:spPr>
      </p:sp>
      <p:sp>
        <p:nvSpPr>
          <p:cNvPr id="17" name="Shape 15"/>
          <p:cNvSpPr/>
          <p:nvPr/>
        </p:nvSpPr>
        <p:spPr>
          <a:xfrm>
            <a:off x="548640" y="5669280"/>
            <a:ext cx="54864" cy="640080"/>
          </a:xfrm>
          <a:prstGeom prst="rect">
            <a:avLst/>
          </a:prstGeom>
          <a:solidFill>
            <a:srgbClr val="B2452F"/>
          </a:solidFill>
          <a:ln/>
        </p:spPr>
      </p:sp>
      <p:sp>
        <p:nvSpPr>
          <p:cNvPr id="18" name="Text 16"/>
          <p:cNvSpPr/>
          <p:nvPr/>
        </p:nvSpPr>
        <p:spPr>
          <a:xfrm>
            <a:off x="749808" y="5742432"/>
            <a:ext cx="10543032" cy="49377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Scorecard Vòng 1: Concept 2 Stop — thất bại cấu trúc ở Gate AI+Data (giá trị tăng thêm là lớp con người thuần) — trừ khi tái định hình buổi thứ 3 có gắn AI/data.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2 — CONCEPT 3</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400" b="1" dirty="0">
                <a:solidFill>
                  <a:srgbClr val="1B2430"/>
                </a:solidFill>
                <a:latin typeface="Georgia" pitchFamily="34" charset="0"/>
                <a:ea typeface="Georgia" pitchFamily="34" charset="-122"/>
                <a:cs typeface="Georgia" pitchFamily="34" charset="-120"/>
              </a:rPr>
              <a:t>Concept 3 — Gia sư AI 1:1 (mới)</a:t>
            </a:r>
            <a:endParaRPr lang="en-US" sz="24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9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371600"/>
            <a:ext cx="10908792" cy="457200"/>
          </a:xfrm>
          <a:prstGeom prst="rect">
            <a:avLst/>
          </a:prstGeom>
          <a:noFill/>
          <a:ln/>
        </p:spPr>
        <p:txBody>
          <a:bodyPr wrap="square" rtlCol="0" anchor="t"/>
          <a:lstStyle/>
          <a:p>
            <a:pPr indent="0" marL="0">
              <a:buNone/>
            </a:pPr>
            <a:r>
              <a:rPr lang="en-US" sz="1150" dirty="0">
                <a:solidFill>
                  <a:srgbClr val="57616B"/>
                </a:solidFill>
                <a:latin typeface="Segoe UI" pitchFamily="34" charset="0"/>
                <a:ea typeface="Segoe UI" pitchFamily="34" charset="-122"/>
                <a:cs typeface="Segoe UI" pitchFamily="34" charset="-120"/>
              </a:rPr>
              <a:t>Khác biệt bản chất: </a:t>
            </a:r>
            <a:pPr indent="0" marL="0">
              <a:buNone/>
            </a:pPr>
            <a:r>
              <a:rPr lang="en-US" sz="1150" b="1" dirty="0">
                <a:solidFill>
                  <a:srgbClr val="1B2430"/>
                </a:solidFill>
                <a:latin typeface="Segoe UI" pitchFamily="34" charset="0"/>
                <a:ea typeface="Segoe UI" pitchFamily="34" charset="-122"/>
                <a:cs typeface="Segoe UI" pitchFamily="34" charset="-120"/>
              </a:rPr>
              <a:t>AI là gia sư</a:t>
            </a:r>
            <a:pPr indent="0" marL="0">
              <a:buNone/>
            </a:pPr>
            <a:r>
              <a:rPr lang="en-US" sz="1150" dirty="0">
                <a:solidFill>
                  <a:srgbClr val="57616B"/>
                </a:solidFill>
                <a:latin typeface="Segoe UI" pitchFamily="34" charset="0"/>
                <a:ea typeface="Segoe UI" pitchFamily="34" charset="-122"/>
                <a:cs typeface="Segoe UI" pitchFamily="34" charset="-120"/>
              </a:rPr>
              <a:t>, không chỉ hỗ trợ lớp học. ⚠ Định hướng duy nhất chưa có Pilot nội bộ.</a:t>
            </a:r>
            <a:endParaRPr lang="en-US" sz="1150" dirty="0"/>
          </a:p>
        </p:txBody>
      </p:sp>
      <p:sp>
        <p:nvSpPr>
          <p:cNvPr id="7" name="Shape 5"/>
          <p:cNvSpPr/>
          <p:nvPr/>
        </p:nvSpPr>
        <p:spPr>
          <a:xfrm>
            <a:off x="548640" y="1920240"/>
            <a:ext cx="3617976" cy="777240"/>
          </a:xfrm>
          <a:prstGeom prst="rect">
            <a:avLst/>
          </a:prstGeom>
          <a:solidFill>
            <a:srgbClr val="E9ECE5"/>
          </a:solidFill>
          <a:ln/>
        </p:spPr>
      </p:sp>
      <p:sp>
        <p:nvSpPr>
          <p:cNvPr id="8" name="Text 6"/>
          <p:cNvSpPr/>
          <p:nvPr/>
        </p:nvSpPr>
        <p:spPr>
          <a:xfrm>
            <a:off x="658368" y="1975104"/>
            <a:ext cx="3398520" cy="66751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Edupia AI Class</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Self-learning thuần, rẻ nhất</a:t>
            </a:r>
            <a:endParaRPr lang="en-US" sz="950" dirty="0"/>
          </a:p>
        </p:txBody>
      </p:sp>
      <p:sp>
        <p:nvSpPr>
          <p:cNvPr id="9" name="Shape 7"/>
          <p:cNvSpPr/>
          <p:nvPr/>
        </p:nvSpPr>
        <p:spPr>
          <a:xfrm>
            <a:off x="4184904" y="1920240"/>
            <a:ext cx="3617976" cy="777240"/>
          </a:xfrm>
          <a:prstGeom prst="rect">
            <a:avLst/>
          </a:prstGeom>
          <a:solidFill>
            <a:srgbClr val="A9782E"/>
          </a:solidFill>
          <a:ln/>
        </p:spPr>
      </p:sp>
      <p:sp>
        <p:nvSpPr>
          <p:cNvPr id="10" name="Text 8"/>
          <p:cNvSpPr/>
          <p:nvPr/>
        </p:nvSpPr>
        <p:spPr>
          <a:xfrm>
            <a:off x="4294632" y="1975104"/>
            <a:ext cx="3398520" cy="667512"/>
          </a:xfrm>
          <a:prstGeom prst="rect">
            <a:avLst/>
          </a:prstGeom>
          <a:noFill/>
          <a:ln/>
        </p:spPr>
        <p:txBody>
          <a:bodyPr wrap="square" rtlCol="0" anchor="ctr"/>
          <a:lstStyle/>
          <a:p>
            <a:pPr algn="ctr" indent="0" marL="0">
              <a:buNone/>
            </a:pPr>
            <a:r>
              <a:rPr lang="en-US" sz="950" b="1" dirty="0">
                <a:solidFill>
                  <a:srgbClr val="1B140A"/>
                </a:solidFill>
                <a:latin typeface="Segoe UI" pitchFamily="34" charset="0"/>
                <a:ea typeface="Segoe UI" pitchFamily="34" charset="-122"/>
                <a:cs typeface="Segoe UI" pitchFamily="34" charset="-120"/>
              </a:rPr>
              <a:t>Concept 3 (390k)</a:t>
            </a:r>
            <a:endParaRPr lang="en-US" sz="950" dirty="0"/>
          </a:p>
          <a:p>
            <a:pPr algn="ctr" indent="0" marL="0">
              <a:buNone/>
            </a:pPr>
            <a:r>
              <a:rPr lang="en-US" sz="950" b="1" dirty="0">
                <a:solidFill>
                  <a:srgbClr val="1B140A"/>
                </a:solidFill>
                <a:latin typeface="Segoe UI" pitchFamily="34" charset="0"/>
                <a:ea typeface="Segoe UI" pitchFamily="34" charset="-122"/>
                <a:cs typeface="Segoe UI" pitchFamily="34" charset="-120"/>
              </a:rPr>
              <a:t>AI đồng hành</a:t>
            </a:r>
            <a:endParaRPr lang="en-US" sz="950" dirty="0"/>
          </a:p>
        </p:txBody>
      </p:sp>
      <p:sp>
        <p:nvSpPr>
          <p:cNvPr id="11" name="Shape 9"/>
          <p:cNvSpPr/>
          <p:nvPr/>
        </p:nvSpPr>
        <p:spPr>
          <a:xfrm>
            <a:off x="7821168" y="1920240"/>
            <a:ext cx="3617976" cy="777240"/>
          </a:xfrm>
          <a:prstGeom prst="rect">
            <a:avLst/>
          </a:prstGeom>
          <a:solidFill>
            <a:srgbClr val="E9ECE5"/>
          </a:solidFill>
          <a:ln/>
        </p:spPr>
      </p:sp>
      <p:sp>
        <p:nvSpPr>
          <p:cNvPr id="12" name="Text 10"/>
          <p:cNvSpPr/>
          <p:nvPr/>
        </p:nvSpPr>
        <p:spPr>
          <a:xfrm>
            <a:off x="7930896" y="1975104"/>
            <a:ext cx="3398520" cy="66751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Edupia Tutor 1-4/1-6</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Gia sư sống, đắt hơn</a:t>
            </a:r>
            <a:endParaRPr lang="en-US" sz="950" dirty="0"/>
          </a:p>
        </p:txBody>
      </p:sp>
      <p:sp>
        <p:nvSpPr>
          <p:cNvPr id="13" name="Shape 11"/>
          <p:cNvSpPr/>
          <p:nvPr/>
        </p:nvSpPr>
        <p:spPr>
          <a:xfrm>
            <a:off x="548640" y="2971800"/>
            <a:ext cx="5362956" cy="1920240"/>
          </a:xfrm>
          <a:prstGeom prst="roundRect">
            <a:avLst>
              <a:gd name="adj" fmla="val 2857"/>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4" name="Text 12"/>
          <p:cNvSpPr/>
          <p:nvPr/>
        </p:nvSpPr>
        <p:spPr>
          <a:xfrm>
            <a:off x="749808" y="311810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JTBD cốt lõi</a:t>
            </a:r>
            <a:endParaRPr lang="en-US" sz="1350" dirty="0"/>
          </a:p>
        </p:txBody>
      </p:sp>
      <p:sp>
        <p:nvSpPr>
          <p:cNvPr id="15" name="Text 13"/>
          <p:cNvSpPr/>
          <p:nvPr/>
        </p:nvSpPr>
        <p:spPr>
          <a:xfrm>
            <a:off x="749808" y="3502152"/>
            <a:ext cx="4960620" cy="122529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Phụ huynh “thuê” AI Tutor làm thay vai trò đồng hành — học cùng con, giải đáp, theo dõi/nhắc nhở/động viên — việc chính họ muốn làm nhưng thiếu thời gian/chuyên môn.
</a:t>
            </a:r>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Khoảnh khắc JTBD rõ nhất: AI chủ động gửi cảnh báo/nhắc nhở — không phải khi phụ huynh chủ động vào xem báo cáo.</a:t>
            </a:r>
            <a:endParaRPr lang="en-US" sz="1050" dirty="0"/>
          </a:p>
        </p:txBody>
      </p:sp>
      <p:sp>
        <p:nvSpPr>
          <p:cNvPr id="16" name="Shape 14"/>
          <p:cNvSpPr/>
          <p:nvPr/>
        </p:nvSpPr>
        <p:spPr>
          <a:xfrm>
            <a:off x="6277356" y="2971800"/>
            <a:ext cx="5362956" cy="1920240"/>
          </a:xfrm>
          <a:prstGeom prst="roundRect">
            <a:avLst>
              <a:gd name="adj" fmla="val 2381"/>
            </a:avLst>
          </a:prstGeom>
          <a:solidFill>
            <a:srgbClr val="FBEAE4"/>
          </a:solidFill>
          <a:ln/>
        </p:spPr>
      </p:sp>
      <p:sp>
        <p:nvSpPr>
          <p:cNvPr id="17" name="Shape 15"/>
          <p:cNvSpPr/>
          <p:nvPr/>
        </p:nvSpPr>
        <p:spPr>
          <a:xfrm>
            <a:off x="6277356" y="2971800"/>
            <a:ext cx="54864" cy="1920240"/>
          </a:xfrm>
          <a:prstGeom prst="rect">
            <a:avLst/>
          </a:prstGeom>
          <a:solidFill>
            <a:srgbClr val="B2452F"/>
          </a:solidFill>
          <a:ln/>
        </p:spPr>
      </p:sp>
      <p:sp>
        <p:nvSpPr>
          <p:cNvPr id="18" name="Text 16"/>
          <p:cNvSpPr/>
          <p:nvPr/>
        </p:nvSpPr>
        <p:spPr>
          <a:xfrm>
            <a:off x="6478524" y="3044952"/>
            <a:ext cx="4997196" cy="177393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Rủi ro cannibalization lớn nhất trong cả 3 concept: chưa chốt Concept 3 là (a) substitute giá rẻ cho cả họ Edupia Tutor (1-1/1-4/1-6), hay (b) JTBD khác biệt mở rộng thị trường mới (noncustomer). Cần BOD xác nhận trước khi viết PRD.</a:t>
            </a:r>
            <a:endParaRPr lang="en-US" sz="1100" dirty="0"/>
          </a:p>
        </p:txBody>
      </p:sp>
      <p:sp>
        <p:nvSpPr>
          <p:cNvPr id="19" name="Shape 17"/>
          <p:cNvSpPr/>
          <p:nvPr/>
        </p:nvSpPr>
        <p:spPr>
          <a:xfrm>
            <a:off x="548640" y="5074920"/>
            <a:ext cx="10908792" cy="777240"/>
          </a:xfrm>
          <a:prstGeom prst="roundRect">
            <a:avLst>
              <a:gd name="adj" fmla="val 5882"/>
            </a:avLst>
          </a:prstGeom>
          <a:solidFill>
            <a:srgbClr val="E7ECF1"/>
          </a:solidFill>
          <a:ln/>
        </p:spPr>
      </p:sp>
      <p:sp>
        <p:nvSpPr>
          <p:cNvPr id="20" name="Shape 18"/>
          <p:cNvSpPr/>
          <p:nvPr/>
        </p:nvSpPr>
        <p:spPr>
          <a:xfrm>
            <a:off x="548640" y="5074920"/>
            <a:ext cx="54864" cy="777240"/>
          </a:xfrm>
          <a:prstGeom prst="rect">
            <a:avLst/>
          </a:prstGeom>
          <a:solidFill>
            <a:srgbClr val="1E3A5F"/>
          </a:solidFill>
          <a:ln/>
        </p:spPr>
      </p:sp>
      <p:sp>
        <p:nvSpPr>
          <p:cNvPr id="21" name="Text 19"/>
          <p:cNvSpPr/>
          <p:nvPr/>
        </p:nvSpPr>
        <p:spPr>
          <a:xfrm>
            <a:off x="749808" y="5148072"/>
            <a:ext cx="10543032" cy="63093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 Ranh giới ngôn ngữ: </a:t>
            </a:r>
            <a:pPr indent="0" marL="0">
              <a:buNone/>
            </a:pPr>
            <a:r>
              <a:rPr lang="en-US" sz="1100" dirty="0">
                <a:solidFill>
                  <a:srgbClr val="1B2430"/>
                </a:solidFill>
                <a:latin typeface="Segoe UI" pitchFamily="34" charset="0"/>
                <a:ea typeface="Segoe UI" pitchFamily="34" charset="-122"/>
                <a:cs typeface="Segoe UI" pitchFamily="34" charset="-120"/>
              </a:rPr>
              <a:t>không dùng “gia sư riêng” theo nghĩa đen trong content bán hàng — định vị rõ “AI đồng hành”, tránh lặp lại rủi ro overpromise đã cảnh báo ở GVCN mức 1.3.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2 — CONCEPT 3</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100" b="1" dirty="0">
                <a:solidFill>
                  <a:srgbClr val="1B2430"/>
                </a:solidFill>
                <a:latin typeface="Georgia" pitchFamily="34" charset="0"/>
                <a:ea typeface="Georgia" pitchFamily="34" charset="-122"/>
                <a:cs typeface="Georgia" pitchFamily="34" charset="-120"/>
              </a:rPr>
              <a:t>2 phương án kỹ thuật · lộ trình 3 giai đoạn xây niềm tin</a:t>
            </a:r>
            <a:endParaRPr lang="en-US" sz="21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10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417320"/>
            <a:ext cx="5362956" cy="1691640"/>
          </a:xfrm>
          <a:prstGeom prst="roundRect">
            <a:avLst>
              <a:gd name="adj" fmla="val 3243"/>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7" name="Text 5"/>
          <p:cNvSpPr/>
          <p:nvPr/>
        </p:nvSpPr>
        <p:spPr>
          <a:xfrm>
            <a:off x="749808" y="156362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Phương án A — “AI Song Hành”</a:t>
            </a:r>
            <a:endParaRPr lang="en-US" sz="1350" dirty="0"/>
          </a:p>
        </p:txBody>
      </p:sp>
      <p:sp>
        <p:nvSpPr>
          <p:cNvPr id="8" name="Text 6"/>
          <p:cNvSpPr/>
          <p:nvPr/>
        </p:nvSpPr>
        <p:spPr>
          <a:xfrm>
            <a:off x="749808" y="1947672"/>
            <a:ext cx="4960620" cy="996696"/>
          </a:xfrm>
          <a:prstGeom prst="rect">
            <a:avLst/>
          </a:prstGeom>
          <a:noFill/>
          <a:ln/>
        </p:spPr>
        <p:txBody>
          <a:bodyPr wrap="square" rtlCol="0" anchor="t"/>
          <a:lstStyle/>
          <a:p>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AI giám sát liên tục xuyên tuần: nhắc bài, phát hiện lỗ hổng, trả lời câu hỏi đơn giản real-time. GVCN chỉ can thiệp khi AI leo thang ngoại lệ.
</a:t>
            </a:r>
            <a:pPr indent="0" marL="0">
              <a:lnSpc>
                <a:spcPct val="115000"/>
              </a:lnSpc>
              <a:buNone/>
            </a:pPr>
            <a:r>
              <a:rPr lang="en-US" sz="950" b="1" dirty="0">
                <a:solidFill>
                  <a:srgbClr val="2E7D63"/>
                </a:solidFill>
                <a:latin typeface="Segoe UI" pitchFamily="34" charset="0"/>
                <a:ea typeface="Segoe UI" pitchFamily="34" charset="-122"/>
                <a:cs typeface="Segoe UI" pitchFamily="34" charset="-120"/>
              </a:rPr>
              <a:t>● Theo mẫu hình đã vận hành thật: TAL/Xueersi, Doushen (Trung Quốc)</a:t>
            </a:r>
            <a:endParaRPr lang="en-US" sz="1050" dirty="0"/>
          </a:p>
        </p:txBody>
      </p:sp>
      <p:sp>
        <p:nvSpPr>
          <p:cNvPr id="9" name="Shape 7"/>
          <p:cNvSpPr/>
          <p:nvPr/>
        </p:nvSpPr>
        <p:spPr>
          <a:xfrm>
            <a:off x="6277356" y="1417320"/>
            <a:ext cx="5362956" cy="1691640"/>
          </a:xfrm>
          <a:prstGeom prst="roundRect">
            <a:avLst>
              <a:gd name="adj" fmla="val 3243"/>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0" name="Text 8"/>
          <p:cNvSpPr/>
          <p:nvPr/>
        </p:nvSpPr>
        <p:spPr>
          <a:xfrm>
            <a:off x="6478524" y="156362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Phương án B — “AI luyện hội thoại”</a:t>
            </a:r>
            <a:endParaRPr lang="en-US" sz="1350" dirty="0"/>
          </a:p>
        </p:txBody>
      </p:sp>
      <p:sp>
        <p:nvSpPr>
          <p:cNvPr id="11" name="Text 9"/>
          <p:cNvSpPr/>
          <p:nvPr/>
        </p:nvSpPr>
        <p:spPr>
          <a:xfrm>
            <a:off x="6478524" y="1947672"/>
            <a:ext cx="4960620" cy="996696"/>
          </a:xfrm>
          <a:prstGeom prst="rect">
            <a:avLst/>
          </a:prstGeom>
          <a:noFill/>
          <a:ln/>
        </p:spPr>
        <p:txBody>
          <a:bodyPr wrap="square" rtlCol="0" anchor="t"/>
          <a:lstStyle/>
          <a:p>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Hội thoại giọng nói real-time, không cần Knowledge Graph khổng lồ — gần với hướng nâng cấp Speak đã có.
</a:t>
            </a:r>
            <a:pPr indent="0" marL="0">
              <a:lnSpc>
                <a:spcPct val="115000"/>
              </a:lnSpc>
              <a:buNone/>
            </a:pPr>
            <a:r>
              <a:rPr lang="en-US" sz="950" b="1" dirty="0">
                <a:solidFill>
                  <a:srgbClr val="2E7D63"/>
                </a:solidFill>
                <a:latin typeface="Segoe UI" pitchFamily="34" charset="0"/>
                <a:ea typeface="Segoe UI" pitchFamily="34" charset="-122"/>
                <a:cs typeface="Segoe UI" pitchFamily="34" charset="-120"/>
              </a:rPr>
              <a:t>● Theo mẫu hình: Dino AI, ELSA Speak, Speak
</a:t>
            </a:r>
            <a:pPr indent="0" marL="0">
              <a:lnSpc>
                <a:spcPct val="115000"/>
              </a:lnSpc>
              <a:buNone/>
            </a:pPr>
            <a:r>
              <a:rPr lang="en-US" sz="950" dirty="0">
                <a:solidFill>
                  <a:srgbClr val="B2452F"/>
                </a:solidFill>
                <a:latin typeface="Segoe UI" pitchFamily="34" charset="0"/>
                <a:ea typeface="Segoe UI" pitchFamily="34" charset="-122"/>
                <a:cs typeface="Segoe UI" pitchFamily="34" charset="-120"/>
              </a:rPr>
              <a:t>⚠ Archetype đông đối thủ nhất — khó có USP khác biệt.</a:t>
            </a:r>
            <a:endParaRPr lang="en-US" sz="1050" dirty="0"/>
          </a:p>
        </p:txBody>
      </p:sp>
      <p:sp>
        <p:nvSpPr>
          <p:cNvPr id="12" name="Shape 10"/>
          <p:cNvSpPr/>
          <p:nvPr/>
        </p:nvSpPr>
        <p:spPr>
          <a:xfrm>
            <a:off x="548640" y="3246120"/>
            <a:ext cx="10908792" cy="457200"/>
          </a:xfrm>
          <a:prstGeom prst="roundRect">
            <a:avLst>
              <a:gd name="adj" fmla="val 10000"/>
            </a:avLst>
          </a:prstGeom>
          <a:solidFill>
            <a:srgbClr val="FBEAE4"/>
          </a:solidFill>
          <a:ln/>
        </p:spPr>
      </p:sp>
      <p:sp>
        <p:nvSpPr>
          <p:cNvPr id="13" name="Shape 11"/>
          <p:cNvSpPr/>
          <p:nvPr/>
        </p:nvSpPr>
        <p:spPr>
          <a:xfrm>
            <a:off x="548640" y="3246120"/>
            <a:ext cx="54864" cy="457200"/>
          </a:xfrm>
          <a:prstGeom prst="rect">
            <a:avLst/>
          </a:prstGeom>
          <a:solidFill>
            <a:srgbClr val="B2452F"/>
          </a:solidFill>
          <a:ln/>
        </p:spPr>
      </p:sp>
      <p:sp>
        <p:nvSpPr>
          <p:cNvPr id="14" name="Text 12"/>
          <p:cNvSpPr/>
          <p:nvPr/>
        </p:nvSpPr>
        <p:spPr>
          <a:xfrm>
            <a:off x="749808" y="3319272"/>
            <a:ext cx="10543032" cy="31089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Loại trừ rõ ràng: </a:t>
            </a:r>
            <a:pPr indent="0" marL="0">
              <a:buNone/>
            </a:pPr>
            <a:r>
              <a:rPr lang="en-US" sz="1100" dirty="0">
                <a:solidFill>
                  <a:srgbClr val="1B2430"/>
                </a:solidFill>
                <a:latin typeface="Segoe UI" pitchFamily="34" charset="0"/>
                <a:ea typeface="Segoe UI" pitchFamily="34" charset="-122"/>
                <a:cs typeface="Segoe UI" pitchFamily="34" charset="-120"/>
              </a:rPr>
              <a:t>archetype “AI mô phỏng nhân cách/cảm xúc riêng biệt” — không dùng cho trẻ em ở cả 2 phương án.</a:t>
            </a:r>
            <a:endParaRPr lang="en-US" sz="1100" dirty="0"/>
          </a:p>
        </p:txBody>
      </p:sp>
      <p:sp>
        <p:nvSpPr>
          <p:cNvPr id="15" name="Shape 13"/>
          <p:cNvSpPr/>
          <p:nvPr/>
        </p:nvSpPr>
        <p:spPr>
          <a:xfrm>
            <a:off x="548640" y="3886200"/>
            <a:ext cx="3499104" cy="0"/>
          </a:xfrm>
          <a:prstGeom prst="line">
            <a:avLst/>
          </a:prstGeom>
          <a:noFill/>
          <a:ln w="28575">
            <a:solidFill>
              <a:srgbClr val="1E3A5F"/>
            </a:solidFill>
            <a:prstDash val="solid"/>
          </a:ln>
        </p:spPr>
      </p:sp>
      <p:sp>
        <p:nvSpPr>
          <p:cNvPr id="16" name="Text 14"/>
          <p:cNvSpPr/>
          <p:nvPr/>
        </p:nvSpPr>
        <p:spPr>
          <a:xfrm>
            <a:off x="548640" y="3977640"/>
            <a:ext cx="3453384" cy="274320"/>
          </a:xfrm>
          <a:prstGeom prst="rect">
            <a:avLst/>
          </a:prstGeom>
          <a:noFill/>
          <a:ln/>
        </p:spPr>
        <p:txBody>
          <a:bodyPr wrap="square" rtlCol="0" anchor="ctr"/>
          <a:lstStyle/>
          <a:p>
            <a:pPr indent="0" marL="0">
              <a:buNone/>
            </a:pPr>
            <a:r>
              <a:rPr lang="en-US" sz="950" b="1" dirty="0">
                <a:solidFill>
                  <a:srgbClr val="1E3A5F"/>
                </a:solidFill>
                <a:latin typeface="Segoe UI" pitchFamily="34" charset="0"/>
                <a:ea typeface="Segoe UI" pitchFamily="34" charset="-122"/>
                <a:cs typeface="Segoe UI" pitchFamily="34" charset="-120"/>
              </a:rPr>
              <a:t>Giai đoạn 1 — “Trợ giảng”</a:t>
            </a:r>
            <a:endParaRPr lang="en-US" sz="950" dirty="0"/>
          </a:p>
        </p:txBody>
      </p:sp>
      <p:sp>
        <p:nvSpPr>
          <p:cNvPr id="17" name="Text 15"/>
          <p:cNvSpPr/>
          <p:nvPr/>
        </p:nvSpPr>
        <p:spPr>
          <a:xfrm>
            <a:off x="548640" y="4270248"/>
            <a:ext cx="3453384" cy="1463040"/>
          </a:xfrm>
          <a:prstGeom prst="rect">
            <a:avLst/>
          </a:prstGeom>
          <a:noFill/>
          <a:ln/>
        </p:spPr>
        <p:txBody>
          <a:bodyPr wrap="square" rtlCol="0" anchor="t"/>
          <a:lstStyle/>
          <a:p>
            <a:pPr indent="0" marL="0">
              <a:lnSpc>
                <a:spcPct val="110000"/>
              </a:lnSpc>
              <a:buNone/>
            </a:pPr>
            <a:r>
              <a:rPr lang="en-US" sz="870" dirty="0">
                <a:solidFill>
                  <a:srgbClr val="57616B"/>
                </a:solidFill>
                <a:latin typeface="Segoe UI" pitchFamily="34" charset="0"/>
                <a:ea typeface="Segoe UI" pitchFamily="34" charset="-122"/>
                <a:cs typeface="Segoe UI" pitchFamily="34" charset="-120"/>
              </a:rPr>
              <a:t>AI chấm-chữa bài + tương tác lúc tự học. GV thật vẫn dạy buổi sống, xem dữ liệu AI trước mỗi buổi.</a:t>
            </a:r>
            <a:endParaRPr lang="en-US" sz="870" dirty="0"/>
          </a:p>
        </p:txBody>
      </p:sp>
      <p:sp>
        <p:nvSpPr>
          <p:cNvPr id="18" name="Shape 16"/>
          <p:cNvSpPr/>
          <p:nvPr/>
        </p:nvSpPr>
        <p:spPr>
          <a:xfrm>
            <a:off x="4184904" y="3886200"/>
            <a:ext cx="3499104" cy="0"/>
          </a:xfrm>
          <a:prstGeom prst="line">
            <a:avLst/>
          </a:prstGeom>
          <a:noFill/>
          <a:ln w="28575">
            <a:solidFill>
              <a:srgbClr val="1E3A5F"/>
            </a:solidFill>
            <a:prstDash val="solid"/>
          </a:ln>
        </p:spPr>
      </p:sp>
      <p:sp>
        <p:nvSpPr>
          <p:cNvPr id="19" name="Text 17"/>
          <p:cNvSpPr/>
          <p:nvPr/>
        </p:nvSpPr>
        <p:spPr>
          <a:xfrm>
            <a:off x="4184904" y="3977640"/>
            <a:ext cx="3453384" cy="274320"/>
          </a:xfrm>
          <a:prstGeom prst="rect">
            <a:avLst/>
          </a:prstGeom>
          <a:noFill/>
          <a:ln/>
        </p:spPr>
        <p:txBody>
          <a:bodyPr wrap="square" rtlCol="0" anchor="ctr"/>
          <a:lstStyle/>
          <a:p>
            <a:pPr indent="0" marL="0">
              <a:buNone/>
            </a:pPr>
            <a:r>
              <a:rPr lang="en-US" sz="950" b="1" dirty="0">
                <a:solidFill>
                  <a:srgbClr val="1E3A5F"/>
                </a:solidFill>
                <a:latin typeface="Segoe UI" pitchFamily="34" charset="0"/>
                <a:ea typeface="Segoe UI" pitchFamily="34" charset="-122"/>
                <a:cs typeface="Segoe UI" pitchFamily="34" charset="-120"/>
              </a:rPr>
              <a:t>Giai đoạn 2</a:t>
            </a:r>
            <a:endParaRPr lang="en-US" sz="950" dirty="0"/>
          </a:p>
        </p:txBody>
      </p:sp>
      <p:sp>
        <p:nvSpPr>
          <p:cNvPr id="20" name="Text 18"/>
          <p:cNvSpPr/>
          <p:nvPr/>
        </p:nvSpPr>
        <p:spPr>
          <a:xfrm>
            <a:off x="4184904" y="4270248"/>
            <a:ext cx="3453384" cy="1463040"/>
          </a:xfrm>
          <a:prstGeom prst="rect">
            <a:avLst/>
          </a:prstGeom>
          <a:noFill/>
          <a:ln/>
        </p:spPr>
        <p:txBody>
          <a:bodyPr wrap="square" rtlCol="0" anchor="t"/>
          <a:lstStyle/>
          <a:p>
            <a:pPr indent="0" marL="0">
              <a:lnSpc>
                <a:spcPct val="110000"/>
              </a:lnSpc>
              <a:buNone/>
            </a:pPr>
            <a:r>
              <a:rPr lang="en-US" sz="870" dirty="0">
                <a:solidFill>
                  <a:srgbClr val="57616B"/>
                </a:solidFill>
                <a:latin typeface="Segoe UI" pitchFamily="34" charset="0"/>
                <a:ea typeface="Segoe UI" pitchFamily="34" charset="-122"/>
                <a:cs typeface="Segoe UI" pitchFamily="34" charset="-120"/>
              </a:rPr>
              <a:t>AI dạy trực tiếp trong lớp online. GV thật = trợ giảng, hiện diện, can thiệp ngay khi cần.</a:t>
            </a:r>
            <a:endParaRPr lang="en-US" sz="870" dirty="0"/>
          </a:p>
        </p:txBody>
      </p:sp>
      <p:sp>
        <p:nvSpPr>
          <p:cNvPr id="21" name="Shape 19"/>
          <p:cNvSpPr/>
          <p:nvPr/>
        </p:nvSpPr>
        <p:spPr>
          <a:xfrm>
            <a:off x="7821168" y="3886200"/>
            <a:ext cx="3499104" cy="0"/>
          </a:xfrm>
          <a:prstGeom prst="line">
            <a:avLst/>
          </a:prstGeom>
          <a:noFill/>
          <a:ln w="28575">
            <a:solidFill>
              <a:srgbClr val="1E3A5F"/>
            </a:solidFill>
            <a:prstDash val="solid"/>
          </a:ln>
        </p:spPr>
      </p:sp>
      <p:sp>
        <p:nvSpPr>
          <p:cNvPr id="22" name="Text 20"/>
          <p:cNvSpPr/>
          <p:nvPr/>
        </p:nvSpPr>
        <p:spPr>
          <a:xfrm>
            <a:off x="7821168" y="3977640"/>
            <a:ext cx="3453384" cy="274320"/>
          </a:xfrm>
          <a:prstGeom prst="rect">
            <a:avLst/>
          </a:prstGeom>
          <a:noFill/>
          <a:ln/>
        </p:spPr>
        <p:txBody>
          <a:bodyPr wrap="square" rtlCol="0" anchor="ctr"/>
          <a:lstStyle/>
          <a:p>
            <a:pPr indent="0" marL="0">
              <a:buNone/>
            </a:pPr>
            <a:r>
              <a:rPr lang="en-US" sz="950" b="1" dirty="0">
                <a:solidFill>
                  <a:srgbClr val="1E3A5F"/>
                </a:solidFill>
                <a:latin typeface="Segoe UI" pitchFamily="34" charset="0"/>
                <a:ea typeface="Segoe UI" pitchFamily="34" charset="-122"/>
                <a:cs typeface="Segoe UI" pitchFamily="34" charset="-120"/>
              </a:rPr>
              <a:t>Giai đoạn 3</a:t>
            </a:r>
            <a:endParaRPr lang="en-US" sz="950" dirty="0"/>
          </a:p>
        </p:txBody>
      </p:sp>
      <p:sp>
        <p:nvSpPr>
          <p:cNvPr id="23" name="Text 21"/>
          <p:cNvSpPr/>
          <p:nvPr/>
        </p:nvSpPr>
        <p:spPr>
          <a:xfrm>
            <a:off x="7821168" y="4270248"/>
            <a:ext cx="3453384" cy="1463040"/>
          </a:xfrm>
          <a:prstGeom prst="rect">
            <a:avLst/>
          </a:prstGeom>
          <a:noFill/>
          <a:ln/>
        </p:spPr>
        <p:txBody>
          <a:bodyPr wrap="square" rtlCol="0" anchor="t"/>
          <a:lstStyle/>
          <a:p>
            <a:pPr indent="0" marL="0">
              <a:lnSpc>
                <a:spcPct val="110000"/>
              </a:lnSpc>
              <a:buNone/>
            </a:pPr>
            <a:r>
              <a:rPr lang="en-US" sz="870" dirty="0">
                <a:solidFill>
                  <a:srgbClr val="57616B"/>
                </a:solidFill>
                <a:latin typeface="Segoe UI" pitchFamily="34" charset="0"/>
                <a:ea typeface="Segoe UI" pitchFamily="34" charset="-122"/>
                <a:cs typeface="Segoe UI" pitchFamily="34" charset="-120"/>
              </a:rPr>
              <a:t>AI chạy độc lập hoàn toàn. Con người chuyển sang giám sát/audit định kỳ — không biến mất, chỉ đổi tần suất.</a:t>
            </a:r>
            <a:endParaRPr lang="en-US" sz="870" dirty="0"/>
          </a:p>
        </p:txBody>
      </p:sp>
      <p:sp>
        <p:nvSpPr>
          <p:cNvPr id="24" name="Shape 22"/>
          <p:cNvSpPr/>
          <p:nvPr/>
        </p:nvSpPr>
        <p:spPr>
          <a:xfrm>
            <a:off x="548640" y="5806440"/>
            <a:ext cx="10908792" cy="502920"/>
          </a:xfrm>
          <a:prstGeom prst="roundRect">
            <a:avLst>
              <a:gd name="adj" fmla="val 9091"/>
            </a:avLst>
          </a:prstGeom>
          <a:solidFill>
            <a:srgbClr val="E7ECF1"/>
          </a:solidFill>
          <a:ln/>
        </p:spPr>
      </p:sp>
      <p:sp>
        <p:nvSpPr>
          <p:cNvPr id="25" name="Shape 23"/>
          <p:cNvSpPr/>
          <p:nvPr/>
        </p:nvSpPr>
        <p:spPr>
          <a:xfrm>
            <a:off x="548640" y="5806440"/>
            <a:ext cx="54864" cy="502920"/>
          </a:xfrm>
          <a:prstGeom prst="rect">
            <a:avLst/>
          </a:prstGeom>
          <a:solidFill>
            <a:srgbClr val="1E3A5F"/>
          </a:solidFill>
          <a:ln/>
        </p:spPr>
      </p:sp>
      <p:sp>
        <p:nvSpPr>
          <p:cNvPr id="26" name="Text 24"/>
          <p:cNvSpPr/>
          <p:nvPr/>
        </p:nvSpPr>
        <p:spPr>
          <a:xfrm>
            <a:off x="749808" y="5879592"/>
            <a:ext cx="10543032" cy="356616"/>
          </a:xfrm>
          <a:prstGeom prst="rect">
            <a:avLst/>
          </a:prstGeom>
          <a:noFill/>
          <a:ln/>
        </p:spPr>
        <p:txBody>
          <a:bodyPr wrap="square" rtlCol="0" anchor="t"/>
          <a:lstStyle/>
          <a:p>
            <a:pPr indent="0" marL="0">
              <a:buNone/>
            </a:pPr>
            <a:r>
              <a:rPr lang="en-US" sz="1000" dirty="0">
                <a:solidFill>
                  <a:srgbClr val="1B2430"/>
                </a:solidFill>
                <a:latin typeface="Segoe UI" pitchFamily="34" charset="0"/>
                <a:ea typeface="Segoe UI" pitchFamily="34" charset="-122"/>
                <a:cs typeface="Segoe UI" pitchFamily="34" charset="-120"/>
              </a:rPr>
              <a:t>Cơ chế “con người là chốt chặn cuối, xác nhận output AI trước khi tới phụ huynh” giữ nguyên xuyên suốt cả 3 giai đoạn.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3 — NGHIÊN CỨU MÔ HÌNH THÀNH CÔNG THẾ GIỚI</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000" b="1" dirty="0">
                <a:solidFill>
                  <a:srgbClr val="1B2430"/>
                </a:solidFill>
                <a:latin typeface="Georgia" pitchFamily="34" charset="0"/>
                <a:ea typeface="Georgia" pitchFamily="34" charset="-122"/>
                <a:cs typeface="Georgia" pitchFamily="34" charset="-120"/>
              </a:rPr>
              <a:t>Mô hình “song sư” AI+người — đã vận hành thật ở Trung Quốc</a:t>
            </a:r>
            <a:endParaRPr lang="en-US" sz="20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11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417320"/>
            <a:ext cx="5362956" cy="1371600"/>
          </a:xfrm>
          <a:prstGeom prst="roundRect">
            <a:avLst>
              <a:gd name="adj" fmla="val 4000"/>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7" name="Text 5"/>
          <p:cNvSpPr/>
          <p:nvPr/>
        </p:nvSpPr>
        <p:spPr>
          <a:xfrm>
            <a:off x="749808" y="156362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 TAL/Xueersi</a:t>
            </a:r>
            <a:endParaRPr lang="en-US" sz="1350" dirty="0"/>
          </a:p>
        </p:txBody>
      </p:sp>
      <p:sp>
        <p:nvSpPr>
          <p:cNvPr id="8" name="Text 6"/>
          <p:cNvSpPr/>
          <p:nvPr/>
        </p:nvSpPr>
        <p:spPr>
          <a:xfrm>
            <a:off x="749808" y="1947672"/>
            <a:ext cx="4960620" cy="67665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Ra mắt “AI双师互动课堂” (AI dual-teacher interactive classroom) tháng 6/2026 — GV thật đảm nhiệm nội dung cốt lõi/cảm hứng, AI đảm nhiệm giám sát liên tục/trả lời/bù lỗ hổng kiến thức.</a:t>
            </a:r>
            <a:endParaRPr lang="en-US" sz="1050" dirty="0"/>
          </a:p>
        </p:txBody>
      </p:sp>
      <p:sp>
        <p:nvSpPr>
          <p:cNvPr id="9" name="Shape 7"/>
          <p:cNvSpPr/>
          <p:nvPr/>
        </p:nvSpPr>
        <p:spPr>
          <a:xfrm>
            <a:off x="6277356" y="1417320"/>
            <a:ext cx="5362956" cy="1371600"/>
          </a:xfrm>
          <a:prstGeom prst="roundRect">
            <a:avLst>
              <a:gd name="adj" fmla="val 4000"/>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0" name="Text 8"/>
          <p:cNvSpPr/>
          <p:nvPr/>
        </p:nvSpPr>
        <p:spPr>
          <a:xfrm>
            <a:off x="6478524" y="156362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 Doushen</a:t>
            </a:r>
            <a:endParaRPr lang="en-US" sz="1350" dirty="0"/>
          </a:p>
        </p:txBody>
      </p:sp>
      <p:sp>
        <p:nvSpPr>
          <p:cNvPr id="11" name="Text 9"/>
          <p:cNvSpPr/>
          <p:nvPr/>
        </p:nvSpPr>
        <p:spPr>
          <a:xfrm>
            <a:off x="6478524" y="1947672"/>
            <a:ext cx="4960620" cy="67665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Vận hành mô hình “AI双师” tương tự, kèm robot đồng hành phần cứng (1.999 NDT).</a:t>
            </a:r>
            <a:endParaRPr lang="en-US" sz="1050" dirty="0"/>
          </a:p>
        </p:txBody>
      </p:sp>
      <p:sp>
        <p:nvSpPr>
          <p:cNvPr id="12" name="Text 10"/>
          <p:cNvSpPr/>
          <p:nvPr/>
        </p:nvSpPr>
        <p:spPr>
          <a:xfrm>
            <a:off x="548640" y="2926080"/>
            <a:ext cx="10908792" cy="502920"/>
          </a:xfrm>
          <a:prstGeom prst="rect">
            <a:avLst/>
          </a:prstGeom>
          <a:noFill/>
          <a:ln/>
        </p:spPr>
        <p:txBody>
          <a:bodyPr wrap="square" rtlCol="0" anchor="t"/>
          <a:lstStyle/>
          <a:p>
            <a:pPr indent="0" marL="0">
              <a:buNone/>
            </a:pPr>
            <a:r>
              <a:rPr lang="en-US" sz="1000" dirty="0">
                <a:solidFill>
                  <a:srgbClr val="57616B"/>
                </a:solidFill>
                <a:latin typeface="Segoe UI" pitchFamily="34" charset="0"/>
                <a:ea typeface="Segoe UI" pitchFamily="34" charset="-122"/>
                <a:cs typeface="Segoe UI" pitchFamily="34" charset="-120"/>
              </a:rPr>
              <a:t>Nguồn gốc: mô hình “song sư” (双师) có từ 2013–2014 (TAL, NetEase Youdao) — ban đầu dùng livestream thuần người để mở rộng chất lượng dạy tới nơi thiếu GV giỏi. Làn sóng AI hiện tại chỉ thay vai trò “GV phụ” bằng AI.</a:t>
            </a:r>
            <a:endParaRPr lang="en-US" sz="1000" dirty="0"/>
          </a:p>
        </p:txBody>
      </p:sp>
      <p:sp>
        <p:nvSpPr>
          <p:cNvPr id="13" name="Shape 11"/>
          <p:cNvSpPr/>
          <p:nvPr/>
        </p:nvSpPr>
        <p:spPr>
          <a:xfrm>
            <a:off x="548640" y="3520440"/>
            <a:ext cx="10908792" cy="731520"/>
          </a:xfrm>
          <a:prstGeom prst="roundRect">
            <a:avLst>
              <a:gd name="adj" fmla="val 6250"/>
            </a:avLst>
          </a:prstGeom>
          <a:solidFill>
            <a:srgbClr val="E7ECF1"/>
          </a:solidFill>
          <a:ln/>
        </p:spPr>
      </p:sp>
      <p:sp>
        <p:nvSpPr>
          <p:cNvPr id="14" name="Shape 12"/>
          <p:cNvSpPr/>
          <p:nvPr/>
        </p:nvSpPr>
        <p:spPr>
          <a:xfrm>
            <a:off x="548640" y="3520440"/>
            <a:ext cx="54864" cy="731520"/>
          </a:xfrm>
          <a:prstGeom prst="rect">
            <a:avLst/>
          </a:prstGeom>
          <a:solidFill>
            <a:srgbClr val="1E3A5F"/>
          </a:solidFill>
          <a:ln/>
        </p:spPr>
      </p:sp>
      <p:sp>
        <p:nvSpPr>
          <p:cNvPr id="15" name="Text 13"/>
          <p:cNvSpPr/>
          <p:nvPr/>
        </p:nvSpPr>
        <p:spPr>
          <a:xfrm>
            <a:off x="749808" y="3593592"/>
            <a:ext cx="10543032" cy="58521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Kết nối trực tiếp với Edupia: </a:t>
            </a:r>
            <a:pPr indent="0" marL="0">
              <a:buNone/>
            </a:pPr>
            <a:r>
              <a:rPr lang="en-US" sz="1100" dirty="0">
                <a:solidFill>
                  <a:srgbClr val="1B2430"/>
                </a:solidFill>
                <a:latin typeface="Segoe UI" pitchFamily="34" charset="0"/>
                <a:ea typeface="Segoe UI" pitchFamily="34" charset="-122"/>
                <a:cs typeface="Segoe UI" pitchFamily="34" charset="-120"/>
              </a:rPr>
              <a:t>đây đúng là cấu trúc Phương án A (“AI Song Hành”) của Concept 3 — và là hướng thay thế cho rủi ro vận hành lớn nhất của mức 1.3 (mở rộng đầu người GVCN tỷ lệ 1:2.000, chạm Kill Criterion K6).</a:t>
            </a:r>
            <a:endParaRPr lang="en-US" sz="1100" dirty="0"/>
          </a:p>
        </p:txBody>
      </p:sp>
      <p:sp>
        <p:nvSpPr>
          <p:cNvPr id="16" name="Shape 14"/>
          <p:cNvSpPr/>
          <p:nvPr/>
        </p:nvSpPr>
        <p:spPr>
          <a:xfrm>
            <a:off x="548640" y="4370832"/>
            <a:ext cx="10908792" cy="594360"/>
          </a:xfrm>
          <a:prstGeom prst="roundRect">
            <a:avLst>
              <a:gd name="adj" fmla="val 7692"/>
            </a:avLst>
          </a:prstGeom>
          <a:solidFill>
            <a:srgbClr val="FBEAE4"/>
          </a:solidFill>
          <a:ln/>
        </p:spPr>
      </p:sp>
      <p:sp>
        <p:nvSpPr>
          <p:cNvPr id="17" name="Shape 15"/>
          <p:cNvSpPr/>
          <p:nvPr/>
        </p:nvSpPr>
        <p:spPr>
          <a:xfrm>
            <a:off x="548640" y="4370832"/>
            <a:ext cx="54864" cy="594360"/>
          </a:xfrm>
          <a:prstGeom prst="rect">
            <a:avLst/>
          </a:prstGeom>
          <a:solidFill>
            <a:srgbClr val="B2452F"/>
          </a:solidFill>
          <a:ln/>
        </p:spPr>
      </p:sp>
      <p:sp>
        <p:nvSpPr>
          <p:cNvPr id="18" name="Text 16"/>
          <p:cNvSpPr/>
          <p:nvPr/>
        </p:nvSpPr>
        <p:spPr>
          <a:xfrm>
            <a:off x="749808" y="4443984"/>
            <a:ext cx="10543032" cy="44805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Chưa tìm được ví dụ tương đương có thương hiệu rõ ràng ở thị trường phương Tây/Đông Nam Á — Edupia Class sẽ là người đi đầu tại Việt Nam nếu chọn hướng này.</a:t>
            </a:r>
            <a:endParaRPr lang="en-US" sz="1100" dirty="0"/>
          </a:p>
        </p:txBody>
      </p:sp>
      <p:sp>
        <p:nvSpPr>
          <p:cNvPr id="19" name="Text 17"/>
          <p:cNvSpPr/>
          <p:nvPr/>
        </p:nvSpPr>
        <p:spPr>
          <a:xfrm>
            <a:off x="548640" y="5120640"/>
            <a:ext cx="10908792" cy="1188720"/>
          </a:xfrm>
          <a:prstGeom prst="rect">
            <a:avLst/>
          </a:prstGeom>
          <a:noFill/>
          <a:ln/>
        </p:spPr>
        <p:txBody>
          <a:bodyPr wrap="square" rtlCol="0" anchor="t"/>
          <a:lstStyle/>
          <a:p>
            <a:pPr indent="0" marL="0">
              <a:buNone/>
            </a:pPr>
            <a:r>
              <a:rPr lang="en-US" sz="900" b="1" i="1" dirty="0">
                <a:solidFill>
                  <a:srgbClr val="A9782E"/>
                </a:solidFill>
                <a:latin typeface="Segoe UI" pitchFamily="34" charset="0"/>
                <a:ea typeface="Segoe UI" pitchFamily="34" charset="-122"/>
                <a:cs typeface="Segoe UI" pitchFamily="34" charset="-120"/>
              </a:rPr>
              <a:t>◆ Ghi chú xác minh: </a:t>
            </a:r>
            <a:pPr indent="0" marL="0">
              <a:buNone/>
            </a:pPr>
            <a:r>
              <a:rPr lang="en-US" sz="900" i="1" dirty="0">
                <a:solidFill>
                  <a:srgbClr val="57616B"/>
                </a:solidFill>
                <a:latin typeface="Segoe UI" pitchFamily="34" charset="0"/>
                <a:ea typeface="Segoe UI" pitchFamily="34" charset="-122"/>
                <a:cs typeface="Segoe UI" pitchFamily="34" charset="-120"/>
              </a:rPr>
              <a:t>yêu cầu ban đầu nhắc tới “Squadle (Trung Quốc)” — không tìm thấy công ty này trong nghiên cứu thị trường đã thực hiện. Case gần nhất đã xác minh trực tiếp là Squirrel AI (松鼠AI, tự nhận 24 triệu học sinh — độ tin cậy trung bình) và cặp TAL/Xueersi + Doushen dùng ở slide này. Đề nghị xác nhận lại tên “Squadle” nếu đây là một case cụ thể khác.</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3 — NGHIÊN CỨU MÔ HÌNH THÀNH CÔNG THẾ GIỚI</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AI luyện hội thoại — và khoảng trống giá 390k</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12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0908792" cy="914400"/>
        </p:xfrm>
        <a:graphic>
          <a:graphicData uri="http://schemas.openxmlformats.org/drawingml/2006/table">
            <a:tbl>
              <a:tblPr/>
              <a:tblGrid>
                <a:gridCol w="2468880"/>
                <a:gridCol w="5971032"/>
                <a:gridCol w="2468880"/>
              </a:tblGrid>
              <a:tr h="402336">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Sản phẩm</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Xuất xứ / quy mô</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Giá</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402336">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ELSA Speak</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Sáng lập tại Việt Nam · 50 triệu+ người dùng toàn cầu</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$11,99–16,59/tháng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402336">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Speak</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Hậu thuẫn OpenAI · định giá $1 tỷ · 15tr+ lượt tải, $100tr+ ARR</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~$20–30+/tháng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402336">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Duolingo Max</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Video Call with Lily</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$29,99/tháng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402336">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Dino AI</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Luyện tiếng Anh trẻ em · hệ sinh thái VIPKid</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$10,99–99,99 (tuần→năm, giá US)</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402336">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Arivihan / Super Tutor</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Ấn Độ · định vị “rẻ hơn 12 lần”, nhắm gia đình thu nhập thấp</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~$3–4/tháng</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7" name="Shape 4"/>
          <p:cNvSpPr/>
          <p:nvPr/>
        </p:nvSpPr>
        <p:spPr>
          <a:xfrm>
            <a:off x="548640" y="4069080"/>
            <a:ext cx="3190180" cy="868680"/>
          </a:xfrm>
          <a:prstGeom prst="rect">
            <a:avLst/>
          </a:prstGeom>
          <a:solidFill>
            <a:srgbClr val="E9ECE5"/>
          </a:solidFill>
          <a:ln/>
        </p:spPr>
      </p:sp>
      <p:sp>
        <p:nvSpPr>
          <p:cNvPr id="8" name="Text 5"/>
          <p:cNvSpPr/>
          <p:nvPr/>
        </p:nvSpPr>
        <p:spPr>
          <a:xfrm>
            <a:off x="658368" y="4123944"/>
            <a:ext cx="2970724" cy="75895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$2–4/tháng</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Đại trà Ấn Độ (Arivihan, Super Tutor)</a:t>
            </a:r>
            <a:endParaRPr lang="en-US" sz="950" dirty="0"/>
          </a:p>
        </p:txBody>
      </p:sp>
      <p:sp>
        <p:nvSpPr>
          <p:cNvPr id="9" name="Shape 6"/>
          <p:cNvSpPr/>
          <p:nvPr/>
        </p:nvSpPr>
        <p:spPr>
          <a:xfrm>
            <a:off x="3757108" y="4069080"/>
            <a:ext cx="3511027" cy="868680"/>
          </a:xfrm>
          <a:prstGeom prst="rect">
            <a:avLst/>
          </a:prstGeom>
          <a:solidFill>
            <a:srgbClr val="A9782E"/>
          </a:solidFill>
          <a:ln/>
        </p:spPr>
      </p:sp>
      <p:sp>
        <p:nvSpPr>
          <p:cNvPr id="10" name="Text 7"/>
          <p:cNvSpPr/>
          <p:nvPr/>
        </p:nvSpPr>
        <p:spPr>
          <a:xfrm>
            <a:off x="3866836" y="4123944"/>
            <a:ext cx="3291571" cy="758952"/>
          </a:xfrm>
          <a:prstGeom prst="rect">
            <a:avLst/>
          </a:prstGeom>
          <a:noFill/>
          <a:ln/>
        </p:spPr>
        <p:txBody>
          <a:bodyPr wrap="square" rtlCol="0" anchor="ctr"/>
          <a:lstStyle/>
          <a:p>
            <a:pPr algn="ctr" indent="0" marL="0">
              <a:buNone/>
            </a:pPr>
            <a:r>
              <a:rPr lang="en-US" sz="950" b="1" dirty="0">
                <a:solidFill>
                  <a:srgbClr val="1B140A"/>
                </a:solidFill>
                <a:latin typeface="Segoe UI" pitchFamily="34" charset="0"/>
                <a:ea typeface="Segoe UI" pitchFamily="34" charset="-122"/>
                <a:cs typeface="Segoe UI" pitchFamily="34" charset="-120"/>
              </a:rPr>
              <a:t>390k VND ≈ $15–16</a:t>
            </a:r>
            <a:endParaRPr lang="en-US" sz="950" dirty="0"/>
          </a:p>
          <a:p>
            <a:pPr algn="ctr" indent="0" marL="0">
              <a:buNone/>
            </a:pPr>
            <a:r>
              <a:rPr lang="en-US" sz="950" b="1" dirty="0">
                <a:solidFill>
                  <a:srgbClr val="1B140A"/>
                </a:solidFill>
                <a:latin typeface="Segoe UI" pitchFamily="34" charset="0"/>
                <a:ea typeface="Segoe UI" pitchFamily="34" charset="-122"/>
                <a:cs typeface="Segoe UI" pitchFamily="34" charset="-120"/>
              </a:rPr>
              <a:t>Khoảng trống — chưa ai định giá đúng đây</a:t>
            </a:r>
            <a:endParaRPr lang="en-US" sz="950" dirty="0"/>
          </a:p>
        </p:txBody>
      </p:sp>
      <p:sp>
        <p:nvSpPr>
          <p:cNvPr id="11" name="Shape 8"/>
          <p:cNvSpPr/>
          <p:nvPr/>
        </p:nvSpPr>
        <p:spPr>
          <a:xfrm>
            <a:off x="7286423" y="4069080"/>
            <a:ext cx="4152721" cy="868680"/>
          </a:xfrm>
          <a:prstGeom prst="rect">
            <a:avLst/>
          </a:prstGeom>
          <a:solidFill>
            <a:srgbClr val="E9ECE5"/>
          </a:solidFill>
          <a:ln/>
        </p:spPr>
      </p:sp>
      <p:sp>
        <p:nvSpPr>
          <p:cNvPr id="12" name="Text 9"/>
          <p:cNvSpPr/>
          <p:nvPr/>
        </p:nvSpPr>
        <p:spPr>
          <a:xfrm>
            <a:off x="7396151" y="4123944"/>
            <a:ext cx="3933265" cy="758952"/>
          </a:xfrm>
          <a:prstGeom prst="rect">
            <a:avLst/>
          </a:prstGeom>
          <a:noFill/>
          <a:ln/>
        </p:spPr>
        <p:txBody>
          <a:bodyPr wrap="square" rtlCol="0" anchor="ctr"/>
          <a:lstStyle/>
          <a:p>
            <a:pPr indent="0" marL="0">
              <a:buNone/>
            </a:pPr>
            <a:r>
              <a:rPr lang="en-US" sz="950" b="1" dirty="0">
                <a:solidFill>
                  <a:srgbClr val="57616B"/>
                </a:solidFill>
                <a:latin typeface="Segoe UI" pitchFamily="34" charset="0"/>
                <a:ea typeface="Segoe UI" pitchFamily="34" charset="-122"/>
                <a:cs typeface="Segoe UI" pitchFamily="34" charset="-120"/>
              </a:rPr>
              <a:t>$11–60+/tháng</a:t>
            </a:r>
            <a:pPr indent="0" marL="0">
              <a:buNone/>
            </a:pPr>
            <a:endParaRPr lang="en-US" sz="950" dirty="0"/>
          </a:p>
          <a:p>
            <a:pPr indent="0" marL="0">
              <a:buNone/>
            </a:pPr>
            <a:r>
              <a:rPr lang="en-US" sz="950" dirty="0">
                <a:solidFill>
                  <a:srgbClr val="57616B"/>
                </a:solidFill>
                <a:latin typeface="Segoe UI" pitchFamily="34" charset="0"/>
                <a:ea typeface="Segoe UI" pitchFamily="34" charset="-122"/>
                <a:cs typeface="Segoe UI" pitchFamily="34" charset="-120"/>
              </a:rPr>
              <a:t>App hội thoại toàn cầu (ELSA, Speak, Duolingo Max, Dino AI)</a:t>
            </a:r>
            <a:endParaRPr lang="en-US" sz="950" dirty="0"/>
          </a:p>
        </p:txBody>
      </p:sp>
      <p:sp>
        <p:nvSpPr>
          <p:cNvPr id="13" name="Shape 10"/>
          <p:cNvSpPr/>
          <p:nvPr/>
        </p:nvSpPr>
        <p:spPr>
          <a:xfrm>
            <a:off x="548640" y="5120640"/>
            <a:ext cx="10908792" cy="640080"/>
          </a:xfrm>
          <a:prstGeom prst="roundRect">
            <a:avLst>
              <a:gd name="adj" fmla="val 7143"/>
            </a:avLst>
          </a:prstGeom>
          <a:solidFill>
            <a:srgbClr val="FBEAE4"/>
          </a:solidFill>
          <a:ln/>
        </p:spPr>
      </p:sp>
      <p:sp>
        <p:nvSpPr>
          <p:cNvPr id="14" name="Shape 11"/>
          <p:cNvSpPr/>
          <p:nvPr/>
        </p:nvSpPr>
        <p:spPr>
          <a:xfrm>
            <a:off x="548640" y="5120640"/>
            <a:ext cx="54864" cy="640080"/>
          </a:xfrm>
          <a:prstGeom prst="rect">
            <a:avLst/>
          </a:prstGeom>
          <a:solidFill>
            <a:srgbClr val="B2452F"/>
          </a:solidFill>
          <a:ln/>
        </p:spPr>
      </p:sp>
      <p:sp>
        <p:nvSpPr>
          <p:cNvPr id="15" name="Text 12"/>
          <p:cNvSpPr/>
          <p:nvPr/>
        </p:nvSpPr>
        <p:spPr>
          <a:xfrm>
            <a:off x="749808" y="5193792"/>
            <a:ext cx="10543032" cy="493776"/>
          </a:xfrm>
          <a:prstGeom prst="rect">
            <a:avLst/>
          </a:prstGeom>
          <a:noFill/>
          <a:ln/>
        </p:spPr>
        <p:txBody>
          <a:bodyPr wrap="square" rtlCol="0" anchor="t"/>
          <a:lstStyle/>
          <a:p>
            <a:pPr indent="0" marL="0">
              <a:buNone/>
            </a:pPr>
            <a:r>
              <a:rPr lang="en-US" sz="1100" b="1" dirty="0">
                <a:solidFill>
                  <a:srgbClr val="B2452F"/>
                </a:solidFill>
                <a:latin typeface="Segoe UI" pitchFamily="34" charset="0"/>
                <a:ea typeface="Segoe UI" pitchFamily="34" charset="-122"/>
                <a:cs typeface="Segoe UI" pitchFamily="34" charset="-120"/>
              </a:rPr>
              <a:t>⚠ </a:t>
            </a:r>
            <a:pPr indent="0" marL="0">
              <a:buNone/>
            </a:pPr>
            <a:r>
              <a:rPr lang="en-US" sz="1100" dirty="0">
                <a:solidFill>
                  <a:srgbClr val="1B2430"/>
                </a:solidFill>
                <a:latin typeface="Segoe UI" pitchFamily="34" charset="0"/>
                <a:ea typeface="Segoe UI" pitchFamily="34" charset="-122"/>
                <a:cs typeface="Segoe UI" pitchFamily="34" charset="-120"/>
              </a:rPr>
              <a:t>Không tìm được sản phẩm AI-tutor nào toàn cầu định giá đúng dải $10–20/tháng mà đồng thời định vị rõ cho gia đình nhạy giá — 390k của Edupia Class rơi đúng vào khoảng trống này.</a:t>
            </a:r>
            <a:endParaRPr lang="en-US" sz="1100" dirty="0"/>
          </a:p>
        </p:txBody>
      </p:sp>
      <p:sp>
        <p:nvSpPr>
          <p:cNvPr id="16" name="Text 13"/>
          <p:cNvSpPr/>
          <p:nvPr/>
        </p:nvSpPr>
        <p:spPr>
          <a:xfrm>
            <a:off x="548640" y="5852160"/>
            <a:ext cx="10908792" cy="548640"/>
          </a:xfrm>
          <a:prstGeom prst="rect">
            <a:avLst/>
          </a:prstGeom>
          <a:noFill/>
          <a:ln/>
        </p:spPr>
        <p:txBody>
          <a:bodyPr wrap="square" rtlCol="0" anchor="t"/>
          <a:lstStyle/>
          <a:p>
            <a:pPr indent="0" marL="0">
              <a:buNone/>
            </a:pPr>
            <a:r>
              <a:rPr lang="en-US" sz="900" b="1" i="1" dirty="0">
                <a:solidFill>
                  <a:srgbClr val="A9782E"/>
                </a:solidFill>
                <a:latin typeface="Segoe UI" pitchFamily="34" charset="0"/>
                <a:ea typeface="Segoe UI" pitchFamily="34" charset="-122"/>
                <a:cs typeface="Segoe UI" pitchFamily="34" charset="-120"/>
              </a:rPr>
              <a:t>◆ Ghi chú xác minh: </a:t>
            </a:r>
            <a:pPr indent="0" marL="0">
              <a:buNone/>
            </a:pPr>
            <a:r>
              <a:rPr lang="en-US" sz="900" i="1" dirty="0">
                <a:solidFill>
                  <a:srgbClr val="57616B"/>
                </a:solidFill>
                <a:latin typeface="Segoe UI" pitchFamily="34" charset="0"/>
                <a:ea typeface="Segoe UI" pitchFamily="34" charset="-122"/>
                <a:cs typeface="Segoe UI" pitchFamily="34" charset="-120"/>
              </a:rPr>
              <a:t>yêu cầu ban đầu nhắc “Duolingo dạy thêm môn cờ vua/nhạc” — nghiên cứu nội bộ không xác minh trực tiếp claim này (Duolingo được biết công khai với khoá Toán và Âm nhạc, không phải cờ vua). Cần xác minh riêng trước khi đưa vào tài liệu chính thức.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3 — NGHIÊN CỨU MÔ HÌNH THÀNH CÔNG THẾ GIỚI</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100" b="1" dirty="0">
                <a:solidFill>
                  <a:srgbClr val="1B2430"/>
                </a:solidFill>
                <a:latin typeface="Georgia" pitchFamily="34" charset="0"/>
                <a:ea typeface="Georgia" pitchFamily="34" charset="-122"/>
                <a:cs typeface="Georgia" pitchFamily="34" charset="-120"/>
              </a:rPr>
              <a:t>Rủi ro cần loại trừ ngay từ đầu: AI mô phỏng nhân cách</a:t>
            </a:r>
            <a:endParaRPr lang="en-US" sz="21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13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600200"/>
            <a:ext cx="5362956" cy="1920240"/>
          </a:xfrm>
          <a:prstGeom prst="roundRect">
            <a:avLst>
              <a:gd name="adj" fmla="val 2857"/>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7" name="Text 5"/>
          <p:cNvSpPr/>
          <p:nvPr/>
        </p:nvSpPr>
        <p:spPr>
          <a:xfrm>
            <a:off x="749808" y="174650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 Character.AI</a:t>
            </a:r>
            <a:endParaRPr lang="en-US" sz="1350" dirty="0"/>
          </a:p>
        </p:txBody>
      </p:sp>
      <p:sp>
        <p:nvSpPr>
          <p:cNvPr id="8" name="Text 6"/>
          <p:cNvSpPr/>
          <p:nvPr/>
        </p:nvSpPr>
        <p:spPr>
          <a:xfrm>
            <a:off x="749808" y="2130552"/>
            <a:ext cx="4960620" cy="122529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Chatbot đồng hành AI mô phỏng nhân vật (không phải AI-tutor có cấu trúc) đối mặt kiện tụng liên quan đến cái chết của 2 thiếu niên (2024) — buộc phải gỡ tính năng trò chuyện mở cho người dùng dưới 18 tuổi.</a:t>
            </a:r>
            <a:endParaRPr lang="en-US" sz="1050" dirty="0"/>
          </a:p>
        </p:txBody>
      </p:sp>
      <p:sp>
        <p:nvSpPr>
          <p:cNvPr id="9" name="Shape 7"/>
          <p:cNvSpPr/>
          <p:nvPr/>
        </p:nvSpPr>
        <p:spPr>
          <a:xfrm>
            <a:off x="6277356" y="1600200"/>
            <a:ext cx="5362956" cy="1920240"/>
          </a:xfrm>
          <a:prstGeom prst="roundRect">
            <a:avLst>
              <a:gd name="adj" fmla="val 2857"/>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10" name="Text 8"/>
          <p:cNvSpPr/>
          <p:nvPr/>
        </p:nvSpPr>
        <p:spPr>
          <a:xfrm>
            <a:off x="6478524" y="174650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 MagicSchool</a:t>
            </a:r>
            <a:endParaRPr lang="en-US" sz="1350" dirty="0"/>
          </a:p>
        </p:txBody>
      </p:sp>
      <p:sp>
        <p:nvSpPr>
          <p:cNvPr id="11" name="Text 9"/>
          <p:cNvSpPr/>
          <p:nvPr/>
        </p:nvSpPr>
        <p:spPr>
          <a:xfrm>
            <a:off x="6478524" y="2130552"/>
            <a:ext cx="4960620" cy="1225296"/>
          </a:xfrm>
          <a:prstGeom prst="rect">
            <a:avLst/>
          </a:prstGeom>
          <a:noFill/>
          <a:ln/>
        </p:spPr>
        <p:txBody>
          <a:bodyPr wrap="square" rtlCol="0" anchor="t"/>
          <a:lstStyle/>
          <a:p>
            <a:pPr indent="0" marL="0">
              <a:lnSpc>
                <a:spcPct val="115000"/>
              </a:lnSpc>
              <a:buNone/>
            </a:pPr>
            <a:r>
              <a:rPr lang="en-US" sz="1050" dirty="0">
                <a:solidFill>
                  <a:srgbClr val="57616B"/>
                </a:solidFill>
                <a:latin typeface="Segoe UI" pitchFamily="34" charset="0"/>
                <a:ea typeface="Segoe UI" pitchFamily="34" charset="-122"/>
                <a:cs typeface="Segoe UI" pitchFamily="34" charset="-120"/>
              </a:rPr>
              <a:t>Chủ động rút lui khỏi persona hoá AI — bỏ nhân vật “Raina”, chuyển sang “AI Learning Assistant” trung tính (2/2026). Tín hiệu ngành đang tránh xa hướng này.</a:t>
            </a:r>
            <a:endParaRPr lang="en-US" sz="1050" dirty="0"/>
          </a:p>
        </p:txBody>
      </p:sp>
      <p:sp>
        <p:nvSpPr>
          <p:cNvPr id="12" name="Shape 10"/>
          <p:cNvSpPr/>
          <p:nvPr/>
        </p:nvSpPr>
        <p:spPr>
          <a:xfrm>
            <a:off x="548640" y="3794760"/>
            <a:ext cx="10908792" cy="685800"/>
          </a:xfrm>
          <a:prstGeom prst="roundRect">
            <a:avLst>
              <a:gd name="adj" fmla="val 6667"/>
            </a:avLst>
          </a:prstGeom>
          <a:solidFill>
            <a:srgbClr val="E7ECF1"/>
          </a:solidFill>
          <a:ln/>
        </p:spPr>
      </p:sp>
      <p:sp>
        <p:nvSpPr>
          <p:cNvPr id="13" name="Shape 11"/>
          <p:cNvSpPr/>
          <p:nvPr/>
        </p:nvSpPr>
        <p:spPr>
          <a:xfrm>
            <a:off x="548640" y="3794760"/>
            <a:ext cx="54864" cy="685800"/>
          </a:xfrm>
          <a:prstGeom prst="rect">
            <a:avLst/>
          </a:prstGeom>
          <a:solidFill>
            <a:srgbClr val="1E3A5F"/>
          </a:solidFill>
          <a:ln/>
        </p:spPr>
      </p:sp>
      <p:sp>
        <p:nvSpPr>
          <p:cNvPr id="14" name="Text 12"/>
          <p:cNvSpPr/>
          <p:nvPr/>
        </p:nvSpPr>
        <p:spPr>
          <a:xfrm>
            <a:off x="749808" y="3867912"/>
            <a:ext cx="10543032" cy="53949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Kết luận cho Concept 3: </a:t>
            </a:r>
            <a:pPr indent="0" marL="0">
              <a:buNone/>
            </a:pPr>
            <a:r>
              <a:rPr lang="en-US" sz="1100" dirty="0">
                <a:solidFill>
                  <a:srgbClr val="1B2430"/>
                </a:solidFill>
                <a:latin typeface="Segoe UI" pitchFamily="34" charset="0"/>
                <a:ea typeface="Segoe UI" pitchFamily="34" charset="-122"/>
                <a:cs typeface="Segoe UI" pitchFamily="34" charset="-120"/>
              </a:rPr>
              <a:t>loại trừ hoàn toàn archetype “AI có nhân cách/cảm xúc riêng biệt, quan hệ mở” khỏi cả Phương án A và B — không áp dụng cho trẻ em dưới bất kỳ hình thức nào.</a:t>
            </a:r>
            <a:endParaRPr lang="en-US" sz="1100" dirty="0"/>
          </a:p>
        </p:txBody>
      </p:sp>
      <p:sp>
        <p:nvSpPr>
          <p:cNvPr id="15" name="Text 13"/>
          <p:cNvSpPr/>
          <p:nvPr/>
        </p:nvSpPr>
        <p:spPr>
          <a:xfrm>
            <a:off x="548640" y="4709160"/>
            <a:ext cx="10908792" cy="548640"/>
          </a:xfrm>
          <a:prstGeom prst="rect">
            <a:avLst/>
          </a:prstGeom>
          <a:noFill/>
          <a:ln/>
        </p:spPr>
        <p:txBody>
          <a:bodyPr wrap="square" rtlCol="0" anchor="t"/>
          <a:lstStyle/>
          <a:p>
            <a:pPr indent="0" marL="0">
              <a:buNone/>
            </a:pPr>
            <a:r>
              <a:rPr lang="en-US" sz="1100" i="1" dirty="0">
                <a:solidFill>
                  <a:srgbClr val="57616B"/>
                </a:solidFill>
                <a:latin typeface="Segoe UI" pitchFamily="34" charset="0"/>
                <a:ea typeface="Segoe UI" pitchFamily="34" charset="-122"/>
                <a:cs typeface="Segoe UI" pitchFamily="34" charset="-120"/>
              </a:rPr>
              <a:t>Rủi ro kỹ thuật đi kèm ở Phương án B: độ chính xác nhận diện giọng nói trẻ em vẫn là thách thức thật — ~86% độ chính xác tự báo cáo ở vendor ASR chuyên biệt, trên tập khó.</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4 — KẾ HOẠCH TRIỂN KHAI</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400" b="1" dirty="0">
                <a:solidFill>
                  <a:srgbClr val="1B2430"/>
                </a:solidFill>
                <a:latin typeface="Georgia" pitchFamily="34" charset="0"/>
                <a:ea typeface="Georgia" pitchFamily="34" charset="-122"/>
                <a:cs typeface="Georgia" pitchFamily="34" charset="-120"/>
              </a:rPr>
              <a:t>Lộ trình triển khai dự kiến</a:t>
            </a:r>
            <a:endParaRPr lang="en-US" sz="24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14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371600"/>
            <a:ext cx="10908792" cy="320040"/>
          </a:xfrm>
          <a:prstGeom prst="rect">
            <a:avLst/>
          </a:prstGeom>
          <a:noFill/>
          <a:ln/>
        </p:spPr>
        <p:txBody>
          <a:bodyPr wrap="square" rtlCol="0" anchor="t"/>
          <a:lstStyle/>
          <a:p>
            <a:pPr indent="0" marL="0">
              <a:buNone/>
            </a:pPr>
            <a:r>
              <a:rPr lang="en-US" sz="1000" b="1" dirty="0">
                <a:solidFill>
                  <a:srgbClr val="2E7D63"/>
                </a:solidFill>
                <a:latin typeface="Segoe UI" pitchFamily="34" charset="0"/>
                <a:ea typeface="Segoe UI" pitchFamily="34" charset="-122"/>
                <a:cs typeface="Segoe UI" pitchFamily="34" charset="-120"/>
              </a:rPr>
              <a:t>● </a:t>
            </a:r>
            <a:pPr indent="0" marL="0">
              <a:buNone/>
            </a:pPr>
            <a:r>
              <a:rPr lang="en-US" sz="1000" dirty="0">
                <a:solidFill>
                  <a:srgbClr val="57616B"/>
                </a:solidFill>
                <a:latin typeface="Segoe UI" pitchFamily="34" charset="0"/>
                <a:ea typeface="Segoe UI" pitchFamily="34" charset="-122"/>
                <a:cs typeface="Segoe UI" pitchFamily="34" charset="-120"/>
              </a:rPr>
              <a:t>Lộ trình cập nhật — thay thế mốc thời gian sơ bộ (T8→T9→T10→1/11→1/12→1/1) trong product-brief-2026-08-13.md §5.</a:t>
            </a:r>
            <a:endParaRPr lang="en-US" sz="1000" dirty="0"/>
          </a:p>
        </p:txBody>
      </p:sp>
      <p:sp>
        <p:nvSpPr>
          <p:cNvPr id="7" name="Shape 5"/>
          <p:cNvSpPr/>
          <p:nvPr/>
        </p:nvSpPr>
        <p:spPr>
          <a:xfrm>
            <a:off x="548640" y="1828800"/>
            <a:ext cx="41148" cy="987552"/>
          </a:xfrm>
          <a:prstGeom prst="rect">
            <a:avLst/>
          </a:prstGeom>
          <a:solidFill>
            <a:srgbClr val="1E3A5F"/>
          </a:solidFill>
          <a:ln/>
        </p:spPr>
      </p:sp>
      <p:sp>
        <p:nvSpPr>
          <p:cNvPr id="8" name="Text 6"/>
          <p:cNvSpPr/>
          <p:nvPr/>
        </p:nvSpPr>
        <p:spPr>
          <a:xfrm>
            <a:off x="731520" y="182880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Tháng 8 — đến 31/08</a:t>
            </a:r>
            <a:endParaRPr lang="en-US" sz="1050" dirty="0"/>
          </a:p>
        </p:txBody>
      </p:sp>
      <p:sp>
        <p:nvSpPr>
          <p:cNvPr id="9" name="Text 7"/>
          <p:cNvSpPr/>
          <p:nvPr/>
        </p:nvSpPr>
        <p:spPr>
          <a:xfrm>
            <a:off x="731520" y="2066544"/>
            <a:ext cx="4937760" cy="73152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Hoàn thiện &amp; trình bày slide các phương án concept sản phẩm dự kiến.</a:t>
            </a:r>
            <a:endParaRPr lang="en-US" sz="950" dirty="0"/>
          </a:p>
        </p:txBody>
      </p:sp>
      <p:sp>
        <p:nvSpPr>
          <p:cNvPr id="10" name="Shape 8"/>
          <p:cNvSpPr/>
          <p:nvPr/>
        </p:nvSpPr>
        <p:spPr>
          <a:xfrm>
            <a:off x="548640" y="2926080"/>
            <a:ext cx="41148" cy="987552"/>
          </a:xfrm>
          <a:prstGeom prst="rect">
            <a:avLst/>
          </a:prstGeom>
          <a:solidFill>
            <a:srgbClr val="1E3A5F"/>
          </a:solidFill>
          <a:ln/>
        </p:spPr>
      </p:sp>
      <p:sp>
        <p:nvSpPr>
          <p:cNvPr id="11" name="Text 9"/>
          <p:cNvSpPr/>
          <p:nvPr/>
        </p:nvSpPr>
        <p:spPr>
          <a:xfrm>
            <a:off x="731520" y="292608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01–15/09</a:t>
            </a:r>
            <a:endParaRPr lang="en-US" sz="1050" dirty="0"/>
          </a:p>
        </p:txBody>
      </p:sp>
      <p:sp>
        <p:nvSpPr>
          <p:cNvPr id="12" name="Text 10"/>
          <p:cNvSpPr/>
          <p:nvPr/>
        </p:nvSpPr>
        <p:spPr>
          <a:xfrm>
            <a:off x="731520" y="3163824"/>
            <a:ext cx="4937760" cy="73152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Xây dựng chi tiết phương pháp, bảng hỏi và phương án khảo sát.</a:t>
            </a:r>
            <a:endParaRPr lang="en-US" sz="950" dirty="0"/>
          </a:p>
        </p:txBody>
      </p:sp>
      <p:sp>
        <p:nvSpPr>
          <p:cNvPr id="13" name="Shape 11"/>
          <p:cNvSpPr/>
          <p:nvPr/>
        </p:nvSpPr>
        <p:spPr>
          <a:xfrm>
            <a:off x="548640" y="4023360"/>
            <a:ext cx="41148" cy="987552"/>
          </a:xfrm>
          <a:prstGeom prst="rect">
            <a:avLst/>
          </a:prstGeom>
          <a:solidFill>
            <a:srgbClr val="1E3A5F"/>
          </a:solidFill>
          <a:ln/>
        </p:spPr>
      </p:sp>
      <p:sp>
        <p:nvSpPr>
          <p:cNvPr id="14" name="Text 12"/>
          <p:cNvSpPr/>
          <p:nvPr/>
        </p:nvSpPr>
        <p:spPr>
          <a:xfrm>
            <a:off x="731520" y="402336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15/09–15/10</a:t>
            </a:r>
            <a:endParaRPr lang="en-US" sz="1050" dirty="0"/>
          </a:p>
        </p:txBody>
      </p:sp>
      <p:sp>
        <p:nvSpPr>
          <p:cNvPr id="15" name="Text 13"/>
          <p:cNvSpPr/>
          <p:nvPr/>
        </p:nvSpPr>
        <p:spPr>
          <a:xfrm>
            <a:off x="731520" y="4261104"/>
            <a:ext cx="4937760" cy="73152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Khảo sát thực tế ~100 phụ huynh — điện thoại và trực tiếp tại nhà khách hàng Tier 3/4.</a:t>
            </a:r>
            <a:endParaRPr lang="en-US" sz="950" dirty="0"/>
          </a:p>
        </p:txBody>
      </p:sp>
      <p:sp>
        <p:nvSpPr>
          <p:cNvPr id="16" name="Shape 14"/>
          <p:cNvSpPr/>
          <p:nvPr/>
        </p:nvSpPr>
        <p:spPr>
          <a:xfrm>
            <a:off x="548640" y="5120640"/>
            <a:ext cx="41148" cy="987552"/>
          </a:xfrm>
          <a:prstGeom prst="rect">
            <a:avLst/>
          </a:prstGeom>
          <a:solidFill>
            <a:srgbClr val="1E3A5F"/>
          </a:solidFill>
          <a:ln/>
        </p:spPr>
      </p:sp>
      <p:sp>
        <p:nvSpPr>
          <p:cNvPr id="17" name="Text 15"/>
          <p:cNvSpPr/>
          <p:nvPr/>
        </p:nvSpPr>
        <p:spPr>
          <a:xfrm>
            <a:off x="731520" y="512064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15/10–30/10</a:t>
            </a:r>
            <a:endParaRPr lang="en-US" sz="1050" dirty="0"/>
          </a:p>
        </p:txBody>
      </p:sp>
      <p:sp>
        <p:nvSpPr>
          <p:cNvPr id="18" name="Text 16"/>
          <p:cNvSpPr/>
          <p:nvPr/>
        </p:nvSpPr>
        <p:spPr>
          <a:xfrm>
            <a:off x="731520" y="5358384"/>
            <a:ext cx="4937760" cy="73152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Xây kịch bản bán hàng, chuẩn bị nội dung Marketing, đào tạo đội ngũ Sale.</a:t>
            </a:r>
            <a:endParaRPr lang="en-US" sz="950" dirty="0"/>
          </a:p>
        </p:txBody>
      </p:sp>
      <p:sp>
        <p:nvSpPr>
          <p:cNvPr id="19" name="Shape 17"/>
          <p:cNvSpPr/>
          <p:nvPr/>
        </p:nvSpPr>
        <p:spPr>
          <a:xfrm>
            <a:off x="6126480" y="1828800"/>
            <a:ext cx="41148" cy="1307592"/>
          </a:xfrm>
          <a:prstGeom prst="rect">
            <a:avLst/>
          </a:prstGeom>
          <a:solidFill>
            <a:srgbClr val="1E3A5F"/>
          </a:solidFill>
          <a:ln/>
        </p:spPr>
      </p:sp>
      <p:sp>
        <p:nvSpPr>
          <p:cNvPr id="20" name="Text 18"/>
          <p:cNvSpPr/>
          <p:nvPr/>
        </p:nvSpPr>
        <p:spPr>
          <a:xfrm>
            <a:off x="6309360" y="182880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Tháng 11</a:t>
            </a:r>
            <a:endParaRPr lang="en-US" sz="1050" dirty="0"/>
          </a:p>
        </p:txBody>
      </p:sp>
      <p:sp>
        <p:nvSpPr>
          <p:cNvPr id="21" name="Text 19"/>
          <p:cNvSpPr/>
          <p:nvPr/>
        </p:nvSpPr>
        <p:spPr>
          <a:xfrm>
            <a:off x="6309360" y="2066544"/>
            <a:ext cx="5056632" cy="105156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Test bán thật — quảng cáo thật, Sale tư vấn &amp; thu tiền thật để đo tỷ lệ chốt. Sau đó vận hành hoàn tiền + tặng 1 tháng trải nghiệm.</a:t>
            </a:r>
            <a:endParaRPr lang="en-US" sz="950" dirty="0"/>
          </a:p>
        </p:txBody>
      </p:sp>
      <p:sp>
        <p:nvSpPr>
          <p:cNvPr id="22" name="Shape 20"/>
          <p:cNvSpPr/>
          <p:nvPr/>
        </p:nvSpPr>
        <p:spPr>
          <a:xfrm>
            <a:off x="6126480" y="3246120"/>
            <a:ext cx="41148" cy="1307592"/>
          </a:xfrm>
          <a:prstGeom prst="rect">
            <a:avLst/>
          </a:prstGeom>
          <a:solidFill>
            <a:srgbClr val="1E3A5F"/>
          </a:solidFill>
          <a:ln/>
        </p:spPr>
      </p:sp>
      <p:sp>
        <p:nvSpPr>
          <p:cNvPr id="23" name="Text 21"/>
          <p:cNvSpPr/>
          <p:nvPr/>
        </p:nvSpPr>
        <p:spPr>
          <a:xfrm>
            <a:off x="6309360" y="324612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Tháng 12</a:t>
            </a:r>
            <a:endParaRPr lang="en-US" sz="1050" dirty="0"/>
          </a:p>
        </p:txBody>
      </p:sp>
      <p:sp>
        <p:nvSpPr>
          <p:cNvPr id="24" name="Text 22"/>
          <p:cNvSpPr/>
          <p:nvPr/>
        </p:nvSpPr>
        <p:spPr>
          <a:xfrm>
            <a:off x="6309360" y="3483864"/>
            <a:ext cx="5056632" cy="105156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Lấy phản hồi từ đợt bán thử đầu để làm mịn kịch bản và sản phẩm, sau đó test bán lần cuối.</a:t>
            </a:r>
            <a:endParaRPr lang="en-US" sz="950" dirty="0"/>
          </a:p>
        </p:txBody>
      </p:sp>
      <p:sp>
        <p:nvSpPr>
          <p:cNvPr id="25" name="Shape 23"/>
          <p:cNvSpPr/>
          <p:nvPr/>
        </p:nvSpPr>
        <p:spPr>
          <a:xfrm>
            <a:off x="6126480" y="4663440"/>
            <a:ext cx="41148" cy="1307592"/>
          </a:xfrm>
          <a:prstGeom prst="rect">
            <a:avLst/>
          </a:prstGeom>
          <a:solidFill>
            <a:srgbClr val="1E3A5F"/>
          </a:solidFill>
          <a:ln/>
        </p:spPr>
      </p:sp>
      <p:sp>
        <p:nvSpPr>
          <p:cNvPr id="26" name="Text 24"/>
          <p:cNvSpPr/>
          <p:nvPr/>
        </p:nvSpPr>
        <p:spPr>
          <a:xfrm>
            <a:off x="6309360" y="4663440"/>
            <a:ext cx="2926080" cy="256032"/>
          </a:xfrm>
          <a:prstGeom prst="rect">
            <a:avLst/>
          </a:prstGeom>
          <a:noFill/>
          <a:ln/>
        </p:spPr>
        <p:txBody>
          <a:bodyPr wrap="square" rtlCol="0" anchor="ctr"/>
          <a:lstStyle/>
          <a:p>
            <a:pPr indent="0" marL="0">
              <a:buNone/>
            </a:pPr>
            <a:r>
              <a:rPr lang="en-US" sz="1050" b="1" dirty="0">
                <a:solidFill>
                  <a:srgbClr val="1E3A5F"/>
                </a:solidFill>
                <a:latin typeface="Segoe UI" pitchFamily="34" charset="0"/>
                <a:ea typeface="Segoe UI" pitchFamily="34" charset="-122"/>
                <a:cs typeface="Segoe UI" pitchFamily="34" charset="-120"/>
              </a:rPr>
              <a:t>Tháng 1/2027</a:t>
            </a:r>
            <a:endParaRPr lang="en-US" sz="1050" dirty="0"/>
          </a:p>
        </p:txBody>
      </p:sp>
      <p:sp>
        <p:nvSpPr>
          <p:cNvPr id="27" name="Text 25"/>
          <p:cNvSpPr/>
          <p:nvPr/>
        </p:nvSpPr>
        <p:spPr>
          <a:xfrm>
            <a:off x="6309360" y="4901184"/>
            <a:ext cx="5056632" cy="1051560"/>
          </a:xfrm>
          <a:prstGeom prst="rect">
            <a:avLst/>
          </a:prstGeom>
          <a:noFill/>
          <a:ln/>
        </p:spPr>
        <p:txBody>
          <a:bodyPr wrap="square" rtlCol="0" anchor="t"/>
          <a:lstStyle/>
          <a:p>
            <a:pPr indent="0" marL="0">
              <a:lnSpc>
                <a:spcPct val="110000"/>
              </a:lnSpc>
              <a:buNone/>
            </a:pPr>
            <a:r>
              <a:rPr lang="en-US" sz="950" dirty="0">
                <a:solidFill>
                  <a:srgbClr val="57616B"/>
                </a:solidFill>
                <a:latin typeface="Segoe UI" pitchFamily="34" charset="0"/>
                <a:ea typeface="Segoe UI" pitchFamily="34" charset="-122"/>
                <a:cs typeface="Segoe UI" pitchFamily="34" charset="-120"/>
              </a:rPr>
              <a:t>Đổ nguồn lực chính thức để code và hoàn thiện sản phẩm — 1 đến 6 tháng tuỳ concept được chọn.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4 — KẾ HOẠCH TRIỂN KHAI</a:t>
            </a:r>
            <a:endParaRPr lang="en-US" sz="1100" dirty="0"/>
          </a:p>
        </p:txBody>
      </p:sp>
      <p:sp>
        <p:nvSpPr>
          <p:cNvPr id="3" name="Text 1"/>
          <p:cNvSpPr/>
          <p:nvPr/>
        </p:nvSpPr>
        <p:spPr>
          <a:xfrm>
            <a:off x="548640" y="566928"/>
            <a:ext cx="10607040" cy="731520"/>
          </a:xfrm>
          <a:prstGeom prst="rect">
            <a:avLst/>
          </a:prstGeom>
          <a:noFill/>
          <a:ln/>
        </p:spPr>
        <p:txBody>
          <a:bodyPr wrap="square" rtlCol="0" anchor="t"/>
          <a:lstStyle/>
          <a:p>
            <a:pPr indent="0" marL="0">
              <a:buNone/>
            </a:pPr>
            <a:r>
              <a:rPr lang="en-US" sz="1900" b="1" dirty="0">
                <a:solidFill>
                  <a:srgbClr val="1B2430"/>
                </a:solidFill>
                <a:latin typeface="Georgia" pitchFamily="34" charset="0"/>
                <a:ea typeface="Georgia" pitchFamily="34" charset="-122"/>
                <a:cs typeface="Georgia" pitchFamily="34" charset="-120"/>
              </a:rPr>
              <a:t>Test bán thật, thu tiền thật — tín hiệu mạnh hơn khảo sát ý định mua</a:t>
            </a:r>
            <a:endParaRPr lang="en-US" sz="19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15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600200"/>
            <a:ext cx="10908792" cy="502920"/>
          </a:xfrm>
          <a:prstGeom prst="rect">
            <a:avLst/>
          </a:prstGeom>
          <a:noFill/>
          <a:ln/>
        </p:spPr>
        <p:txBody>
          <a:bodyPr wrap="square" rtlCol="0" anchor="t"/>
          <a:lstStyle/>
          <a:p>
            <a:pPr indent="0" marL="0">
              <a:buNone/>
            </a:pPr>
            <a:r>
              <a:rPr lang="en-US" sz="1100" dirty="0">
                <a:solidFill>
                  <a:srgbClr val="57616B"/>
                </a:solidFill>
                <a:latin typeface="Segoe UI" pitchFamily="34" charset="0"/>
                <a:ea typeface="Segoe UI" pitchFamily="34" charset="-122"/>
                <a:cs typeface="Segoe UI" pitchFamily="34" charset="-120"/>
              </a:rPr>
              <a:t>Khác với chỉ đo Purchase Intent qua khảo sát, tháng 11 chạy quảng cáo thật và thu tiền thật để đo tỷ lệ chốt thực tế — sau đó hoàn tiền + tặng 1 tháng trải nghiệm cho khách đã đặt cọc.</a:t>
            </a:r>
            <a:endParaRPr lang="en-US" sz="1100" dirty="0"/>
          </a:p>
        </p:txBody>
      </p:sp>
      <p:sp>
        <p:nvSpPr>
          <p:cNvPr id="7" name="Shape 5"/>
          <p:cNvSpPr/>
          <p:nvPr/>
        </p:nvSpPr>
        <p:spPr>
          <a:xfrm>
            <a:off x="548640" y="2240280"/>
            <a:ext cx="5362956" cy="1965960"/>
          </a:xfrm>
          <a:prstGeom prst="roundRect">
            <a:avLst>
              <a:gd name="adj" fmla="val 2791"/>
            </a:avLst>
          </a:prstGeom>
          <a:solidFill>
            <a:srgbClr val="FFFFFF"/>
          </a:solidFill>
          <a:ln w="9525">
            <a:solidFill>
              <a:srgbClr val="D9DBD3"/>
            </a:solidFill>
            <a:prstDash val="solid"/>
          </a:ln>
          <a:effectLst>
            <a:outerShdw sx="100000" sy="100000" kx="0" ky="0" algn="bl" rotWithShape="0" blurRad="76200" dist="25400" dir="5400000">
              <a:srgbClr val="1B2430">
                <a:alpha val="12000"/>
              </a:srgbClr>
            </a:outerShdw>
          </a:effectLst>
        </p:spPr>
      </p:sp>
      <p:sp>
        <p:nvSpPr>
          <p:cNvPr id="8" name="Text 6"/>
          <p:cNvSpPr/>
          <p:nvPr/>
        </p:nvSpPr>
        <p:spPr>
          <a:xfrm>
            <a:off x="749808" y="2386584"/>
            <a:ext cx="4960620" cy="365760"/>
          </a:xfrm>
          <a:prstGeom prst="rect">
            <a:avLst/>
          </a:prstGeom>
          <a:noFill/>
          <a:ln/>
        </p:spPr>
        <p:txBody>
          <a:bodyPr wrap="square" rtlCol="0" anchor="ctr"/>
          <a:lstStyle/>
          <a:p>
            <a:pPr indent="0" marL="0">
              <a:buNone/>
            </a:pPr>
            <a:r>
              <a:rPr lang="en-US" sz="1350" b="1" dirty="0">
                <a:solidFill>
                  <a:srgbClr val="1E3A5F"/>
                </a:solidFill>
                <a:latin typeface="Georgia" pitchFamily="34" charset="0"/>
                <a:ea typeface="Georgia" pitchFamily="34" charset="-122"/>
                <a:cs typeface="Georgia" pitchFamily="34" charset="-120"/>
              </a:rPr>
              <a:t>Vì sao đo được tín hiệu mạnh hơn</a:t>
            </a:r>
            <a:endParaRPr lang="en-US" sz="1350" dirty="0"/>
          </a:p>
        </p:txBody>
      </p:sp>
      <p:sp>
        <p:nvSpPr>
          <p:cNvPr id="9" name="Text 7"/>
          <p:cNvSpPr/>
          <p:nvPr/>
        </p:nvSpPr>
        <p:spPr>
          <a:xfrm>
            <a:off x="749808" y="2770632"/>
            <a:ext cx="4960620" cy="1271016"/>
          </a:xfrm>
          <a:prstGeom prst="rect">
            <a:avLst/>
          </a:prstGeom>
          <a:noFill/>
          <a:ln/>
        </p:spPr>
        <p:txBody>
          <a:bodyPr wrap="square" rtlCol="0" anchor="t"/>
          <a:lstStyle/>
          <a:p>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 Khảo sát T9 đo được ý định mua và vùng giá chấp nhận (Van Westendorp)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 Test bán thật tháng 11 đo được hành vi trả tiền thật — đối chiếu trực tiếp rủi ro “purchase intent thổi phồng”
</a:t>
            </a:r>
            <a:pPr indent="0" marL="0">
              <a:lnSpc>
                <a:spcPct val="115000"/>
              </a:lnSpc>
              <a:buNone/>
            </a:pPr>
            <a:r>
              <a:rPr lang="en-US" sz="950" dirty="0">
                <a:solidFill>
                  <a:srgbClr val="57616B"/>
                </a:solidFill>
                <a:latin typeface="Segoe UI" pitchFamily="34" charset="0"/>
                <a:ea typeface="Segoe UI" pitchFamily="34" charset="-122"/>
                <a:cs typeface="Segoe UI" pitchFamily="34" charset="-120"/>
              </a:rPr>
              <a:t>• Tháng 12 lặp lại một vòng test bán cuối sau khi đã làm mịn kịch bản/sản phẩm</a:t>
            </a:r>
            <a:endParaRPr lang="en-US" sz="1050" dirty="0"/>
          </a:p>
        </p:txBody>
      </p:sp>
      <p:sp>
        <p:nvSpPr>
          <p:cNvPr id="10" name="Shape 8"/>
          <p:cNvSpPr/>
          <p:nvPr/>
        </p:nvSpPr>
        <p:spPr>
          <a:xfrm>
            <a:off x="6277356" y="2240280"/>
            <a:ext cx="5362956" cy="1965960"/>
          </a:xfrm>
          <a:prstGeom prst="roundRect">
            <a:avLst>
              <a:gd name="adj" fmla="val 2326"/>
            </a:avLst>
          </a:prstGeom>
          <a:solidFill>
            <a:srgbClr val="F6EEDC"/>
          </a:solidFill>
          <a:ln/>
        </p:spPr>
      </p:sp>
      <p:sp>
        <p:nvSpPr>
          <p:cNvPr id="11" name="Shape 9"/>
          <p:cNvSpPr/>
          <p:nvPr/>
        </p:nvSpPr>
        <p:spPr>
          <a:xfrm>
            <a:off x="6277356" y="2240280"/>
            <a:ext cx="54864" cy="1965960"/>
          </a:xfrm>
          <a:prstGeom prst="rect">
            <a:avLst/>
          </a:prstGeom>
          <a:solidFill>
            <a:srgbClr val="A9782E"/>
          </a:solidFill>
          <a:ln/>
        </p:spPr>
      </p:sp>
      <p:sp>
        <p:nvSpPr>
          <p:cNvPr id="12" name="Text 10"/>
          <p:cNvSpPr/>
          <p:nvPr/>
        </p:nvSpPr>
        <p:spPr>
          <a:xfrm>
            <a:off x="6478524" y="2313432"/>
            <a:ext cx="4997196" cy="1819656"/>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 Cần BOD/Vận hành/Pháp lý xác nhận trước tháng 11: </a:t>
            </a:r>
            <a:pPr indent="0" marL="0">
              <a:buNone/>
            </a:pPr>
            <a:r>
              <a:rPr lang="en-US" sz="1100" dirty="0">
                <a:solidFill>
                  <a:srgbClr val="1B2430"/>
                </a:solidFill>
                <a:latin typeface="Segoe UI" pitchFamily="34" charset="0"/>
                <a:ea typeface="Segoe UI" pitchFamily="34" charset="-122"/>
                <a:cs typeface="Segoe UI" pitchFamily="34" charset="-120"/>
              </a:rPr>
              <a:t>chính sách hoàn tiền + tặng tháng trải nghiệm cần truyền thông minh bạch trước khi thu tiền — tránh rủi ro khiếu nại tương tự case Đắk Lắk.</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4480560"/>
          <a:ext cx="10908792" cy="914400"/>
        </p:xfrm>
        <a:graphic>
          <a:graphicData uri="http://schemas.openxmlformats.org/drawingml/2006/table">
            <a:tbl>
              <a:tblPr/>
              <a:tblGrid>
                <a:gridCol w="3840480"/>
                <a:gridCol w="7068312"/>
              </a:tblGrid>
              <a:tr h="502920">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Giai đoạn</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900" b="1" dirty="0">
                          <a:solidFill>
                            <a:srgbClr val="57616B"/>
                          </a:solidFill>
                          <a:latin typeface="Segoe UI" pitchFamily="34" charset="0"/>
                          <a:ea typeface="Segoe UI" pitchFamily="34" charset="-122"/>
                          <a:cs typeface="Segoe UI" pitchFamily="34" charset="-120"/>
                        </a:rPr>
                        <a:t>Chỉ số đo</a:t>
                      </a:r>
                      <a:endParaRPr lang="en-US" sz="90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50292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15/09–15/10 — Khảo sát</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Vùng giá chấp nhận (Van Westendorp), Purchase Intent/Top-2-Box, phân theo Tier 3 vs Tier 4</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0292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Tháng 11 — Test bán thật (vòng 1)</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Tỷ lệ chốt thật trên quảng cáo thật, giá trị đơn hàng thu được trước hoàn tiền</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02920">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Tháng 12 — Test bán lần cuối (vòng 2)</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950" dirty="0">
                          <a:solidFill>
                            <a:srgbClr val="1B2430"/>
                          </a:solidFill>
                          <a:latin typeface="Segoe UI" pitchFamily="34" charset="0"/>
                          <a:ea typeface="Segoe UI" pitchFamily="34" charset="-122"/>
                          <a:cs typeface="Segoe UI" pitchFamily="34" charset="-120"/>
                        </a:rPr>
                        <a:t>Tỷ lệ chốt sau khi đã làm mịn kịch bản/sản phẩm — đối chiếu cải thiện so với vòng 1</a:t>
                      </a:r>
                      <a:endParaRPr lang="en-US" sz="95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PHẦN 5 — SƠ ĐỒ PHÂN CHIA TRÁCH NHIỆM</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400" b="1" dirty="0">
                <a:solidFill>
                  <a:srgbClr val="1B2430"/>
                </a:solidFill>
                <a:latin typeface="Georgia" pitchFamily="34" charset="0"/>
                <a:ea typeface="Georgia" pitchFamily="34" charset="-122"/>
                <a:cs typeface="Georgia" pitchFamily="34" charset="-120"/>
              </a:rPr>
              <a:t>4 bộ phận theo từng giai đoạn</a:t>
            </a:r>
            <a:endParaRPr lang="en-US" sz="24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16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Text 4"/>
          <p:cNvSpPr/>
          <p:nvPr/>
        </p:nvSpPr>
        <p:spPr>
          <a:xfrm>
            <a:off x="548640" y="1371600"/>
            <a:ext cx="10908792" cy="365760"/>
          </a:xfrm>
          <a:prstGeom prst="rect">
            <a:avLst/>
          </a:prstGeom>
          <a:noFill/>
          <a:ln/>
        </p:spPr>
        <p:txBody>
          <a:bodyPr wrap="square" rtlCol="0" anchor="t"/>
          <a:lstStyle/>
          <a:p>
            <a:pPr indent="0" marL="0">
              <a:buNone/>
            </a:pPr>
            <a:r>
              <a:rPr lang="en-US" sz="950" b="1" dirty="0">
                <a:solidFill>
                  <a:srgbClr val="A9782E"/>
                </a:solidFill>
                <a:latin typeface="Segoe UI" pitchFamily="34" charset="0"/>
                <a:ea typeface="Segoe UI" pitchFamily="34" charset="-122"/>
                <a:cs typeface="Segoe UI" pitchFamily="34" charset="-120"/>
              </a:rPr>
              <a:t>◆ </a:t>
            </a:r>
            <a:pPr indent="0" marL="0">
              <a:buNone/>
            </a:pPr>
            <a:r>
              <a:rPr lang="en-US" sz="950" dirty="0">
                <a:solidFill>
                  <a:srgbClr val="57616B"/>
                </a:solidFill>
                <a:latin typeface="Segoe UI" pitchFamily="34" charset="0"/>
                <a:ea typeface="Segoe UI" pitchFamily="34" charset="-122"/>
                <a:cs typeface="Segoe UI" pitchFamily="34" charset="-120"/>
              </a:rPr>
              <a:t>Tổng hợp lại từ RACI chi tiết trong product-brief §5.1 thành 4 nhóm: Sản phẩm &amp; Công nghệ gộp Product + Engineering + Academic + Vận hành; Chiến lược = BOD.</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0908792" cy="914400"/>
        </p:xfrm>
        <a:graphic>
          <a:graphicData uri="http://schemas.openxmlformats.org/drawingml/2006/table">
            <a:tbl>
              <a:tblPr/>
              <a:tblGrid>
                <a:gridCol w="1920240"/>
                <a:gridCol w="1856232"/>
                <a:gridCol w="3200400"/>
                <a:gridCol w="1965960"/>
                <a:gridCol w="1965960"/>
              </a:tblGrid>
              <a:tr h="594360">
                <a:tc>
                  <a:txBody>
                    <a:bodyPr/>
                    <a:lstStyle/>
                    <a:p>
                      <a:pPr algn="l" indent="0" marL="0">
                        <a:buNone/>
                      </a:pPr>
                      <a:r>
                        <a:rPr lang="en-US" sz="730" b="1" dirty="0">
                          <a:solidFill>
                            <a:srgbClr val="57616B"/>
                          </a:solidFill>
                          <a:latin typeface="Segoe UI" pitchFamily="34" charset="0"/>
                          <a:ea typeface="Segoe UI" pitchFamily="34" charset="-122"/>
                          <a:cs typeface="Segoe UI" pitchFamily="34" charset="-120"/>
                        </a:rPr>
                        <a:t>Giai đoạn</a:t>
                      </a:r>
                      <a:endParaRPr lang="en-US" sz="73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730" b="1" dirty="0">
                          <a:solidFill>
                            <a:srgbClr val="57616B"/>
                          </a:solidFill>
                          <a:latin typeface="Segoe UI" pitchFamily="34" charset="0"/>
                          <a:ea typeface="Segoe UI" pitchFamily="34" charset="-122"/>
                          <a:cs typeface="Segoe UI" pitchFamily="34" charset="-120"/>
                        </a:rPr>
                        <a:t>Chiến lược</a:t>
                      </a:r>
                      <a:endParaRPr lang="en-US" sz="73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730" b="1" dirty="0">
                          <a:solidFill>
                            <a:srgbClr val="57616B"/>
                          </a:solidFill>
                          <a:latin typeface="Segoe UI" pitchFamily="34" charset="0"/>
                          <a:ea typeface="Segoe UI" pitchFamily="34" charset="-122"/>
                          <a:cs typeface="Segoe UI" pitchFamily="34" charset="-120"/>
                        </a:rPr>
                        <a:t>Sản phẩm &amp; Công nghệ</a:t>
                      </a:r>
                      <a:endParaRPr lang="en-US" sz="73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730" b="1" dirty="0">
                          <a:solidFill>
                            <a:srgbClr val="57616B"/>
                          </a:solidFill>
                          <a:latin typeface="Segoe UI" pitchFamily="34" charset="0"/>
                          <a:ea typeface="Segoe UI" pitchFamily="34" charset="-122"/>
                          <a:cs typeface="Segoe UI" pitchFamily="34" charset="-120"/>
                        </a:rPr>
                        <a:t>Marketing</a:t>
                      </a:r>
                      <a:endParaRPr lang="en-US" sz="73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c>
                  <a:txBody>
                    <a:bodyPr/>
                    <a:lstStyle/>
                    <a:p>
                      <a:pPr algn="l" indent="0" marL="0">
                        <a:buNone/>
                      </a:pPr>
                      <a:r>
                        <a:rPr lang="en-US" sz="730" b="1" dirty="0">
                          <a:solidFill>
                            <a:srgbClr val="57616B"/>
                          </a:solidFill>
                          <a:latin typeface="Segoe UI" pitchFamily="34" charset="0"/>
                          <a:ea typeface="Segoe UI" pitchFamily="34" charset="-122"/>
                          <a:cs typeface="Segoe UI" pitchFamily="34" charset="-120"/>
                        </a:rPr>
                        <a:t>Sales</a:t>
                      </a:r>
                      <a:endParaRPr lang="en-US" sz="73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E9ECE5"/>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Tháng 8 — Chốt concept</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Duyệt (A) lý do KD biến thể 2.1 &amp; định vị C3</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Hoàn thiện &amp; trình bày 3 concept board (R); Pilot GVCN GĐ0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Tư vấn concept board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Tư vấn concept board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01/09–15/10 — Khảo sát</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Nhận báo cáo khảo sát (I)</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Thiết kế &amp; chạy khảo sát ~100 phụ huynh Tier 3/4 (R); Pilot Concept 3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Tư vấn kênh tiếp cận Tier 3/4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Hỗ trợ liên hệ khảo sát tại nhà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15/10–30/10 — Chuẩn bị</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Duyệt chính sách hoàn tiền (A)</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Hỗ trợ sản phẩm/kỹ thuật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Chuẩn bị nội dung Marketing, quảng cáo thật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Xây kịch bản bán, đào tạo Sale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Tháng 11 — Test bán thật</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Nhận kết quả tỷ lệ chốt (I)</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Hỗ trợ vận hành hoàn tiền (C)</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Chạy quảng cáo thật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Tư vấn &amp; thu tiền thật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Tháng 12 — Làm mịn &amp; test cuối</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Nhận báo cáo tổng hợp (I)</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Làm mịn sản phẩm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Làm mịn nội dung Marketing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Làm mịn kịch bản, test lần cuối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r h="594360">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Tháng 1/2027 — Bắt đầu xây dựng</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Phê duyệt ngân sách (A)</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Đổ nguồn lực code &amp; hoàn thiện (R)</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c>
                  <a:txBody>
                    <a:bodyPr/>
                    <a:lstStyle/>
                    <a:p>
                      <a:pPr algn="l" indent="0" marL="0">
                        <a:buNone/>
                      </a:pPr>
                      <a:r>
                        <a:rPr lang="en-US" sz="780" dirty="0">
                          <a:solidFill>
                            <a:srgbClr val="1B2430"/>
                          </a:solidFill>
                          <a:latin typeface="Segoe UI" pitchFamily="34" charset="0"/>
                          <a:ea typeface="Segoe UI" pitchFamily="34" charset="-122"/>
                          <a:cs typeface="Segoe UI" pitchFamily="34" charset="-120"/>
                        </a:rPr>
                        <a:t>—</a:t>
                      </a:r>
                      <a:endParaRPr lang="en-US" sz="780" dirty="0">
                        <a:latin typeface="Segoe UI" charset="0"/>
                        <a:ea typeface="Segoe UI" charset="0"/>
                        <a:cs typeface="Segoe UI" charset="0"/>
                      </a:endParaRPr>
                    </a:p>
                  </a:txBody>
                  <a:tcPr marL="91440" marR="91440" marT="45720" marB="45720" anchor="t">
                    <a:lnL w="0" cap="flat" cmpd="sng" algn="ctr">
                      <a:noFill/>
                    </a:lnL>
                    <a:lnR w="0" cap="flat" cmpd="sng" algn="ctr">
                      <a:noFill/>
                    </a:lnR>
                    <a:lnT w="6350" cap="flat" cmpd="sng" algn="ctr">
                      <a:solidFill>
                        <a:srgbClr val="D9DBD3"/>
                      </a:solidFill>
                      <a:prstDash val="solid"/>
                      <a:round/>
                      <a:headEnd type="none" w="med" len="med"/>
                      <a:tailEnd type="none" w="med" len="med"/>
                    </a:lnT>
                    <a:lnB w="0" cap="flat" cmpd="sng" algn="ctr">
                      <a:noFill/>
                    </a:lnB>
                    <a:solidFill>
                      <a:srgbClr val="FFFFFF"/>
                    </a:solidFill>
                  </a:tcPr>
                </a:tc>
              </a:tr>
            </a:tbl>
          </a:graphicData>
        </a:graphic>
      </p:graphicFrame>
      <p:sp>
        <p:nvSpPr>
          <p:cNvPr id="8" name="Text 5"/>
          <p:cNvSpPr/>
          <p:nvPr/>
        </p:nvSpPr>
        <p:spPr>
          <a:xfrm>
            <a:off x="548640" y="6126480"/>
            <a:ext cx="10908792" cy="274320"/>
          </a:xfrm>
          <a:prstGeom prst="rect">
            <a:avLst/>
          </a:prstGeom>
          <a:noFill/>
          <a:ln/>
        </p:spPr>
        <p:txBody>
          <a:bodyPr wrap="square" rtlCol="0" anchor="ctr"/>
          <a:lstStyle/>
          <a:p>
            <a:pPr indent="0" marL="0">
              <a:buNone/>
            </a:pPr>
            <a:r>
              <a:rPr lang="en-US" sz="850" i="1" dirty="0">
                <a:solidFill>
                  <a:srgbClr val="57616B"/>
                </a:solidFill>
                <a:latin typeface="Segoe UI" pitchFamily="34" charset="0"/>
                <a:ea typeface="Segoe UI" pitchFamily="34" charset="-122"/>
                <a:cs typeface="Segoe UI" pitchFamily="34" charset="-120"/>
              </a:rPr>
              <a:t>R = Responsible · A = Accountable · C = Consulted · I = Informed. Nguồn: product-brief-2026-08-13.md §5.1.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EF"/>
        </a:solidFill>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1E3A5F"/>
                </a:solidFill>
                <a:latin typeface="Segoe UI" pitchFamily="34" charset="0"/>
                <a:ea typeface="Segoe UI" pitchFamily="34" charset="-122"/>
                <a:cs typeface="Segoe UI" pitchFamily="34" charset="-120"/>
              </a:rPr>
              <a:t>KẾT — CÂU HỎI CẦN BOD QUYẾT ĐỊNH</a:t>
            </a:r>
            <a:endParaRPr lang="en-US" sz="1100" dirty="0"/>
          </a:p>
        </p:txBody>
      </p:sp>
      <p:sp>
        <p:nvSpPr>
          <p:cNvPr id="3" name="Text 1"/>
          <p:cNvSpPr/>
          <p:nvPr/>
        </p:nvSpPr>
        <p:spPr>
          <a:xfrm>
            <a:off x="548640" y="566928"/>
            <a:ext cx="10607040" cy="594360"/>
          </a:xfrm>
          <a:prstGeom prst="rect">
            <a:avLst/>
          </a:prstGeom>
          <a:noFill/>
          <a:ln/>
        </p:spPr>
        <p:txBody>
          <a:bodyPr wrap="square" rtlCol="0" anchor="t"/>
          <a:lstStyle/>
          <a:p>
            <a:pPr indent="0" marL="0">
              <a:buNone/>
            </a:pPr>
            <a:r>
              <a:rPr lang="en-US" sz="2200" b="1" dirty="0">
                <a:solidFill>
                  <a:srgbClr val="1B2430"/>
                </a:solidFill>
                <a:latin typeface="Georgia" pitchFamily="34" charset="0"/>
                <a:ea typeface="Georgia" pitchFamily="34" charset="-122"/>
                <a:cs typeface="Georgia" pitchFamily="34" charset="-120"/>
              </a:rPr>
              <a:t>5 quyết định BOD cần chốt để dự án đi tiếp</a:t>
            </a:r>
            <a:endParaRPr lang="en-US" sz="2200" dirty="0"/>
          </a:p>
        </p:txBody>
      </p:sp>
      <p:sp>
        <p:nvSpPr>
          <p:cNvPr id="4" name="Text 2"/>
          <p:cNvSpPr/>
          <p:nvPr/>
        </p:nvSpPr>
        <p:spPr>
          <a:xfrm>
            <a:off x="11018520" y="6473952"/>
            <a:ext cx="640080" cy="274320"/>
          </a:xfrm>
          <a:prstGeom prst="rect">
            <a:avLst/>
          </a:prstGeom>
          <a:noFill/>
          <a:ln/>
        </p:spPr>
        <p:txBody>
          <a:bodyPr wrap="square" rtlCol="0" anchor="ctr"/>
          <a:lstStyle/>
          <a:p>
            <a:pPr algn="r" indent="0" marL="0">
              <a:buNone/>
            </a:pPr>
            <a:r>
              <a:rPr lang="en-US" sz="900" dirty="0">
                <a:solidFill>
                  <a:srgbClr val="57616B"/>
                </a:solidFill>
                <a:latin typeface="Segoe UI" pitchFamily="34" charset="0"/>
                <a:ea typeface="Segoe UI" pitchFamily="34" charset="-122"/>
                <a:cs typeface="Segoe UI" pitchFamily="34" charset="-120"/>
              </a:rPr>
              <a:t>17 / 18</a:t>
            </a:r>
            <a:endParaRPr lang="en-US" sz="900" dirty="0"/>
          </a:p>
        </p:txBody>
      </p:sp>
      <p:sp>
        <p:nvSpPr>
          <p:cNvPr id="5" name="Shape 3"/>
          <p:cNvSpPr/>
          <p:nvPr/>
        </p:nvSpPr>
        <p:spPr>
          <a:xfrm>
            <a:off x="548640" y="6419088"/>
            <a:ext cx="11091672" cy="0"/>
          </a:xfrm>
          <a:prstGeom prst="line">
            <a:avLst/>
          </a:prstGeom>
          <a:noFill/>
          <a:ln w="9525">
            <a:solidFill>
              <a:srgbClr val="D9DBD3"/>
            </a:solidFill>
            <a:prstDash val="solid"/>
          </a:ln>
        </p:spPr>
      </p:sp>
      <p:sp>
        <p:nvSpPr>
          <p:cNvPr id="6" name="Shape 4"/>
          <p:cNvSpPr/>
          <p:nvPr/>
        </p:nvSpPr>
        <p:spPr>
          <a:xfrm>
            <a:off x="548640" y="1508760"/>
            <a:ext cx="10908792" cy="786384"/>
          </a:xfrm>
          <a:prstGeom prst="roundRect">
            <a:avLst>
              <a:gd name="adj" fmla="val 5814"/>
            </a:avLst>
          </a:prstGeom>
          <a:solidFill>
            <a:srgbClr val="FFFFFF"/>
          </a:solidFill>
          <a:ln w="9525">
            <a:solidFill>
              <a:srgbClr val="D9DBD3"/>
            </a:solidFill>
            <a:prstDash val="solid"/>
          </a:ln>
        </p:spPr>
      </p:sp>
      <p:sp>
        <p:nvSpPr>
          <p:cNvPr id="7" name="Text 5"/>
          <p:cNvSpPr/>
          <p:nvPr/>
        </p:nvSpPr>
        <p:spPr>
          <a:xfrm>
            <a:off x="658368" y="1618488"/>
            <a:ext cx="502920" cy="548640"/>
          </a:xfrm>
          <a:prstGeom prst="rect">
            <a:avLst/>
          </a:prstGeom>
          <a:noFill/>
          <a:ln/>
        </p:spPr>
        <p:txBody>
          <a:bodyPr wrap="square" rtlCol="0" anchor="ctr"/>
          <a:lstStyle/>
          <a:p>
            <a:pPr algn="ctr" indent="0" marL="0">
              <a:buNone/>
            </a:pPr>
            <a:r>
              <a:rPr lang="en-US" sz="2200" b="1" dirty="0">
                <a:solidFill>
                  <a:srgbClr val="A9782E"/>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1280160" y="1600200"/>
            <a:ext cx="9966960" cy="411480"/>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Phạm vi Mastery Profile — chỉ AI Class Plus hay dùng chung Edupia Class?</a:t>
            </a:r>
            <a:endParaRPr lang="en-US" sz="1100" dirty="0"/>
          </a:p>
        </p:txBody>
      </p:sp>
      <p:sp>
        <p:nvSpPr>
          <p:cNvPr id="9" name="Text 7"/>
          <p:cNvSpPr/>
          <p:nvPr/>
        </p:nvSpPr>
        <p:spPr>
          <a:xfrm>
            <a:off x="1280160" y="1965960"/>
            <a:ext cx="9966960" cy="2743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Chặn toàn bộ mức 1.2/1.3 và cả Concept 3 · Trước T8/2026</a:t>
            </a:r>
            <a:endParaRPr lang="en-US" sz="900" dirty="0"/>
          </a:p>
        </p:txBody>
      </p:sp>
      <p:sp>
        <p:nvSpPr>
          <p:cNvPr id="10" name="Shape 8"/>
          <p:cNvSpPr/>
          <p:nvPr/>
        </p:nvSpPr>
        <p:spPr>
          <a:xfrm>
            <a:off x="548640" y="2414016"/>
            <a:ext cx="10908792" cy="786384"/>
          </a:xfrm>
          <a:prstGeom prst="roundRect">
            <a:avLst>
              <a:gd name="adj" fmla="val 5814"/>
            </a:avLst>
          </a:prstGeom>
          <a:solidFill>
            <a:srgbClr val="FFFFFF"/>
          </a:solidFill>
          <a:ln w="9525">
            <a:solidFill>
              <a:srgbClr val="D9DBD3"/>
            </a:solidFill>
            <a:prstDash val="solid"/>
          </a:ln>
        </p:spPr>
      </p:sp>
      <p:sp>
        <p:nvSpPr>
          <p:cNvPr id="11" name="Text 9"/>
          <p:cNvSpPr/>
          <p:nvPr/>
        </p:nvSpPr>
        <p:spPr>
          <a:xfrm>
            <a:off x="658368" y="2523744"/>
            <a:ext cx="502920" cy="548640"/>
          </a:xfrm>
          <a:prstGeom prst="rect">
            <a:avLst/>
          </a:prstGeom>
          <a:noFill/>
          <a:ln/>
        </p:spPr>
        <p:txBody>
          <a:bodyPr wrap="square" rtlCol="0" anchor="ctr"/>
          <a:lstStyle/>
          <a:p>
            <a:pPr algn="ctr" indent="0" marL="0">
              <a:buNone/>
            </a:pPr>
            <a:r>
              <a:rPr lang="en-US" sz="2200" b="1" dirty="0">
                <a:solidFill>
                  <a:srgbClr val="A9782E"/>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1280160" y="2505456"/>
            <a:ext cx="9966960" cy="411480"/>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Lý do kinh doanh cụ thể cho việc đảo ngược quyết định “không chọn Toán” (biến thể 2.1)</a:t>
            </a:r>
            <a:endParaRPr lang="en-US" sz="1100" dirty="0"/>
          </a:p>
        </p:txBody>
      </p:sp>
      <p:sp>
        <p:nvSpPr>
          <p:cNvPr id="13" name="Text 11"/>
          <p:cNvSpPr/>
          <p:nvPr/>
        </p:nvSpPr>
        <p:spPr>
          <a:xfrm>
            <a:off x="1280160" y="2871216"/>
            <a:ext cx="9966960" cy="2743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Nếu không có, không nên đưa vào khảo sát · Trước khi trình biến thể 2.1 chính thức</a:t>
            </a:r>
            <a:endParaRPr lang="en-US" sz="900" dirty="0"/>
          </a:p>
        </p:txBody>
      </p:sp>
      <p:sp>
        <p:nvSpPr>
          <p:cNvPr id="14" name="Shape 12"/>
          <p:cNvSpPr/>
          <p:nvPr/>
        </p:nvSpPr>
        <p:spPr>
          <a:xfrm>
            <a:off x="548640" y="3319272"/>
            <a:ext cx="10908792" cy="786384"/>
          </a:xfrm>
          <a:prstGeom prst="roundRect">
            <a:avLst>
              <a:gd name="adj" fmla="val 5814"/>
            </a:avLst>
          </a:prstGeom>
          <a:solidFill>
            <a:srgbClr val="FFFFFF"/>
          </a:solidFill>
          <a:ln w="9525">
            <a:solidFill>
              <a:srgbClr val="D9DBD3"/>
            </a:solidFill>
            <a:prstDash val="solid"/>
          </a:ln>
        </p:spPr>
      </p:sp>
      <p:sp>
        <p:nvSpPr>
          <p:cNvPr id="15" name="Text 13"/>
          <p:cNvSpPr/>
          <p:nvPr/>
        </p:nvSpPr>
        <p:spPr>
          <a:xfrm>
            <a:off x="658368" y="3429000"/>
            <a:ext cx="502920" cy="548640"/>
          </a:xfrm>
          <a:prstGeom prst="rect">
            <a:avLst/>
          </a:prstGeom>
          <a:noFill/>
          <a:ln/>
        </p:spPr>
        <p:txBody>
          <a:bodyPr wrap="square" rtlCol="0" anchor="ctr"/>
          <a:lstStyle/>
          <a:p>
            <a:pPr algn="ctr" indent="0" marL="0">
              <a:buNone/>
            </a:pPr>
            <a:r>
              <a:rPr lang="en-US" sz="2200" b="1" dirty="0">
                <a:solidFill>
                  <a:srgbClr val="A9782E"/>
                </a:solidFill>
                <a:latin typeface="Georgia" pitchFamily="34" charset="0"/>
                <a:ea typeface="Georgia" pitchFamily="34" charset="-122"/>
                <a:cs typeface="Georgia" pitchFamily="34" charset="-120"/>
              </a:rPr>
              <a:t>3</a:t>
            </a:r>
            <a:endParaRPr lang="en-US" sz="2200" dirty="0"/>
          </a:p>
        </p:txBody>
      </p:sp>
      <p:sp>
        <p:nvSpPr>
          <p:cNvPr id="16" name="Text 14"/>
          <p:cNvSpPr/>
          <p:nvPr/>
        </p:nvSpPr>
        <p:spPr>
          <a:xfrm>
            <a:off x="1280160" y="3410712"/>
            <a:ext cx="9966960" cy="411480"/>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Định vị Concept 3: substitute giá rẻ cho cả họ Edupia Tutor, hay JTBD khác biệt mở rộng thị trường mới?</a:t>
            </a:r>
            <a:endParaRPr lang="en-US" sz="1100" dirty="0"/>
          </a:p>
        </p:txBody>
      </p:sp>
      <p:sp>
        <p:nvSpPr>
          <p:cNvPr id="17" name="Text 15"/>
          <p:cNvSpPr/>
          <p:nvPr/>
        </p:nvSpPr>
        <p:spPr>
          <a:xfrm>
            <a:off x="1280160" y="3776472"/>
            <a:ext cx="9966960" cy="2743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Chặn toàn bộ PRD Concept 3 · Trước khi viết PRD</a:t>
            </a:r>
            <a:endParaRPr lang="en-US" sz="900" dirty="0"/>
          </a:p>
        </p:txBody>
      </p:sp>
      <p:sp>
        <p:nvSpPr>
          <p:cNvPr id="18" name="Shape 16"/>
          <p:cNvSpPr/>
          <p:nvPr/>
        </p:nvSpPr>
        <p:spPr>
          <a:xfrm>
            <a:off x="548640" y="4224528"/>
            <a:ext cx="10908792" cy="786384"/>
          </a:xfrm>
          <a:prstGeom prst="roundRect">
            <a:avLst>
              <a:gd name="adj" fmla="val 5814"/>
            </a:avLst>
          </a:prstGeom>
          <a:solidFill>
            <a:srgbClr val="FFFFFF"/>
          </a:solidFill>
          <a:ln w="9525">
            <a:solidFill>
              <a:srgbClr val="D9DBD3"/>
            </a:solidFill>
            <a:prstDash val="solid"/>
          </a:ln>
        </p:spPr>
      </p:sp>
      <p:sp>
        <p:nvSpPr>
          <p:cNvPr id="19" name="Text 17"/>
          <p:cNvSpPr/>
          <p:nvPr/>
        </p:nvSpPr>
        <p:spPr>
          <a:xfrm>
            <a:off x="658368" y="4334256"/>
            <a:ext cx="502920" cy="548640"/>
          </a:xfrm>
          <a:prstGeom prst="rect">
            <a:avLst/>
          </a:prstGeom>
          <a:noFill/>
          <a:ln/>
        </p:spPr>
        <p:txBody>
          <a:bodyPr wrap="square" rtlCol="0" anchor="ctr"/>
          <a:lstStyle/>
          <a:p>
            <a:pPr algn="ctr" indent="0" marL="0">
              <a:buNone/>
            </a:pPr>
            <a:r>
              <a:rPr lang="en-US" sz="2200" b="1" dirty="0">
                <a:solidFill>
                  <a:srgbClr val="A9782E"/>
                </a:solidFill>
                <a:latin typeface="Georgia" pitchFamily="34" charset="0"/>
                <a:ea typeface="Georgia" pitchFamily="34" charset="-122"/>
                <a:cs typeface="Georgia" pitchFamily="34" charset="-120"/>
              </a:rPr>
              <a:t>4</a:t>
            </a:r>
            <a:endParaRPr lang="en-US" sz="2200" dirty="0"/>
          </a:p>
        </p:txBody>
      </p:sp>
      <p:sp>
        <p:nvSpPr>
          <p:cNvPr id="20" name="Text 18"/>
          <p:cNvSpPr/>
          <p:nvPr/>
        </p:nvSpPr>
        <p:spPr>
          <a:xfrm>
            <a:off x="1280160" y="4315968"/>
            <a:ext cx="9966960" cy="411480"/>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Phê duyệt ngân sách/nguồn lực cho Pilot GVCN GĐ0 + Pilot Concept 3 + ngân sách quảng cáo thật tháng 11</a:t>
            </a:r>
            <a:endParaRPr lang="en-US" sz="1100" dirty="0"/>
          </a:p>
        </p:txBody>
      </p:sp>
      <p:sp>
        <p:nvSpPr>
          <p:cNvPr id="21" name="Text 19"/>
          <p:cNvSpPr/>
          <p:nvPr/>
        </p:nvSpPr>
        <p:spPr>
          <a:xfrm>
            <a:off x="1280160" y="4681728"/>
            <a:ext cx="9966960" cy="2743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Ngay</a:t>
            </a:r>
            <a:endParaRPr lang="en-US" sz="900" dirty="0"/>
          </a:p>
        </p:txBody>
      </p:sp>
      <p:sp>
        <p:nvSpPr>
          <p:cNvPr id="22" name="Shape 20"/>
          <p:cNvSpPr/>
          <p:nvPr/>
        </p:nvSpPr>
        <p:spPr>
          <a:xfrm>
            <a:off x="548640" y="5129784"/>
            <a:ext cx="10908792" cy="786384"/>
          </a:xfrm>
          <a:prstGeom prst="roundRect">
            <a:avLst>
              <a:gd name="adj" fmla="val 5814"/>
            </a:avLst>
          </a:prstGeom>
          <a:solidFill>
            <a:srgbClr val="FFFFFF"/>
          </a:solidFill>
          <a:ln w="9525">
            <a:solidFill>
              <a:srgbClr val="D9DBD3"/>
            </a:solidFill>
            <a:prstDash val="solid"/>
          </a:ln>
        </p:spPr>
      </p:sp>
      <p:sp>
        <p:nvSpPr>
          <p:cNvPr id="23" name="Text 21"/>
          <p:cNvSpPr/>
          <p:nvPr/>
        </p:nvSpPr>
        <p:spPr>
          <a:xfrm>
            <a:off x="658368" y="5239512"/>
            <a:ext cx="502920" cy="548640"/>
          </a:xfrm>
          <a:prstGeom prst="rect">
            <a:avLst/>
          </a:prstGeom>
          <a:noFill/>
          <a:ln/>
        </p:spPr>
        <p:txBody>
          <a:bodyPr wrap="square" rtlCol="0" anchor="ctr"/>
          <a:lstStyle/>
          <a:p>
            <a:pPr algn="ctr" indent="0" marL="0">
              <a:buNone/>
            </a:pPr>
            <a:r>
              <a:rPr lang="en-US" sz="2200" b="1" dirty="0">
                <a:solidFill>
                  <a:srgbClr val="A9782E"/>
                </a:solidFill>
                <a:latin typeface="Georgia" pitchFamily="34" charset="0"/>
                <a:ea typeface="Georgia" pitchFamily="34" charset="-122"/>
                <a:cs typeface="Georgia" pitchFamily="34" charset="-120"/>
              </a:rPr>
              <a:t>5</a:t>
            </a:r>
            <a:endParaRPr lang="en-US" sz="2200" dirty="0"/>
          </a:p>
        </p:txBody>
      </p:sp>
      <p:sp>
        <p:nvSpPr>
          <p:cNvPr id="24" name="Text 22"/>
          <p:cNvSpPr/>
          <p:nvPr/>
        </p:nvSpPr>
        <p:spPr>
          <a:xfrm>
            <a:off x="1280160" y="5221224"/>
            <a:ext cx="9966960" cy="411480"/>
          </a:xfrm>
          <a:prstGeom prst="rect">
            <a:avLst/>
          </a:prstGeom>
          <a:noFill/>
          <a:ln/>
        </p:spPr>
        <p:txBody>
          <a:bodyPr wrap="square" rtlCol="0" anchor="t"/>
          <a:lstStyle/>
          <a:p>
            <a:pPr indent="0" marL="0">
              <a:buNone/>
            </a:pPr>
            <a:r>
              <a:rPr lang="en-US" sz="1100" b="1" dirty="0">
                <a:solidFill>
                  <a:srgbClr val="1B2430"/>
                </a:solidFill>
                <a:latin typeface="Segoe UI" pitchFamily="34" charset="0"/>
                <a:ea typeface="Segoe UI" pitchFamily="34" charset="-122"/>
                <a:cs typeface="Segoe UI" pitchFamily="34" charset="-120"/>
              </a:rPr>
              <a:t>Duyệt chính sách hoàn tiền + tặng tháng học trải nghiệm cho khách test bán thật tháng 11, và cách truyền thông minh bạch trước khi thu tiền</a:t>
            </a:r>
            <a:endParaRPr lang="en-US" sz="1100" dirty="0"/>
          </a:p>
        </p:txBody>
      </p:sp>
      <p:sp>
        <p:nvSpPr>
          <p:cNvPr id="25" name="Text 23"/>
          <p:cNvSpPr/>
          <p:nvPr/>
        </p:nvSpPr>
        <p:spPr>
          <a:xfrm>
            <a:off x="1280160" y="5586984"/>
            <a:ext cx="9966960" cy="274320"/>
          </a:xfrm>
          <a:prstGeom prst="rect">
            <a:avLst/>
          </a:prstGeom>
          <a:noFill/>
          <a:ln/>
        </p:spPr>
        <p:txBody>
          <a:bodyPr wrap="square" rtlCol="0" anchor="t"/>
          <a:lstStyle/>
          <a:p>
            <a:pPr indent="0" marL="0">
              <a:buNone/>
            </a:pPr>
            <a:r>
              <a:rPr lang="en-US" sz="900" dirty="0">
                <a:solidFill>
                  <a:srgbClr val="57616B"/>
                </a:solidFill>
                <a:latin typeface="Segoe UI" pitchFamily="34" charset="0"/>
                <a:ea typeface="Segoe UI" pitchFamily="34" charset="-122"/>
                <a:cs typeface="Segoe UI" pitchFamily="34" charset="-120"/>
              </a:rPr>
              <a:t>Trước 30/10/2026</a:t>
            </a:r>
            <a:endParaRPr lang="en-US" sz="900" dirty="0"/>
          </a:p>
        </p:txBody>
      </p:sp>
      <p:sp>
        <p:nvSpPr>
          <p:cNvPr id="26" name="Text 24"/>
          <p:cNvSpPr/>
          <p:nvPr/>
        </p:nvSpPr>
        <p:spPr>
          <a:xfrm>
            <a:off x="548640" y="6080760"/>
            <a:ext cx="10908792" cy="365760"/>
          </a:xfrm>
          <a:prstGeom prst="rect">
            <a:avLst/>
          </a:prstGeom>
          <a:noFill/>
          <a:ln/>
        </p:spPr>
        <p:txBody>
          <a:bodyPr wrap="square" rtlCol="0" anchor="ctr"/>
          <a:lstStyle/>
          <a:p>
            <a:pPr indent="0" marL="0">
              <a:buNone/>
            </a:pPr>
            <a:r>
              <a:rPr lang="en-US" sz="800" i="1" dirty="0">
                <a:solidFill>
                  <a:srgbClr val="57616B"/>
                </a:solidFill>
                <a:latin typeface="Segoe UI" pitchFamily="34" charset="0"/>
                <a:ea typeface="Segoe UI" pitchFamily="34" charset="-122"/>
                <a:cs typeface="Segoe UI" pitchFamily="34" charset="-120"/>
              </a:rPr>
              <a:t>Nguồn tài liệu đầy đủ: product-brief-2026-08-13.md (v2.1) · concept-evaluation-scorecard-2026-08-15.md · 3 gói nghiên cứu thị trường (02_discovery/research/) · brainstorm-ai-tutor-390k-positioning-2026-08-18/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mới Edupia AI Class — Đề xuất trình BOD</dc:title>
  <dc:subject>PptxGenJS Presentation</dc:subject>
  <dc:creator>Edupia Product</dc:creator>
  <cp:lastModifiedBy>Edupia Product</cp:lastModifiedBy>
  <cp:revision>1</cp:revision>
  <dcterms:created xsi:type="dcterms:W3CDTF">2026-08-19T04:47:24Z</dcterms:created>
  <dcterms:modified xsi:type="dcterms:W3CDTF">2026-08-19T04:47:24Z</dcterms:modified>
</cp:coreProperties>
</file>