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64A"/>
          </a:solidFill>
          <a:ln/>
        </p:spPr>
      </p:sp>
      <p:sp>
        <p:nvSpPr>
          <p:cNvPr id="3" name="Shape 1"/>
          <p:cNvSpPr/>
          <p:nvPr/>
        </p:nvSpPr>
        <p:spPr>
          <a:xfrm>
            <a:off x="0" y="3977640"/>
            <a:ext cx="12191695" cy="41148"/>
          </a:xfrm>
          <a:prstGeom prst="rect">
            <a:avLst/>
          </a:prstGeom>
          <a:solidFill>
            <a:srgbClr val="0E7C86"/>
          </a:solidFill>
          <a:ln/>
        </p:spPr>
      </p:sp>
      <p:sp>
        <p:nvSpPr>
          <p:cNvPr id="4" name="Text 2"/>
          <p:cNvSpPr/>
          <p:nvPr/>
        </p:nvSpPr>
        <p:spPr>
          <a:xfrm>
            <a:off x="822960" y="2331720"/>
            <a:ext cx="10515600" cy="548640"/>
          </a:xfrm>
          <a:prstGeom prst="rect">
            <a:avLst/>
          </a:prstGeom>
          <a:noFill/>
          <a:ln/>
        </p:spPr>
        <p:txBody>
          <a:bodyPr wrap="square" rtlCol="0" anchor="ctr"/>
          <a:lstStyle/>
          <a:p>
            <a:pPr indent="0" marL="0">
              <a:buNone/>
            </a:pPr>
            <a:r>
              <a:rPr lang="en-US" sz="2000" b="1" spc="200" kern="0" dirty="0">
                <a:solidFill>
                  <a:srgbClr val="0E7C86"/>
                </a:solidFill>
                <a:latin typeface="Arial" pitchFamily="34" charset="0"/>
                <a:ea typeface="Arial" pitchFamily="34" charset="-122"/>
                <a:cs typeface="Arial" pitchFamily="34" charset="-120"/>
              </a:rPr>
              <a:t>EDUPIA CLASS</a:t>
            </a:r>
            <a:endParaRPr lang="en-US" sz="2000" dirty="0"/>
          </a:p>
        </p:txBody>
      </p:sp>
      <p:sp>
        <p:nvSpPr>
          <p:cNvPr id="5" name="Text 3"/>
          <p:cNvSpPr/>
          <p:nvPr/>
        </p:nvSpPr>
        <p:spPr>
          <a:xfrm>
            <a:off x="822960" y="2788920"/>
            <a:ext cx="10515600" cy="100584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3 Định hướng sản phẩm</a:t>
            </a:r>
            <a:endParaRPr lang="en-US" sz="4000" dirty="0"/>
          </a:p>
        </p:txBody>
      </p:sp>
      <p:sp>
        <p:nvSpPr>
          <p:cNvPr id="6" name="Text 4"/>
          <p:cNvSpPr/>
          <p:nvPr/>
        </p:nvSpPr>
        <p:spPr>
          <a:xfrm>
            <a:off x="822960" y="3611880"/>
            <a:ext cx="10515600" cy="457200"/>
          </a:xfrm>
          <a:prstGeom prst="rect">
            <a:avLst/>
          </a:prstGeom>
          <a:noFill/>
          <a:ln/>
        </p:spPr>
        <p:txBody>
          <a:bodyPr wrap="square" rtlCol="0" anchor="ctr"/>
          <a:lstStyle/>
          <a:p>
            <a:pPr indent="0" marL="0">
              <a:buNone/>
            </a:pPr>
            <a:r>
              <a:rPr lang="en-US" sz="1600" dirty="0">
                <a:solidFill>
                  <a:srgbClr val="C9D6EA"/>
                </a:solidFill>
                <a:latin typeface="Arial" pitchFamily="34" charset="0"/>
                <a:ea typeface="Arial" pitchFamily="34" charset="-122"/>
                <a:cs typeface="Arial" pitchFamily="34" charset="-120"/>
              </a:rPr>
              <a:t>Concept 1 · Concept 2 · Concept 3 (Gia sư AI 1:1) — trình bày cho Product Manager / BOD</a:t>
            </a:r>
            <a:endParaRPr lang="en-US" sz="1600" dirty="0"/>
          </a:p>
        </p:txBody>
      </p:sp>
      <p:sp>
        <p:nvSpPr>
          <p:cNvPr id="7" name="Text 5"/>
          <p:cNvSpPr/>
          <p:nvPr/>
        </p:nvSpPr>
        <p:spPr>
          <a:xfrm>
            <a:off x="822960" y="4160520"/>
            <a:ext cx="10515600" cy="365760"/>
          </a:xfrm>
          <a:prstGeom prst="rect">
            <a:avLst/>
          </a:prstGeom>
          <a:noFill/>
          <a:ln/>
        </p:spPr>
        <p:txBody>
          <a:bodyPr wrap="square" rtlCol="0" anchor="ctr"/>
          <a:lstStyle/>
          <a:p>
            <a:pPr indent="0" marL="0">
              <a:buNone/>
            </a:pPr>
            <a:r>
              <a:rPr lang="en-US" sz="1250" dirty="0">
                <a:solidFill>
                  <a:srgbClr val="8FA3C4"/>
                </a:solidFill>
                <a:latin typeface="Arial" pitchFamily="34" charset="0"/>
                <a:ea typeface="Arial" pitchFamily="34" charset="-122"/>
                <a:cs typeface="Arial" pitchFamily="34" charset="-120"/>
              </a:rPr>
              <a:t>v2.1 · 18/08/2026   ·   Nguồn: 00_context/product-brief-2026-08-13.md</a:t>
            </a:r>
            <a:endParaRPr lang="en-US" sz="1250" dirty="0"/>
          </a:p>
        </p:txBody>
      </p:sp>
      <p:sp>
        <p:nvSpPr>
          <p:cNvPr id="8" name="Text 6"/>
          <p:cNvSpPr/>
          <p:nvPr/>
        </p:nvSpPr>
        <p:spPr>
          <a:xfrm>
            <a:off x="822960" y="6126480"/>
            <a:ext cx="10515600" cy="320040"/>
          </a:xfrm>
          <a:prstGeom prst="rect">
            <a:avLst/>
          </a:prstGeom>
          <a:noFill/>
          <a:ln/>
        </p:spPr>
        <p:txBody>
          <a:bodyPr wrap="square" rtlCol="0" anchor="ctr"/>
          <a:lstStyle/>
          <a:p>
            <a:pPr indent="0" marL="0">
              <a:buNone/>
            </a:pPr>
            <a:r>
              <a:rPr lang="en-US" sz="1200" dirty="0">
                <a:solidFill>
                  <a:srgbClr val="8FA3C4"/>
                </a:solidFill>
                <a:latin typeface="Arial" pitchFamily="34" charset="0"/>
                <a:ea typeface="Arial" pitchFamily="34" charset="-122"/>
                <a:cs typeface="Arial" pitchFamily="34" charset="-120"/>
              </a:rPr>
              <a:t>Quy ước:  ● Dữ liệu thật / đã chốt     ◆ Giả định cần xác nhận     ⚠ Rủi ro / mâu thuẫn cần xử lý</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NỘI DUNG TRÌNH BÀY</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Agenda</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Text 7"/>
          <p:cNvSpPr/>
          <p:nvPr/>
        </p:nvSpPr>
        <p:spPr>
          <a:xfrm>
            <a:off x="548640" y="1417320"/>
            <a:ext cx="822960" cy="502920"/>
          </a:xfrm>
          <a:prstGeom prst="rect">
            <a:avLst/>
          </a:prstGeom>
          <a:noFill/>
          <a:ln/>
        </p:spPr>
        <p:txBody>
          <a:bodyPr wrap="square" rtlCol="0" anchor="ctr"/>
          <a:lstStyle/>
          <a:p>
            <a:pPr indent="0" marL="0">
              <a:buNone/>
            </a:pPr>
            <a:r>
              <a:rPr lang="en-US" sz="2000" b="1" dirty="0">
                <a:solidFill>
                  <a:srgbClr val="0E7C86"/>
                </a:solidFill>
                <a:latin typeface="Arial" pitchFamily="34" charset="0"/>
                <a:ea typeface="Arial" pitchFamily="34" charset="-122"/>
                <a:cs typeface="Arial" pitchFamily="34" charset="-120"/>
              </a:rPr>
              <a:t>01</a:t>
            </a:r>
            <a:endParaRPr lang="en-US" sz="2000" dirty="0"/>
          </a:p>
        </p:txBody>
      </p:sp>
      <p:sp>
        <p:nvSpPr>
          <p:cNvPr id="10" name="Text 8"/>
          <p:cNvSpPr/>
          <p:nvPr/>
        </p:nvSpPr>
        <p:spPr>
          <a:xfrm>
            <a:off x="1463040" y="1417320"/>
            <a:ext cx="9601200" cy="502920"/>
          </a:xfrm>
          <a:prstGeom prst="rect">
            <a:avLst/>
          </a:prstGeom>
          <a:noFill/>
          <a:ln/>
        </p:spPr>
        <p:txBody>
          <a:bodyPr wrap="square" rtlCol="0" anchor="ctr"/>
          <a:lstStyle/>
          <a:p>
            <a:pPr indent="0" marL="0">
              <a:buNone/>
            </a:pPr>
            <a:r>
              <a:rPr lang="en-US" sz="1800" dirty="0">
                <a:solidFill>
                  <a:srgbClr val="222222"/>
                </a:solidFill>
                <a:latin typeface="Arial" pitchFamily="34" charset="0"/>
                <a:ea typeface="Arial" pitchFamily="34" charset="-122"/>
                <a:cs typeface="Arial" pitchFamily="34" charset="-120"/>
              </a:rPr>
              <a:t>Bối cảnh &amp; mục tiêu dự án</a:t>
            </a:r>
            <a:endParaRPr lang="en-US" sz="1800" dirty="0"/>
          </a:p>
        </p:txBody>
      </p:sp>
      <p:sp>
        <p:nvSpPr>
          <p:cNvPr id="11" name="Text 9"/>
          <p:cNvSpPr/>
          <p:nvPr/>
        </p:nvSpPr>
        <p:spPr>
          <a:xfrm>
            <a:off x="548640" y="2075688"/>
            <a:ext cx="822960" cy="502920"/>
          </a:xfrm>
          <a:prstGeom prst="rect">
            <a:avLst/>
          </a:prstGeom>
          <a:noFill/>
          <a:ln/>
        </p:spPr>
        <p:txBody>
          <a:bodyPr wrap="square" rtlCol="0" anchor="ctr"/>
          <a:lstStyle/>
          <a:p>
            <a:pPr indent="0" marL="0">
              <a:buNone/>
            </a:pPr>
            <a:r>
              <a:rPr lang="en-US" sz="2000" b="1" dirty="0">
                <a:solidFill>
                  <a:srgbClr val="0E7C86"/>
                </a:solidFill>
                <a:latin typeface="Arial" pitchFamily="34" charset="0"/>
                <a:ea typeface="Arial" pitchFamily="34" charset="-122"/>
                <a:cs typeface="Arial" pitchFamily="34" charset="-120"/>
              </a:rPr>
              <a:t>02</a:t>
            </a:r>
            <a:endParaRPr lang="en-US" sz="2000" dirty="0"/>
          </a:p>
        </p:txBody>
      </p:sp>
      <p:sp>
        <p:nvSpPr>
          <p:cNvPr id="12" name="Text 10"/>
          <p:cNvSpPr/>
          <p:nvPr/>
        </p:nvSpPr>
        <p:spPr>
          <a:xfrm>
            <a:off x="1463040" y="2075688"/>
            <a:ext cx="9601200" cy="502920"/>
          </a:xfrm>
          <a:prstGeom prst="rect">
            <a:avLst/>
          </a:prstGeom>
          <a:noFill/>
          <a:ln/>
        </p:spPr>
        <p:txBody>
          <a:bodyPr wrap="square" rtlCol="0" anchor="ctr"/>
          <a:lstStyle/>
          <a:p>
            <a:pPr indent="0" marL="0">
              <a:buNone/>
            </a:pPr>
            <a:r>
              <a:rPr lang="en-US" sz="1800" dirty="0">
                <a:solidFill>
                  <a:srgbClr val="222222"/>
                </a:solidFill>
                <a:latin typeface="Arial" pitchFamily="34" charset="0"/>
                <a:ea typeface="Arial" pitchFamily="34" charset="-122"/>
                <a:cs typeface="Arial" pitchFamily="34" charset="-120"/>
              </a:rPr>
              <a:t>Khung quyết định: 3 định hướng (không phải chọn 1/4)</a:t>
            </a:r>
            <a:endParaRPr lang="en-US" sz="1800" dirty="0"/>
          </a:p>
        </p:txBody>
      </p:sp>
      <p:sp>
        <p:nvSpPr>
          <p:cNvPr id="13" name="Text 11"/>
          <p:cNvSpPr/>
          <p:nvPr/>
        </p:nvSpPr>
        <p:spPr>
          <a:xfrm>
            <a:off x="548640" y="2734056"/>
            <a:ext cx="822960" cy="502920"/>
          </a:xfrm>
          <a:prstGeom prst="rect">
            <a:avLst/>
          </a:prstGeom>
          <a:noFill/>
          <a:ln/>
        </p:spPr>
        <p:txBody>
          <a:bodyPr wrap="square" rtlCol="0" anchor="ctr"/>
          <a:lstStyle/>
          <a:p>
            <a:pPr indent="0" marL="0">
              <a:buNone/>
            </a:pPr>
            <a:r>
              <a:rPr lang="en-US" sz="2000" b="1" dirty="0">
                <a:solidFill>
                  <a:srgbClr val="0E7C86"/>
                </a:solidFill>
                <a:latin typeface="Arial" pitchFamily="34" charset="0"/>
                <a:ea typeface="Arial" pitchFamily="34" charset="-122"/>
                <a:cs typeface="Arial" pitchFamily="34" charset="-120"/>
              </a:rPr>
              <a:t>03</a:t>
            </a:r>
            <a:endParaRPr lang="en-US" sz="2000" dirty="0"/>
          </a:p>
        </p:txBody>
      </p:sp>
      <p:sp>
        <p:nvSpPr>
          <p:cNvPr id="14" name="Text 12"/>
          <p:cNvSpPr/>
          <p:nvPr/>
        </p:nvSpPr>
        <p:spPr>
          <a:xfrm>
            <a:off x="1463040" y="2734056"/>
            <a:ext cx="9601200" cy="502920"/>
          </a:xfrm>
          <a:prstGeom prst="rect">
            <a:avLst/>
          </a:prstGeom>
          <a:noFill/>
          <a:ln/>
        </p:spPr>
        <p:txBody>
          <a:bodyPr wrap="square" rtlCol="0" anchor="ctr"/>
          <a:lstStyle/>
          <a:p>
            <a:pPr indent="0" marL="0">
              <a:buNone/>
            </a:pPr>
            <a:r>
              <a:rPr lang="en-US" sz="1800" dirty="0">
                <a:solidFill>
                  <a:srgbClr val="222222"/>
                </a:solidFill>
                <a:latin typeface="Arial" pitchFamily="34" charset="0"/>
                <a:ea typeface="Arial" pitchFamily="34" charset="-122"/>
                <a:cs typeface="Arial" pitchFamily="34" charset="-120"/>
              </a:rPr>
              <a:t>Concept 1 — Làm mịn &amp; nâng cấp</a:t>
            </a:r>
            <a:endParaRPr lang="en-US" sz="1800" dirty="0"/>
          </a:p>
        </p:txBody>
      </p:sp>
      <p:sp>
        <p:nvSpPr>
          <p:cNvPr id="15" name="Text 13"/>
          <p:cNvSpPr/>
          <p:nvPr/>
        </p:nvSpPr>
        <p:spPr>
          <a:xfrm>
            <a:off x="548640" y="3392424"/>
            <a:ext cx="822960" cy="502920"/>
          </a:xfrm>
          <a:prstGeom prst="rect">
            <a:avLst/>
          </a:prstGeom>
          <a:noFill/>
          <a:ln/>
        </p:spPr>
        <p:txBody>
          <a:bodyPr wrap="square" rtlCol="0" anchor="ctr"/>
          <a:lstStyle/>
          <a:p>
            <a:pPr indent="0" marL="0">
              <a:buNone/>
            </a:pPr>
            <a:r>
              <a:rPr lang="en-US" sz="2000" b="1" dirty="0">
                <a:solidFill>
                  <a:srgbClr val="0E7C86"/>
                </a:solidFill>
                <a:latin typeface="Arial" pitchFamily="34" charset="0"/>
                <a:ea typeface="Arial" pitchFamily="34" charset="-122"/>
                <a:cs typeface="Arial" pitchFamily="34" charset="-120"/>
              </a:rPr>
              <a:t>04</a:t>
            </a:r>
            <a:endParaRPr lang="en-US" sz="2000" dirty="0"/>
          </a:p>
        </p:txBody>
      </p:sp>
      <p:sp>
        <p:nvSpPr>
          <p:cNvPr id="16" name="Text 14"/>
          <p:cNvSpPr/>
          <p:nvPr/>
        </p:nvSpPr>
        <p:spPr>
          <a:xfrm>
            <a:off x="1463040" y="3392424"/>
            <a:ext cx="9601200" cy="502920"/>
          </a:xfrm>
          <a:prstGeom prst="rect">
            <a:avLst/>
          </a:prstGeom>
          <a:noFill/>
          <a:ln/>
        </p:spPr>
        <p:txBody>
          <a:bodyPr wrap="square" rtlCol="0" anchor="ctr"/>
          <a:lstStyle/>
          <a:p>
            <a:pPr indent="0" marL="0">
              <a:buNone/>
            </a:pPr>
            <a:r>
              <a:rPr lang="en-US" sz="1800" dirty="0">
                <a:solidFill>
                  <a:srgbClr val="222222"/>
                </a:solidFill>
                <a:latin typeface="Arial" pitchFamily="34" charset="0"/>
                <a:ea typeface="Arial" pitchFamily="34" charset="-122"/>
                <a:cs typeface="Arial" pitchFamily="34" charset="-120"/>
              </a:rPr>
              <a:t>Concept 2 — Làm mịn + Thêm môn</a:t>
            </a:r>
            <a:endParaRPr lang="en-US" sz="1800" dirty="0"/>
          </a:p>
        </p:txBody>
      </p:sp>
      <p:sp>
        <p:nvSpPr>
          <p:cNvPr id="17" name="Text 15"/>
          <p:cNvSpPr/>
          <p:nvPr/>
        </p:nvSpPr>
        <p:spPr>
          <a:xfrm>
            <a:off x="548640" y="4050792"/>
            <a:ext cx="822960" cy="502920"/>
          </a:xfrm>
          <a:prstGeom prst="rect">
            <a:avLst/>
          </a:prstGeom>
          <a:noFill/>
          <a:ln/>
        </p:spPr>
        <p:txBody>
          <a:bodyPr wrap="square" rtlCol="0" anchor="ctr"/>
          <a:lstStyle/>
          <a:p>
            <a:pPr indent="0" marL="0">
              <a:buNone/>
            </a:pPr>
            <a:r>
              <a:rPr lang="en-US" sz="2000" b="1" dirty="0">
                <a:solidFill>
                  <a:srgbClr val="0E7C86"/>
                </a:solidFill>
                <a:latin typeface="Arial" pitchFamily="34" charset="0"/>
                <a:ea typeface="Arial" pitchFamily="34" charset="-122"/>
                <a:cs typeface="Arial" pitchFamily="34" charset="-120"/>
              </a:rPr>
              <a:t>05</a:t>
            </a:r>
            <a:endParaRPr lang="en-US" sz="2000" dirty="0"/>
          </a:p>
        </p:txBody>
      </p:sp>
      <p:sp>
        <p:nvSpPr>
          <p:cNvPr id="18" name="Text 16"/>
          <p:cNvSpPr/>
          <p:nvPr/>
        </p:nvSpPr>
        <p:spPr>
          <a:xfrm>
            <a:off x="1463040" y="4050792"/>
            <a:ext cx="9601200" cy="502920"/>
          </a:xfrm>
          <a:prstGeom prst="rect">
            <a:avLst/>
          </a:prstGeom>
          <a:noFill/>
          <a:ln/>
        </p:spPr>
        <p:txBody>
          <a:bodyPr wrap="square" rtlCol="0" anchor="ctr"/>
          <a:lstStyle/>
          <a:p>
            <a:pPr indent="0" marL="0">
              <a:buNone/>
            </a:pPr>
            <a:r>
              <a:rPr lang="en-US" sz="1800" dirty="0">
                <a:solidFill>
                  <a:srgbClr val="222222"/>
                </a:solidFill>
                <a:latin typeface="Arial" pitchFamily="34" charset="0"/>
                <a:ea typeface="Arial" pitchFamily="34" charset="-122"/>
                <a:cs typeface="Arial" pitchFamily="34" charset="-120"/>
              </a:rPr>
              <a:t>Concept 3 — Gia sư AI 1:1  (MỚI — làm giàu v2.1, 18/08)</a:t>
            </a:r>
            <a:endParaRPr lang="en-US" sz="1800" dirty="0"/>
          </a:p>
        </p:txBody>
      </p:sp>
      <p:sp>
        <p:nvSpPr>
          <p:cNvPr id="19" name="Text 17"/>
          <p:cNvSpPr/>
          <p:nvPr/>
        </p:nvSpPr>
        <p:spPr>
          <a:xfrm>
            <a:off x="548640" y="4709160"/>
            <a:ext cx="822960" cy="502920"/>
          </a:xfrm>
          <a:prstGeom prst="rect">
            <a:avLst/>
          </a:prstGeom>
          <a:noFill/>
          <a:ln/>
        </p:spPr>
        <p:txBody>
          <a:bodyPr wrap="square" rtlCol="0" anchor="ctr"/>
          <a:lstStyle/>
          <a:p>
            <a:pPr indent="0" marL="0">
              <a:buNone/>
            </a:pPr>
            <a:r>
              <a:rPr lang="en-US" sz="2000" b="1" dirty="0">
                <a:solidFill>
                  <a:srgbClr val="0E7C86"/>
                </a:solidFill>
                <a:latin typeface="Arial" pitchFamily="34" charset="0"/>
                <a:ea typeface="Arial" pitchFamily="34" charset="-122"/>
                <a:cs typeface="Arial" pitchFamily="34" charset="-120"/>
              </a:rPr>
              <a:t>06</a:t>
            </a:r>
            <a:endParaRPr lang="en-US" sz="2000" dirty="0"/>
          </a:p>
        </p:txBody>
      </p:sp>
      <p:sp>
        <p:nvSpPr>
          <p:cNvPr id="20" name="Text 18"/>
          <p:cNvSpPr/>
          <p:nvPr/>
        </p:nvSpPr>
        <p:spPr>
          <a:xfrm>
            <a:off x="1463040" y="4709160"/>
            <a:ext cx="9601200" cy="502920"/>
          </a:xfrm>
          <a:prstGeom prst="rect">
            <a:avLst/>
          </a:prstGeom>
          <a:noFill/>
          <a:ln/>
        </p:spPr>
        <p:txBody>
          <a:bodyPr wrap="square" rtlCol="0" anchor="ctr"/>
          <a:lstStyle/>
          <a:p>
            <a:pPr indent="0" marL="0">
              <a:buNone/>
            </a:pPr>
            <a:r>
              <a:rPr lang="en-US" sz="1800" dirty="0">
                <a:solidFill>
                  <a:srgbClr val="222222"/>
                </a:solidFill>
                <a:latin typeface="Arial" pitchFamily="34" charset="0"/>
                <a:ea typeface="Arial" pitchFamily="34" charset="-122"/>
                <a:cs typeface="Arial" pitchFamily="34" charset="-120"/>
              </a:rPr>
              <a:t>Kế hoạch triển khai &amp; rủi ro</a:t>
            </a:r>
            <a:endParaRPr lang="en-US" sz="1800" dirty="0"/>
          </a:p>
        </p:txBody>
      </p:sp>
      <p:sp>
        <p:nvSpPr>
          <p:cNvPr id="21" name="Text 19"/>
          <p:cNvSpPr/>
          <p:nvPr/>
        </p:nvSpPr>
        <p:spPr>
          <a:xfrm>
            <a:off x="548640" y="5367528"/>
            <a:ext cx="822960" cy="502920"/>
          </a:xfrm>
          <a:prstGeom prst="rect">
            <a:avLst/>
          </a:prstGeom>
          <a:noFill/>
          <a:ln/>
        </p:spPr>
        <p:txBody>
          <a:bodyPr wrap="square" rtlCol="0" anchor="ctr"/>
          <a:lstStyle/>
          <a:p>
            <a:pPr indent="0" marL="0">
              <a:buNone/>
            </a:pPr>
            <a:r>
              <a:rPr lang="en-US" sz="2000" b="1" dirty="0">
                <a:solidFill>
                  <a:srgbClr val="0E7C86"/>
                </a:solidFill>
                <a:latin typeface="Arial" pitchFamily="34" charset="0"/>
                <a:ea typeface="Arial" pitchFamily="34" charset="-122"/>
                <a:cs typeface="Arial" pitchFamily="34" charset="-120"/>
              </a:rPr>
              <a:t>07</a:t>
            </a:r>
            <a:endParaRPr lang="en-US" sz="2000" dirty="0"/>
          </a:p>
        </p:txBody>
      </p:sp>
      <p:sp>
        <p:nvSpPr>
          <p:cNvPr id="22" name="Text 20"/>
          <p:cNvSpPr/>
          <p:nvPr/>
        </p:nvSpPr>
        <p:spPr>
          <a:xfrm>
            <a:off x="1463040" y="5367528"/>
            <a:ext cx="9601200" cy="502920"/>
          </a:xfrm>
          <a:prstGeom prst="rect">
            <a:avLst/>
          </a:prstGeom>
          <a:noFill/>
          <a:ln/>
        </p:spPr>
        <p:txBody>
          <a:bodyPr wrap="square" rtlCol="0" anchor="ctr"/>
          <a:lstStyle/>
          <a:p>
            <a:pPr indent="0" marL="0">
              <a:buNone/>
            </a:pPr>
            <a:r>
              <a:rPr lang="en-US" sz="1800" dirty="0">
                <a:solidFill>
                  <a:srgbClr val="222222"/>
                </a:solidFill>
                <a:latin typeface="Arial" pitchFamily="34" charset="0"/>
                <a:ea typeface="Arial" pitchFamily="34" charset="-122"/>
                <a:cs typeface="Arial" pitchFamily="34" charset="-120"/>
              </a:rPr>
              <a:t>Quyết định cần BOD chốt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1. BỐI CẢNH &amp; MỤC TIÊU</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Vị trí Edupia Class trong chiến lược 2026-2028</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2377440"/>
                <a:gridCol w="4663440"/>
                <a:gridCol w="4206240"/>
              </a:tblGrid>
              <a:tr h="0">
                <a:tc>
                  <a:txBody>
                    <a:bodyPr/>
                    <a:lstStyle/>
                    <a:p>
                      <a:pPr indent="0" marL="0">
                        <a:buNone/>
                      </a:pP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Edupia Class (390k)</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E3A66"/>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Tutor 1-4 / Tutor 1-1</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5B6B8C"/>
                    </a:solidFill>
                  </a:tcPr>
                </a:tc>
              </a:tr>
              <a:tr h="0">
                <a:tc>
                  <a:txBody>
                    <a:bodyPr/>
                    <a:lstStyle/>
                    <a:p>
                      <a:pPr indent="0" marL="0">
                        <a:buNone/>
                      </a:pPr>
                      <a:r>
                        <a:rPr lang="en-US" sz="1250" b="1" dirty="0">
                          <a:solidFill>
                            <a:srgbClr val="222222"/>
                          </a:solidFill>
                          <a:latin typeface="Arial" pitchFamily="34" charset="0"/>
                          <a:ea typeface="Arial" pitchFamily="34" charset="-122"/>
                          <a:cs typeface="Arial" pitchFamily="34" charset="-120"/>
                        </a:rPr>
                        <a:t>Phân khúc</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250" dirty="0">
                          <a:solidFill>
                            <a:srgbClr val="222222"/>
                          </a:solidFill>
                          <a:latin typeface="Arial" pitchFamily="34" charset="0"/>
                          <a:ea typeface="Arial" pitchFamily="34" charset="-122"/>
                          <a:cs typeface="Arial" pitchFamily="34" charset="-120"/>
                        </a:rPr>
                        <a:t>Đại trà (mass) — quy mô thị trường lớn nhất</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250" dirty="0">
                          <a:solidFill>
                            <a:srgbClr val="222222"/>
                          </a:solidFill>
                          <a:latin typeface="Arial" pitchFamily="34" charset="0"/>
                          <a:ea typeface="Arial" pitchFamily="34" charset="-122"/>
                          <a:cs typeface="Arial" pitchFamily="34" charset="-120"/>
                        </a:rPr>
                        <a:t>Cao cấp — cá nhân hóa cao</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250" b="1" dirty="0">
                          <a:solidFill>
                            <a:srgbClr val="222222"/>
                          </a:solidFill>
                          <a:latin typeface="Arial" pitchFamily="34" charset="0"/>
                          <a:ea typeface="Arial" pitchFamily="34" charset="-122"/>
                          <a:cs typeface="Arial" pitchFamily="34" charset="-120"/>
                        </a:rPr>
                        <a:t>Vai trò chiến lược</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250" dirty="0">
                          <a:solidFill>
                            <a:srgbClr val="222222"/>
                          </a:solidFill>
                          <a:latin typeface="Arial" pitchFamily="34" charset="0"/>
                          <a:ea typeface="Arial" pitchFamily="34" charset="-122"/>
                          <a:cs typeface="Arial" pitchFamily="34" charset="-120"/>
                        </a:rPr>
                        <a:t>Product Growth Engine — dẫn dắt tăng trưởng người dùng, doanh thu, lợi nhuận</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250" dirty="0">
                          <a:solidFill>
                            <a:srgbClr val="222222"/>
                          </a:solidFill>
                          <a:latin typeface="Arial" pitchFamily="34" charset="0"/>
                          <a:ea typeface="Arial" pitchFamily="34" charset="-122"/>
                          <a:cs typeface="Arial" pitchFamily="34" charset="-120"/>
                        </a:rPr>
                        <a:t>Duy trì tốc độ tăng trưởng hiện tại, không mở rộng quy mô</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250" b="1" dirty="0">
                          <a:solidFill>
                            <a:srgbClr val="222222"/>
                          </a:solidFill>
                          <a:latin typeface="Arial" pitchFamily="34" charset="0"/>
                          <a:ea typeface="Arial" pitchFamily="34" charset="-122"/>
                          <a:cs typeface="Arial" pitchFamily="34" charset="-120"/>
                        </a:rPr>
                        <a:t>Cách thắng</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250" dirty="0">
                          <a:solidFill>
                            <a:srgbClr val="222222"/>
                          </a:solidFill>
                          <a:latin typeface="Arial" pitchFamily="34" charset="0"/>
                          <a:ea typeface="Arial" pitchFamily="34" charset="-122"/>
                          <a:cs typeface="Arial" pitchFamily="34" charset="-120"/>
                        </a:rPr>
                        <a:t>Ứng dụng AI/dữ liệu vào tất cả công đoạn ảnh hưởng hiệu quả học tập</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250" dirty="0">
                          <a:solidFill>
                            <a:srgbClr val="222222"/>
                          </a:solidFill>
                          <a:latin typeface="Arial" pitchFamily="34" charset="0"/>
                          <a:ea typeface="Arial" pitchFamily="34" charset="-122"/>
                          <a:cs typeface="Arial" pitchFamily="34" charset="-120"/>
                        </a:rPr>
                        <a:t>Nâng chất lượng gia sư, tối ưu vận hành, tăng tỷ lệ gia hạn</a:t>
                      </a:r>
                      <a:endParaRPr lang="en-US" sz="12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bl>
          </a:graphicData>
        </a:graphic>
      </p:graphicFrame>
      <p:sp>
        <p:nvSpPr>
          <p:cNvPr id="10" name="Text 7"/>
          <p:cNvSpPr/>
          <p:nvPr/>
        </p:nvSpPr>
        <p:spPr>
          <a:xfrm>
            <a:off x="457200" y="3794760"/>
            <a:ext cx="3657600" cy="274320"/>
          </a:xfrm>
          <a:prstGeom prst="rect">
            <a:avLst/>
          </a:prstGeom>
          <a:noFill/>
          <a:ln/>
        </p:spPr>
        <p:txBody>
          <a:bodyPr wrap="square" rtlCol="0" anchor="ctr"/>
          <a:lstStyle/>
          <a:p>
            <a:pPr indent="0" marL="0">
              <a:buNone/>
            </a:pPr>
            <a:r>
              <a:rPr lang="en-US" sz="1200" b="1" dirty="0">
                <a:solidFill>
                  <a:srgbClr val="16264A"/>
                </a:solidFill>
                <a:latin typeface="Arial" pitchFamily="34" charset="0"/>
                <a:ea typeface="Arial" pitchFamily="34" charset="-122"/>
                <a:cs typeface="Arial" pitchFamily="34" charset="-120"/>
              </a:rPr>
              <a:t>Mục tiêu lợi nhuận công ty</a:t>
            </a:r>
            <a:endParaRPr lang="en-US" sz="1200" dirty="0"/>
          </a:p>
        </p:txBody>
      </p:sp>
      <p:sp>
        <p:nvSpPr>
          <p:cNvPr id="11" name="Text 8"/>
          <p:cNvSpPr/>
          <p:nvPr/>
        </p:nvSpPr>
        <p:spPr>
          <a:xfrm>
            <a:off x="457200" y="4069080"/>
            <a:ext cx="5486400" cy="320040"/>
          </a:xfrm>
          <a:prstGeom prst="rect">
            <a:avLst/>
          </a:prstGeom>
          <a:noFill/>
          <a:ln/>
        </p:spPr>
        <p:txBody>
          <a:bodyPr wrap="square" rtlCol="0" anchor="ctr"/>
          <a:lstStyle/>
          <a:p>
            <a:pPr indent="0" marL="0">
              <a:buNone/>
            </a:pPr>
            <a:r>
              <a:rPr lang="en-US" sz="1400" dirty="0">
                <a:solidFill>
                  <a:srgbClr val="222222"/>
                </a:solidFill>
                <a:latin typeface="Arial" pitchFamily="34" charset="0"/>
                <a:ea typeface="Arial" pitchFamily="34" charset="-122"/>
                <a:cs typeface="Arial" pitchFamily="34" charset="-120"/>
              </a:rPr>
              <a:t>2026: 20 tỷ    ·    2027: 70 tỷ    ·    2028: 130 tỷ</a:t>
            </a:r>
            <a:endParaRPr lang="en-US" sz="1400" dirty="0"/>
          </a:p>
        </p:txBody>
      </p:sp>
      <p:sp>
        <p:nvSpPr>
          <p:cNvPr id="12" name="Text 9"/>
          <p:cNvSpPr/>
          <p:nvPr/>
        </p:nvSpPr>
        <p:spPr>
          <a:xfrm>
            <a:off x="457200" y="4572000"/>
            <a:ext cx="3657600" cy="274320"/>
          </a:xfrm>
          <a:prstGeom prst="rect">
            <a:avLst/>
          </a:prstGeom>
          <a:noFill/>
          <a:ln/>
        </p:spPr>
        <p:txBody>
          <a:bodyPr wrap="square" rtlCol="0" anchor="ctr"/>
          <a:lstStyle/>
          <a:p>
            <a:pPr indent="0" marL="0">
              <a:buNone/>
            </a:pPr>
            <a:r>
              <a:rPr lang="en-US" sz="1200" b="1" dirty="0">
                <a:solidFill>
                  <a:srgbClr val="16264A"/>
                </a:solidFill>
                <a:latin typeface="Arial" pitchFamily="34" charset="0"/>
                <a:ea typeface="Arial" pitchFamily="34" charset="-122"/>
                <a:cs typeface="Arial" pitchFamily="34" charset="-120"/>
              </a:rPr>
              <a:t>Deadline chính thức</a:t>
            </a:r>
            <a:endParaRPr lang="en-US" sz="1200" dirty="0"/>
          </a:p>
        </p:txBody>
      </p:sp>
      <p:sp>
        <p:nvSpPr>
          <p:cNvPr id="13" name="Text 10"/>
          <p:cNvSpPr/>
          <p:nvPr/>
        </p:nvSpPr>
        <p:spPr>
          <a:xfrm>
            <a:off x="457200" y="4846320"/>
            <a:ext cx="7315200" cy="320040"/>
          </a:xfrm>
          <a:prstGeom prst="rect">
            <a:avLst/>
          </a:prstGeom>
          <a:noFill/>
          <a:ln/>
        </p:spPr>
        <p:txBody>
          <a:bodyPr wrap="square" rtlCol="0" anchor="ctr"/>
          <a:lstStyle/>
          <a:p>
            <a:pPr indent="0" marL="0">
              <a:buNone/>
            </a:pPr>
            <a:r>
              <a:rPr lang="en-US" sz="1400" dirty="0">
                <a:solidFill>
                  <a:srgbClr val="222222"/>
                </a:solidFill>
                <a:latin typeface="Arial" pitchFamily="34" charset="0"/>
                <a:ea typeface="Arial" pitchFamily="34" charset="-122"/>
                <a:cs typeface="Arial" pitchFamily="34" charset="-120"/>
              </a:rPr>
              <a:t>Hoàn thiện phương án định vị AI Class mới trước 1/11/2026 (PIC: Liêm)</a:t>
            </a:r>
            <a:endParaRPr lang="en-US" sz="1400" dirty="0"/>
          </a:p>
        </p:txBody>
      </p:sp>
      <p:sp>
        <p:nvSpPr>
          <p:cNvPr id="14" name="Shape 11"/>
          <p:cNvSpPr/>
          <p:nvPr/>
        </p:nvSpPr>
        <p:spPr>
          <a:xfrm>
            <a:off x="457200" y="5440680"/>
            <a:ext cx="10789920" cy="868680"/>
          </a:xfrm>
          <a:prstGeom prst="rect">
            <a:avLst/>
          </a:prstGeom>
          <a:solidFill>
            <a:srgbClr val="F4F6F9"/>
          </a:solidFill>
          <a:ln w="12700">
            <a:solidFill>
              <a:srgbClr val="D9DFE8"/>
            </a:solidFill>
            <a:prstDash val="solid"/>
          </a:ln>
        </p:spPr>
      </p:sp>
      <p:sp>
        <p:nvSpPr>
          <p:cNvPr id="15" name="Text 12"/>
          <p:cNvSpPr/>
          <p:nvPr/>
        </p:nvSpPr>
        <p:spPr>
          <a:xfrm>
            <a:off x="685800" y="5559552"/>
            <a:ext cx="10332720" cy="685800"/>
          </a:xfrm>
          <a:prstGeom prst="rect">
            <a:avLst/>
          </a:prstGeom>
          <a:noFill/>
          <a:ln/>
        </p:spPr>
        <p:txBody>
          <a:bodyPr wrap="square" rtlCol="0" anchor="ctr"/>
          <a:lstStyle/>
          <a:p>
            <a:pPr indent="0" marL="0">
              <a:buNone/>
            </a:pPr>
            <a:r>
              <a:rPr lang="en-US" sz="1250" b="1" dirty="0">
                <a:solidFill>
                  <a:srgbClr val="16264A"/>
                </a:solidFill>
                <a:latin typeface="Arial" pitchFamily="34" charset="0"/>
                <a:ea typeface="Arial" pitchFamily="34" charset="-122"/>
                <a:cs typeface="Arial" pitchFamily="34" charset="-120"/>
              </a:rPr>
              <a:t>Mục tiêu dự án:  </a:t>
            </a:r>
            <a:pPr indent="0" marL="0">
              <a:buNone/>
            </a:pPr>
            <a:r>
              <a:rPr lang="en-US" sz="1250" dirty="0">
                <a:solidFill>
                  <a:srgbClr val="222222"/>
                </a:solidFill>
                <a:latin typeface="Arial" pitchFamily="34" charset="0"/>
                <a:ea typeface="Arial" pitchFamily="34" charset="-122"/>
                <a:cs typeface="Arial" pitchFamily="34" charset="-120"/>
              </a:rPr>
              <a:t>Xác định định hướng nào — và ở mức đầu tư/biến thể nào — hiện thực hóa đúng vai trò Product Growth Engine, thắng bằng ứng dụng AI/dữ liệu toàn diện, ở mức giá 390k, được khách hàng và thị trường chấp nhận, và chứng minh được khả năng tạo lợi nhuận.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2. KHUNG QUYẾT ĐỊNH</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Từ “chọn 1 trong 4” sang “3 định hướng, mỗi định hướng nhiều mức”</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508760"/>
            <a:ext cx="3630168" cy="4480560"/>
          </a:xfrm>
          <a:prstGeom prst="roundRect">
            <a:avLst>
              <a:gd name="adj" fmla="val 1511"/>
            </a:avLst>
          </a:prstGeom>
          <a:solidFill>
            <a:srgbClr val="FFFFFF"/>
          </a:solidFill>
          <a:ln w="12700">
            <a:solidFill>
              <a:srgbClr val="D9DFE8"/>
            </a:solidFill>
            <a:prstDash val="solid"/>
          </a:ln>
        </p:spPr>
      </p:sp>
      <p:sp>
        <p:nvSpPr>
          <p:cNvPr id="10" name="Shape 8"/>
          <p:cNvSpPr/>
          <p:nvPr/>
        </p:nvSpPr>
        <p:spPr>
          <a:xfrm>
            <a:off x="457200" y="1508760"/>
            <a:ext cx="3630168" cy="777240"/>
          </a:xfrm>
          <a:prstGeom prst="rect">
            <a:avLst/>
          </a:prstGeom>
          <a:solidFill>
            <a:srgbClr val="8B95A6"/>
          </a:solidFill>
          <a:ln/>
        </p:spPr>
      </p:sp>
      <p:sp>
        <p:nvSpPr>
          <p:cNvPr id="11" name="Text 9"/>
          <p:cNvSpPr/>
          <p:nvPr/>
        </p:nvSpPr>
        <p:spPr>
          <a:xfrm>
            <a:off x="457200" y="1572768"/>
            <a:ext cx="3630168"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v1.0</a:t>
            </a:r>
            <a:endParaRPr lang="en-US" sz="2200" dirty="0"/>
          </a:p>
        </p:txBody>
      </p:sp>
      <p:sp>
        <p:nvSpPr>
          <p:cNvPr id="12" name="Text 10"/>
          <p:cNvSpPr/>
          <p:nvPr/>
        </p:nvSpPr>
        <p:spPr>
          <a:xfrm>
            <a:off x="457200" y="1993392"/>
            <a:ext cx="3630168" cy="27432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13/08/2026</a:t>
            </a:r>
            <a:endParaRPr lang="en-US" sz="1100" dirty="0"/>
          </a:p>
        </p:txBody>
      </p:sp>
      <p:sp>
        <p:nvSpPr>
          <p:cNvPr id="13" name="Text 11"/>
          <p:cNvSpPr/>
          <p:nvPr/>
        </p:nvSpPr>
        <p:spPr>
          <a:xfrm>
            <a:off x="685800" y="2514600"/>
            <a:ext cx="3172968" cy="3291840"/>
          </a:xfrm>
          <a:prstGeom prst="rect">
            <a:avLst/>
          </a:prstGeom>
          <a:noFill/>
          <a:ln/>
        </p:spPr>
        <p:txBody>
          <a:bodyPr wrap="square" rtlCol="0" anchor="t"/>
          <a:lstStyle/>
          <a:p>
            <a:pPr indent="0" marL="0">
              <a:lnSpc>
                <a:spcPct val="115000"/>
              </a:lnSpc>
              <a:buNone/>
            </a:pPr>
            <a:r>
              <a:rPr lang="en-US" sz="1300" dirty="0">
                <a:solidFill>
                  <a:srgbClr val="222222"/>
                </a:solidFill>
                <a:latin typeface="Arial" pitchFamily="34" charset="0"/>
                <a:ea typeface="Arial" pitchFamily="34" charset="-122"/>
                <a:cs typeface="Arial" pitchFamily="34" charset="-120"/>
              </a:rPr>
              <a:t>4 concept độc lập (C1–C4) — mỗi concept là một phương án cạnh tranh ngang hàng. Chọn 1 trong 4.</a:t>
            </a:r>
            <a:endParaRPr lang="en-US" sz="1300" dirty="0"/>
          </a:p>
        </p:txBody>
      </p:sp>
      <p:sp>
        <p:nvSpPr>
          <p:cNvPr id="14" name="Shape 12"/>
          <p:cNvSpPr/>
          <p:nvPr/>
        </p:nvSpPr>
        <p:spPr>
          <a:xfrm>
            <a:off x="4270248" y="1508760"/>
            <a:ext cx="3630168" cy="4480560"/>
          </a:xfrm>
          <a:prstGeom prst="roundRect">
            <a:avLst>
              <a:gd name="adj" fmla="val 1511"/>
            </a:avLst>
          </a:prstGeom>
          <a:solidFill>
            <a:srgbClr val="FFFFFF"/>
          </a:solidFill>
          <a:ln w="12700">
            <a:solidFill>
              <a:srgbClr val="D9DFE8"/>
            </a:solidFill>
            <a:prstDash val="solid"/>
          </a:ln>
        </p:spPr>
      </p:sp>
      <p:sp>
        <p:nvSpPr>
          <p:cNvPr id="15" name="Shape 13"/>
          <p:cNvSpPr/>
          <p:nvPr/>
        </p:nvSpPr>
        <p:spPr>
          <a:xfrm>
            <a:off x="4270248" y="1508760"/>
            <a:ext cx="3630168" cy="777240"/>
          </a:xfrm>
          <a:prstGeom prst="rect">
            <a:avLst/>
          </a:prstGeom>
          <a:solidFill>
            <a:srgbClr val="1E3A66"/>
          </a:solidFill>
          <a:ln/>
        </p:spPr>
      </p:sp>
      <p:sp>
        <p:nvSpPr>
          <p:cNvPr id="16" name="Text 14"/>
          <p:cNvSpPr/>
          <p:nvPr/>
        </p:nvSpPr>
        <p:spPr>
          <a:xfrm>
            <a:off x="4270248" y="1572768"/>
            <a:ext cx="3630168"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v2.0</a:t>
            </a:r>
            <a:endParaRPr lang="en-US" sz="2200" dirty="0"/>
          </a:p>
        </p:txBody>
      </p:sp>
      <p:sp>
        <p:nvSpPr>
          <p:cNvPr id="17" name="Text 15"/>
          <p:cNvSpPr/>
          <p:nvPr/>
        </p:nvSpPr>
        <p:spPr>
          <a:xfrm>
            <a:off x="4270248" y="1993392"/>
            <a:ext cx="3630168" cy="27432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17/08/2026</a:t>
            </a:r>
            <a:endParaRPr lang="en-US" sz="1100" dirty="0"/>
          </a:p>
        </p:txBody>
      </p:sp>
      <p:sp>
        <p:nvSpPr>
          <p:cNvPr id="18" name="Text 16"/>
          <p:cNvSpPr/>
          <p:nvPr/>
        </p:nvSpPr>
        <p:spPr>
          <a:xfrm>
            <a:off x="4498848" y="2514600"/>
            <a:ext cx="3172968" cy="3291840"/>
          </a:xfrm>
          <a:prstGeom prst="rect">
            <a:avLst/>
          </a:prstGeom>
          <a:noFill/>
          <a:ln/>
        </p:spPr>
        <p:txBody>
          <a:bodyPr wrap="square" rtlCol="0" anchor="t"/>
          <a:lstStyle/>
          <a:p>
            <a:pPr indent="0" marL="0">
              <a:lnSpc>
                <a:spcPct val="115000"/>
              </a:lnSpc>
              <a:buNone/>
            </a:pPr>
            <a:r>
              <a:rPr lang="en-US" sz="1300" dirty="0">
                <a:solidFill>
                  <a:srgbClr val="222222"/>
                </a:solidFill>
                <a:latin typeface="Arial" pitchFamily="34" charset="0"/>
                <a:ea typeface="Arial" pitchFamily="34" charset="-122"/>
                <a:cs typeface="Arial" pitchFamily="34" charset="-120"/>
              </a:rPr>
              <a:t>Tái cấu trúc thành 3 định hướng (concept family) — mỗi định hướng có mức đầu tư/biến thể nội bộ. Chọn 1 định hướng, rồi chọn mức đầu tư trong đó. Concept 3 (Gia sư AI 1:1) hoàn toàn mới, từ nghiên cứu thị trường.</a:t>
            </a:r>
            <a:endParaRPr lang="en-US" sz="1300" dirty="0"/>
          </a:p>
        </p:txBody>
      </p:sp>
      <p:sp>
        <p:nvSpPr>
          <p:cNvPr id="19" name="Shape 17"/>
          <p:cNvSpPr/>
          <p:nvPr/>
        </p:nvSpPr>
        <p:spPr>
          <a:xfrm>
            <a:off x="8083296" y="1508760"/>
            <a:ext cx="3630168" cy="4480560"/>
          </a:xfrm>
          <a:prstGeom prst="roundRect">
            <a:avLst>
              <a:gd name="adj" fmla="val 1511"/>
            </a:avLst>
          </a:prstGeom>
          <a:solidFill>
            <a:srgbClr val="FFFFFF"/>
          </a:solidFill>
          <a:ln w="12700">
            <a:solidFill>
              <a:srgbClr val="D9DFE8"/>
            </a:solidFill>
            <a:prstDash val="solid"/>
          </a:ln>
        </p:spPr>
      </p:sp>
      <p:sp>
        <p:nvSpPr>
          <p:cNvPr id="20" name="Shape 18"/>
          <p:cNvSpPr/>
          <p:nvPr/>
        </p:nvSpPr>
        <p:spPr>
          <a:xfrm>
            <a:off x="8083296" y="1508760"/>
            <a:ext cx="3630168" cy="777240"/>
          </a:xfrm>
          <a:prstGeom prst="rect">
            <a:avLst/>
          </a:prstGeom>
          <a:solidFill>
            <a:srgbClr val="0E7C86"/>
          </a:solidFill>
          <a:ln/>
        </p:spPr>
      </p:sp>
      <p:sp>
        <p:nvSpPr>
          <p:cNvPr id="21" name="Text 19"/>
          <p:cNvSpPr/>
          <p:nvPr/>
        </p:nvSpPr>
        <p:spPr>
          <a:xfrm>
            <a:off x="8083296" y="1572768"/>
            <a:ext cx="3630168"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v2.1</a:t>
            </a:r>
            <a:endParaRPr lang="en-US" sz="2200" dirty="0"/>
          </a:p>
        </p:txBody>
      </p:sp>
      <p:sp>
        <p:nvSpPr>
          <p:cNvPr id="22" name="Text 20"/>
          <p:cNvSpPr/>
          <p:nvPr/>
        </p:nvSpPr>
        <p:spPr>
          <a:xfrm>
            <a:off x="8083296" y="1993392"/>
            <a:ext cx="3630168" cy="27432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18/08/2026</a:t>
            </a:r>
            <a:endParaRPr lang="en-US" sz="1100" dirty="0"/>
          </a:p>
        </p:txBody>
      </p:sp>
      <p:sp>
        <p:nvSpPr>
          <p:cNvPr id="23" name="Text 21"/>
          <p:cNvSpPr/>
          <p:nvPr/>
        </p:nvSpPr>
        <p:spPr>
          <a:xfrm>
            <a:off x="8311896" y="2514600"/>
            <a:ext cx="3172968" cy="3291840"/>
          </a:xfrm>
          <a:prstGeom prst="rect">
            <a:avLst/>
          </a:prstGeom>
          <a:noFill/>
          <a:ln/>
        </p:spPr>
        <p:txBody>
          <a:bodyPr wrap="square" rtlCol="0" anchor="t"/>
          <a:lstStyle/>
          <a:p>
            <a:pPr indent="0" marL="0">
              <a:lnSpc>
                <a:spcPct val="115000"/>
              </a:lnSpc>
              <a:buNone/>
            </a:pPr>
            <a:r>
              <a:rPr lang="en-US" sz="1300" dirty="0">
                <a:solidFill>
                  <a:srgbClr val="222222"/>
                </a:solidFill>
                <a:latin typeface="Arial" pitchFamily="34" charset="0"/>
                <a:ea typeface="Arial" pitchFamily="34" charset="-122"/>
                <a:cs typeface="Arial" pitchFamily="34" charset="-120"/>
              </a:rPr>
              <a:t>Làm giàu Concept 3 từ phiên brainstorming định vị 390k: lộ trình 3 giai đoạn xây niềm tin, khung định vị 3 điểm, Persona Engine, kinh tế TRIZ — không đổi mục 1-3, 5.</a:t>
            </a:r>
            <a:endParaRPr lang="en-US" sz="1300" dirty="0"/>
          </a:p>
        </p:txBody>
      </p:sp>
      <p:sp>
        <p:nvSpPr>
          <p:cNvPr id="24" name="Text 22"/>
          <p:cNvSpPr/>
          <p:nvPr/>
        </p:nvSpPr>
        <p:spPr>
          <a:xfrm>
            <a:off x="457200" y="6126480"/>
            <a:ext cx="11247120" cy="365760"/>
          </a:xfrm>
          <a:prstGeom prst="rect">
            <a:avLst/>
          </a:prstGeom>
          <a:noFill/>
          <a:ln/>
        </p:spPr>
        <p:txBody>
          <a:bodyPr wrap="square" rtlCol="0" anchor="ctr"/>
          <a:lstStyle/>
          <a:p>
            <a:pPr indent="0" marL="0">
              <a:buNone/>
            </a:pPr>
            <a:r>
              <a:rPr lang="en-US" sz="1150" i="1" dirty="0">
                <a:solidFill>
                  <a:srgbClr val="555555"/>
                </a:solidFill>
                <a:latin typeface="Arial" pitchFamily="34" charset="0"/>
                <a:ea typeface="Arial" pitchFamily="34" charset="-122"/>
                <a:cs typeface="Arial" pitchFamily="34" charset="-120"/>
              </a:rPr>
              <a:t>Deadline BOD 1/11/2026: hoàn thiện phương án định vị — báo cáo là “có điều kiện”, một số câu hỏi vận hành/tài chính vẫn xác nhận song song.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TỔNG QUAN NHANH</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So sánh 3 định hướng concept</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2103120"/>
                <a:gridCol w="3063240"/>
                <a:gridCol w="3063240"/>
                <a:gridCol w="30175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Tiêu chí</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Concept 1</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Làm mịn &amp; nâng cấp</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E3A66"/>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Concept 2</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Làm mịn + Thêm môn</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Concept 3</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Gia sư AI 1:1 (MỚI)</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B9770E"/>
                    </a:solidFill>
                  </a:tcPr>
                </a:tc>
              </a:tr>
              <a:tr h="0">
                <a:tc>
                  <a:txBody>
                    <a:bodyPr/>
                    <a:lstStyle/>
                    <a:p>
                      <a:pPr indent="0" marL="0">
                        <a:buNone/>
                      </a:pPr>
                      <a:r>
                        <a:rPr lang="en-US" sz="1100" b="1" dirty="0">
                          <a:solidFill>
                            <a:srgbClr val="222222"/>
                          </a:solidFill>
                          <a:latin typeface="Arial" pitchFamily="34" charset="0"/>
                          <a:ea typeface="Arial" pitchFamily="34" charset="-122"/>
                          <a:cs typeface="Arial" pitchFamily="34" charset="-120"/>
                        </a:rPr>
                        <a:t>Số phương án nội bộ</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3 mức tăng dần: 1.1 → 1.2 → 1.3 (mỗi mức chứa trọn mức trước)</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3 biến thể theo môn: 2.1 / 2.2 / 2.3 (không loại trừ nhau)</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 2 phương án kỹ thuật thay thế: A (AI Song Hành) · B (AI luyện hội thoại)</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00" b="1" dirty="0">
                          <a:solidFill>
                            <a:srgbClr val="222222"/>
                          </a:solidFill>
                          <a:latin typeface="Arial" pitchFamily="34" charset="0"/>
                          <a:ea typeface="Arial" pitchFamily="34" charset="-122"/>
                          <a:cs typeface="Arial" pitchFamily="34" charset="-120"/>
                        </a:rPr>
                        <a:t>Ứng dụng AI/dữ liệu</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Tăng dần theo mức — 1.3 mạnh nhất</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Không đổi so với nền Concept 1</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 Về lý thuyết mạnh nhất — AI là toàn bộ giá trị cốt lõi</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00" b="1" dirty="0">
                          <a:solidFill>
                            <a:srgbClr val="222222"/>
                          </a:solidFill>
                          <a:latin typeface="Arial" pitchFamily="34" charset="0"/>
                          <a:ea typeface="Arial" pitchFamily="34" charset="-122"/>
                          <a:cs typeface="Arial" pitchFamily="34" charset="-120"/>
                        </a:rPr>
                        <a:t>Bằng chứng nội bộ</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Có Pilot GVCN (mức 1.3, Giai đoạn 0)</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Nội dung kế thừa v1.0 (2.3) hoặc mới (2.1/2.2)</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 Chưa có Pilot nội bộ nào — toàn bộ dựa thị trường ngoài</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00" b="1" dirty="0">
                          <a:solidFill>
                            <a:srgbClr val="222222"/>
                          </a:solidFill>
                          <a:latin typeface="Arial" pitchFamily="34" charset="0"/>
                          <a:ea typeface="Arial" pitchFamily="34" charset="-122"/>
                          <a:cs typeface="Arial" pitchFamily="34" charset="-120"/>
                        </a:rPr>
                        <a:t>Rủi ro chính</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1.1: giá trị chưa đủ khác biệt · 1.3: GVCN 1:2.000 chưa kiểm chứng</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2.1 tự cạnh tranh UniClass (đảo ngược quyết định v1.0, chưa có lý do)</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Cannibalization với cả họ Tutor (1-1/1-4/1-6) chưa đo lường</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bl>
          </a:graphicData>
        </a:graphic>
      </p:graphicFrame>
      <p:sp>
        <p:nvSpPr>
          <p:cNvPr id="10" name="Text 7"/>
          <p:cNvSpPr/>
          <p:nvPr/>
        </p:nvSpPr>
        <p:spPr>
          <a:xfrm>
            <a:off x="457200" y="6126480"/>
            <a:ext cx="11247120" cy="365760"/>
          </a:xfrm>
          <a:prstGeom prst="rect">
            <a:avLst/>
          </a:prstGeom>
          <a:noFill/>
          <a:ln/>
        </p:spPr>
        <p:txBody>
          <a:bodyPr wrap="square" rtlCol="0" anchor="ctr"/>
          <a:lstStyle/>
          <a:p>
            <a:pPr indent="0" marL="0">
              <a:buNone/>
            </a:pPr>
            <a:r>
              <a:rPr lang="en-US" sz="1050" i="1" dirty="0">
                <a:solidFill>
                  <a:srgbClr val="555555"/>
                </a:solidFill>
                <a:latin typeface="Arial" pitchFamily="34" charset="0"/>
                <a:ea typeface="Arial" pitchFamily="34" charset="-122"/>
                <a:cs typeface="Arial" pitchFamily="34" charset="-120"/>
              </a:rPr>
              <a:t>Chi tiết: `02_discovery/concept-evaluation-scorecard-2026-08-15.md` — mức 1.1 Stop; 1.2 vs 1.3 Validate (điểm gần bằng nhau). Concept 2/3 chưa chạy scorecard.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3. CONCEPT 1</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Làm mịn &amp; nâng cấp — 3 mức đầu tư tăng dần</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463040"/>
            <a:ext cx="3630168" cy="3931920"/>
          </a:xfrm>
          <a:prstGeom prst="roundRect">
            <a:avLst>
              <a:gd name="adj" fmla="val 1511"/>
            </a:avLst>
          </a:prstGeom>
          <a:solidFill>
            <a:srgbClr val="F4F6F9"/>
          </a:solidFill>
          <a:ln w="12700">
            <a:solidFill>
              <a:srgbClr val="D9DFE8"/>
            </a:solidFill>
            <a:prstDash val="solid"/>
          </a:ln>
        </p:spPr>
      </p:sp>
      <p:sp>
        <p:nvSpPr>
          <p:cNvPr id="10" name="Text 8"/>
          <p:cNvSpPr/>
          <p:nvPr/>
        </p:nvSpPr>
        <p:spPr>
          <a:xfrm>
            <a:off x="685800" y="1645920"/>
            <a:ext cx="3172968" cy="32004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MỨC 1.1</a:t>
            </a:r>
            <a:endParaRPr lang="en-US" sz="1300" dirty="0"/>
          </a:p>
        </p:txBody>
      </p:sp>
      <p:sp>
        <p:nvSpPr>
          <p:cNvPr id="11" name="Text 9"/>
          <p:cNvSpPr/>
          <p:nvPr/>
        </p:nvSpPr>
        <p:spPr>
          <a:xfrm>
            <a:off x="685800" y="1965960"/>
            <a:ext cx="3172968" cy="457200"/>
          </a:xfrm>
          <a:prstGeom prst="rect">
            <a:avLst/>
          </a:prstGeom>
          <a:noFill/>
          <a:ln/>
        </p:spPr>
        <p:txBody>
          <a:bodyPr wrap="square" rtlCol="0" anchor="ctr"/>
          <a:lstStyle/>
          <a:p>
            <a:pPr indent="0" marL="0">
              <a:buNone/>
            </a:pPr>
            <a:r>
              <a:rPr lang="en-US" sz="1800" b="1" dirty="0">
                <a:solidFill>
                  <a:srgbClr val="16264A"/>
                </a:solidFill>
                <a:latin typeface="Arial" pitchFamily="34" charset="0"/>
                <a:ea typeface="Arial" pitchFamily="34" charset="-122"/>
                <a:cs typeface="Arial" pitchFamily="34" charset="-120"/>
              </a:rPr>
              <a:t>Làm mịn</a:t>
            </a:r>
            <a:endParaRPr lang="en-US" sz="1800" dirty="0"/>
          </a:p>
        </p:txBody>
      </p:sp>
      <p:sp>
        <p:nvSpPr>
          <p:cNvPr id="12" name="Text 10"/>
          <p:cNvSpPr/>
          <p:nvPr/>
        </p:nvSpPr>
        <p:spPr>
          <a:xfrm>
            <a:off x="685800" y="2514600"/>
            <a:ext cx="3172968" cy="1920240"/>
          </a:xfrm>
          <a:prstGeom prst="rect">
            <a:avLst/>
          </a:prstGeom>
          <a:noFill/>
          <a:ln/>
        </p:spPr>
        <p:txBody>
          <a:bodyPr wrap="square" rtlCol="0" anchor="ctr"/>
          <a:lstStyle/>
          <a:p>
            <a:pPr indent="0" marL="0">
              <a:lnSpc>
                <a:spcPct val="120000"/>
              </a:lnSpc>
              <a:buNone/>
            </a:pPr>
            <a:r>
              <a:rPr lang="en-US" sz="1200" dirty="0">
                <a:solidFill>
                  <a:srgbClr val="222222"/>
                </a:solidFill>
                <a:latin typeface="Arial" pitchFamily="34" charset="0"/>
                <a:ea typeface="Arial" pitchFamily="34" charset="-122"/>
                <a:cs typeface="Arial" pitchFamily="34" charset="-120"/>
              </a:rPr>
              <a:t>Practice + Speak nâng cấp.</a:t>
            </a:r>
            <a:endParaRPr lang="en-US" sz="1200" dirty="0"/>
          </a:p>
          <a:p>
            <a:pPr indent="0" marL="0">
              <a:lnSpc>
                <a:spcPct val="120000"/>
              </a:lnSpc>
              <a:buNone/>
            </a:pPr>
            <a:r>
              <a:rPr lang="en-US" sz="1200" dirty="0">
                <a:solidFill>
                  <a:srgbClr val="222222"/>
                </a:solidFill>
                <a:latin typeface="Arial" pitchFamily="34" charset="0"/>
                <a:ea typeface="Arial" pitchFamily="34" charset="-122"/>
                <a:cs typeface="Arial" pitchFamily="34" charset="-120"/>
              </a:rPr>
              <a:t>Mức nền — baseline để đối chiếu.</a:t>
            </a:r>
            <a:endParaRPr lang="en-US" sz="1200" dirty="0"/>
          </a:p>
        </p:txBody>
      </p:sp>
      <p:sp>
        <p:nvSpPr>
          <p:cNvPr id="13" name="Text 11"/>
          <p:cNvSpPr/>
          <p:nvPr/>
        </p:nvSpPr>
        <p:spPr>
          <a:xfrm>
            <a:off x="685800" y="4709160"/>
            <a:ext cx="3172968" cy="548640"/>
          </a:xfrm>
          <a:prstGeom prst="rect">
            <a:avLst/>
          </a:prstGeom>
          <a:noFill/>
          <a:ln/>
        </p:spPr>
        <p:txBody>
          <a:bodyPr wrap="square" rtlCol="0" anchor="ctr"/>
          <a:lstStyle/>
          <a:p>
            <a:pPr indent="0" marL="0">
              <a:buNone/>
            </a:pPr>
            <a:r>
              <a:rPr lang="en-US" sz="1100" b="1" dirty="0">
                <a:solidFill>
                  <a:srgbClr val="B03A2E"/>
                </a:solidFill>
                <a:latin typeface="Arial" pitchFamily="34" charset="0"/>
                <a:ea typeface="Arial" pitchFamily="34" charset="-122"/>
                <a:cs typeface="Arial" pitchFamily="34" charset="-120"/>
              </a:rPr>
              <a:t>Scorecard: Stop (không qua Strategic Gate)</a:t>
            </a:r>
            <a:endParaRPr lang="en-US" sz="1100" dirty="0"/>
          </a:p>
        </p:txBody>
      </p:sp>
      <p:sp>
        <p:nvSpPr>
          <p:cNvPr id="14" name="Shape 12"/>
          <p:cNvSpPr/>
          <p:nvPr/>
        </p:nvSpPr>
        <p:spPr>
          <a:xfrm>
            <a:off x="4270248" y="1463040"/>
            <a:ext cx="3630168" cy="3931920"/>
          </a:xfrm>
          <a:prstGeom prst="roundRect">
            <a:avLst>
              <a:gd name="adj" fmla="val 1511"/>
            </a:avLst>
          </a:prstGeom>
          <a:solidFill>
            <a:srgbClr val="F4F6F9"/>
          </a:solidFill>
          <a:ln w="12700">
            <a:solidFill>
              <a:srgbClr val="D9DFE8"/>
            </a:solidFill>
            <a:prstDash val="solid"/>
          </a:ln>
        </p:spPr>
      </p:sp>
      <p:sp>
        <p:nvSpPr>
          <p:cNvPr id="15" name="Text 13"/>
          <p:cNvSpPr/>
          <p:nvPr/>
        </p:nvSpPr>
        <p:spPr>
          <a:xfrm>
            <a:off x="4498848" y="1645920"/>
            <a:ext cx="3172968" cy="32004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MỨC 1.2</a:t>
            </a:r>
            <a:endParaRPr lang="en-US" sz="1300" dirty="0"/>
          </a:p>
        </p:txBody>
      </p:sp>
      <p:sp>
        <p:nvSpPr>
          <p:cNvPr id="16" name="Text 14"/>
          <p:cNvSpPr/>
          <p:nvPr/>
        </p:nvSpPr>
        <p:spPr>
          <a:xfrm>
            <a:off x="4498848" y="1965960"/>
            <a:ext cx="3172968" cy="457200"/>
          </a:xfrm>
          <a:prstGeom prst="rect">
            <a:avLst/>
          </a:prstGeom>
          <a:noFill/>
          <a:ln/>
        </p:spPr>
        <p:txBody>
          <a:bodyPr wrap="square" rtlCol="0" anchor="ctr"/>
          <a:lstStyle/>
          <a:p>
            <a:pPr indent="0" marL="0">
              <a:buNone/>
            </a:pPr>
            <a:r>
              <a:rPr lang="en-US" sz="1800" b="1" dirty="0">
                <a:solidFill>
                  <a:srgbClr val="16264A"/>
                </a:solidFill>
                <a:latin typeface="Arial" pitchFamily="34" charset="0"/>
                <a:ea typeface="Arial" pitchFamily="34" charset="-122"/>
                <a:cs typeface="Arial" pitchFamily="34" charset="-120"/>
              </a:rPr>
              <a:t>Nâng cấp mạnh AI</a:t>
            </a:r>
            <a:endParaRPr lang="en-US" sz="1800" dirty="0"/>
          </a:p>
        </p:txBody>
      </p:sp>
      <p:sp>
        <p:nvSpPr>
          <p:cNvPr id="17" name="Text 15"/>
          <p:cNvSpPr/>
          <p:nvPr/>
        </p:nvSpPr>
        <p:spPr>
          <a:xfrm>
            <a:off x="4498848" y="2514600"/>
            <a:ext cx="3172968" cy="1920240"/>
          </a:xfrm>
          <a:prstGeom prst="rect">
            <a:avLst/>
          </a:prstGeom>
          <a:noFill/>
          <a:ln/>
        </p:spPr>
        <p:txBody>
          <a:bodyPr wrap="square" rtlCol="0" anchor="ctr"/>
          <a:lstStyle/>
          <a:p>
            <a:pPr indent="0" marL="0">
              <a:lnSpc>
                <a:spcPct val="120000"/>
              </a:lnSpc>
              <a:buNone/>
            </a:pPr>
            <a:r>
              <a:rPr lang="en-US" sz="1200" dirty="0">
                <a:solidFill>
                  <a:srgbClr val="222222"/>
                </a:solidFill>
                <a:latin typeface="Arial" pitchFamily="34" charset="0"/>
                <a:ea typeface="Arial" pitchFamily="34" charset="-122"/>
                <a:cs typeface="Arial" pitchFamily="34" charset="-120"/>
              </a:rPr>
              <a:t>1.1 + AI Tutor 30' cố định + Adaptive Learning (1.473 NLO) + Parent Mode (Mastery Map).</a:t>
            </a:r>
            <a:endParaRPr lang="en-US" sz="1200" dirty="0"/>
          </a:p>
        </p:txBody>
      </p:sp>
      <p:sp>
        <p:nvSpPr>
          <p:cNvPr id="18" name="Text 16"/>
          <p:cNvSpPr/>
          <p:nvPr/>
        </p:nvSpPr>
        <p:spPr>
          <a:xfrm>
            <a:off x="4498848" y="4709160"/>
            <a:ext cx="3172968" cy="548640"/>
          </a:xfrm>
          <a:prstGeom prst="rect">
            <a:avLst/>
          </a:prstGeom>
          <a:noFill/>
          <a:ln/>
        </p:spPr>
        <p:txBody>
          <a:bodyPr wrap="square" rtlCol="0" anchor="ctr"/>
          <a:lstStyle/>
          <a:p>
            <a:pPr indent="0" marL="0">
              <a:buNone/>
            </a:pPr>
            <a:r>
              <a:rPr lang="en-US" sz="1100" b="1" dirty="0">
                <a:solidFill>
                  <a:srgbClr val="1E7E45"/>
                </a:solidFill>
                <a:latin typeface="Arial" pitchFamily="34" charset="0"/>
                <a:ea typeface="Arial" pitchFamily="34" charset="-122"/>
                <a:cs typeface="Arial" pitchFamily="34" charset="-120"/>
              </a:rPr>
              <a:t>Scorecard: Validate (62.6)</a:t>
            </a:r>
            <a:endParaRPr lang="en-US" sz="1100" dirty="0"/>
          </a:p>
        </p:txBody>
      </p:sp>
      <p:sp>
        <p:nvSpPr>
          <p:cNvPr id="19" name="Shape 17"/>
          <p:cNvSpPr/>
          <p:nvPr/>
        </p:nvSpPr>
        <p:spPr>
          <a:xfrm>
            <a:off x="8083296" y="1463040"/>
            <a:ext cx="3630168" cy="3931920"/>
          </a:xfrm>
          <a:prstGeom prst="roundRect">
            <a:avLst>
              <a:gd name="adj" fmla="val 1511"/>
            </a:avLst>
          </a:prstGeom>
          <a:solidFill>
            <a:srgbClr val="F4F6F9"/>
          </a:solidFill>
          <a:ln w="12700">
            <a:solidFill>
              <a:srgbClr val="D9DFE8"/>
            </a:solidFill>
            <a:prstDash val="solid"/>
          </a:ln>
        </p:spPr>
      </p:sp>
      <p:sp>
        <p:nvSpPr>
          <p:cNvPr id="20" name="Text 18"/>
          <p:cNvSpPr/>
          <p:nvPr/>
        </p:nvSpPr>
        <p:spPr>
          <a:xfrm>
            <a:off x="8311896" y="1645920"/>
            <a:ext cx="3172968" cy="32004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MỨC 1.3</a:t>
            </a:r>
            <a:endParaRPr lang="en-US" sz="1300" dirty="0"/>
          </a:p>
        </p:txBody>
      </p:sp>
      <p:sp>
        <p:nvSpPr>
          <p:cNvPr id="21" name="Text 19"/>
          <p:cNvSpPr/>
          <p:nvPr/>
        </p:nvSpPr>
        <p:spPr>
          <a:xfrm>
            <a:off x="8311896" y="1965960"/>
            <a:ext cx="3172968" cy="457200"/>
          </a:xfrm>
          <a:prstGeom prst="rect">
            <a:avLst/>
          </a:prstGeom>
          <a:noFill/>
          <a:ln/>
        </p:spPr>
        <p:txBody>
          <a:bodyPr wrap="square" rtlCol="0" anchor="ctr"/>
          <a:lstStyle/>
          <a:p>
            <a:pPr indent="0" marL="0">
              <a:buNone/>
            </a:pPr>
            <a:r>
              <a:rPr lang="en-US" sz="1800" b="1" dirty="0">
                <a:solidFill>
                  <a:srgbClr val="16264A"/>
                </a:solidFill>
                <a:latin typeface="Arial" pitchFamily="34" charset="0"/>
                <a:ea typeface="Arial" pitchFamily="34" charset="-122"/>
                <a:cs typeface="Arial" pitchFamily="34" charset="-120"/>
              </a:rPr>
              <a:t>Nâng cấp mạnh con người</a:t>
            </a:r>
            <a:endParaRPr lang="en-US" sz="1800" dirty="0"/>
          </a:p>
        </p:txBody>
      </p:sp>
      <p:sp>
        <p:nvSpPr>
          <p:cNvPr id="22" name="Text 20"/>
          <p:cNvSpPr/>
          <p:nvPr/>
        </p:nvSpPr>
        <p:spPr>
          <a:xfrm>
            <a:off x="8311896" y="2514600"/>
            <a:ext cx="3172968" cy="1920240"/>
          </a:xfrm>
          <a:prstGeom prst="rect">
            <a:avLst/>
          </a:prstGeom>
          <a:noFill/>
          <a:ln/>
        </p:spPr>
        <p:txBody>
          <a:bodyPr wrap="square" rtlCol="0" anchor="ctr"/>
          <a:lstStyle/>
          <a:p>
            <a:pPr indent="0" marL="0">
              <a:lnSpc>
                <a:spcPct val="120000"/>
              </a:lnSpc>
              <a:buNone/>
            </a:pPr>
            <a:r>
              <a:rPr lang="en-US" sz="1200" dirty="0">
                <a:solidFill>
                  <a:srgbClr val="222222"/>
                </a:solidFill>
                <a:latin typeface="Arial" pitchFamily="34" charset="0"/>
                <a:ea typeface="Arial" pitchFamily="34" charset="-122"/>
                <a:cs typeface="Arial" pitchFamily="34" charset="-120"/>
              </a:rPr>
              <a:t>1.2 + Big Class buổi 3 + GVCN mở rộng (tỷ lệ 1:2.000) + Parent Mode nâng cấp.</a:t>
            </a:r>
            <a:endParaRPr lang="en-US" sz="1200" dirty="0"/>
          </a:p>
        </p:txBody>
      </p:sp>
      <p:sp>
        <p:nvSpPr>
          <p:cNvPr id="23" name="Text 21"/>
          <p:cNvSpPr/>
          <p:nvPr/>
        </p:nvSpPr>
        <p:spPr>
          <a:xfrm>
            <a:off x="8311896" y="4709160"/>
            <a:ext cx="3172968" cy="548640"/>
          </a:xfrm>
          <a:prstGeom prst="rect">
            <a:avLst/>
          </a:prstGeom>
          <a:noFill/>
          <a:ln/>
        </p:spPr>
        <p:txBody>
          <a:bodyPr wrap="square" rtlCol="0" anchor="ctr"/>
          <a:lstStyle/>
          <a:p>
            <a:pPr indent="0" marL="0">
              <a:buNone/>
            </a:pPr>
            <a:r>
              <a:rPr lang="en-US" sz="1100" b="1" dirty="0">
                <a:solidFill>
                  <a:srgbClr val="1E7E45"/>
                </a:solidFill>
                <a:latin typeface="Arial" pitchFamily="34" charset="0"/>
                <a:ea typeface="Arial" pitchFamily="34" charset="-122"/>
                <a:cs typeface="Arial" pitchFamily="34" charset="-120"/>
              </a:rPr>
              <a:t>Scorecard: Validate (64.0)</a:t>
            </a:r>
            <a:endParaRPr lang="en-US" sz="1100" dirty="0"/>
          </a:p>
        </p:txBody>
      </p:sp>
      <p:sp>
        <p:nvSpPr>
          <p:cNvPr id="24" name="Text 22"/>
          <p:cNvSpPr/>
          <p:nvPr/>
        </p:nvSpPr>
        <p:spPr>
          <a:xfrm>
            <a:off x="457200" y="5577840"/>
            <a:ext cx="11247120" cy="457200"/>
          </a:xfrm>
          <a:prstGeom prst="rect">
            <a:avLst/>
          </a:prstGeom>
          <a:noFill/>
          <a:ln/>
        </p:spPr>
        <p:txBody>
          <a:bodyPr wrap="square" rtlCol="0" anchor="ctr"/>
          <a:lstStyle/>
          <a:p>
            <a:pPr indent="0" marL="0">
              <a:buNone/>
            </a:pPr>
            <a:r>
              <a:rPr lang="en-US" sz="1200" i="1" dirty="0">
                <a:solidFill>
                  <a:srgbClr val="555555"/>
                </a:solidFill>
                <a:latin typeface="Arial" pitchFamily="34" charset="0"/>
                <a:ea typeface="Arial" pitchFamily="34" charset="-122"/>
                <a:cs typeface="Arial" pitchFamily="34" charset="-120"/>
              </a:rPr>
              <a:t>Mỗi mức chứa trọn mức trước. Câu hỏi thật không phải “chọn mức nào” mà là “đầu tư đến mức nào thì dừng” — quyết định 1.2 vs 1.3 nên chờ kết quả Pilot GVCN Giai đoạn 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3. CONCEPT 1</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Rủi ro &amp; câu hỏi cần BOD chốt</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554480"/>
            <a:ext cx="1005840" cy="1691640"/>
          </a:xfrm>
          <a:prstGeom prst="roundRect">
            <a:avLst>
              <a:gd name="adj" fmla="val 5455"/>
            </a:avLst>
          </a:prstGeom>
          <a:solidFill>
            <a:srgbClr val="1E3A66"/>
          </a:solidFill>
          <a:ln/>
        </p:spPr>
      </p:sp>
      <p:sp>
        <p:nvSpPr>
          <p:cNvPr id="10" name="Text 8"/>
          <p:cNvSpPr/>
          <p:nvPr/>
        </p:nvSpPr>
        <p:spPr>
          <a:xfrm>
            <a:off x="457200" y="1554480"/>
            <a:ext cx="1005840" cy="16916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MỨC</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1.2</a:t>
            </a:r>
            <a:endParaRPr lang="en-US" sz="1600" dirty="0"/>
          </a:p>
        </p:txBody>
      </p:sp>
      <p:sp>
        <p:nvSpPr>
          <p:cNvPr id="11" name="Shape 9"/>
          <p:cNvSpPr/>
          <p:nvPr/>
        </p:nvSpPr>
        <p:spPr>
          <a:xfrm>
            <a:off x="1600200" y="1554480"/>
            <a:ext cx="9189720" cy="1691640"/>
          </a:xfrm>
          <a:prstGeom prst="rect">
            <a:avLst/>
          </a:prstGeom>
          <a:solidFill>
            <a:srgbClr val="F4F6F9"/>
          </a:solidFill>
          <a:ln w="12700">
            <a:solidFill>
              <a:srgbClr val="D9DFE8"/>
            </a:solidFill>
            <a:prstDash val="solid"/>
          </a:ln>
        </p:spPr>
      </p:sp>
      <p:sp>
        <p:nvSpPr>
          <p:cNvPr id="12" name="Text 10"/>
          <p:cNvSpPr/>
          <p:nvPr/>
        </p:nvSpPr>
        <p:spPr>
          <a:xfrm>
            <a:off x="1783080" y="1664208"/>
            <a:ext cx="8823960" cy="685800"/>
          </a:xfrm>
          <a:prstGeom prst="rect">
            <a:avLst/>
          </a:prstGeom>
          <a:noFill/>
          <a:ln/>
        </p:spPr>
        <p:txBody>
          <a:bodyPr wrap="square" rtlCol="0" anchor="t"/>
          <a:lstStyle/>
          <a:p>
            <a:pPr indent="0" marL="0">
              <a:lnSpc>
                <a:spcPct val="110000"/>
              </a:lnSpc>
              <a:buNone/>
            </a:pPr>
            <a:r>
              <a:rPr lang="en-US" sz="1200" b="1" dirty="0">
                <a:solidFill>
                  <a:srgbClr val="B03A2E"/>
                </a:solidFill>
                <a:latin typeface="Arial" pitchFamily="34" charset="0"/>
                <a:ea typeface="Arial" pitchFamily="34" charset="-122"/>
                <a:cs typeface="Arial" pitchFamily="34" charset="-120"/>
              </a:rPr>
              <a:t>Rủi ro:  </a:t>
            </a:r>
            <a:pPr indent="0" marL="0">
              <a:lnSpc>
                <a:spcPct val="110000"/>
              </a:lnSpc>
              <a:buNone/>
            </a:pPr>
            <a:r>
              <a:rPr lang="en-US" sz="1200" dirty="0">
                <a:solidFill>
                  <a:srgbClr val="222222"/>
                </a:solidFill>
                <a:latin typeface="Arial" pitchFamily="34" charset="0"/>
                <a:ea typeface="Arial" pitchFamily="34" charset="-122"/>
                <a:cs typeface="Arial" pitchFamily="34" charset="-120"/>
              </a:rPr>
              <a:t>Đòi hỏi năng lực AI rất mạnh (1.473 NLO, 1 triệu câu hỏi, ~900-950 video) — cần đối chiếu triết lý “AI nhanh, không xây R&amp;D lớn”.</a:t>
            </a:r>
            <a:endParaRPr lang="en-US" sz="1200" dirty="0"/>
          </a:p>
        </p:txBody>
      </p:sp>
      <p:sp>
        <p:nvSpPr>
          <p:cNvPr id="13" name="Text 11"/>
          <p:cNvSpPr/>
          <p:nvPr/>
        </p:nvSpPr>
        <p:spPr>
          <a:xfrm>
            <a:off x="1783080" y="2423160"/>
            <a:ext cx="8823960" cy="777240"/>
          </a:xfrm>
          <a:prstGeom prst="rect">
            <a:avLst/>
          </a:prstGeom>
          <a:noFill/>
          <a:ln/>
        </p:spPr>
        <p:txBody>
          <a:bodyPr wrap="square" rtlCol="0" anchor="t"/>
          <a:lstStyle/>
          <a:p>
            <a:pPr indent="0" marL="0">
              <a:lnSpc>
                <a:spcPct val="110000"/>
              </a:lnSpc>
              <a:buNone/>
            </a:pPr>
            <a:r>
              <a:rPr lang="en-US" sz="1200" b="1" dirty="0">
                <a:solidFill>
                  <a:srgbClr val="B9770E"/>
                </a:solidFill>
                <a:latin typeface="Arial" pitchFamily="34" charset="0"/>
                <a:ea typeface="Arial" pitchFamily="34" charset="-122"/>
                <a:cs typeface="Arial" pitchFamily="34" charset="-120"/>
              </a:rPr>
              <a:t>Cần chốt:  </a:t>
            </a:r>
            <a:pPr indent="0" marL="0">
              <a:lnSpc>
                <a:spcPct val="110000"/>
              </a:lnSpc>
              <a:buNone/>
            </a:pPr>
            <a:r>
              <a:rPr lang="en-US" sz="1200" dirty="0">
                <a:solidFill>
                  <a:srgbClr val="222222"/>
                </a:solidFill>
                <a:latin typeface="Arial" pitchFamily="34" charset="0"/>
                <a:ea typeface="Arial" pitchFamily="34" charset="-122"/>
                <a:cs typeface="Arial" pitchFamily="34" charset="-120"/>
              </a:rPr>
              <a:t>BOD chưa quyết định phạm vi Mastery Profile (chỉ AI Class Plus hay dùng chung Edupia Class) — chặn toàn bộ tiến độ mức 1.2.</a:t>
            </a:r>
            <a:endParaRPr lang="en-US" sz="1200" dirty="0"/>
          </a:p>
        </p:txBody>
      </p:sp>
      <p:sp>
        <p:nvSpPr>
          <p:cNvPr id="14" name="Shape 12"/>
          <p:cNvSpPr/>
          <p:nvPr/>
        </p:nvSpPr>
        <p:spPr>
          <a:xfrm>
            <a:off x="457200" y="3520440"/>
            <a:ext cx="1005840" cy="1691640"/>
          </a:xfrm>
          <a:prstGeom prst="roundRect">
            <a:avLst>
              <a:gd name="adj" fmla="val 5455"/>
            </a:avLst>
          </a:prstGeom>
          <a:solidFill>
            <a:srgbClr val="1E3A66"/>
          </a:solidFill>
          <a:ln/>
        </p:spPr>
      </p:sp>
      <p:sp>
        <p:nvSpPr>
          <p:cNvPr id="15" name="Text 13"/>
          <p:cNvSpPr/>
          <p:nvPr/>
        </p:nvSpPr>
        <p:spPr>
          <a:xfrm>
            <a:off x="457200" y="3520440"/>
            <a:ext cx="1005840" cy="16916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MỨC</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1.3</a:t>
            </a:r>
            <a:endParaRPr lang="en-US" sz="1600" dirty="0"/>
          </a:p>
        </p:txBody>
      </p:sp>
      <p:sp>
        <p:nvSpPr>
          <p:cNvPr id="16" name="Shape 14"/>
          <p:cNvSpPr/>
          <p:nvPr/>
        </p:nvSpPr>
        <p:spPr>
          <a:xfrm>
            <a:off x="1600200" y="3520440"/>
            <a:ext cx="9189720" cy="1691640"/>
          </a:xfrm>
          <a:prstGeom prst="rect">
            <a:avLst/>
          </a:prstGeom>
          <a:solidFill>
            <a:srgbClr val="F4F6F9"/>
          </a:solidFill>
          <a:ln w="12700">
            <a:solidFill>
              <a:srgbClr val="D9DFE8"/>
            </a:solidFill>
            <a:prstDash val="solid"/>
          </a:ln>
        </p:spPr>
      </p:sp>
      <p:sp>
        <p:nvSpPr>
          <p:cNvPr id="17" name="Text 15"/>
          <p:cNvSpPr/>
          <p:nvPr/>
        </p:nvSpPr>
        <p:spPr>
          <a:xfrm>
            <a:off x="1783080" y="3630168"/>
            <a:ext cx="8823960" cy="685800"/>
          </a:xfrm>
          <a:prstGeom prst="rect">
            <a:avLst/>
          </a:prstGeom>
          <a:noFill/>
          <a:ln/>
        </p:spPr>
        <p:txBody>
          <a:bodyPr wrap="square" rtlCol="0" anchor="t"/>
          <a:lstStyle/>
          <a:p>
            <a:pPr indent="0" marL="0">
              <a:lnSpc>
                <a:spcPct val="110000"/>
              </a:lnSpc>
              <a:buNone/>
            </a:pPr>
            <a:r>
              <a:rPr lang="en-US" sz="1200" b="1" dirty="0">
                <a:solidFill>
                  <a:srgbClr val="B03A2E"/>
                </a:solidFill>
                <a:latin typeface="Arial" pitchFamily="34" charset="0"/>
                <a:ea typeface="Arial" pitchFamily="34" charset="-122"/>
                <a:cs typeface="Arial" pitchFamily="34" charset="-120"/>
              </a:rPr>
              <a:t>Rủi ro:  </a:t>
            </a:r>
            <a:pPr indent="0" marL="0">
              <a:lnSpc>
                <a:spcPct val="110000"/>
              </a:lnSpc>
              <a:buNone/>
            </a:pPr>
            <a:r>
              <a:rPr lang="en-US" sz="1200" dirty="0">
                <a:solidFill>
                  <a:srgbClr val="222222"/>
                </a:solidFill>
                <a:latin typeface="Arial" pitchFamily="34" charset="0"/>
                <a:ea typeface="Arial" pitchFamily="34" charset="-122"/>
                <a:cs typeface="Arial" pitchFamily="34" charset="-120"/>
              </a:rPr>
              <a:t>JTBD Xã hội mạnh nhất (“có cô chủ nhiệm riêng theo sát”) nhưng tạo kỳ vọng như Tutor — trong khi vận hành thật ở tỷ lệ 1:2.000 chưa đáp ứng được đúng kỳ vọng đó.</a:t>
            </a:r>
            <a:endParaRPr lang="en-US" sz="1200" dirty="0"/>
          </a:p>
        </p:txBody>
      </p:sp>
      <p:sp>
        <p:nvSpPr>
          <p:cNvPr id="18" name="Text 16"/>
          <p:cNvSpPr/>
          <p:nvPr/>
        </p:nvSpPr>
        <p:spPr>
          <a:xfrm>
            <a:off x="1783080" y="4389120"/>
            <a:ext cx="8823960" cy="777240"/>
          </a:xfrm>
          <a:prstGeom prst="rect">
            <a:avLst/>
          </a:prstGeom>
          <a:noFill/>
          <a:ln/>
        </p:spPr>
        <p:txBody>
          <a:bodyPr wrap="square" rtlCol="0" anchor="t"/>
          <a:lstStyle/>
          <a:p>
            <a:pPr indent="0" marL="0">
              <a:lnSpc>
                <a:spcPct val="110000"/>
              </a:lnSpc>
              <a:buNone/>
            </a:pPr>
            <a:r>
              <a:rPr lang="en-US" sz="1200" b="1" dirty="0">
                <a:solidFill>
                  <a:srgbClr val="B9770E"/>
                </a:solidFill>
                <a:latin typeface="Arial" pitchFamily="34" charset="0"/>
                <a:ea typeface="Arial" pitchFamily="34" charset="-122"/>
                <a:cs typeface="Arial" pitchFamily="34" charset="-120"/>
              </a:rPr>
              <a:t>Cần chốt:  </a:t>
            </a:r>
            <a:pPr indent="0" marL="0">
              <a:lnSpc>
                <a:spcPct val="110000"/>
              </a:lnSpc>
              <a:buNone/>
            </a:pPr>
            <a:r>
              <a:rPr lang="en-US" sz="1200" dirty="0">
                <a:solidFill>
                  <a:srgbClr val="222222"/>
                </a:solidFill>
                <a:latin typeface="Arial" pitchFamily="34" charset="0"/>
                <a:ea typeface="Arial" pitchFamily="34" charset="-122"/>
                <a:cs typeface="Arial" pitchFamily="34" charset="-120"/>
              </a:rPr>
              <a:t>Đi ngược triết lý giảm phụ thuộc nhân sự (Sale chỉ tăng 10% nhân sự đến 2028) — cần BOD phê duyệt đánh đổi này.</a:t>
            </a:r>
            <a:endParaRPr lang="en-US" sz="1200" dirty="0"/>
          </a:p>
        </p:txBody>
      </p:sp>
      <p:sp>
        <p:nvSpPr>
          <p:cNvPr id="19" name="Text 17"/>
          <p:cNvSpPr/>
          <p:nvPr/>
        </p:nvSpPr>
        <p:spPr>
          <a:xfrm>
            <a:off x="457200" y="5577840"/>
            <a:ext cx="11247120" cy="457200"/>
          </a:xfrm>
          <a:prstGeom prst="rect">
            <a:avLst/>
          </a:prstGeom>
          <a:noFill/>
          <a:ln/>
        </p:spPr>
        <p:txBody>
          <a:bodyPr wrap="square" rtlCol="0" anchor="ctr"/>
          <a:lstStyle/>
          <a:p>
            <a:pPr indent="0" marL="0">
              <a:buNone/>
            </a:pPr>
            <a:r>
              <a:rPr lang="en-US" sz="1150" i="1" dirty="0">
                <a:solidFill>
                  <a:srgbClr val="0E7C86"/>
                </a:solidFill>
                <a:latin typeface="Arial" pitchFamily="34" charset="0"/>
                <a:ea typeface="Arial" pitchFamily="34" charset="-122"/>
                <a:cs typeface="Arial" pitchFamily="34" charset="-120"/>
              </a:rPr>
              <a:t>Kết nối với Concept 3: mẫu hình “AI Song Hành” (dual-teacher) là một hướng thay thế đáng cân nhắc cho rủi ro vận hành GVCN 1:2.000 của mức 1.3 — xem mục Concept 3.</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4. CONCEPT 2</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Làm mịn + Thêm môn — 3 biến thể (không loại trừ nhau)</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463040"/>
            <a:ext cx="3630168" cy="4114800"/>
          </a:xfrm>
          <a:prstGeom prst="roundRect">
            <a:avLst>
              <a:gd name="adj" fmla="val 1511"/>
            </a:avLst>
          </a:prstGeom>
          <a:solidFill>
            <a:srgbClr val="F4F6F9"/>
          </a:solidFill>
          <a:ln w="12700">
            <a:solidFill>
              <a:srgbClr val="D9DFE8"/>
            </a:solidFill>
            <a:prstDash val="solid"/>
          </a:ln>
        </p:spPr>
      </p:sp>
      <p:sp>
        <p:nvSpPr>
          <p:cNvPr id="10" name="Text 8"/>
          <p:cNvSpPr/>
          <p:nvPr/>
        </p:nvSpPr>
        <p:spPr>
          <a:xfrm>
            <a:off x="685800" y="1645920"/>
            <a:ext cx="3172968" cy="292608"/>
          </a:xfrm>
          <a:prstGeom prst="rect">
            <a:avLst/>
          </a:prstGeom>
          <a:noFill/>
          <a:ln/>
        </p:spPr>
        <p:txBody>
          <a:bodyPr wrap="square" rtlCol="0" anchor="ctr"/>
          <a:lstStyle/>
          <a:p>
            <a:pPr indent="0" marL="0">
              <a:buNone/>
            </a:pPr>
            <a:r>
              <a:rPr lang="en-US" sz="1250" b="1" dirty="0">
                <a:solidFill>
                  <a:srgbClr val="0E7C86"/>
                </a:solidFill>
                <a:latin typeface="Arial" pitchFamily="34" charset="0"/>
                <a:ea typeface="Arial" pitchFamily="34" charset="-122"/>
                <a:cs typeface="Arial" pitchFamily="34" charset="-120"/>
              </a:rPr>
              <a:t>BIẾN THỂ 2.1</a:t>
            </a:r>
            <a:endParaRPr lang="en-US" sz="1250" dirty="0"/>
          </a:p>
        </p:txBody>
      </p:sp>
      <p:sp>
        <p:nvSpPr>
          <p:cNvPr id="11" name="Text 9"/>
          <p:cNvSpPr/>
          <p:nvPr/>
        </p:nvSpPr>
        <p:spPr>
          <a:xfrm>
            <a:off x="685800" y="1938528"/>
            <a:ext cx="3172968" cy="411480"/>
          </a:xfrm>
          <a:prstGeom prst="rect">
            <a:avLst/>
          </a:prstGeom>
          <a:noFill/>
          <a:ln/>
        </p:spPr>
        <p:txBody>
          <a:bodyPr wrap="square" rtlCol="0" anchor="ctr"/>
          <a:lstStyle/>
          <a:p>
            <a:pPr indent="0" marL="0">
              <a:buNone/>
            </a:pPr>
            <a:r>
              <a:rPr lang="en-US" sz="1650" b="1" dirty="0">
                <a:solidFill>
                  <a:srgbClr val="16264A"/>
                </a:solidFill>
                <a:latin typeface="Arial" pitchFamily="34" charset="0"/>
                <a:ea typeface="Arial" pitchFamily="34" charset="-122"/>
                <a:cs typeface="Arial" pitchFamily="34" charset="-120"/>
              </a:rPr>
              <a:t>Thêm môn phổ thông</a:t>
            </a:r>
            <a:endParaRPr lang="en-US" sz="1650" dirty="0"/>
          </a:p>
        </p:txBody>
      </p:sp>
      <p:sp>
        <p:nvSpPr>
          <p:cNvPr id="12" name="Text 10"/>
          <p:cNvSpPr/>
          <p:nvPr/>
        </p:nvSpPr>
        <p:spPr>
          <a:xfrm>
            <a:off x="685800" y="2331720"/>
            <a:ext cx="3172968" cy="274320"/>
          </a:xfrm>
          <a:prstGeom prst="rect">
            <a:avLst/>
          </a:prstGeom>
          <a:noFill/>
          <a:ln/>
        </p:spPr>
        <p:txBody>
          <a:bodyPr wrap="square" rtlCol="0" anchor="ctr"/>
          <a:lstStyle/>
          <a:p>
            <a:pPr indent="0" marL="0">
              <a:buNone/>
            </a:pPr>
            <a:r>
              <a:rPr lang="en-US" sz="1100" i="1" dirty="0">
                <a:solidFill>
                  <a:srgbClr val="555555"/>
                </a:solidFill>
                <a:latin typeface="Arial" pitchFamily="34" charset="0"/>
                <a:ea typeface="Arial" pitchFamily="34" charset="-122"/>
                <a:cs typeface="Arial" pitchFamily="34" charset="-120"/>
              </a:rPr>
              <a:t>Toán, Tiếng Việt...</a:t>
            </a:r>
            <a:endParaRPr lang="en-US" sz="1100" dirty="0"/>
          </a:p>
        </p:txBody>
      </p:sp>
      <p:sp>
        <p:nvSpPr>
          <p:cNvPr id="13" name="Text 11"/>
          <p:cNvSpPr/>
          <p:nvPr/>
        </p:nvSpPr>
        <p:spPr>
          <a:xfrm>
            <a:off x="685800" y="2697480"/>
            <a:ext cx="3172968" cy="1691640"/>
          </a:xfrm>
          <a:prstGeom prst="rect">
            <a:avLst/>
          </a:prstGeom>
          <a:noFill/>
          <a:ln/>
        </p:spPr>
        <p:txBody>
          <a:bodyPr wrap="square" rtlCol="0" anchor="ctr"/>
          <a:lstStyle/>
          <a:p>
            <a:pPr indent="0" marL="0">
              <a:lnSpc>
                <a:spcPct val="115000"/>
              </a:lnSpc>
              <a:buNone/>
            </a:pPr>
            <a:r>
              <a:rPr lang="en-US" sz="1150" dirty="0">
                <a:solidFill>
                  <a:srgbClr val="222222"/>
                </a:solidFill>
                <a:latin typeface="Arial" pitchFamily="34" charset="0"/>
                <a:ea typeface="Arial" pitchFamily="34" charset="-122"/>
                <a:cs typeface="Arial" pitchFamily="34" charset="-120"/>
              </a:rPr>
              <a:t>v1.0 từng chốt “không chọn Toán để tránh cạnh tranh UniClass”. Biến thể này đảo ngược có chủ đích — nhưng lý do kinh doanh cụ thể CHƯA được cung cấp.</a:t>
            </a:r>
            <a:endParaRPr lang="en-US" sz="1150" dirty="0"/>
          </a:p>
        </p:txBody>
      </p:sp>
      <p:sp>
        <p:nvSpPr>
          <p:cNvPr id="14" name="Shape 12"/>
          <p:cNvSpPr/>
          <p:nvPr/>
        </p:nvSpPr>
        <p:spPr>
          <a:xfrm>
            <a:off x="685800" y="4480560"/>
            <a:ext cx="3172968" cy="457200"/>
          </a:xfrm>
          <a:prstGeom prst="rect">
            <a:avLst>
              <a:gd name="adj" fmla="val 8000"/>
            </a:avLst>
          </a:prstGeom>
          <a:solidFill>
            <a:srgbClr val="B03A2E"/>
          </a:solidFill>
          <a:ln/>
        </p:spPr>
      </p:sp>
      <p:sp>
        <p:nvSpPr>
          <p:cNvPr id="15" name="Text 13"/>
          <p:cNvSpPr/>
          <p:nvPr/>
        </p:nvSpPr>
        <p:spPr>
          <a:xfrm>
            <a:off x="685800" y="4480560"/>
            <a:ext cx="3172968" cy="45720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 ĐẢO NGƯỢC QUYẾT ĐỊNH v1.0</a:t>
            </a:r>
            <a:endParaRPr lang="en-US" sz="1050" dirty="0"/>
          </a:p>
        </p:txBody>
      </p:sp>
      <p:sp>
        <p:nvSpPr>
          <p:cNvPr id="16" name="Shape 14"/>
          <p:cNvSpPr/>
          <p:nvPr/>
        </p:nvSpPr>
        <p:spPr>
          <a:xfrm>
            <a:off x="4270248" y="1463040"/>
            <a:ext cx="3630168" cy="4114800"/>
          </a:xfrm>
          <a:prstGeom prst="roundRect">
            <a:avLst>
              <a:gd name="adj" fmla="val 1511"/>
            </a:avLst>
          </a:prstGeom>
          <a:solidFill>
            <a:srgbClr val="F4F6F9"/>
          </a:solidFill>
          <a:ln w="12700">
            <a:solidFill>
              <a:srgbClr val="D9DFE8"/>
            </a:solidFill>
            <a:prstDash val="solid"/>
          </a:ln>
        </p:spPr>
      </p:sp>
      <p:sp>
        <p:nvSpPr>
          <p:cNvPr id="17" name="Text 15"/>
          <p:cNvSpPr/>
          <p:nvPr/>
        </p:nvSpPr>
        <p:spPr>
          <a:xfrm>
            <a:off x="4498848" y="1645920"/>
            <a:ext cx="3172968" cy="292608"/>
          </a:xfrm>
          <a:prstGeom prst="rect">
            <a:avLst/>
          </a:prstGeom>
          <a:noFill/>
          <a:ln/>
        </p:spPr>
        <p:txBody>
          <a:bodyPr wrap="square" rtlCol="0" anchor="ctr"/>
          <a:lstStyle/>
          <a:p>
            <a:pPr indent="0" marL="0">
              <a:buNone/>
            </a:pPr>
            <a:r>
              <a:rPr lang="en-US" sz="1250" b="1" dirty="0">
                <a:solidFill>
                  <a:srgbClr val="0E7C86"/>
                </a:solidFill>
                <a:latin typeface="Arial" pitchFamily="34" charset="0"/>
                <a:ea typeface="Arial" pitchFamily="34" charset="-122"/>
                <a:cs typeface="Arial" pitchFamily="34" charset="-120"/>
              </a:rPr>
              <a:t>BIẾN THỂ 2.2</a:t>
            </a:r>
            <a:endParaRPr lang="en-US" sz="1250" dirty="0"/>
          </a:p>
        </p:txBody>
      </p:sp>
      <p:sp>
        <p:nvSpPr>
          <p:cNvPr id="18" name="Text 16"/>
          <p:cNvSpPr/>
          <p:nvPr/>
        </p:nvSpPr>
        <p:spPr>
          <a:xfrm>
            <a:off x="4498848" y="1938528"/>
            <a:ext cx="3172968" cy="411480"/>
          </a:xfrm>
          <a:prstGeom prst="rect">
            <a:avLst/>
          </a:prstGeom>
          <a:noFill/>
          <a:ln/>
        </p:spPr>
        <p:txBody>
          <a:bodyPr wrap="square" rtlCol="0" anchor="ctr"/>
          <a:lstStyle/>
          <a:p>
            <a:pPr indent="0" marL="0">
              <a:buNone/>
            </a:pPr>
            <a:r>
              <a:rPr lang="en-US" sz="1650" b="1" dirty="0">
                <a:solidFill>
                  <a:srgbClr val="16264A"/>
                </a:solidFill>
                <a:latin typeface="Arial" pitchFamily="34" charset="0"/>
                <a:ea typeface="Arial" pitchFamily="34" charset="-122"/>
                <a:cs typeface="Arial" pitchFamily="34" charset="-120"/>
              </a:rPr>
              <a:t>Thêm STEM/STEAM/AI</a:t>
            </a:r>
            <a:endParaRPr lang="en-US" sz="1650" dirty="0"/>
          </a:p>
        </p:txBody>
      </p:sp>
      <p:sp>
        <p:nvSpPr>
          <p:cNvPr id="19" name="Text 17"/>
          <p:cNvSpPr/>
          <p:nvPr/>
        </p:nvSpPr>
        <p:spPr>
          <a:xfrm>
            <a:off x="4498848" y="2331720"/>
            <a:ext cx="3172968" cy="274320"/>
          </a:xfrm>
          <a:prstGeom prst="rect">
            <a:avLst/>
          </a:prstGeom>
          <a:noFill/>
          <a:ln/>
        </p:spPr>
        <p:txBody>
          <a:bodyPr wrap="square" rtlCol="0" anchor="ctr"/>
          <a:lstStyle/>
          <a:p>
            <a:pPr indent="0" marL="0">
              <a:buNone/>
            </a:pPr>
            <a:r>
              <a:rPr lang="en-US" sz="1100" i="1" dirty="0">
                <a:solidFill>
                  <a:srgbClr val="555555"/>
                </a:solidFill>
                <a:latin typeface="Arial" pitchFamily="34" charset="0"/>
                <a:ea typeface="Arial" pitchFamily="34" charset="-122"/>
                <a:cs typeface="Arial" pitchFamily="34" charset="-120"/>
              </a:rPr>
              <a:t>Không cạnh tranh nội bộ</a:t>
            </a:r>
            <a:endParaRPr lang="en-US" sz="1100" dirty="0"/>
          </a:p>
        </p:txBody>
      </p:sp>
      <p:sp>
        <p:nvSpPr>
          <p:cNvPr id="20" name="Text 18"/>
          <p:cNvSpPr/>
          <p:nvPr/>
        </p:nvSpPr>
        <p:spPr>
          <a:xfrm>
            <a:off x="4498848" y="2697480"/>
            <a:ext cx="3172968" cy="1691640"/>
          </a:xfrm>
          <a:prstGeom prst="rect">
            <a:avLst/>
          </a:prstGeom>
          <a:noFill/>
          <a:ln/>
        </p:spPr>
        <p:txBody>
          <a:bodyPr wrap="square" rtlCol="0" anchor="ctr"/>
          <a:lstStyle/>
          <a:p>
            <a:pPr indent="0" marL="0">
              <a:lnSpc>
                <a:spcPct val="115000"/>
              </a:lnSpc>
              <a:buNone/>
            </a:pPr>
            <a:r>
              <a:rPr lang="en-US" sz="1150" dirty="0">
                <a:solidFill>
                  <a:srgbClr val="222222"/>
                </a:solidFill>
                <a:latin typeface="Arial" pitchFamily="34" charset="0"/>
                <a:ea typeface="Arial" pitchFamily="34" charset="-122"/>
                <a:cs typeface="Arial" pitchFamily="34" charset="-120"/>
              </a:rPr>
              <a:t>Nhắm phụ huynh thành thị quan tâm công nghệ. Rủi ro: nếu nội dung “AI” chỉ gắn nhãn, dễ bị coi là marketing.</a:t>
            </a:r>
            <a:endParaRPr lang="en-US" sz="1150" dirty="0"/>
          </a:p>
        </p:txBody>
      </p:sp>
      <p:sp>
        <p:nvSpPr>
          <p:cNvPr id="21" name="Shape 19"/>
          <p:cNvSpPr/>
          <p:nvPr/>
        </p:nvSpPr>
        <p:spPr>
          <a:xfrm>
            <a:off x="4498848" y="4480560"/>
            <a:ext cx="3172968" cy="457200"/>
          </a:xfrm>
          <a:prstGeom prst="rect">
            <a:avLst>
              <a:gd name="adj" fmla="val 8000"/>
            </a:avLst>
          </a:prstGeom>
          <a:solidFill>
            <a:srgbClr val="B9770E"/>
          </a:solidFill>
          <a:ln/>
        </p:spPr>
      </p:sp>
      <p:sp>
        <p:nvSpPr>
          <p:cNvPr id="22" name="Text 20"/>
          <p:cNvSpPr/>
          <p:nvPr/>
        </p:nvSpPr>
        <p:spPr>
          <a:xfrm>
            <a:off x="4498848" y="4480560"/>
            <a:ext cx="3172968" cy="45720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USP dạng bundling</a:t>
            </a:r>
            <a:endParaRPr lang="en-US" sz="1050" dirty="0"/>
          </a:p>
        </p:txBody>
      </p:sp>
      <p:sp>
        <p:nvSpPr>
          <p:cNvPr id="23" name="Shape 21"/>
          <p:cNvSpPr/>
          <p:nvPr/>
        </p:nvSpPr>
        <p:spPr>
          <a:xfrm>
            <a:off x="8083296" y="1463040"/>
            <a:ext cx="3630168" cy="4114800"/>
          </a:xfrm>
          <a:prstGeom prst="roundRect">
            <a:avLst>
              <a:gd name="adj" fmla="val 1511"/>
            </a:avLst>
          </a:prstGeom>
          <a:solidFill>
            <a:srgbClr val="F4F6F9"/>
          </a:solidFill>
          <a:ln w="12700">
            <a:solidFill>
              <a:srgbClr val="D9DFE8"/>
            </a:solidFill>
            <a:prstDash val="solid"/>
          </a:ln>
        </p:spPr>
      </p:sp>
      <p:sp>
        <p:nvSpPr>
          <p:cNvPr id="24" name="Text 22"/>
          <p:cNvSpPr/>
          <p:nvPr/>
        </p:nvSpPr>
        <p:spPr>
          <a:xfrm>
            <a:off x="8311896" y="1645920"/>
            <a:ext cx="3172968" cy="292608"/>
          </a:xfrm>
          <a:prstGeom prst="rect">
            <a:avLst/>
          </a:prstGeom>
          <a:noFill/>
          <a:ln/>
        </p:spPr>
        <p:txBody>
          <a:bodyPr wrap="square" rtlCol="0" anchor="ctr"/>
          <a:lstStyle/>
          <a:p>
            <a:pPr indent="0" marL="0">
              <a:buNone/>
            </a:pPr>
            <a:r>
              <a:rPr lang="en-US" sz="1250" b="1" dirty="0">
                <a:solidFill>
                  <a:srgbClr val="0E7C86"/>
                </a:solidFill>
                <a:latin typeface="Arial" pitchFamily="34" charset="0"/>
                <a:ea typeface="Arial" pitchFamily="34" charset="-122"/>
                <a:cs typeface="Arial" pitchFamily="34" charset="-120"/>
              </a:rPr>
              <a:t>BIẾN THỂ 2.3</a:t>
            </a:r>
            <a:endParaRPr lang="en-US" sz="1250" dirty="0"/>
          </a:p>
        </p:txBody>
      </p:sp>
      <p:sp>
        <p:nvSpPr>
          <p:cNvPr id="25" name="Text 23"/>
          <p:cNvSpPr/>
          <p:nvPr/>
        </p:nvSpPr>
        <p:spPr>
          <a:xfrm>
            <a:off x="8311896" y="1938528"/>
            <a:ext cx="3172968" cy="411480"/>
          </a:xfrm>
          <a:prstGeom prst="rect">
            <a:avLst/>
          </a:prstGeom>
          <a:noFill/>
          <a:ln/>
        </p:spPr>
        <p:txBody>
          <a:bodyPr wrap="square" rtlCol="0" anchor="ctr"/>
          <a:lstStyle/>
          <a:p>
            <a:pPr indent="0" marL="0">
              <a:buNone/>
            </a:pPr>
            <a:r>
              <a:rPr lang="en-US" sz="1650" b="1" dirty="0">
                <a:solidFill>
                  <a:srgbClr val="16264A"/>
                </a:solidFill>
                <a:latin typeface="Arial" pitchFamily="34" charset="0"/>
                <a:ea typeface="Arial" pitchFamily="34" charset="-122"/>
                <a:cs typeface="Arial" pitchFamily="34" charset="-120"/>
              </a:rPr>
              <a:t>Thêm Kỹ năng sống/ngoại khóa</a:t>
            </a:r>
            <a:endParaRPr lang="en-US" sz="1650" dirty="0"/>
          </a:p>
        </p:txBody>
      </p:sp>
      <p:sp>
        <p:nvSpPr>
          <p:cNvPr id="26" name="Text 24"/>
          <p:cNvSpPr/>
          <p:nvPr/>
        </p:nvSpPr>
        <p:spPr>
          <a:xfrm>
            <a:off x="8311896" y="2331720"/>
            <a:ext cx="3172968" cy="274320"/>
          </a:xfrm>
          <a:prstGeom prst="rect">
            <a:avLst/>
          </a:prstGeom>
          <a:noFill/>
          <a:ln/>
        </p:spPr>
        <p:txBody>
          <a:bodyPr wrap="square" rtlCol="0" anchor="ctr"/>
          <a:lstStyle/>
          <a:p>
            <a:pPr indent="0" marL="0">
              <a:buNone/>
            </a:pPr>
            <a:r>
              <a:rPr lang="en-US" sz="1100" i="1" dirty="0">
                <a:solidFill>
                  <a:srgbClr val="555555"/>
                </a:solidFill>
                <a:latin typeface="Arial" pitchFamily="34" charset="0"/>
                <a:ea typeface="Arial" pitchFamily="34" charset="-122"/>
                <a:cs typeface="Arial" pitchFamily="34" charset="-120"/>
              </a:rPr>
              <a:t>Giữ nguyên từ v1.0</a:t>
            </a:r>
            <a:endParaRPr lang="en-US" sz="1100" dirty="0"/>
          </a:p>
        </p:txBody>
      </p:sp>
      <p:sp>
        <p:nvSpPr>
          <p:cNvPr id="27" name="Text 25"/>
          <p:cNvSpPr/>
          <p:nvPr/>
        </p:nvSpPr>
        <p:spPr>
          <a:xfrm>
            <a:off x="8311896" y="2697480"/>
            <a:ext cx="3172968" cy="1691640"/>
          </a:xfrm>
          <a:prstGeom prst="rect">
            <a:avLst/>
          </a:prstGeom>
          <a:noFill/>
          <a:ln/>
        </p:spPr>
        <p:txBody>
          <a:bodyPr wrap="square" rtlCol="0" anchor="ctr"/>
          <a:lstStyle/>
          <a:p>
            <a:pPr indent="0" marL="0">
              <a:lnSpc>
                <a:spcPct val="115000"/>
              </a:lnSpc>
              <a:buNone/>
            </a:pPr>
            <a:r>
              <a:rPr lang="en-US" sz="1150" dirty="0">
                <a:solidFill>
                  <a:srgbClr val="222222"/>
                </a:solidFill>
                <a:latin typeface="Arial" pitchFamily="34" charset="0"/>
                <a:ea typeface="Arial" pitchFamily="34" charset="-122"/>
                <a:cs typeface="Arial" pitchFamily="34" charset="-120"/>
              </a:rPr>
              <a:t>Job phụ trợ, không phải job chính. ⚠ Case Đắk Lắk: phản ứng dữ dội khi môn “kỹ năng” bundled vào giờ chính khoá bắt buộc.</a:t>
            </a:r>
            <a:endParaRPr lang="en-US" sz="1150" dirty="0"/>
          </a:p>
        </p:txBody>
      </p:sp>
      <p:sp>
        <p:nvSpPr>
          <p:cNvPr id="28" name="Shape 26"/>
          <p:cNvSpPr/>
          <p:nvPr/>
        </p:nvSpPr>
        <p:spPr>
          <a:xfrm>
            <a:off x="8311896" y="4480560"/>
            <a:ext cx="3172968" cy="457200"/>
          </a:xfrm>
          <a:prstGeom prst="rect">
            <a:avLst>
              <a:gd name="adj" fmla="val 8000"/>
            </a:avLst>
          </a:prstGeom>
          <a:solidFill>
            <a:srgbClr val="B9770E"/>
          </a:solidFill>
          <a:ln/>
        </p:spPr>
      </p:sp>
      <p:sp>
        <p:nvSpPr>
          <p:cNvPr id="29" name="Text 27"/>
          <p:cNvSpPr/>
          <p:nvPr/>
        </p:nvSpPr>
        <p:spPr>
          <a:xfrm>
            <a:off x="8311896" y="4480560"/>
            <a:ext cx="3172968" cy="45720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Rủi ro kênh GTM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4. CONCEPT 2</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Câu hỏi cần BOD chốt</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6035040"/>
                <a:gridCol w="1920240"/>
                <a:gridCol w="3291840"/>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Câu hỏi</a:t>
                      </a:r>
                      <a:endParaRPr lang="en-US" sz="11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Owner</a:t>
                      </a:r>
                      <a:endParaRPr lang="en-US" sz="11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Hệ quả nếu chưa chốt</a:t>
                      </a:r>
                      <a:endParaRPr lang="en-US" sz="11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r>
              <a:tr h="0">
                <a:tc>
                  <a:txBody>
                    <a:bodyPr/>
                    <a:lstStyle/>
                    <a:p>
                      <a:pPr indent="0" marL="0">
                        <a:buNone/>
                      </a:pPr>
                      <a:r>
                        <a:rPr lang="en-US" sz="1150" dirty="0">
                          <a:solidFill>
                            <a:srgbClr val="222222"/>
                          </a:solidFill>
                          <a:latin typeface="Arial" pitchFamily="34" charset="0"/>
                          <a:ea typeface="Arial" pitchFamily="34" charset="-122"/>
                          <a:cs typeface="Arial" pitchFamily="34" charset="-120"/>
                        </a:rPr>
                        <a:t>Lý do kinh doanh cụ thể để đảo ngược quyết định “không chọn Toán” của v1.0 là gì?</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50" dirty="0">
                          <a:solidFill>
                            <a:srgbClr val="222222"/>
                          </a:solidFill>
                          <a:latin typeface="Arial" pitchFamily="34" charset="0"/>
                          <a:ea typeface="Arial" pitchFamily="34" charset="-122"/>
                          <a:cs typeface="Arial" pitchFamily="34" charset="-120"/>
                        </a:rPr>
                        <a:t>BOD + Product</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50" dirty="0">
                          <a:solidFill>
                            <a:srgbClr val="222222"/>
                          </a:solidFill>
                          <a:latin typeface="Arial" pitchFamily="34" charset="0"/>
                          <a:ea typeface="Arial" pitchFamily="34" charset="-122"/>
                          <a:cs typeface="Arial" pitchFamily="34" charset="-120"/>
                        </a:rPr>
                        <a:t>Không có câu trả lời, biến thể 2.1 KHÔNG nên vào khảo sát T9 — rủi ro tự cạnh tranh nội bộ chưa được cân nhắc có chủ đích.</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50" dirty="0">
                          <a:solidFill>
                            <a:srgbClr val="222222"/>
                          </a:solidFill>
                          <a:latin typeface="Arial" pitchFamily="34" charset="0"/>
                          <a:ea typeface="Arial" pitchFamily="34" charset="-122"/>
                          <a:cs typeface="Arial" pitchFamily="34" charset="-120"/>
                        </a:rPr>
                        <a:t>Concept 2 = mức Concept 1 nào + 1 buổi thêm? (bảng tổng quan giả định mức 1.2)</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50" dirty="0">
                          <a:solidFill>
                            <a:srgbClr val="222222"/>
                          </a:solidFill>
                          <a:latin typeface="Arial" pitchFamily="34" charset="0"/>
                          <a:ea typeface="Arial" pitchFamily="34" charset="-122"/>
                          <a:cs typeface="Arial" pitchFamily="34" charset="-120"/>
                        </a:rPr>
                        <a:t>Product</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50" dirty="0">
                          <a:solidFill>
                            <a:srgbClr val="222222"/>
                          </a:solidFill>
                          <a:latin typeface="Arial" pitchFamily="34" charset="0"/>
                          <a:ea typeface="Arial" pitchFamily="34" charset="-122"/>
                          <a:cs typeface="Arial" pitchFamily="34" charset="-120"/>
                        </a:rPr>
                        <a:t>Chưa chốt rõ nền tảng, không ước lượng đúng effort/giá vốn của Concept 2.</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50" dirty="0">
                          <a:solidFill>
                            <a:srgbClr val="222222"/>
                          </a:solidFill>
                          <a:latin typeface="Arial" pitchFamily="34" charset="0"/>
                          <a:ea typeface="Arial" pitchFamily="34" charset="-122"/>
                          <a:cs typeface="Arial" pitchFamily="34" charset="-120"/>
                        </a:rPr>
                        <a:t>Nếu phụ huynh dùng cả UniClass và Edupia Class, tính là 2 khách hàng hay ăn vào 1 ngân sách gia đình?</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50" dirty="0">
                          <a:solidFill>
                            <a:srgbClr val="222222"/>
                          </a:solidFill>
                          <a:latin typeface="Arial" pitchFamily="34" charset="0"/>
                          <a:ea typeface="Arial" pitchFamily="34" charset="-122"/>
                          <a:cs typeface="Arial" pitchFamily="34" charset="-120"/>
                        </a:rPr>
                        <a:t>Finance + Product</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50" dirty="0">
                          <a:solidFill>
                            <a:srgbClr val="222222"/>
                          </a:solidFill>
                          <a:latin typeface="Arial" pitchFamily="34" charset="0"/>
                          <a:ea typeface="Arial" pitchFamily="34" charset="-122"/>
                          <a:cs typeface="Arial" pitchFamily="34" charset="-120"/>
                        </a:rPr>
                        <a:t>Ảnh hưởng cách tính lợi nhuận tăng thêm thật (incremental vs. cannibalized revenue).</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50" dirty="0">
                          <a:solidFill>
                            <a:srgbClr val="222222"/>
                          </a:solidFill>
                          <a:latin typeface="Arial" pitchFamily="34" charset="0"/>
                          <a:ea typeface="Arial" pitchFamily="34" charset="-122"/>
                          <a:cs typeface="Arial" pitchFamily="34" charset="-120"/>
                        </a:rPr>
                        <a:t>Kênh GTM của buổi STEAM/KNS có đi qua giờ chính khoá bắt buộc không?</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50" dirty="0">
                          <a:solidFill>
                            <a:srgbClr val="222222"/>
                          </a:solidFill>
                          <a:latin typeface="Arial" pitchFamily="34" charset="0"/>
                          <a:ea typeface="Arial" pitchFamily="34" charset="-122"/>
                          <a:cs typeface="Arial" pitchFamily="34" charset="-120"/>
                        </a:rPr>
                        <a:t>Product + Sales</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50" dirty="0">
                          <a:solidFill>
                            <a:srgbClr val="222222"/>
                          </a:solidFill>
                          <a:latin typeface="Arial" pitchFamily="34" charset="0"/>
                          <a:ea typeface="Arial" pitchFamily="34" charset="-122"/>
                          <a:cs typeface="Arial" pitchFamily="34" charset="-120"/>
                        </a:rPr>
                        <a:t>Nếu có, rủi ro case Đắk Lắk (phản ứng phụ huynh) áp dụng trực tiếp.</a:t>
                      </a:r>
                      <a:endParaRPr lang="en-US" sz="11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5. CONCEPT 3 — MỚI</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Gia sư AI 1:1 (Tutor AI)</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508760"/>
            <a:ext cx="11247120" cy="1005840"/>
          </a:xfrm>
          <a:prstGeom prst="roundRect">
            <a:avLst>
              <a:gd name="adj" fmla="val 5455"/>
            </a:avLst>
          </a:prstGeom>
          <a:solidFill>
            <a:srgbClr val="1E3A66"/>
          </a:solidFill>
          <a:ln/>
        </p:spPr>
      </p:sp>
      <p:sp>
        <p:nvSpPr>
          <p:cNvPr id="10" name="Text 8"/>
          <p:cNvSpPr/>
          <p:nvPr/>
        </p:nvSpPr>
        <p:spPr>
          <a:xfrm>
            <a:off x="731520" y="1508760"/>
            <a:ext cx="10698480" cy="1005840"/>
          </a:xfrm>
          <a:prstGeom prst="rect">
            <a:avLst/>
          </a:prstGeom>
          <a:noFill/>
          <a:ln/>
        </p:spPr>
        <p:txBody>
          <a:bodyPr wrap="square" rtlCol="0" anchor="ctr"/>
          <a:lstStyle/>
          <a:p>
            <a:pPr indent="0" marL="0">
              <a:lnSpc>
                <a:spcPct val="120000"/>
              </a:lnSpc>
              <a:buNone/>
            </a:pPr>
            <a:r>
              <a:rPr lang="en-US" sz="1450" dirty="0">
                <a:solidFill>
                  <a:srgbClr val="FFFFFF"/>
                </a:solidFill>
                <a:latin typeface="Arial" pitchFamily="34" charset="0"/>
                <a:ea typeface="Arial" pitchFamily="34" charset="-122"/>
                <a:cs typeface="Arial" pitchFamily="34" charset="-120"/>
              </a:rPr>
              <a:t>Khác biệt về bản chất so với Concept 1 và 2 (vẫn giữ Big Class + GV thật làm trung tâm, AI chỉ hỗ trợ): Concept 3 định vị AI LÀ GIA SƯ — bước dịch chuyển xa nhất khỏi cấu trúc Edupia Class hiện có.</a:t>
            </a:r>
            <a:endParaRPr lang="en-US" sz="1450" dirty="0"/>
          </a:p>
        </p:txBody>
      </p:sp>
      <p:sp>
        <p:nvSpPr>
          <p:cNvPr id="11" name="Shape 9"/>
          <p:cNvSpPr/>
          <p:nvPr/>
        </p:nvSpPr>
        <p:spPr>
          <a:xfrm>
            <a:off x="457200" y="2743200"/>
            <a:ext cx="3630168" cy="1920240"/>
          </a:xfrm>
          <a:prstGeom prst="roundRect">
            <a:avLst>
              <a:gd name="adj" fmla="val 2857"/>
            </a:avLst>
          </a:prstGeom>
          <a:solidFill>
            <a:srgbClr val="F4F6F9"/>
          </a:solidFill>
          <a:ln w="12700">
            <a:solidFill>
              <a:srgbClr val="D9DFE8"/>
            </a:solidFill>
            <a:prstDash val="solid"/>
          </a:ln>
        </p:spPr>
      </p:sp>
      <p:sp>
        <p:nvSpPr>
          <p:cNvPr id="12" name="Text 10"/>
          <p:cNvSpPr/>
          <p:nvPr/>
        </p:nvSpPr>
        <p:spPr>
          <a:xfrm>
            <a:off x="685800" y="2926080"/>
            <a:ext cx="3172968" cy="36576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Nguồn gốc</a:t>
            </a:r>
            <a:endParaRPr lang="en-US" sz="1300" dirty="0"/>
          </a:p>
        </p:txBody>
      </p:sp>
      <p:sp>
        <p:nvSpPr>
          <p:cNvPr id="13" name="Text 11"/>
          <p:cNvSpPr/>
          <p:nvPr/>
        </p:nvSpPr>
        <p:spPr>
          <a:xfrm>
            <a:off x="685800" y="3337560"/>
            <a:ext cx="3172968" cy="1188720"/>
          </a:xfrm>
          <a:prstGeom prst="rect">
            <a:avLst/>
          </a:prstGeom>
          <a:noFill/>
          <a:ln/>
        </p:spPr>
        <p:txBody>
          <a:bodyPr wrap="square" rtlCol="0" anchor="ctr"/>
          <a:lstStyle/>
          <a:p>
            <a:pPr indent="0" marL="0">
              <a:lnSpc>
                <a:spcPct val="120000"/>
              </a:lnSpc>
              <a:buNone/>
            </a:pPr>
            <a:r>
              <a:rPr lang="en-US" sz="1200" dirty="0">
                <a:solidFill>
                  <a:srgbClr val="222222"/>
                </a:solidFill>
                <a:latin typeface="Arial" pitchFamily="34" charset="0"/>
                <a:ea typeface="Arial" pitchFamily="34" charset="-122"/>
                <a:cs typeface="Arial" pitchFamily="34" charset="-120"/>
              </a:rPr>
              <a:t>Xây dựng từ nghiên cứu thị trường AI gia sư toàn cầu (research.md, 17/08/2026).</a:t>
            </a:r>
            <a:endParaRPr lang="en-US" sz="1200" dirty="0"/>
          </a:p>
        </p:txBody>
      </p:sp>
      <p:sp>
        <p:nvSpPr>
          <p:cNvPr id="14" name="Shape 12"/>
          <p:cNvSpPr/>
          <p:nvPr/>
        </p:nvSpPr>
        <p:spPr>
          <a:xfrm>
            <a:off x="4270248" y="2743200"/>
            <a:ext cx="3630168" cy="1920240"/>
          </a:xfrm>
          <a:prstGeom prst="roundRect">
            <a:avLst>
              <a:gd name="adj" fmla="val 2857"/>
            </a:avLst>
          </a:prstGeom>
          <a:solidFill>
            <a:srgbClr val="F4F6F9"/>
          </a:solidFill>
          <a:ln w="12700">
            <a:solidFill>
              <a:srgbClr val="D9DFE8"/>
            </a:solidFill>
            <a:prstDash val="solid"/>
          </a:ln>
        </p:spPr>
      </p:sp>
      <p:sp>
        <p:nvSpPr>
          <p:cNvPr id="15" name="Text 13"/>
          <p:cNvSpPr/>
          <p:nvPr/>
        </p:nvSpPr>
        <p:spPr>
          <a:xfrm>
            <a:off x="4498848" y="2926080"/>
            <a:ext cx="3172968" cy="36576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Mức độ chắc chắn</a:t>
            </a:r>
            <a:endParaRPr lang="en-US" sz="1300" dirty="0"/>
          </a:p>
        </p:txBody>
      </p:sp>
      <p:sp>
        <p:nvSpPr>
          <p:cNvPr id="16" name="Text 14"/>
          <p:cNvSpPr/>
          <p:nvPr/>
        </p:nvSpPr>
        <p:spPr>
          <a:xfrm>
            <a:off x="4498848" y="3337560"/>
            <a:ext cx="3172968" cy="1188720"/>
          </a:xfrm>
          <a:prstGeom prst="rect">
            <a:avLst/>
          </a:prstGeom>
          <a:noFill/>
          <a:ln/>
        </p:spPr>
        <p:txBody>
          <a:bodyPr wrap="square" rtlCol="0" anchor="ctr"/>
          <a:lstStyle/>
          <a:p>
            <a:pPr indent="0" marL="0">
              <a:lnSpc>
                <a:spcPct val="120000"/>
              </a:lnSpc>
              <a:buNone/>
            </a:pPr>
            <a:r>
              <a:rPr lang="en-US" sz="1200" dirty="0">
                <a:solidFill>
                  <a:srgbClr val="222222"/>
                </a:solidFill>
                <a:latin typeface="Arial" pitchFamily="34" charset="0"/>
                <a:ea typeface="Arial" pitchFamily="34" charset="-122"/>
                <a:cs typeface="Arial" pitchFamily="34" charset="-120"/>
              </a:rPr>
              <a:t>⚠ Định hướng DUY NHẤT trong 3 định hướng CHƯA có Pilot nội bộ nào đối chiếu.</a:t>
            </a:r>
            <a:endParaRPr lang="en-US" sz="1200" dirty="0"/>
          </a:p>
        </p:txBody>
      </p:sp>
      <p:sp>
        <p:nvSpPr>
          <p:cNvPr id="17" name="Shape 15"/>
          <p:cNvSpPr/>
          <p:nvPr/>
        </p:nvSpPr>
        <p:spPr>
          <a:xfrm>
            <a:off x="8083296" y="2743200"/>
            <a:ext cx="3630168" cy="1920240"/>
          </a:xfrm>
          <a:prstGeom prst="roundRect">
            <a:avLst>
              <a:gd name="adj" fmla="val 2857"/>
            </a:avLst>
          </a:prstGeom>
          <a:solidFill>
            <a:srgbClr val="F4F6F9"/>
          </a:solidFill>
          <a:ln w="12700">
            <a:solidFill>
              <a:srgbClr val="D9DFE8"/>
            </a:solidFill>
            <a:prstDash val="solid"/>
          </a:ln>
        </p:spPr>
      </p:sp>
      <p:sp>
        <p:nvSpPr>
          <p:cNvPr id="18" name="Text 16"/>
          <p:cNvSpPr/>
          <p:nvPr/>
        </p:nvSpPr>
        <p:spPr>
          <a:xfrm>
            <a:off x="8311896" y="2926080"/>
            <a:ext cx="3172968" cy="36576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Cập nhật v2.1 (18/08)</a:t>
            </a:r>
            <a:endParaRPr lang="en-US" sz="1300" dirty="0"/>
          </a:p>
        </p:txBody>
      </p:sp>
      <p:sp>
        <p:nvSpPr>
          <p:cNvPr id="19" name="Text 17"/>
          <p:cNvSpPr/>
          <p:nvPr/>
        </p:nvSpPr>
        <p:spPr>
          <a:xfrm>
            <a:off x="8311896" y="3337560"/>
            <a:ext cx="3172968" cy="1188720"/>
          </a:xfrm>
          <a:prstGeom prst="rect">
            <a:avLst/>
          </a:prstGeom>
          <a:noFill/>
          <a:ln/>
        </p:spPr>
        <p:txBody>
          <a:bodyPr wrap="square" rtlCol="0" anchor="ctr"/>
          <a:lstStyle/>
          <a:p>
            <a:pPr indent="0" marL="0">
              <a:lnSpc>
                <a:spcPct val="120000"/>
              </a:lnSpc>
              <a:buNone/>
            </a:pPr>
            <a:r>
              <a:rPr lang="en-US" sz="1200" dirty="0">
                <a:solidFill>
                  <a:srgbClr val="222222"/>
                </a:solidFill>
                <a:latin typeface="Arial" pitchFamily="34" charset="0"/>
                <a:ea typeface="Arial" pitchFamily="34" charset="-122"/>
                <a:cs typeface="Arial" pitchFamily="34" charset="-120"/>
              </a:rPr>
              <a:t>Làm giàu từ phiên brainstorming: lộ trình niềm tin, định vị 3 điểm, Persona Engine, kinh tế TRIZ.</a:t>
            </a:r>
            <a:endParaRPr lang="en-US" sz="1200" dirty="0"/>
          </a:p>
        </p:txBody>
      </p:sp>
      <p:sp>
        <p:nvSpPr>
          <p:cNvPr id="20" name="Text 18"/>
          <p:cNvSpPr/>
          <p:nvPr/>
        </p:nvSpPr>
        <p:spPr>
          <a:xfrm>
            <a:off x="457200" y="4937760"/>
            <a:ext cx="11247120" cy="457200"/>
          </a:xfrm>
          <a:prstGeom prst="rect">
            <a:avLst/>
          </a:prstGeom>
          <a:noFill/>
          <a:ln/>
        </p:spPr>
        <p:txBody>
          <a:bodyPr wrap="square" rtlCol="0" anchor="ctr"/>
          <a:lstStyle/>
          <a:p>
            <a:pPr indent="0" marL="0">
              <a:buNone/>
            </a:pPr>
            <a:r>
              <a:rPr lang="en-US" sz="1250" i="1" dirty="0">
                <a:solidFill>
                  <a:srgbClr val="555555"/>
                </a:solidFill>
                <a:latin typeface="Arial" pitchFamily="34" charset="0"/>
                <a:ea typeface="Arial" pitchFamily="34" charset="-122"/>
                <a:cs typeface="Arial" pitchFamily="34" charset="-120"/>
              </a:rPr>
              <a:t>2 phương án kỹ thuật đề xuất (chưa chốt): A — “AI Song Hành” (dual-teacher)  ·  B — “AI luyện hội thoại” (conversational-practice). Xem chi tiết ở slide sau.</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5. CONCEPT 3</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Rủi ro cannibalization nội bộ — mở rộng ở v2.1</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417320"/>
            <a:ext cx="11247120" cy="777240"/>
          </a:xfrm>
          <a:prstGeom prst="rect">
            <a:avLst/>
          </a:prstGeom>
          <a:solidFill>
            <a:srgbClr val="F4F6F9"/>
          </a:solidFill>
          <a:ln w="12700">
            <a:solidFill>
              <a:srgbClr val="D9DFE8"/>
            </a:solidFill>
            <a:prstDash val="solid"/>
          </a:ln>
        </p:spPr>
      </p:sp>
      <p:sp>
        <p:nvSpPr>
          <p:cNvPr id="10" name="Text 8"/>
          <p:cNvSpPr/>
          <p:nvPr/>
        </p:nvSpPr>
        <p:spPr>
          <a:xfrm>
            <a:off x="685800" y="1417320"/>
            <a:ext cx="10789920" cy="777240"/>
          </a:xfrm>
          <a:prstGeom prst="rect">
            <a:avLst/>
          </a:prstGeom>
          <a:noFill/>
          <a:ln/>
        </p:spPr>
        <p:txBody>
          <a:bodyPr wrap="square" rtlCol="0" anchor="ctr"/>
          <a:lstStyle/>
          <a:p>
            <a:pPr indent="0" marL="0">
              <a:buNone/>
            </a:pPr>
            <a:r>
              <a:rPr lang="en-US" sz="1300" b="1" dirty="0">
                <a:solidFill>
                  <a:srgbClr val="1E7E45"/>
                </a:solidFill>
                <a:latin typeface="Arial" pitchFamily="34" charset="0"/>
                <a:ea typeface="Arial" pitchFamily="34" charset="-122"/>
                <a:cs typeface="Arial" pitchFamily="34" charset="-120"/>
              </a:rPr>
              <a:t>● Đã chốt (18/08):  </a:t>
            </a:r>
            <a:pPr indent="0" marL="0">
              <a:buNone/>
            </a:pPr>
            <a:r>
              <a:rPr lang="en-US" sz="1300" dirty="0">
                <a:solidFill>
                  <a:srgbClr val="222222"/>
                </a:solidFill>
                <a:latin typeface="Arial" pitchFamily="34" charset="0"/>
                <a:ea typeface="Arial" pitchFamily="34" charset="-122"/>
                <a:cs typeface="Arial" pitchFamily="34" charset="-120"/>
              </a:rPr>
              <a:t>“Edupia Tutor” là MỘT họ sản phẩm — bao gồm 1-1 (cá nhân), 1-4, 1-6 (nhóm nhỏ) ở các mức giá khác nhau tăng dần. Không phải các sản phẩm tách biệt.</a:t>
            </a:r>
            <a:endParaRPr lang="en-US" sz="1300" dirty="0"/>
          </a:p>
        </p:txBody>
      </p:sp>
      <p:sp>
        <p:nvSpPr>
          <p:cNvPr id="11" name="Text 9"/>
          <p:cNvSpPr/>
          <p:nvPr/>
        </p:nvSpPr>
        <p:spPr>
          <a:xfrm>
            <a:off x="457200" y="2377440"/>
            <a:ext cx="9144000" cy="320040"/>
          </a:xfrm>
          <a:prstGeom prst="rect">
            <a:avLst/>
          </a:prstGeom>
          <a:noFill/>
          <a:ln/>
        </p:spPr>
        <p:txBody>
          <a:bodyPr wrap="square" rtlCol="0" anchor="ctr"/>
          <a:lstStyle/>
          <a:p>
            <a:pPr indent="0" marL="0">
              <a:buNone/>
            </a:pPr>
            <a:r>
              <a:rPr lang="en-US" sz="1350" b="1" dirty="0">
                <a:solidFill>
                  <a:srgbClr val="16264A"/>
                </a:solidFill>
                <a:latin typeface="Arial" pitchFamily="34" charset="0"/>
                <a:ea typeface="Arial" pitchFamily="34" charset="-122"/>
                <a:cs typeface="Arial" pitchFamily="34" charset="-120"/>
              </a:rPr>
              <a:t>2 kịch bản định vị — chưa chốt, cần BOD quyết định:</a:t>
            </a:r>
            <a:endParaRPr lang="en-US" sz="1350" dirty="0"/>
          </a:p>
        </p:txBody>
      </p:sp>
      <p:sp>
        <p:nvSpPr>
          <p:cNvPr id="12" name="Shape 10"/>
          <p:cNvSpPr/>
          <p:nvPr/>
        </p:nvSpPr>
        <p:spPr>
          <a:xfrm>
            <a:off x="457200" y="2788920"/>
            <a:ext cx="5532120" cy="1371600"/>
          </a:xfrm>
          <a:prstGeom prst="roundRect">
            <a:avLst>
              <a:gd name="adj" fmla="val 4000"/>
            </a:avLst>
          </a:prstGeom>
          <a:solidFill>
            <a:srgbClr val="FFFFFF"/>
          </a:solidFill>
          <a:ln w="15875">
            <a:solidFill>
              <a:srgbClr val="D9DFE8"/>
            </a:solidFill>
            <a:prstDash val="solid"/>
          </a:ln>
        </p:spPr>
      </p:sp>
      <p:sp>
        <p:nvSpPr>
          <p:cNvPr id="13" name="Text 11"/>
          <p:cNvSpPr/>
          <p:nvPr/>
        </p:nvSpPr>
        <p:spPr>
          <a:xfrm>
            <a:off x="685800" y="2907792"/>
            <a:ext cx="5120640" cy="274320"/>
          </a:xfrm>
          <a:prstGeom prst="rect">
            <a:avLst/>
          </a:prstGeom>
          <a:noFill/>
          <a:ln/>
        </p:spPr>
        <p:txBody>
          <a:bodyPr wrap="square" rtlCol="0" anchor="ctr"/>
          <a:lstStyle/>
          <a:p>
            <a:pPr indent="0" marL="0">
              <a:buNone/>
            </a:pPr>
            <a:r>
              <a:rPr lang="en-US" sz="1100" b="1" dirty="0">
                <a:solidFill>
                  <a:srgbClr val="0E7C86"/>
                </a:solidFill>
                <a:latin typeface="Arial" pitchFamily="34" charset="0"/>
                <a:ea typeface="Arial" pitchFamily="34" charset="-122"/>
                <a:cs typeface="Arial" pitchFamily="34" charset="-120"/>
              </a:rPr>
              <a:t>KỊCH BẢN 1</a:t>
            </a:r>
            <a:endParaRPr lang="en-US" sz="1100" dirty="0"/>
          </a:p>
        </p:txBody>
      </p:sp>
      <p:sp>
        <p:nvSpPr>
          <p:cNvPr id="14" name="Text 12"/>
          <p:cNvSpPr/>
          <p:nvPr/>
        </p:nvSpPr>
        <p:spPr>
          <a:xfrm>
            <a:off x="685800" y="3154680"/>
            <a:ext cx="5120640" cy="320040"/>
          </a:xfrm>
          <a:prstGeom prst="rect">
            <a:avLst/>
          </a:prstGeom>
          <a:noFill/>
          <a:ln/>
        </p:spPr>
        <p:txBody>
          <a:bodyPr wrap="square" rtlCol="0" anchor="ctr"/>
          <a:lstStyle/>
          <a:p>
            <a:pPr indent="0" marL="0">
              <a:buNone/>
            </a:pPr>
            <a:r>
              <a:rPr lang="en-US" sz="1400" b="1" dirty="0">
                <a:solidFill>
                  <a:srgbClr val="16264A"/>
                </a:solidFill>
                <a:latin typeface="Arial" pitchFamily="34" charset="0"/>
                <a:ea typeface="Arial" pitchFamily="34" charset="-122"/>
                <a:cs typeface="Arial" pitchFamily="34" charset="-120"/>
              </a:rPr>
              <a:t>Substitute giá rẻ cho Tutor</a:t>
            </a:r>
            <a:endParaRPr lang="en-US" sz="1400" dirty="0"/>
          </a:p>
        </p:txBody>
      </p:sp>
      <p:sp>
        <p:nvSpPr>
          <p:cNvPr id="15" name="Text 13"/>
          <p:cNvSpPr/>
          <p:nvPr/>
        </p:nvSpPr>
        <p:spPr>
          <a:xfrm>
            <a:off x="685800" y="3493008"/>
            <a:ext cx="5120640" cy="640080"/>
          </a:xfrm>
          <a:prstGeom prst="rect">
            <a:avLst/>
          </a:prstGeom>
          <a:noFill/>
          <a:ln/>
        </p:spPr>
        <p:txBody>
          <a:bodyPr wrap="square" rtlCol="0" anchor="ctr"/>
          <a:lstStyle/>
          <a:p>
            <a:pPr indent="0" marL="0">
              <a:lnSpc>
                <a:spcPct val="115000"/>
              </a:lnSpc>
              <a:buNone/>
            </a:pPr>
            <a:r>
              <a:rPr lang="en-US" sz="1100" dirty="0">
                <a:solidFill>
                  <a:srgbClr val="222222"/>
                </a:solidFill>
                <a:latin typeface="Arial" pitchFamily="34" charset="0"/>
                <a:ea typeface="Arial" pitchFamily="34" charset="-122"/>
                <a:cs typeface="Arial" pitchFamily="34" charset="-120"/>
              </a:rPr>
              <a:t>Đúng mẫu hình thị trường TQ (app AI-làm-bài rẻ thay thế gia sư $60/giờ). Rủi ro ăn doanh thu Tutor — phụ huynh đang cân nhắc Tutor có thể chuyển sang Concept 3 rẻ hơn.</a:t>
            </a:r>
            <a:endParaRPr lang="en-US" sz="1100" dirty="0"/>
          </a:p>
        </p:txBody>
      </p:sp>
      <p:sp>
        <p:nvSpPr>
          <p:cNvPr id="16" name="Shape 14"/>
          <p:cNvSpPr/>
          <p:nvPr/>
        </p:nvSpPr>
        <p:spPr>
          <a:xfrm>
            <a:off x="6172200" y="2788920"/>
            <a:ext cx="5532120" cy="1371600"/>
          </a:xfrm>
          <a:prstGeom prst="roundRect">
            <a:avLst>
              <a:gd name="adj" fmla="val 4000"/>
            </a:avLst>
          </a:prstGeom>
          <a:solidFill>
            <a:srgbClr val="FFFFFF"/>
          </a:solidFill>
          <a:ln w="15875">
            <a:solidFill>
              <a:srgbClr val="D9DFE8"/>
            </a:solidFill>
            <a:prstDash val="solid"/>
          </a:ln>
        </p:spPr>
      </p:sp>
      <p:sp>
        <p:nvSpPr>
          <p:cNvPr id="17" name="Text 15"/>
          <p:cNvSpPr/>
          <p:nvPr/>
        </p:nvSpPr>
        <p:spPr>
          <a:xfrm>
            <a:off x="6400800" y="2907792"/>
            <a:ext cx="5120640" cy="274320"/>
          </a:xfrm>
          <a:prstGeom prst="rect">
            <a:avLst/>
          </a:prstGeom>
          <a:noFill/>
          <a:ln/>
        </p:spPr>
        <p:txBody>
          <a:bodyPr wrap="square" rtlCol="0" anchor="ctr"/>
          <a:lstStyle/>
          <a:p>
            <a:pPr indent="0" marL="0">
              <a:buNone/>
            </a:pPr>
            <a:r>
              <a:rPr lang="en-US" sz="1100" b="1" dirty="0">
                <a:solidFill>
                  <a:srgbClr val="0E7C86"/>
                </a:solidFill>
                <a:latin typeface="Arial" pitchFamily="34" charset="0"/>
                <a:ea typeface="Arial" pitchFamily="34" charset="-122"/>
                <a:cs typeface="Arial" pitchFamily="34" charset="-120"/>
              </a:rPr>
              <a:t>KỊCH BẢN 2</a:t>
            </a:r>
            <a:endParaRPr lang="en-US" sz="1100" dirty="0"/>
          </a:p>
        </p:txBody>
      </p:sp>
      <p:sp>
        <p:nvSpPr>
          <p:cNvPr id="18" name="Text 16"/>
          <p:cNvSpPr/>
          <p:nvPr/>
        </p:nvSpPr>
        <p:spPr>
          <a:xfrm>
            <a:off x="6400800" y="3154680"/>
            <a:ext cx="5120640" cy="320040"/>
          </a:xfrm>
          <a:prstGeom prst="rect">
            <a:avLst/>
          </a:prstGeom>
          <a:noFill/>
          <a:ln/>
        </p:spPr>
        <p:txBody>
          <a:bodyPr wrap="square" rtlCol="0" anchor="ctr"/>
          <a:lstStyle/>
          <a:p>
            <a:pPr indent="0" marL="0">
              <a:buNone/>
            </a:pPr>
            <a:r>
              <a:rPr lang="en-US" sz="1400" b="1" dirty="0">
                <a:solidFill>
                  <a:srgbClr val="16264A"/>
                </a:solidFill>
                <a:latin typeface="Arial" pitchFamily="34" charset="0"/>
                <a:ea typeface="Arial" pitchFamily="34" charset="-122"/>
                <a:cs typeface="Arial" pitchFamily="34" charset="-120"/>
              </a:rPr>
              <a:t>JTBD khác biệt, không cannibalize</a:t>
            </a:r>
            <a:endParaRPr lang="en-US" sz="1400" dirty="0"/>
          </a:p>
        </p:txBody>
      </p:sp>
      <p:sp>
        <p:nvSpPr>
          <p:cNvPr id="19" name="Text 17"/>
          <p:cNvSpPr/>
          <p:nvPr/>
        </p:nvSpPr>
        <p:spPr>
          <a:xfrm>
            <a:off x="6400800" y="3493008"/>
            <a:ext cx="5120640" cy="640080"/>
          </a:xfrm>
          <a:prstGeom prst="rect">
            <a:avLst/>
          </a:prstGeom>
          <a:noFill/>
          <a:ln/>
        </p:spPr>
        <p:txBody>
          <a:bodyPr wrap="square" rtlCol="0" anchor="ctr"/>
          <a:lstStyle/>
          <a:p>
            <a:pPr indent="0" marL="0">
              <a:lnSpc>
                <a:spcPct val="115000"/>
              </a:lnSpc>
              <a:buNone/>
            </a:pPr>
            <a:r>
              <a:rPr lang="en-US" sz="1100" dirty="0">
                <a:solidFill>
                  <a:srgbClr val="222222"/>
                </a:solidFill>
                <a:latin typeface="Arial" pitchFamily="34" charset="0"/>
                <a:ea typeface="Arial" pitchFamily="34" charset="-122"/>
                <a:cs typeface="Arial" pitchFamily="34" charset="-120"/>
              </a:rPr>
              <a:t>Nhắm nhóm phụ huynh chưa từng nghĩ tới “gia sư riêng” vì Tutor quá đắt — mở rộng thị trường (noncustomer), không cạnh tranh nội bộ.</a:t>
            </a:r>
            <a:endParaRPr lang="en-US" sz="1100" dirty="0"/>
          </a:p>
        </p:txBody>
      </p:sp>
      <p:sp>
        <p:nvSpPr>
          <p:cNvPr id="20" name="Shape 18"/>
          <p:cNvSpPr/>
          <p:nvPr/>
        </p:nvSpPr>
        <p:spPr>
          <a:xfrm>
            <a:off x="457200" y="4389120"/>
            <a:ext cx="11247120" cy="1371600"/>
          </a:xfrm>
          <a:prstGeom prst="rect">
            <a:avLst/>
          </a:prstGeom>
          <a:solidFill>
            <a:srgbClr val="FBEFE7"/>
          </a:solidFill>
          <a:ln w="12700">
            <a:solidFill>
              <a:srgbClr val="B9770E"/>
            </a:solidFill>
            <a:prstDash val="solid"/>
          </a:ln>
        </p:spPr>
      </p:sp>
      <p:sp>
        <p:nvSpPr>
          <p:cNvPr id="21" name="Text 19"/>
          <p:cNvSpPr/>
          <p:nvPr/>
        </p:nvSpPr>
        <p:spPr>
          <a:xfrm>
            <a:off x="685800" y="4498848"/>
            <a:ext cx="10789920" cy="1188720"/>
          </a:xfrm>
          <a:prstGeom prst="rect">
            <a:avLst/>
          </a:prstGeom>
          <a:noFill/>
          <a:ln/>
        </p:spPr>
        <p:txBody>
          <a:bodyPr wrap="square" rtlCol="0" anchor="t"/>
          <a:lstStyle/>
          <a:p>
            <a:pPr indent="0" marL="0">
              <a:lnSpc>
                <a:spcPct val="120000"/>
              </a:lnSpc>
              <a:buNone/>
            </a:pPr>
            <a:r>
              <a:rPr lang="en-US" sz="1200" b="1" dirty="0">
                <a:solidFill>
                  <a:srgbClr val="B03A2E"/>
                </a:solidFill>
                <a:latin typeface="Arial" pitchFamily="34" charset="0"/>
                <a:ea typeface="Arial" pitchFamily="34" charset="-122"/>
                <a:cs typeface="Arial" pitchFamily="34" charset="-120"/>
              </a:rPr>
              <a:t>⚠ Hệ quả v2.1:  </a:t>
            </a:r>
            <a:pPr indent="0" marL="0">
              <a:lnSpc>
                <a:spcPct val="120000"/>
              </a:lnSpc>
              <a:buNone/>
            </a:pPr>
            <a:r>
              <a:rPr lang="en-US" sz="1200" dirty="0">
                <a:solidFill>
                  <a:srgbClr val="222222"/>
                </a:solidFill>
                <a:latin typeface="Arial" pitchFamily="34" charset="0"/>
                <a:ea typeface="Arial" pitchFamily="34" charset="-122"/>
                <a:cs typeface="Arial" pitchFamily="34" charset="-120"/>
              </a:rPr>
              <a:t>Lộ trình 3 giai đoạn (slide sau) xây trên nền vận hành lớp NHÓM (1-4/1-6) của Edupia Tutor — không chỉ biến thể 1-1. Vì cùng một họ sản phẩm, phạm vi cannibalization cần đo cho TOÀN DẢI GIÁ 1-1/1-4/1-6, không chỉ điểm giá 1-1 cao nhất. Khoảng cách giá với Concept 3 (390k) hẹp hơn ở mức 1-4/1-6 — rủi ro chuyển đổi khách hàng cao hơn.</a:t>
            </a:r>
            <a:endParaRPr lang="en-US" sz="1200" dirty="0"/>
          </a:p>
        </p:txBody>
      </p:sp>
      <p:sp>
        <p:nvSpPr>
          <p:cNvPr id="22" name="Text 20"/>
          <p:cNvSpPr/>
          <p:nvPr/>
        </p:nvSpPr>
        <p:spPr>
          <a:xfrm>
            <a:off x="457200" y="5943600"/>
            <a:ext cx="11247120" cy="365760"/>
          </a:xfrm>
          <a:prstGeom prst="rect">
            <a:avLst/>
          </a:prstGeom>
          <a:noFill/>
          <a:ln/>
        </p:spPr>
        <p:txBody>
          <a:bodyPr wrap="square" rtlCol="0" anchor="ctr"/>
          <a:lstStyle/>
          <a:p>
            <a:pPr indent="0" marL="0">
              <a:buNone/>
            </a:pPr>
            <a:r>
              <a:rPr lang="en-US" sz="1100" i="1" dirty="0">
                <a:solidFill>
                  <a:srgbClr val="555555"/>
                </a:solidFill>
                <a:latin typeface="Arial" pitchFamily="34" charset="0"/>
                <a:ea typeface="Arial" pitchFamily="34" charset="-122"/>
                <a:cs typeface="Arial" pitchFamily="34" charset="-120"/>
              </a:rPr>
              <a:t>Cần BOD xác nhận ý định trước khi viết PRD; Product cần thiết kế khảo sát T9 đo trực tiếp mức độ chồng lấn khách hàng.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5. CONCEPT 3</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Khung định vị 3 điểm  (mới — brainstorm 18/08)</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1097280" y="2194560"/>
            <a:ext cx="9966960" cy="0"/>
          </a:xfrm>
          <a:prstGeom prst="line">
            <a:avLst/>
          </a:prstGeom>
          <a:noFill/>
          <a:ln w="25400">
            <a:solidFill>
              <a:srgbClr val="D9DFE8"/>
            </a:solidFill>
            <a:prstDash val="solid"/>
          </a:ln>
        </p:spPr>
      </p:sp>
      <p:sp>
        <p:nvSpPr>
          <p:cNvPr id="10" name="Shape 8"/>
          <p:cNvSpPr/>
          <p:nvPr/>
        </p:nvSpPr>
        <p:spPr>
          <a:xfrm>
            <a:off x="987552" y="2084832"/>
            <a:ext cx="219456" cy="219456"/>
          </a:xfrm>
          <a:prstGeom prst="ellipse">
            <a:avLst/>
          </a:prstGeom>
          <a:solidFill>
            <a:srgbClr val="8B95A6"/>
          </a:solidFill>
          <a:ln/>
        </p:spPr>
      </p:sp>
      <p:sp>
        <p:nvSpPr>
          <p:cNvPr id="11" name="Text 9"/>
          <p:cNvSpPr/>
          <p:nvPr/>
        </p:nvSpPr>
        <p:spPr>
          <a:xfrm>
            <a:off x="-91440" y="2377440"/>
            <a:ext cx="2377440" cy="320040"/>
          </a:xfrm>
          <a:prstGeom prst="rect">
            <a:avLst/>
          </a:prstGeom>
          <a:noFill/>
          <a:ln/>
        </p:spPr>
        <p:txBody>
          <a:bodyPr wrap="square" rtlCol="0" anchor="ctr"/>
          <a:lstStyle/>
          <a:p>
            <a:pPr algn="ctr" indent="0" marL="0">
              <a:buNone/>
            </a:pPr>
            <a:r>
              <a:rPr lang="en-US" sz="1350" b="1" dirty="0">
                <a:solidFill>
                  <a:srgbClr val="16264A"/>
                </a:solidFill>
                <a:latin typeface="Arial" pitchFamily="34" charset="0"/>
                <a:ea typeface="Arial" pitchFamily="34" charset="-122"/>
                <a:cs typeface="Arial" pitchFamily="34" charset="-120"/>
              </a:rPr>
              <a:t>Edupia AI Class</a:t>
            </a:r>
            <a:endParaRPr lang="en-US" sz="1350" dirty="0"/>
          </a:p>
        </p:txBody>
      </p:sp>
      <p:sp>
        <p:nvSpPr>
          <p:cNvPr id="12" name="Text 10"/>
          <p:cNvSpPr/>
          <p:nvPr/>
        </p:nvSpPr>
        <p:spPr>
          <a:xfrm>
            <a:off x="-91440" y="2697480"/>
            <a:ext cx="2377440" cy="502920"/>
          </a:xfrm>
          <a:prstGeom prst="rect">
            <a:avLst/>
          </a:prstGeom>
          <a:noFill/>
          <a:ln/>
        </p:spPr>
        <p:txBody>
          <a:bodyPr wrap="square" rtlCol="0" anchor="ctr"/>
          <a:lstStyle/>
          <a:p>
            <a:pPr algn="ctr" indent="0" marL="0">
              <a:buNone/>
            </a:pPr>
            <a:r>
              <a:rPr lang="en-US" sz="1050" i="1" dirty="0">
                <a:solidFill>
                  <a:srgbClr val="555555"/>
                </a:solidFill>
                <a:latin typeface="Arial" pitchFamily="34" charset="0"/>
                <a:ea typeface="Arial" pitchFamily="34" charset="-122"/>
                <a:cs typeface="Arial" pitchFamily="34" charset="-120"/>
              </a:rPr>
              <a:t>self-learning thuần, rẻ nhất</a:t>
            </a:r>
            <a:endParaRPr lang="en-US" sz="1050" dirty="0"/>
          </a:p>
        </p:txBody>
      </p:sp>
      <p:sp>
        <p:nvSpPr>
          <p:cNvPr id="13" name="Shape 11"/>
          <p:cNvSpPr/>
          <p:nvPr/>
        </p:nvSpPr>
        <p:spPr>
          <a:xfrm>
            <a:off x="5742432" y="2084832"/>
            <a:ext cx="219456" cy="219456"/>
          </a:xfrm>
          <a:prstGeom prst="ellipse">
            <a:avLst/>
          </a:prstGeom>
          <a:solidFill>
            <a:srgbClr val="B9770E"/>
          </a:solidFill>
          <a:ln/>
        </p:spPr>
      </p:sp>
      <p:sp>
        <p:nvSpPr>
          <p:cNvPr id="14" name="Text 12"/>
          <p:cNvSpPr/>
          <p:nvPr/>
        </p:nvSpPr>
        <p:spPr>
          <a:xfrm>
            <a:off x="4663440" y="2377440"/>
            <a:ext cx="2377440" cy="320040"/>
          </a:xfrm>
          <a:prstGeom prst="rect">
            <a:avLst/>
          </a:prstGeom>
          <a:noFill/>
          <a:ln/>
        </p:spPr>
        <p:txBody>
          <a:bodyPr wrap="square" rtlCol="0" anchor="ctr"/>
          <a:lstStyle/>
          <a:p>
            <a:pPr algn="ctr" indent="0" marL="0">
              <a:buNone/>
            </a:pPr>
            <a:r>
              <a:rPr lang="en-US" sz="1350" b="1" dirty="0">
                <a:solidFill>
                  <a:srgbClr val="16264A"/>
                </a:solidFill>
                <a:latin typeface="Arial" pitchFamily="34" charset="0"/>
                <a:ea typeface="Arial" pitchFamily="34" charset="-122"/>
                <a:cs typeface="Arial" pitchFamily="34" charset="-120"/>
              </a:rPr>
              <a:t>Concept 3</a:t>
            </a:r>
            <a:endParaRPr lang="en-US" sz="1350" dirty="0"/>
          </a:p>
        </p:txBody>
      </p:sp>
      <p:sp>
        <p:nvSpPr>
          <p:cNvPr id="15" name="Text 13"/>
          <p:cNvSpPr/>
          <p:nvPr/>
        </p:nvSpPr>
        <p:spPr>
          <a:xfrm>
            <a:off x="4663440" y="2697480"/>
            <a:ext cx="2377440" cy="502920"/>
          </a:xfrm>
          <a:prstGeom prst="rect">
            <a:avLst/>
          </a:prstGeom>
          <a:noFill/>
          <a:ln/>
        </p:spPr>
        <p:txBody>
          <a:bodyPr wrap="square" rtlCol="0" anchor="ctr"/>
          <a:lstStyle/>
          <a:p>
            <a:pPr algn="ctr" indent="0" marL="0">
              <a:buNone/>
            </a:pPr>
            <a:r>
              <a:rPr lang="en-US" sz="1050" i="1" dirty="0">
                <a:solidFill>
                  <a:srgbClr val="555555"/>
                </a:solidFill>
                <a:latin typeface="Arial" pitchFamily="34" charset="0"/>
                <a:ea typeface="Arial" pitchFamily="34" charset="-122"/>
                <a:cs typeface="Arial" pitchFamily="34" charset="-120"/>
              </a:rPr>
              <a:t>390k — “gia sư AI 1:1”</a:t>
            </a:r>
            <a:endParaRPr lang="en-US" sz="1050" dirty="0"/>
          </a:p>
        </p:txBody>
      </p:sp>
      <p:sp>
        <p:nvSpPr>
          <p:cNvPr id="16" name="Shape 14"/>
          <p:cNvSpPr/>
          <p:nvPr/>
        </p:nvSpPr>
        <p:spPr>
          <a:xfrm>
            <a:off x="10268712" y="2084832"/>
            <a:ext cx="219456" cy="219456"/>
          </a:xfrm>
          <a:prstGeom prst="ellipse">
            <a:avLst/>
          </a:prstGeom>
          <a:solidFill>
            <a:srgbClr val="1E3A66"/>
          </a:solidFill>
          <a:ln/>
        </p:spPr>
      </p:sp>
      <p:sp>
        <p:nvSpPr>
          <p:cNvPr id="17" name="Text 15"/>
          <p:cNvSpPr/>
          <p:nvPr/>
        </p:nvSpPr>
        <p:spPr>
          <a:xfrm>
            <a:off x="9189720" y="2377440"/>
            <a:ext cx="2377440" cy="320040"/>
          </a:xfrm>
          <a:prstGeom prst="rect">
            <a:avLst/>
          </a:prstGeom>
          <a:noFill/>
          <a:ln/>
        </p:spPr>
        <p:txBody>
          <a:bodyPr wrap="square" rtlCol="0" anchor="ctr"/>
          <a:lstStyle/>
          <a:p>
            <a:pPr algn="ctr" indent="0" marL="0">
              <a:buNone/>
            </a:pPr>
            <a:r>
              <a:rPr lang="en-US" sz="1350" b="1" dirty="0">
                <a:solidFill>
                  <a:srgbClr val="16264A"/>
                </a:solidFill>
                <a:latin typeface="Arial" pitchFamily="34" charset="0"/>
                <a:ea typeface="Arial" pitchFamily="34" charset="-122"/>
                <a:cs typeface="Arial" pitchFamily="34" charset="-120"/>
              </a:rPr>
              <a:t>Edupia Tutor</a:t>
            </a:r>
            <a:endParaRPr lang="en-US" sz="1350" dirty="0"/>
          </a:p>
        </p:txBody>
      </p:sp>
      <p:sp>
        <p:nvSpPr>
          <p:cNvPr id="18" name="Text 16"/>
          <p:cNvSpPr/>
          <p:nvPr/>
        </p:nvSpPr>
        <p:spPr>
          <a:xfrm>
            <a:off x="9189720" y="2697480"/>
            <a:ext cx="2377440" cy="502920"/>
          </a:xfrm>
          <a:prstGeom prst="rect">
            <a:avLst/>
          </a:prstGeom>
          <a:noFill/>
          <a:ln/>
        </p:spPr>
        <p:txBody>
          <a:bodyPr wrap="square" rtlCol="0" anchor="ctr"/>
          <a:lstStyle/>
          <a:p>
            <a:pPr algn="ctr" indent="0" marL="0">
              <a:buNone/>
            </a:pPr>
            <a:r>
              <a:rPr lang="en-US" sz="1050" i="1" dirty="0">
                <a:solidFill>
                  <a:srgbClr val="555555"/>
                </a:solidFill>
                <a:latin typeface="Arial" pitchFamily="34" charset="0"/>
                <a:ea typeface="Arial" pitchFamily="34" charset="-122"/>
                <a:cs typeface="Arial" pitchFamily="34" charset="-120"/>
              </a:rPr>
              <a:t>gia sư sống, nhóm — đắt hơn</a:t>
            </a:r>
            <a:endParaRPr lang="en-US" sz="1050" dirty="0"/>
          </a:p>
        </p:txBody>
      </p:sp>
      <p:sp>
        <p:nvSpPr>
          <p:cNvPr id="19" name="Text 17"/>
          <p:cNvSpPr/>
          <p:nvPr/>
        </p:nvSpPr>
        <p:spPr>
          <a:xfrm>
            <a:off x="1097280" y="1810512"/>
            <a:ext cx="2743200" cy="274320"/>
          </a:xfrm>
          <a:prstGeom prst="rect">
            <a:avLst/>
          </a:prstGeom>
          <a:noFill/>
          <a:ln/>
        </p:spPr>
        <p:txBody>
          <a:bodyPr wrap="square" rtlCol="0" anchor="ctr"/>
          <a:lstStyle/>
          <a:p>
            <a:pPr indent="0" marL="0">
              <a:buNone/>
            </a:pPr>
            <a:r>
              <a:rPr lang="en-US" sz="950" dirty="0">
                <a:solidFill>
                  <a:srgbClr val="555555"/>
                </a:solidFill>
                <a:latin typeface="Arial" pitchFamily="34" charset="0"/>
                <a:ea typeface="Arial" pitchFamily="34" charset="-122"/>
                <a:cs typeface="Arial" pitchFamily="34" charset="-120"/>
              </a:rPr>
              <a:t>giá thấp / tự học thuần  ←</a:t>
            </a:r>
            <a:endParaRPr lang="en-US" sz="950" dirty="0"/>
          </a:p>
        </p:txBody>
      </p:sp>
      <p:sp>
        <p:nvSpPr>
          <p:cNvPr id="20" name="Text 18"/>
          <p:cNvSpPr/>
          <p:nvPr/>
        </p:nvSpPr>
        <p:spPr>
          <a:xfrm>
            <a:off x="8549640" y="1810512"/>
            <a:ext cx="2743200" cy="274320"/>
          </a:xfrm>
          <a:prstGeom prst="rect">
            <a:avLst/>
          </a:prstGeom>
          <a:noFill/>
          <a:ln/>
        </p:spPr>
        <p:txBody>
          <a:bodyPr wrap="square" rtlCol="0" anchor="ctr"/>
          <a:lstStyle/>
          <a:p>
            <a:pPr algn="r" indent="0" marL="0">
              <a:buNone/>
            </a:pPr>
            <a:r>
              <a:rPr lang="en-US" sz="950" dirty="0">
                <a:solidFill>
                  <a:srgbClr val="555555"/>
                </a:solidFill>
                <a:latin typeface="Arial" pitchFamily="34" charset="0"/>
                <a:ea typeface="Arial" pitchFamily="34" charset="-122"/>
                <a:cs typeface="Arial" pitchFamily="34" charset="-120"/>
              </a:rPr>
              <a:t>→  giá cao / gia sư sống</a:t>
            </a:r>
            <a:endParaRPr lang="en-US" sz="950" dirty="0"/>
          </a:p>
        </p:txBody>
      </p:sp>
      <p:sp>
        <p:nvSpPr>
          <p:cNvPr id="21" name="Shape 19"/>
          <p:cNvSpPr/>
          <p:nvPr/>
        </p:nvSpPr>
        <p:spPr>
          <a:xfrm>
            <a:off x="457200" y="3383280"/>
            <a:ext cx="11247120" cy="777240"/>
          </a:xfrm>
          <a:prstGeom prst="rect">
            <a:avLst/>
          </a:prstGeom>
          <a:solidFill>
            <a:srgbClr val="EAF5EE"/>
          </a:solidFill>
          <a:ln w="12700">
            <a:solidFill>
              <a:srgbClr val="1E7E45"/>
            </a:solidFill>
            <a:prstDash val="solid"/>
          </a:ln>
        </p:spPr>
      </p:sp>
      <p:sp>
        <p:nvSpPr>
          <p:cNvPr id="22" name="Text 20"/>
          <p:cNvSpPr/>
          <p:nvPr/>
        </p:nvSpPr>
        <p:spPr>
          <a:xfrm>
            <a:off x="685800" y="3383280"/>
            <a:ext cx="10789920" cy="777240"/>
          </a:xfrm>
          <a:prstGeom prst="rect">
            <a:avLst/>
          </a:prstGeom>
          <a:noFill/>
          <a:ln/>
        </p:spPr>
        <p:txBody>
          <a:bodyPr wrap="square" rtlCol="0" anchor="ctr"/>
          <a:lstStyle/>
          <a:p>
            <a:pPr indent="0" marL="0">
              <a:buNone/>
            </a:pPr>
            <a:r>
              <a:rPr lang="en-US" sz="1250" b="1" dirty="0">
                <a:solidFill>
                  <a:srgbClr val="1E7E45"/>
                </a:solidFill>
                <a:latin typeface="Arial" pitchFamily="34" charset="0"/>
                <a:ea typeface="Arial" pitchFamily="34" charset="-122"/>
                <a:cs typeface="Arial" pitchFamily="34" charset="-120"/>
              </a:rPr>
              <a:t>● Thuật ngữ đã chốt (18/08):  </a:t>
            </a:r>
            <a:pPr indent="0" marL="0">
              <a:buNone/>
            </a:pPr>
            <a:r>
              <a:rPr lang="en-US" sz="1250" dirty="0">
                <a:solidFill>
                  <a:srgbClr val="222222"/>
                </a:solidFill>
                <a:latin typeface="Arial" pitchFamily="34" charset="0"/>
                <a:ea typeface="Arial" pitchFamily="34" charset="-122"/>
                <a:cs typeface="Arial" pitchFamily="34" charset="-120"/>
              </a:rPr>
              <a:t>“Edupia AI Class” = “Edupia Class” = “AI Class Plus” — cùng một sản phẩm, không phải 3 sản phẩm khác nhau (khác UniClass).</a:t>
            </a:r>
            <a:endParaRPr lang="en-US" sz="1250" dirty="0"/>
          </a:p>
        </p:txBody>
      </p:sp>
      <p:sp>
        <p:nvSpPr>
          <p:cNvPr id="23" name="Shape 21"/>
          <p:cNvSpPr/>
          <p:nvPr/>
        </p:nvSpPr>
        <p:spPr>
          <a:xfrm>
            <a:off x="457200" y="4297680"/>
            <a:ext cx="11247120" cy="1600200"/>
          </a:xfrm>
          <a:prstGeom prst="rect">
            <a:avLst/>
          </a:prstGeom>
          <a:solidFill>
            <a:srgbClr val="FBEFE7"/>
          </a:solidFill>
          <a:ln w="12700">
            <a:solidFill>
              <a:srgbClr val="B9770E"/>
            </a:solidFill>
            <a:prstDash val="solid"/>
          </a:ln>
        </p:spPr>
      </p:sp>
      <p:sp>
        <p:nvSpPr>
          <p:cNvPr id="24" name="Text 22"/>
          <p:cNvSpPr/>
          <p:nvPr/>
        </p:nvSpPr>
        <p:spPr>
          <a:xfrm>
            <a:off x="685800" y="4407408"/>
            <a:ext cx="10789920" cy="1371600"/>
          </a:xfrm>
          <a:prstGeom prst="rect">
            <a:avLst/>
          </a:prstGeom>
          <a:noFill/>
          <a:ln/>
        </p:spPr>
        <p:txBody>
          <a:bodyPr wrap="square" rtlCol="0" anchor="t"/>
          <a:lstStyle/>
          <a:p>
            <a:pPr indent="0" marL="0">
              <a:lnSpc>
                <a:spcPct val="120000"/>
              </a:lnSpc>
              <a:buNone/>
            </a:pPr>
            <a:r>
              <a:rPr lang="en-US" sz="1200" b="1" dirty="0">
                <a:solidFill>
                  <a:srgbClr val="B03A2E"/>
                </a:solidFill>
                <a:latin typeface="Arial" pitchFamily="34" charset="0"/>
                <a:ea typeface="Arial" pitchFamily="34" charset="-122"/>
                <a:cs typeface="Arial" pitchFamily="34" charset="-120"/>
              </a:rPr>
              <a:t>⚠ Hệ quả cần Product làm rõ:  </a:t>
            </a:r>
            <a:pPr indent="0" marL="0">
              <a:lnSpc>
                <a:spcPct val="120000"/>
              </a:lnSpc>
              <a:buNone/>
            </a:pPr>
            <a:r>
              <a:rPr lang="en-US" sz="1200" dirty="0">
                <a:solidFill>
                  <a:srgbClr val="222222"/>
                </a:solidFill>
                <a:latin typeface="Arial" pitchFamily="34" charset="0"/>
                <a:ea typeface="Arial" pitchFamily="34" charset="-122"/>
                <a:cs typeface="Arial" pitchFamily="34" charset="-120"/>
              </a:rPr>
              <a:t>Vì “Edupia AI Class” chính là “Edupia Class” (sản phẩm mà Concept 1/2/3 đều là mức đầu tư CỦA nó) — điểm neo “rẻ nhất” không thể là 1 sản phẩm giá thấp hơn 390k tách biệt. Khung định vị nhiều khả năng đang so sánh 2 MỨC ĐẦU TƯ của CÙNG một sản phẩm (self-learning hiện tại vs. sau khi đầu tư Concept 3), không phải 3 sản phẩm ở 3 mức giá độc lập.</a:t>
            </a:r>
            <a:endParaRPr lang="en-US" sz="1200" dirty="0"/>
          </a:p>
        </p:txBody>
      </p:sp>
      <p:sp>
        <p:nvSpPr>
          <p:cNvPr id="25" name="Text 23"/>
          <p:cNvSpPr/>
          <p:nvPr/>
        </p:nvSpPr>
        <p:spPr>
          <a:xfrm>
            <a:off x="457200" y="6035040"/>
            <a:ext cx="11247120" cy="365760"/>
          </a:xfrm>
          <a:prstGeom prst="rect">
            <a:avLst/>
          </a:prstGeom>
          <a:noFill/>
          <a:ln/>
        </p:spPr>
        <p:txBody>
          <a:bodyPr wrap="square" rtlCol="0" anchor="ctr"/>
          <a:lstStyle/>
          <a:p>
            <a:pPr indent="0" marL="0">
              <a:buNone/>
            </a:pPr>
            <a:r>
              <a:rPr lang="en-US" sz="1150" b="1" dirty="0">
                <a:solidFill>
                  <a:srgbClr val="16264A"/>
                </a:solidFill>
                <a:latin typeface="Arial" pitchFamily="34" charset="0"/>
                <a:ea typeface="Arial" pitchFamily="34" charset="-122"/>
                <a:cs typeface="Arial" pitchFamily="34" charset="-120"/>
              </a:rPr>
              <a:t>Câu hỏi cần Product trả lời: Concept 3 giữ nguyên giá 390k hay là một mức giá mới, cao hơn cấu hình self-learning hiện tại?</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5. CONCEPT 3</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JTBD &amp; rào cản niềm tin</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463040"/>
            <a:ext cx="5486400" cy="4297680"/>
          </a:xfrm>
          <a:prstGeom prst="roundRect">
            <a:avLst>
              <a:gd name="adj" fmla="val 1277"/>
            </a:avLst>
          </a:prstGeom>
          <a:solidFill>
            <a:srgbClr val="F4F6F9"/>
          </a:solidFill>
          <a:ln w="12700">
            <a:solidFill>
              <a:srgbClr val="D9DFE8"/>
            </a:solidFill>
            <a:prstDash val="solid"/>
          </a:ln>
        </p:spPr>
      </p:sp>
      <p:sp>
        <p:nvSpPr>
          <p:cNvPr id="10" name="Text 8"/>
          <p:cNvSpPr/>
          <p:nvPr/>
        </p:nvSpPr>
        <p:spPr>
          <a:xfrm>
            <a:off x="685800" y="1645920"/>
            <a:ext cx="5029200" cy="365760"/>
          </a:xfrm>
          <a:prstGeom prst="rect">
            <a:avLst/>
          </a:prstGeom>
          <a:noFill/>
          <a:ln/>
        </p:spPr>
        <p:txBody>
          <a:bodyPr wrap="square" rtlCol="0" anchor="ctr"/>
          <a:lstStyle/>
          <a:p>
            <a:pPr indent="0" marL="0">
              <a:buNone/>
            </a:pPr>
            <a:r>
              <a:rPr lang="en-US" sz="1500" b="1" dirty="0">
                <a:solidFill>
                  <a:srgbClr val="16264A"/>
                </a:solidFill>
                <a:latin typeface="Arial" pitchFamily="34" charset="0"/>
                <a:ea typeface="Arial" pitchFamily="34" charset="-122"/>
                <a:cs typeface="Arial" pitchFamily="34" charset="-120"/>
              </a:rPr>
              <a:t>JTBD — phụ huynh “thuê” AI Tutor</a:t>
            </a:r>
            <a:endParaRPr lang="en-US" sz="1500" dirty="0"/>
          </a:p>
        </p:txBody>
      </p:sp>
      <p:sp>
        <p:nvSpPr>
          <p:cNvPr id="11" name="Text 9"/>
          <p:cNvSpPr/>
          <p:nvPr/>
        </p:nvSpPr>
        <p:spPr>
          <a:xfrm>
            <a:off x="685800" y="2103120"/>
            <a:ext cx="5029200" cy="3566160"/>
          </a:xfrm>
          <a:prstGeom prst="rect">
            <a:avLst/>
          </a:prstGeom>
          <a:noFill/>
          <a:ln/>
        </p:spPr>
        <p:txBody>
          <a:bodyPr wrap="square" rtlCol="0" anchor="t"/>
          <a:lstStyle/>
          <a:p>
            <a:pPr indent="0" marL="0">
              <a:lnSpc>
                <a:spcPct val="125000"/>
              </a:lnSpc>
              <a:buNone/>
            </a:pPr>
            <a:r>
              <a:rPr lang="en-US" sz="1250" b="1" dirty="0">
                <a:solidFill>
                  <a:srgbClr val="222222"/>
                </a:solidFill>
                <a:latin typeface="Arial" pitchFamily="34" charset="0"/>
                <a:ea typeface="Arial" pitchFamily="34" charset="-122"/>
                <a:cs typeface="Arial" pitchFamily="34" charset="-120"/>
              </a:rPr>
              <a:t>Làm thay vai trò đồng hành: </a:t>
            </a:r>
            <a:pPr indent="0" marL="0">
              <a:lnSpc>
                <a:spcPct val="125000"/>
              </a:lnSpc>
              <a:buNone/>
            </a:pPr>
            <a:r>
              <a:rPr lang="en-US" sz="1250" dirty="0">
                <a:solidFill>
                  <a:srgbClr val="222222"/>
                </a:solidFill>
                <a:latin typeface="Arial" pitchFamily="34" charset="0"/>
                <a:ea typeface="Arial" pitchFamily="34" charset="-122"/>
                <a:cs typeface="Arial" pitchFamily="34" charset="-120"/>
              </a:rPr>
              <a:t>học cùng con, giải đáp cho con, theo dõi/nhắc nhở/động viên — việc phụ huynh muốn tự làm nhưng thiếu thời gian và chuyên môn.
</a:t>
            </a:r>
            <a:pPr indent="0" marL="0">
              <a:lnSpc>
                <a:spcPct val="125000"/>
              </a:lnSpc>
              <a:buNone/>
            </a:pPr>
            <a:r>
              <a:rPr lang="en-US" sz="1250" b="1" dirty="0">
                <a:solidFill>
                  <a:srgbClr val="222222"/>
                </a:solidFill>
                <a:latin typeface="Arial" pitchFamily="34" charset="0"/>
                <a:ea typeface="Arial" pitchFamily="34" charset="-122"/>
                <a:cs typeface="Arial" pitchFamily="34" charset="-120"/>
              </a:rPr>
              <a:t>Khoảnh khắc thoả mãn rõ nhất: </a:t>
            </a:r>
            <a:pPr indent="0" marL="0">
              <a:lnSpc>
                <a:spcPct val="125000"/>
              </a:lnSpc>
              <a:buNone/>
            </a:pPr>
            <a:r>
              <a:rPr lang="en-US" sz="1250" dirty="0">
                <a:solidFill>
                  <a:srgbClr val="222222"/>
                </a:solidFill>
                <a:latin typeface="Arial" pitchFamily="34" charset="0"/>
                <a:ea typeface="Arial" pitchFamily="34" charset="-122"/>
                <a:cs typeface="Arial" pitchFamily="34" charset="-120"/>
              </a:rPr>
              <a:t>khi AI CHỦ ĐỘNG gửi cảnh báo/nhắc nhở về tiến độ, chất lượng học tập, hoặc vấn đề con đang gặp — không phải khi phụ huynh tự vào xem báo cáo.</a:t>
            </a:r>
            <a:endParaRPr lang="en-US" sz="1250" dirty="0"/>
          </a:p>
        </p:txBody>
      </p:sp>
      <p:sp>
        <p:nvSpPr>
          <p:cNvPr id="12" name="Shape 10"/>
          <p:cNvSpPr/>
          <p:nvPr/>
        </p:nvSpPr>
        <p:spPr>
          <a:xfrm>
            <a:off x="6172200" y="1463040"/>
            <a:ext cx="5532120" cy="4297680"/>
          </a:xfrm>
          <a:prstGeom prst="roundRect">
            <a:avLst>
              <a:gd name="adj" fmla="val 1277"/>
            </a:avLst>
          </a:prstGeom>
          <a:solidFill>
            <a:srgbClr val="1E3A66"/>
          </a:solidFill>
          <a:ln/>
        </p:spPr>
      </p:sp>
      <p:sp>
        <p:nvSpPr>
          <p:cNvPr id="13" name="Text 11"/>
          <p:cNvSpPr/>
          <p:nvPr/>
        </p:nvSpPr>
        <p:spPr>
          <a:xfrm>
            <a:off x="6400800" y="1645920"/>
            <a:ext cx="502920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Cơ chế niềm tin (insight brainstorm)</a:t>
            </a:r>
            <a:endParaRPr lang="en-US" sz="1500" dirty="0"/>
          </a:p>
        </p:txBody>
      </p:sp>
      <p:sp>
        <p:nvSpPr>
          <p:cNvPr id="14" name="Text 12"/>
          <p:cNvSpPr/>
          <p:nvPr/>
        </p:nvSpPr>
        <p:spPr>
          <a:xfrm>
            <a:off x="6400800" y="2103120"/>
            <a:ext cx="5029200" cy="3566160"/>
          </a:xfrm>
          <a:prstGeom prst="rect">
            <a:avLst/>
          </a:prstGeom>
          <a:noFill/>
          <a:ln/>
        </p:spPr>
        <p:txBody>
          <a:bodyPr wrap="square" rtlCol="0" anchor="t"/>
          <a:lstStyle/>
          <a:p>
            <a:pPr indent="0" marL="0">
              <a:lnSpc>
                <a:spcPct val="125000"/>
              </a:lnSpc>
              <a:buNone/>
            </a:pPr>
            <a:r>
              <a:rPr lang="en-US" sz="1250" b="1" dirty="0">
                <a:solidFill>
                  <a:srgbClr val="FFD9B3"/>
                </a:solidFill>
                <a:latin typeface="Arial" pitchFamily="34" charset="0"/>
                <a:ea typeface="Arial" pitchFamily="34" charset="-122"/>
                <a:cs typeface="Arial" pitchFamily="34" charset="-120"/>
              </a:rPr>
              <a:t>Rào cản chính: </a:t>
            </a:r>
            <a:pPr indent="0" marL="0">
              <a:lnSpc>
                <a:spcPct val="125000"/>
              </a:lnSpc>
              <a:buNone/>
            </a:pPr>
            <a:r>
              <a:rPr lang="en-US" sz="1250" dirty="0">
                <a:solidFill>
                  <a:srgbClr val="E4EAF5"/>
                </a:solidFill>
                <a:latin typeface="Arial" pitchFamily="34" charset="0"/>
                <a:ea typeface="Arial" pitchFamily="34" charset="-122"/>
                <a:cs typeface="Arial" pitchFamily="34" charset="-120"/>
              </a:rPr>
              <a:t>định kiến / chưa tin tưởng hoàn toàn vào AI, đặc biệt trong giáo dục.
</a:t>
            </a:r>
            <a:pPr indent="0" marL="0">
              <a:lnSpc>
                <a:spcPct val="125000"/>
              </a:lnSpc>
              <a:buNone/>
            </a:pPr>
            <a:r>
              <a:rPr lang="en-US" sz="1250" b="1" dirty="0">
                <a:solidFill>
                  <a:srgbClr val="FFD9B3"/>
                </a:solidFill>
                <a:latin typeface="Arial" pitchFamily="34" charset="0"/>
                <a:ea typeface="Arial" pitchFamily="34" charset="-122"/>
                <a:cs typeface="Arial" pitchFamily="34" charset="-120"/>
              </a:rPr>
              <a:t>Niềm tin KHÔNG đến từ: </a:t>
            </a:r>
            <a:pPr indent="0" marL="0">
              <a:lnSpc>
                <a:spcPct val="125000"/>
              </a:lnSpc>
              <a:buNone/>
            </a:pPr>
            <a:r>
              <a:rPr lang="en-US" sz="1250" dirty="0">
                <a:solidFill>
                  <a:srgbClr val="E4EAF5"/>
                </a:solidFill>
                <a:latin typeface="Arial" pitchFamily="34" charset="0"/>
                <a:ea typeface="Arial" pitchFamily="34" charset="-122"/>
                <a:cs typeface="Arial" pitchFamily="34" charset="-120"/>
              </a:rPr>
              <a:t>việc AI “giả làm người” — học sinh vẫn nhận ra AI qua giọng nói/cách nói, không giấu được hoàn toàn.
</a:t>
            </a:r>
            <a:pPr indent="0" marL="0">
              <a:lnSpc>
                <a:spcPct val="125000"/>
              </a:lnSpc>
              <a:buNone/>
            </a:pPr>
            <a:r>
              <a:rPr lang="en-US" sz="1250" b="1" dirty="0">
                <a:solidFill>
                  <a:srgbClr val="FFD9B3"/>
                </a:solidFill>
                <a:latin typeface="Arial" pitchFamily="34" charset="0"/>
                <a:ea typeface="Arial" pitchFamily="34" charset="-122"/>
                <a:cs typeface="Arial" pitchFamily="34" charset="-120"/>
              </a:rPr>
              <a:t>Niềm tin đến từ: </a:t>
            </a:r>
            <a:pPr indent="0" marL="0">
              <a:lnSpc>
                <a:spcPct val="125000"/>
              </a:lnSpc>
              <a:buNone/>
            </a:pPr>
            <a:r>
              <a:rPr lang="en-US" sz="1250" dirty="0">
                <a:solidFill>
                  <a:srgbClr val="E4EAF5"/>
                </a:solidFill>
                <a:latin typeface="Arial" pitchFamily="34" charset="0"/>
                <a:ea typeface="Arial" pitchFamily="34" charset="-122"/>
                <a:cs typeface="Arial" pitchFamily="34" charset="-120"/>
              </a:rPr>
              <a:t>AI đưa ra quyết định đáng tin cậy, chính xác — tiến bộ được phụ huynh NHÌN THẤY cụ thể (chân dung, nhận xét, báo cáo, theo dõi liên tục).</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5. CONCEPT 3</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Cấu trúc sản phẩm — 2 phương án kỹ thuật</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2834640"/>
                <a:gridCol w="4572000"/>
                <a:gridCol w="1920240"/>
                <a:gridCol w="192024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Phương án</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Mô tả</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Effort</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Rủi ro</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r>
              <a:tr h="0">
                <a:tc>
                  <a:txBody>
                    <a:bodyPr/>
                    <a:lstStyle/>
                    <a:p>
                      <a:pPr indent="0" marL="0">
                        <a:buNone/>
                      </a:pPr>
                      <a:r>
                        <a:rPr lang="en-US" sz="1100" b="1" dirty="0">
                          <a:solidFill>
                            <a:srgbClr val="222222"/>
                          </a:solidFill>
                          <a:latin typeface="Arial" pitchFamily="34" charset="0"/>
                          <a:ea typeface="Arial" pitchFamily="34" charset="-122"/>
                          <a:cs typeface="Arial" pitchFamily="34" charset="-120"/>
                        </a:rPr>
                        <a:t>A — “AI Song Hành”</a:t>
                      </a:r>
                      <a:endParaRPr lang="en-US" sz="1100" dirty="0">
                        <a:latin typeface="Arial" charset="0"/>
                        <a:ea typeface="Arial" charset="0"/>
                        <a:cs typeface="Arial" charset="0"/>
                      </a:endParaRPr>
                    </a:p>
                    <a:p>
                      <a:pPr indent="0" marL="0">
                        <a:buNone/>
                      </a:pPr>
                      <a:r>
                        <a:rPr lang="en-US" sz="1100" b="1" dirty="0">
                          <a:solidFill>
                            <a:srgbClr val="222222"/>
                          </a:solidFill>
                          <a:latin typeface="Arial" pitchFamily="34" charset="0"/>
                          <a:ea typeface="Arial" pitchFamily="34" charset="-122"/>
                          <a:cs typeface="Arial" pitchFamily="34" charset="-120"/>
                        </a:rPr>
                        <a:t>(dual-teacher: TAL/Xueersi, Doushen)</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AI giám sát liên tục xuyên suốt tuần — nhắc bài, phát hiện lỗ hổng, trả lời thời gian thực; leo thang GVCN chỉ khi có ngoại lệ.</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Rất cao — hạ tầng lớn hơn cả Adaptive Learning mức 1.2</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Chưa có tiền lệ ở phương Tây/ĐNÁ — Edupia đi đầu tại VN</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00" b="1" dirty="0">
                          <a:solidFill>
                            <a:srgbClr val="222222"/>
                          </a:solidFill>
                          <a:latin typeface="Arial" pitchFamily="34" charset="0"/>
                          <a:ea typeface="Arial" pitchFamily="34" charset="-122"/>
                          <a:cs typeface="Arial" pitchFamily="34" charset="-120"/>
                        </a:rPr>
                        <a:t>B — “AI luyện hội thoại”</a:t>
                      </a:r>
                      <a:endParaRPr lang="en-US" sz="1100" dirty="0">
                        <a:latin typeface="Arial" charset="0"/>
                        <a:ea typeface="Arial" charset="0"/>
                        <a:cs typeface="Arial" charset="0"/>
                      </a:endParaRPr>
                    </a:p>
                    <a:p>
                      <a:pPr indent="0" marL="0">
                        <a:buNone/>
                      </a:pPr>
                      <a:r>
                        <a:rPr lang="en-US" sz="1100" b="1" dirty="0">
                          <a:solidFill>
                            <a:srgbClr val="222222"/>
                          </a:solidFill>
                          <a:latin typeface="Arial" pitchFamily="34" charset="0"/>
                          <a:ea typeface="Arial" pitchFamily="34" charset="-122"/>
                          <a:cs typeface="Arial" pitchFamily="34" charset="-120"/>
                        </a:rPr>
                        <a:t>(Dino AI, ELSA Speak, Speak)</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AI hội thoại giọng nói tương tác thời gian thực, không cần Knowledge Graph khổng lồ — gần với nâng cấp Speak hiện có.</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Trung bình-Cao — thấp hơn Phương án A</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Đông đối thủ nhất — khó có USP khác biệt nếu chỉ dừng ở mức này</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bl>
          </a:graphicData>
        </a:graphic>
      </p:graphicFrame>
      <p:sp>
        <p:nvSpPr>
          <p:cNvPr id="10" name="Shape 7"/>
          <p:cNvSpPr/>
          <p:nvPr/>
        </p:nvSpPr>
        <p:spPr>
          <a:xfrm>
            <a:off x="457200" y="3429000"/>
            <a:ext cx="11247120" cy="1508760"/>
          </a:xfrm>
          <a:prstGeom prst="rect">
            <a:avLst/>
          </a:prstGeom>
          <a:solidFill>
            <a:srgbClr val="F4F6F9"/>
          </a:solidFill>
          <a:ln w="12700">
            <a:solidFill>
              <a:srgbClr val="D9DFE8"/>
            </a:solidFill>
            <a:prstDash val="solid"/>
          </a:ln>
        </p:spPr>
      </p:sp>
      <p:sp>
        <p:nvSpPr>
          <p:cNvPr id="11" name="Text 8"/>
          <p:cNvSpPr/>
          <p:nvPr/>
        </p:nvSpPr>
        <p:spPr>
          <a:xfrm>
            <a:off x="685800" y="3547872"/>
            <a:ext cx="10789920" cy="1280160"/>
          </a:xfrm>
          <a:prstGeom prst="rect">
            <a:avLst/>
          </a:prstGeom>
          <a:noFill/>
          <a:ln/>
        </p:spPr>
        <p:txBody>
          <a:bodyPr wrap="square" rtlCol="0" anchor="t"/>
          <a:lstStyle/>
          <a:p>
            <a:pPr indent="0" marL="0">
              <a:lnSpc>
                <a:spcPct val="120000"/>
              </a:lnSpc>
              <a:buNone/>
            </a:pPr>
            <a:r>
              <a:rPr lang="en-US" sz="1200" b="1" dirty="0">
                <a:solidFill>
                  <a:srgbClr val="16264A"/>
                </a:solidFill>
                <a:latin typeface="Arial" pitchFamily="34" charset="0"/>
                <a:ea typeface="Arial" pitchFamily="34" charset="-122"/>
                <a:cs typeface="Arial" pitchFamily="34" charset="-120"/>
              </a:rPr>
              <a:t>Persona Engine — hạng mục nền tảng dùng chung cho cả 2 phương án:  </a:t>
            </a:r>
            <a:pPr indent="0" marL="0">
              <a:lnSpc>
                <a:spcPct val="120000"/>
              </a:lnSpc>
              <a:buNone/>
            </a:pPr>
            <a:r>
              <a:rPr lang="en-US" sz="1200" dirty="0">
                <a:solidFill>
                  <a:srgbClr val="222222"/>
                </a:solidFill>
                <a:latin typeface="Arial" pitchFamily="34" charset="0"/>
                <a:ea typeface="Arial" pitchFamily="34" charset="-122"/>
                <a:cs typeface="Arial" pitchFamily="34" charset="-120"/>
              </a:rPr>
              <a:t>Chân dung GIÁO VIÊN (giọng nói, cách giảng bài, cách tương tác — từ đội ngũ GV thật hiện có của Edupia Tutor) + chân dung HỌC SINH (nạp liên tục dữ liệu học tập để AI chủ động đưa gợi ý). Đây là hạng mục đầu tư LỚN NHẤT so với năng lực hiện có — lớn hơn cả Adaptive Learning mức 1.2.</a:t>
            </a:r>
            <a:endParaRPr lang="en-US" sz="1200" dirty="0"/>
          </a:p>
        </p:txBody>
      </p:sp>
      <p:sp>
        <p:nvSpPr>
          <p:cNvPr id="12" name="Shape 9"/>
          <p:cNvSpPr/>
          <p:nvPr/>
        </p:nvSpPr>
        <p:spPr>
          <a:xfrm>
            <a:off x="457200" y="5074920"/>
            <a:ext cx="11247120" cy="594360"/>
          </a:xfrm>
          <a:prstGeom prst="rect">
            <a:avLst/>
          </a:prstGeom>
          <a:solidFill>
            <a:srgbClr val="F9E7E4"/>
          </a:solidFill>
          <a:ln w="12700">
            <a:solidFill>
              <a:srgbClr val="B03A2E"/>
            </a:solidFill>
            <a:prstDash val="solid"/>
          </a:ln>
        </p:spPr>
      </p:sp>
      <p:sp>
        <p:nvSpPr>
          <p:cNvPr id="13" name="Text 10"/>
          <p:cNvSpPr/>
          <p:nvPr/>
        </p:nvSpPr>
        <p:spPr>
          <a:xfrm>
            <a:off x="685800" y="5074920"/>
            <a:ext cx="10789920" cy="594360"/>
          </a:xfrm>
          <a:prstGeom prst="rect">
            <a:avLst/>
          </a:prstGeom>
          <a:noFill/>
          <a:ln/>
        </p:spPr>
        <p:txBody>
          <a:bodyPr wrap="square" rtlCol="0" anchor="ctr"/>
          <a:lstStyle/>
          <a:p>
            <a:pPr indent="0" marL="0">
              <a:buNone/>
            </a:pPr>
            <a:r>
              <a:rPr lang="en-US" sz="1150" b="1" dirty="0">
                <a:solidFill>
                  <a:srgbClr val="B03A2E"/>
                </a:solidFill>
                <a:latin typeface="Arial" pitchFamily="34" charset="0"/>
                <a:ea typeface="Arial" pitchFamily="34" charset="-122"/>
                <a:cs typeface="Arial" pitchFamily="34" charset="-120"/>
              </a:rPr>
              <a:t>Loại trừ rõ ràng:  </a:t>
            </a:r>
            <a:pPr indent="0" marL="0">
              <a:buNone/>
            </a:pPr>
            <a:r>
              <a:rPr lang="en-US" sz="1150" dirty="0">
                <a:solidFill>
                  <a:srgbClr val="222222"/>
                </a:solidFill>
                <a:latin typeface="Arial" pitchFamily="34" charset="0"/>
                <a:ea typeface="Arial" pitchFamily="34" charset="-122"/>
                <a:cs typeface="Arial" pitchFamily="34" charset="-120"/>
              </a:rPr>
              <a:t>archetype “AI mô phỏng nhân cách/cảm xúc riêng biệt” cho trẻ em — không đưa vào bất kỳ phương án nào (tiền lệ backlash Character.AI: kiện tụng liên quan cái chết 2 thiếu niên).</a:t>
            </a:r>
            <a:endParaRPr lang="en-US" sz="1150" dirty="0"/>
          </a:p>
        </p:txBody>
      </p:sp>
      <p:sp>
        <p:nvSpPr>
          <p:cNvPr id="14" name="Text 11"/>
          <p:cNvSpPr/>
          <p:nvPr/>
        </p:nvSpPr>
        <p:spPr>
          <a:xfrm>
            <a:off x="457200" y="5852160"/>
            <a:ext cx="11247120" cy="365760"/>
          </a:xfrm>
          <a:prstGeom prst="rect">
            <a:avLst/>
          </a:prstGeom>
          <a:noFill/>
          <a:ln/>
        </p:spPr>
        <p:txBody>
          <a:bodyPr wrap="square" rtlCol="0" anchor="ctr"/>
          <a:lstStyle/>
          <a:p>
            <a:pPr indent="0" marL="0">
              <a:buNone/>
            </a:pPr>
            <a:r>
              <a:rPr lang="en-US" sz="1150" i="1" dirty="0">
                <a:solidFill>
                  <a:srgbClr val="555555"/>
                </a:solidFill>
                <a:latin typeface="Arial" pitchFamily="34" charset="0"/>
                <a:ea typeface="Arial" pitchFamily="34" charset="-122"/>
                <a:cs typeface="Arial" pitchFamily="34" charset="-120"/>
              </a:rPr>
              <a:t>Chưa chốt — cần Pilot/BOD quyết định trước khi viết PRD. Câu hỏi: chọn A, B, hay B trước làm bước đệm rồi A sau?</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5. CONCEPT 3 — INSIGHT TRỌNG TÂM</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Lộ trình 3 giai đoạn: XÂY NIỀM TIN</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417320"/>
            <a:ext cx="11247120" cy="1051560"/>
          </a:xfrm>
          <a:prstGeom prst="rect">
            <a:avLst/>
          </a:prstGeom>
          <a:solidFill>
            <a:srgbClr val="1E3A66"/>
          </a:solidFill>
          <a:ln/>
        </p:spPr>
      </p:sp>
      <p:sp>
        <p:nvSpPr>
          <p:cNvPr id="10" name="Text 8"/>
          <p:cNvSpPr/>
          <p:nvPr/>
        </p:nvSpPr>
        <p:spPr>
          <a:xfrm>
            <a:off x="685800" y="1417320"/>
            <a:ext cx="10789920" cy="1051560"/>
          </a:xfrm>
          <a:prstGeom prst="rect">
            <a:avLst/>
          </a:prstGeom>
          <a:noFill/>
          <a:ln/>
        </p:spPr>
        <p:txBody>
          <a:bodyPr wrap="square" rtlCol="0" anchor="ctr"/>
          <a:lstStyle/>
          <a:p>
            <a:pPr indent="0" marL="0">
              <a:lnSpc>
                <a:spcPct val="120000"/>
              </a:lnSpc>
              <a:buNone/>
            </a:pPr>
            <a:r>
              <a:rPr lang="en-US" sz="1300" b="1" dirty="0">
                <a:solidFill>
                  <a:srgbClr val="FFD9B3"/>
                </a:solidFill>
                <a:latin typeface="Arial" pitchFamily="34" charset="0"/>
                <a:ea typeface="Arial" pitchFamily="34" charset="-122"/>
                <a:cs typeface="Arial" pitchFamily="34" charset="-120"/>
              </a:rPr>
              <a:t>Không chỉ là lộ trình “thay con người bằng AI” tăng dần — bản chất đây là một lộ trình XÂY NIỀM TIN.  </a:t>
            </a:r>
            <a:pPr indent="0" marL="0">
              <a:lnSpc>
                <a:spcPct val="120000"/>
              </a:lnSpc>
              <a:buNone/>
            </a:pPr>
            <a:r>
              <a:rPr lang="en-US" sz="1300" dirty="0">
                <a:solidFill>
                  <a:srgbClr val="FFFFFF"/>
                </a:solidFill>
                <a:latin typeface="Arial" pitchFamily="34" charset="0"/>
                <a:ea typeface="Arial" pitchFamily="34" charset="-122"/>
                <a:cs typeface="Arial" pitchFamily="34" charset="-120"/>
              </a:rPr>
              <a:t>Cơ chế “con người luôn là chốt chặn cuối, xác nhận output của AI trước khi tới phụ huynh” giữ nguyên ở CẢ 3 GIAI ĐOẠN — không chỉ giai đoạn 1.</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11247120" cy="914400"/>
        </p:xfrm>
        <a:graphic>
          <a:graphicData uri="http://schemas.openxmlformats.org/drawingml/2006/table">
            <a:tbl>
              <a:tblPr/>
              <a:tblGrid>
                <a:gridCol w="1920240"/>
                <a:gridCol w="3108960"/>
                <a:gridCol w="3108960"/>
                <a:gridCol w="3108960"/>
              </a:tblGrid>
              <a:tr h="0">
                <a:tc>
                  <a:txBody>
                    <a:bodyPr/>
                    <a:lstStyle/>
                    <a:p>
                      <a:pPr indent="0" marL="0">
                        <a:buNone/>
                      </a:pP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1</a:t>
                      </a:r>
                      <a:endParaRPr lang="en-US" sz="10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5B6B8C"/>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2</a:t>
                      </a:r>
                      <a:endParaRPr lang="en-US" sz="10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0E7C86"/>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3</a:t>
                      </a:r>
                      <a:endParaRPr lang="en-US" sz="105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B9770E"/>
                    </a:solidFill>
                  </a:tcPr>
                </a:tc>
              </a:tr>
              <a:tr h="0">
                <a:tc>
                  <a:txBody>
                    <a:bodyPr/>
                    <a:lstStyle/>
                    <a:p>
                      <a:pPr indent="0" marL="0">
                        <a:buNone/>
                      </a:pPr>
                      <a:r>
                        <a:rPr lang="en-US" sz="1050" b="1" dirty="0">
                          <a:solidFill>
                            <a:srgbClr val="222222"/>
                          </a:solidFill>
                          <a:latin typeface="Arial" pitchFamily="34" charset="0"/>
                          <a:ea typeface="Arial" pitchFamily="34" charset="-122"/>
                          <a:cs typeface="Arial" pitchFamily="34" charset="-120"/>
                        </a:rPr>
                        <a:t>Vai trò AI</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“Trợ giảng”: chấm-chữa bài, tương tác lúc tự học/làm bài tập</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Dạy trực tiếp trong lớp online</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Chạy độc lập hoàn toàn; có thể có “trợ giảng AI” giám sát chéo</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050" b="1" dirty="0">
                          <a:solidFill>
                            <a:srgbClr val="222222"/>
                          </a:solidFill>
                          <a:latin typeface="Arial" pitchFamily="34" charset="0"/>
                          <a:ea typeface="Arial" pitchFamily="34" charset="-122"/>
                          <a:cs typeface="Arial" pitchFamily="34" charset="-120"/>
                        </a:rPr>
                        <a:t>Vai trò con người</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GV thật vẫn dạy buổi học sống (giữ nguyên mô hình hiện tại)</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GV thật đóng vai trợ giảng — hỗ trợ/giám sát</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Không hiện diện live từng buổi — chuyển sang giám sát/audit định kỳ</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050" b="1" dirty="0">
                          <a:solidFill>
                            <a:srgbClr val="222222"/>
                          </a:solidFill>
                          <a:latin typeface="Arial" pitchFamily="34" charset="0"/>
                          <a:ea typeface="Arial" pitchFamily="34" charset="-122"/>
                          <a:cs typeface="Arial" pitchFamily="34" charset="-120"/>
                        </a:rPr>
                        <a:t>Cơ chế xác nhận niềm tin</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4F6F9"/>
                    </a:solidFill>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GV xem dữ liệu AI thu thập trước MỖI buổi học sống — điều chỉnh bài giảng theo đó</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Con người hiện diện trực tiếp, can thiệp ngay khi cần</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050" dirty="0">
                          <a:solidFill>
                            <a:srgbClr val="222222"/>
                          </a:solidFill>
                          <a:latin typeface="Arial" pitchFamily="34" charset="0"/>
                          <a:ea typeface="Arial" pitchFamily="34" charset="-122"/>
                          <a:cs typeface="Arial" pitchFamily="34" charset="-120"/>
                        </a:rPr>
                        <a:t>● ĐÃ CHỐT 18/08: giám sát chéo/audit định kỳ — vẫn là chốt chặn con người, chỉ đổi tần suất</a:t>
                      </a:r>
                      <a:endParaRPr lang="en-US" sz="105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bl>
          </a:graphicData>
        </a:graphic>
      </p:graphicFrame>
      <p:sp>
        <p:nvSpPr>
          <p:cNvPr id="12" name="Shape 9"/>
          <p:cNvSpPr/>
          <p:nvPr/>
        </p:nvSpPr>
        <p:spPr>
          <a:xfrm>
            <a:off x="457200" y="5532120"/>
            <a:ext cx="11247120" cy="777240"/>
          </a:xfrm>
          <a:prstGeom prst="rect">
            <a:avLst/>
          </a:prstGeom>
          <a:solidFill>
            <a:srgbClr val="EAF5EE"/>
          </a:solidFill>
          <a:ln w="12700">
            <a:solidFill>
              <a:srgbClr val="1E7E45"/>
            </a:solidFill>
            <a:prstDash val="solid"/>
          </a:ln>
        </p:spPr>
      </p:sp>
      <p:sp>
        <p:nvSpPr>
          <p:cNvPr id="13" name="Text 10"/>
          <p:cNvSpPr/>
          <p:nvPr/>
        </p:nvSpPr>
        <p:spPr>
          <a:xfrm>
            <a:off x="685800" y="5532120"/>
            <a:ext cx="10789920" cy="777240"/>
          </a:xfrm>
          <a:prstGeom prst="rect">
            <a:avLst/>
          </a:prstGeom>
          <a:noFill/>
          <a:ln/>
        </p:spPr>
        <p:txBody>
          <a:bodyPr wrap="square" rtlCol="0" anchor="ctr"/>
          <a:lstStyle/>
          <a:p>
            <a:pPr indent="0" marL="0">
              <a:lnSpc>
                <a:spcPct val="115000"/>
              </a:lnSpc>
              <a:buNone/>
            </a:pPr>
            <a:r>
              <a:rPr lang="en-US" sz="1150" b="1" dirty="0">
                <a:solidFill>
                  <a:srgbClr val="1E7E45"/>
                </a:solidFill>
                <a:latin typeface="Arial" pitchFamily="34" charset="0"/>
                <a:ea typeface="Arial" pitchFamily="34" charset="-122"/>
                <a:cs typeface="Arial" pitchFamily="34" charset="-120"/>
              </a:rPr>
              <a:t>Còn mở:  </a:t>
            </a:r>
            <a:pPr indent="0" marL="0">
              <a:lnSpc>
                <a:spcPct val="115000"/>
              </a:lnSpc>
              <a:buNone/>
            </a:pPr>
            <a:r>
              <a:rPr lang="en-US" sz="1150" dirty="0">
                <a:solidFill>
                  <a:srgbClr val="222222"/>
                </a:solidFill>
                <a:latin typeface="Arial" pitchFamily="34" charset="0"/>
                <a:ea typeface="Arial" pitchFamily="34" charset="-122"/>
                <a:cs typeface="Arial" pitchFamily="34" charset="-120"/>
              </a:rPr>
              <a:t>tần suất/chu kỳ audit cụ thể ở Giai đoạn 3 là bao nhiêu, và điều kiện nào kích hoạt leo thang từ audit định kỳ trở lại giám sát chủ động — cần Product/Engineering thiết kế trước PRD.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5. CONCEPT 3</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Kinh tế 390k &amp; giá trị phụ từ dữ liệu</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463040"/>
            <a:ext cx="5486400" cy="4480560"/>
          </a:xfrm>
          <a:prstGeom prst="roundRect">
            <a:avLst>
              <a:gd name="adj" fmla="val 1224"/>
            </a:avLst>
          </a:prstGeom>
          <a:solidFill>
            <a:srgbClr val="F4F6F9"/>
          </a:solidFill>
          <a:ln w="12700">
            <a:solidFill>
              <a:srgbClr val="D9DFE8"/>
            </a:solidFill>
            <a:prstDash val="solid"/>
          </a:ln>
        </p:spPr>
      </p:sp>
      <p:sp>
        <p:nvSpPr>
          <p:cNvPr id="10" name="Text 8"/>
          <p:cNvSpPr/>
          <p:nvPr/>
        </p:nvSpPr>
        <p:spPr>
          <a:xfrm>
            <a:off x="685800" y="1645920"/>
            <a:ext cx="5029200" cy="365760"/>
          </a:xfrm>
          <a:prstGeom prst="rect">
            <a:avLst/>
          </a:prstGeom>
          <a:noFill/>
          <a:ln/>
        </p:spPr>
        <p:txBody>
          <a:bodyPr wrap="square" rtlCol="0" anchor="ctr"/>
          <a:lstStyle/>
          <a:p>
            <a:pPr indent="0" marL="0">
              <a:buNone/>
            </a:pPr>
            <a:r>
              <a:rPr lang="en-US" sz="1500" b="1" dirty="0">
                <a:solidFill>
                  <a:srgbClr val="16264A"/>
                </a:solidFill>
                <a:latin typeface="Arial" pitchFamily="34" charset="0"/>
                <a:ea typeface="Arial" pitchFamily="34" charset="-122"/>
                <a:cs typeface="Arial" pitchFamily="34" charset="-120"/>
              </a:rPr>
              <a:t>Mâu thuẫn kinh tế (TRIZ)</a:t>
            </a:r>
            <a:endParaRPr lang="en-US" sz="1500" dirty="0"/>
          </a:p>
        </p:txBody>
      </p:sp>
      <p:sp>
        <p:nvSpPr>
          <p:cNvPr id="11" name="Text 9"/>
          <p:cNvSpPr/>
          <p:nvPr/>
        </p:nvSpPr>
        <p:spPr>
          <a:xfrm>
            <a:off x="685800" y="2103120"/>
            <a:ext cx="5029200" cy="3657600"/>
          </a:xfrm>
          <a:prstGeom prst="rect">
            <a:avLst/>
          </a:prstGeom>
          <a:noFill/>
          <a:ln/>
        </p:spPr>
        <p:txBody>
          <a:bodyPr wrap="square" rtlCol="0" anchor="t"/>
          <a:lstStyle/>
          <a:p>
            <a:pPr indent="0" marL="0">
              <a:lnSpc>
                <a:spcPct val="120000"/>
              </a:lnSpc>
              <a:buNone/>
            </a:pPr>
            <a:r>
              <a:rPr lang="en-US" sz="1200" b="1" dirty="0">
                <a:solidFill>
                  <a:srgbClr val="222222"/>
                </a:solidFill>
                <a:latin typeface="Arial" pitchFamily="34" charset="0"/>
                <a:ea typeface="Arial" pitchFamily="34" charset="-122"/>
                <a:cs typeface="Arial" pitchFamily="34" charset="-120"/>
              </a:rPr>
              <a:t>● Có thể định giá 390k ngay từ Giai đoạn 1</a:t>
            </a:r>
            <a:pPr indent="0" marL="0">
              <a:lnSpc>
                <a:spcPct val="120000"/>
              </a:lnSpc>
              <a:buNone/>
            </a:pPr>
            <a:r>
              <a:rPr lang="en-US" sz="1200" dirty="0">
                <a:solidFill>
                  <a:srgbClr val="222222"/>
                </a:solidFill>
                <a:latin typeface="Arial" pitchFamily="34" charset="0"/>
                <a:ea typeface="Arial" pitchFamily="34" charset="-122"/>
                <a:cs typeface="Arial" pitchFamily="34" charset="-120"/>
              </a:rPr>
              <a:t> — so với self-learning thuần, chỉ riêng tương tác gia sư-AI đã là giá trị gia tăng đủ biện minh giá.
</a:t>
            </a:r>
            <a:pPr indent="0" marL="0">
              <a:lnSpc>
                <a:spcPct val="120000"/>
              </a:lnSpc>
              <a:buNone/>
            </a:pPr>
            <a:r>
              <a:rPr lang="en-US" sz="1200" b="1" dirty="0">
                <a:solidFill>
                  <a:srgbClr val="B03A2E"/>
                </a:solidFill>
                <a:latin typeface="Arial" pitchFamily="34" charset="0"/>
                <a:ea typeface="Arial" pitchFamily="34" charset="-122"/>
                <a:cs typeface="Arial" pitchFamily="34" charset="-120"/>
              </a:rPr>
              <a:t>⚠ Mâu thuẫn cốt lõi:  </a:t>
            </a:r>
            <a:pPr indent="0" marL="0">
              <a:lnSpc>
                <a:spcPct val="120000"/>
              </a:lnSpc>
              <a:buNone/>
            </a:pPr>
            <a:r>
              <a:rPr lang="en-US" sz="1200" dirty="0">
                <a:solidFill>
                  <a:srgbClr val="222222"/>
                </a:solidFill>
                <a:latin typeface="Arial" pitchFamily="34" charset="0"/>
                <a:ea typeface="Arial" pitchFamily="34" charset="-122"/>
                <a:cs typeface="Arial" pitchFamily="34" charset="-120"/>
              </a:rPr>
              <a:t>độ sâu chân dung AI + mức thay được vai trò con người + tần suất theo sát càng cao → chi phí xây dựng/vận hành càng đắt, trong khi giá bán giữ cố định 390k → áp lực trực tiếp lên biên lợi nhuận.</a:t>
            </a:r>
            <a:endParaRPr lang="en-US" sz="1200" dirty="0"/>
          </a:p>
        </p:txBody>
      </p:sp>
      <p:sp>
        <p:nvSpPr>
          <p:cNvPr id="12" name="Shape 10"/>
          <p:cNvSpPr/>
          <p:nvPr/>
        </p:nvSpPr>
        <p:spPr>
          <a:xfrm>
            <a:off x="6217920" y="1463040"/>
            <a:ext cx="5486400" cy="4480560"/>
          </a:xfrm>
          <a:prstGeom prst="roundRect">
            <a:avLst>
              <a:gd name="adj" fmla="val 1224"/>
            </a:avLst>
          </a:prstGeom>
          <a:solidFill>
            <a:srgbClr val="1E3A66"/>
          </a:solidFill>
          <a:ln/>
        </p:spPr>
      </p:sp>
      <p:sp>
        <p:nvSpPr>
          <p:cNvPr id="13" name="Text 11"/>
          <p:cNvSpPr/>
          <p:nvPr/>
        </p:nvSpPr>
        <p:spPr>
          <a:xfrm>
            <a:off x="6446520" y="1645920"/>
            <a:ext cx="502920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Hướng gỡ đề xuất (◆ chưa kiểm chứng)</a:t>
            </a:r>
            <a:endParaRPr lang="en-US" sz="1500" dirty="0"/>
          </a:p>
        </p:txBody>
      </p:sp>
      <p:sp>
        <p:nvSpPr>
          <p:cNvPr id="14" name="Text 12"/>
          <p:cNvSpPr/>
          <p:nvPr/>
        </p:nvSpPr>
        <p:spPr>
          <a:xfrm>
            <a:off x="6446520" y="2103120"/>
            <a:ext cx="5029200" cy="3657600"/>
          </a:xfrm>
          <a:prstGeom prst="rect">
            <a:avLst/>
          </a:prstGeom>
          <a:noFill/>
          <a:ln/>
        </p:spPr>
        <p:txBody>
          <a:bodyPr wrap="square" rtlCol="0" anchor="t"/>
          <a:lstStyle/>
          <a:p>
            <a:pPr indent="0" marL="0">
              <a:lnSpc>
                <a:spcPct val="120000"/>
              </a:lnSpc>
              <a:buNone/>
            </a:pPr>
            <a:r>
              <a:rPr lang="en-US" sz="1200" b="1" dirty="0">
                <a:solidFill>
                  <a:srgbClr val="FFD9B3"/>
                </a:solidFill>
                <a:latin typeface="Arial" pitchFamily="34" charset="0"/>
                <a:ea typeface="Arial" pitchFamily="34" charset="-122"/>
                <a:cs typeface="Arial" pitchFamily="34" charset="-120"/>
              </a:rPr>
              <a:t>Dữ liệu/chân dung là tài sản riêng:  </a:t>
            </a:r>
            <a:pPr indent="0" marL="0">
              <a:lnSpc>
                <a:spcPct val="120000"/>
              </a:lnSpc>
              <a:buNone/>
            </a:pPr>
            <a:r>
              <a:rPr lang="en-US" sz="1200" dirty="0">
                <a:solidFill>
                  <a:srgbClr val="E4EAF5"/>
                </a:solidFill>
                <a:latin typeface="Arial" pitchFamily="34" charset="0"/>
                <a:ea typeface="Arial" pitchFamily="34" charset="-122"/>
                <a:cs typeface="Arial" pitchFamily="34" charset="-120"/>
              </a:rPr>
              <a:t>không chỉ dựa vào thuê bao tháng để bù chi phí xây chân dung AI — khấu hao chi phí đầu tư ban đầu qua toàn bộ vòng đời dữ liệu tích luỹ.
</a:t>
            </a:r>
            <a:pPr indent="0" marL="0">
              <a:lnSpc>
                <a:spcPct val="120000"/>
              </a:lnSpc>
              <a:buNone/>
            </a:pPr>
            <a:r>
              <a:rPr lang="en-US" sz="1200" b="1" dirty="0">
                <a:solidFill>
                  <a:srgbClr val="FFD9B3"/>
                </a:solidFill>
                <a:latin typeface="Arial" pitchFamily="34" charset="0"/>
                <a:ea typeface="Arial" pitchFamily="34" charset="-122"/>
                <a:cs typeface="Arial" pitchFamily="34" charset="-120"/>
              </a:rPr>
              <a:t>Giá trị phụ (ưu tiên thấp nhất, không phải cam kết sản phẩm):
</a:t>
            </a:r>
            <a:pPr indent="0" marL="0">
              <a:lnSpc>
                <a:spcPct val="120000"/>
              </a:lnSpc>
              <a:buNone/>
            </a:pPr>
            <a:r>
              <a:rPr lang="en-US" sz="1200" dirty="0">
                <a:solidFill>
                  <a:srgbClr val="E4EAF5"/>
                </a:solidFill>
                <a:latin typeface="Arial" pitchFamily="34" charset="0"/>
                <a:ea typeface="Arial" pitchFamily="34" charset="-122"/>
                <a:cs typeface="Arial" pitchFamily="34" charset="-120"/>
              </a:rPr>
              <a:t>• Dữ liệu cho Sales tư vấn gói phù hợp
</a:t>
            </a:r>
            <a:pPr indent="0" marL="0">
              <a:lnSpc>
                <a:spcPct val="120000"/>
              </a:lnSpc>
              <a:buNone/>
            </a:pPr>
            <a:r>
              <a:rPr lang="en-US" sz="1200" dirty="0">
                <a:solidFill>
                  <a:srgbClr val="E4EAF5"/>
                </a:solidFill>
                <a:latin typeface="Arial" pitchFamily="34" charset="0"/>
                <a:ea typeface="Arial" pitchFamily="34" charset="-122"/>
                <a:cs typeface="Arial" pitchFamily="34" charset="-120"/>
              </a:rPr>
              <a:t>• ◆ Phát hiện sớm dấu hiệu tâm lý/hành vi — ⚠ cần rà soát pháp lý/đạo đức trẻ em trước khi phát triển thêm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6. KẾ HOẠCH TRIỂN KHAI</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Timeline — 5 tháng, từ chốt định hướng đến bắt đầu xây dựng</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822960" y="2743200"/>
            <a:ext cx="10515600" cy="0"/>
          </a:xfrm>
          <a:prstGeom prst="line">
            <a:avLst/>
          </a:prstGeom>
          <a:noFill/>
          <a:ln w="25400">
            <a:solidFill>
              <a:srgbClr val="D9DFE8"/>
            </a:solidFill>
            <a:prstDash val="solid"/>
          </a:ln>
        </p:spPr>
      </p:sp>
      <p:sp>
        <p:nvSpPr>
          <p:cNvPr id="10" name="Shape 8"/>
          <p:cNvSpPr/>
          <p:nvPr/>
        </p:nvSpPr>
        <p:spPr>
          <a:xfrm>
            <a:off x="731520" y="2651760"/>
            <a:ext cx="182880" cy="182880"/>
          </a:xfrm>
          <a:prstGeom prst="ellipse">
            <a:avLst/>
          </a:prstGeom>
          <a:solidFill>
            <a:srgbClr val="0E7C86"/>
          </a:solidFill>
          <a:ln/>
        </p:spPr>
      </p:sp>
      <p:sp>
        <p:nvSpPr>
          <p:cNvPr id="11" name="Text 9"/>
          <p:cNvSpPr/>
          <p:nvPr/>
        </p:nvSpPr>
        <p:spPr>
          <a:xfrm>
            <a:off x="45720" y="2240280"/>
            <a:ext cx="1554480" cy="320040"/>
          </a:xfrm>
          <a:prstGeom prst="rect">
            <a:avLst/>
          </a:prstGeom>
          <a:noFill/>
          <a:ln/>
        </p:spPr>
        <p:txBody>
          <a:bodyPr wrap="square" rtlCol="0" anchor="ctr"/>
          <a:lstStyle/>
          <a:p>
            <a:pPr algn="ctr" indent="0" marL="0">
              <a:buNone/>
            </a:pPr>
            <a:r>
              <a:rPr lang="en-US" sz="1200" b="1" dirty="0">
                <a:solidFill>
                  <a:srgbClr val="16264A"/>
                </a:solidFill>
                <a:latin typeface="Arial" pitchFamily="34" charset="0"/>
                <a:ea typeface="Arial" pitchFamily="34" charset="-122"/>
                <a:cs typeface="Arial" pitchFamily="34" charset="-120"/>
              </a:rPr>
              <a:t>T8/2026</a:t>
            </a:r>
            <a:endParaRPr lang="en-US" sz="1200" dirty="0"/>
          </a:p>
        </p:txBody>
      </p:sp>
      <p:sp>
        <p:nvSpPr>
          <p:cNvPr id="12" name="Text 10"/>
          <p:cNvSpPr/>
          <p:nvPr/>
        </p:nvSpPr>
        <p:spPr>
          <a:xfrm>
            <a:off x="-137160" y="2971800"/>
            <a:ext cx="1920240" cy="1143000"/>
          </a:xfrm>
          <a:prstGeom prst="rect">
            <a:avLst/>
          </a:prstGeom>
          <a:noFill/>
          <a:ln/>
        </p:spPr>
        <p:txBody>
          <a:bodyPr wrap="square" rtlCol="0" anchor="t"/>
          <a:lstStyle/>
          <a:p>
            <a:pPr algn="ctr" indent="0" marL="0">
              <a:lnSpc>
                <a:spcPct val="110000"/>
              </a:lnSpc>
              <a:buNone/>
            </a:pPr>
            <a:r>
              <a:rPr lang="en-US" sz="950" dirty="0">
                <a:solidFill>
                  <a:srgbClr val="222222"/>
                </a:solidFill>
                <a:latin typeface="Arial" pitchFamily="34" charset="0"/>
                <a:ea typeface="Arial" pitchFamily="34" charset="-122"/>
                <a:cs typeface="Arial" pitchFamily="34" charset="-120"/>
              </a:rPr>
              <a:t>Chốt các định hướng — hoàn thiện 3 concept board</a:t>
            </a:r>
            <a:endParaRPr lang="en-US" sz="950" dirty="0"/>
          </a:p>
        </p:txBody>
      </p:sp>
      <p:sp>
        <p:nvSpPr>
          <p:cNvPr id="13" name="Shape 11"/>
          <p:cNvSpPr/>
          <p:nvPr/>
        </p:nvSpPr>
        <p:spPr>
          <a:xfrm>
            <a:off x="2834640" y="2651760"/>
            <a:ext cx="182880" cy="182880"/>
          </a:xfrm>
          <a:prstGeom prst="ellipse">
            <a:avLst/>
          </a:prstGeom>
          <a:solidFill>
            <a:srgbClr val="0E7C86"/>
          </a:solidFill>
          <a:ln/>
        </p:spPr>
      </p:sp>
      <p:sp>
        <p:nvSpPr>
          <p:cNvPr id="14" name="Text 12"/>
          <p:cNvSpPr/>
          <p:nvPr/>
        </p:nvSpPr>
        <p:spPr>
          <a:xfrm>
            <a:off x="2148840" y="2240280"/>
            <a:ext cx="1554480" cy="320040"/>
          </a:xfrm>
          <a:prstGeom prst="rect">
            <a:avLst/>
          </a:prstGeom>
          <a:noFill/>
          <a:ln/>
        </p:spPr>
        <p:txBody>
          <a:bodyPr wrap="square" rtlCol="0" anchor="ctr"/>
          <a:lstStyle/>
          <a:p>
            <a:pPr algn="ctr" indent="0" marL="0">
              <a:buNone/>
            </a:pPr>
            <a:r>
              <a:rPr lang="en-US" sz="1200" b="1" dirty="0">
                <a:solidFill>
                  <a:srgbClr val="16264A"/>
                </a:solidFill>
                <a:latin typeface="Arial" pitchFamily="34" charset="0"/>
                <a:ea typeface="Arial" pitchFamily="34" charset="-122"/>
                <a:cs typeface="Arial" pitchFamily="34" charset="-120"/>
              </a:rPr>
              <a:t>T9/2026</a:t>
            </a:r>
            <a:endParaRPr lang="en-US" sz="1200" dirty="0"/>
          </a:p>
        </p:txBody>
      </p:sp>
      <p:sp>
        <p:nvSpPr>
          <p:cNvPr id="15" name="Text 13"/>
          <p:cNvSpPr/>
          <p:nvPr/>
        </p:nvSpPr>
        <p:spPr>
          <a:xfrm>
            <a:off x="1965960" y="1325880"/>
            <a:ext cx="1920240" cy="1143000"/>
          </a:xfrm>
          <a:prstGeom prst="rect">
            <a:avLst/>
          </a:prstGeom>
          <a:noFill/>
          <a:ln/>
        </p:spPr>
        <p:txBody>
          <a:bodyPr wrap="square" rtlCol="0" anchor="t"/>
          <a:lstStyle/>
          <a:p>
            <a:pPr algn="ctr" indent="0" marL="0">
              <a:lnSpc>
                <a:spcPct val="110000"/>
              </a:lnSpc>
              <a:buNone/>
            </a:pPr>
            <a:r>
              <a:rPr lang="en-US" sz="950" dirty="0">
                <a:solidFill>
                  <a:srgbClr val="222222"/>
                </a:solidFill>
                <a:latin typeface="Arial" pitchFamily="34" charset="0"/>
                <a:ea typeface="Arial" pitchFamily="34" charset="-122"/>
                <a:cs typeface="Arial" pitchFamily="34" charset="-120"/>
              </a:rPr>
              <a:t>Khảo sát &amp; chốt 1 định hướng + 1 mức/biến thể + tài liệu đào tạo Sale</a:t>
            </a:r>
            <a:endParaRPr lang="en-US" sz="950" dirty="0"/>
          </a:p>
        </p:txBody>
      </p:sp>
      <p:sp>
        <p:nvSpPr>
          <p:cNvPr id="16" name="Shape 14"/>
          <p:cNvSpPr/>
          <p:nvPr/>
        </p:nvSpPr>
        <p:spPr>
          <a:xfrm>
            <a:off x="4937760" y="2651760"/>
            <a:ext cx="182880" cy="182880"/>
          </a:xfrm>
          <a:prstGeom prst="ellipse">
            <a:avLst/>
          </a:prstGeom>
          <a:solidFill>
            <a:srgbClr val="0E7C86"/>
          </a:solidFill>
          <a:ln/>
        </p:spPr>
      </p:sp>
      <p:sp>
        <p:nvSpPr>
          <p:cNvPr id="17" name="Text 15"/>
          <p:cNvSpPr/>
          <p:nvPr/>
        </p:nvSpPr>
        <p:spPr>
          <a:xfrm>
            <a:off x="4251960" y="2240280"/>
            <a:ext cx="1554480" cy="320040"/>
          </a:xfrm>
          <a:prstGeom prst="rect">
            <a:avLst/>
          </a:prstGeom>
          <a:noFill/>
          <a:ln/>
        </p:spPr>
        <p:txBody>
          <a:bodyPr wrap="square" rtlCol="0" anchor="ctr"/>
          <a:lstStyle/>
          <a:p>
            <a:pPr algn="ctr" indent="0" marL="0">
              <a:buNone/>
            </a:pPr>
            <a:r>
              <a:rPr lang="en-US" sz="1200" b="1" dirty="0">
                <a:solidFill>
                  <a:srgbClr val="16264A"/>
                </a:solidFill>
                <a:latin typeface="Arial" pitchFamily="34" charset="0"/>
                <a:ea typeface="Arial" pitchFamily="34" charset="-122"/>
                <a:cs typeface="Arial" pitchFamily="34" charset="-120"/>
              </a:rPr>
              <a:t>T10/2026</a:t>
            </a:r>
            <a:endParaRPr lang="en-US" sz="1200" dirty="0"/>
          </a:p>
        </p:txBody>
      </p:sp>
      <p:sp>
        <p:nvSpPr>
          <p:cNvPr id="18" name="Text 16"/>
          <p:cNvSpPr/>
          <p:nvPr/>
        </p:nvSpPr>
        <p:spPr>
          <a:xfrm>
            <a:off x="4069080" y="2971800"/>
            <a:ext cx="1920240" cy="1143000"/>
          </a:xfrm>
          <a:prstGeom prst="rect">
            <a:avLst/>
          </a:prstGeom>
          <a:noFill/>
          <a:ln/>
        </p:spPr>
        <p:txBody>
          <a:bodyPr wrap="square" rtlCol="0" anchor="t"/>
          <a:lstStyle/>
          <a:p>
            <a:pPr algn="ctr" indent="0" marL="0">
              <a:lnSpc>
                <a:spcPct val="110000"/>
              </a:lnSpc>
              <a:buNone/>
            </a:pPr>
            <a:r>
              <a:rPr lang="en-US" sz="950" dirty="0">
                <a:solidFill>
                  <a:srgbClr val="222222"/>
                </a:solidFill>
                <a:latin typeface="Arial" pitchFamily="34" charset="0"/>
                <a:ea typeface="Arial" pitchFamily="34" charset="-122"/>
                <a:cs typeface="Arial" pitchFamily="34" charset="-120"/>
              </a:rPr>
              <a:t>Chốt phương án &amp; bán thử — pilot sale quy mô nhỏ</a:t>
            </a:r>
            <a:endParaRPr lang="en-US" sz="950" dirty="0"/>
          </a:p>
        </p:txBody>
      </p:sp>
      <p:sp>
        <p:nvSpPr>
          <p:cNvPr id="19" name="Shape 17"/>
          <p:cNvSpPr/>
          <p:nvPr/>
        </p:nvSpPr>
        <p:spPr>
          <a:xfrm>
            <a:off x="7040880" y="2651760"/>
            <a:ext cx="182880" cy="182880"/>
          </a:xfrm>
          <a:prstGeom prst="ellipse">
            <a:avLst/>
          </a:prstGeom>
          <a:solidFill>
            <a:srgbClr val="B03A2E"/>
          </a:solidFill>
          <a:ln/>
        </p:spPr>
      </p:sp>
      <p:sp>
        <p:nvSpPr>
          <p:cNvPr id="20" name="Text 18"/>
          <p:cNvSpPr/>
          <p:nvPr/>
        </p:nvSpPr>
        <p:spPr>
          <a:xfrm>
            <a:off x="6355080" y="2240280"/>
            <a:ext cx="1554480" cy="320040"/>
          </a:xfrm>
          <a:prstGeom prst="rect">
            <a:avLst/>
          </a:prstGeom>
          <a:noFill/>
          <a:ln/>
        </p:spPr>
        <p:txBody>
          <a:bodyPr wrap="square" rtlCol="0" anchor="ctr"/>
          <a:lstStyle/>
          <a:p>
            <a:pPr algn="ctr" indent="0" marL="0">
              <a:buNone/>
            </a:pPr>
            <a:r>
              <a:rPr lang="en-US" sz="1200" b="1" dirty="0">
                <a:solidFill>
                  <a:srgbClr val="B03A2E"/>
                </a:solidFill>
                <a:latin typeface="Arial" pitchFamily="34" charset="0"/>
                <a:ea typeface="Arial" pitchFamily="34" charset="-122"/>
                <a:cs typeface="Arial" pitchFamily="34" charset="-120"/>
              </a:rPr>
              <a:t>1/11/2026</a:t>
            </a:r>
            <a:endParaRPr lang="en-US" sz="1200" dirty="0"/>
          </a:p>
        </p:txBody>
      </p:sp>
      <p:sp>
        <p:nvSpPr>
          <p:cNvPr id="21" name="Text 19"/>
          <p:cNvSpPr/>
          <p:nvPr/>
        </p:nvSpPr>
        <p:spPr>
          <a:xfrm>
            <a:off x="6172200" y="1325880"/>
            <a:ext cx="1920240" cy="1143000"/>
          </a:xfrm>
          <a:prstGeom prst="rect">
            <a:avLst/>
          </a:prstGeom>
          <a:noFill/>
          <a:ln/>
        </p:spPr>
        <p:txBody>
          <a:bodyPr wrap="square" rtlCol="0" anchor="t"/>
          <a:lstStyle/>
          <a:p>
            <a:pPr algn="ctr" indent="0" marL="0">
              <a:lnSpc>
                <a:spcPct val="110000"/>
              </a:lnSpc>
              <a:buNone/>
            </a:pPr>
            <a:r>
              <a:rPr lang="en-US" sz="950" dirty="0">
                <a:solidFill>
                  <a:srgbClr val="222222"/>
                </a:solidFill>
                <a:latin typeface="Arial" pitchFamily="34" charset="0"/>
                <a:ea typeface="Arial" pitchFamily="34" charset="-122"/>
                <a:cs typeface="Arial" pitchFamily="34" charset="-120"/>
              </a:rPr>
              <a:t>Tinh chỉnh — deadline chính thức nộp BOD (Kế hoạch H2/2026)</a:t>
            </a:r>
            <a:endParaRPr lang="en-US" sz="950" dirty="0"/>
          </a:p>
        </p:txBody>
      </p:sp>
      <p:sp>
        <p:nvSpPr>
          <p:cNvPr id="22" name="Shape 20"/>
          <p:cNvSpPr/>
          <p:nvPr/>
        </p:nvSpPr>
        <p:spPr>
          <a:xfrm>
            <a:off x="9144000" y="2651760"/>
            <a:ext cx="182880" cy="182880"/>
          </a:xfrm>
          <a:prstGeom prst="ellipse">
            <a:avLst/>
          </a:prstGeom>
          <a:solidFill>
            <a:srgbClr val="0E7C86"/>
          </a:solidFill>
          <a:ln/>
        </p:spPr>
      </p:sp>
      <p:sp>
        <p:nvSpPr>
          <p:cNvPr id="23" name="Text 21"/>
          <p:cNvSpPr/>
          <p:nvPr/>
        </p:nvSpPr>
        <p:spPr>
          <a:xfrm>
            <a:off x="8458200" y="2240280"/>
            <a:ext cx="1554480" cy="320040"/>
          </a:xfrm>
          <a:prstGeom prst="rect">
            <a:avLst/>
          </a:prstGeom>
          <a:noFill/>
          <a:ln/>
        </p:spPr>
        <p:txBody>
          <a:bodyPr wrap="square" rtlCol="0" anchor="ctr"/>
          <a:lstStyle/>
          <a:p>
            <a:pPr algn="ctr" indent="0" marL="0">
              <a:buNone/>
            </a:pPr>
            <a:r>
              <a:rPr lang="en-US" sz="1200" b="1" dirty="0">
                <a:solidFill>
                  <a:srgbClr val="16264A"/>
                </a:solidFill>
                <a:latin typeface="Arial" pitchFamily="34" charset="0"/>
                <a:ea typeface="Arial" pitchFamily="34" charset="-122"/>
                <a:cs typeface="Arial" pitchFamily="34" charset="-120"/>
              </a:rPr>
              <a:t>1/12/2026</a:t>
            </a:r>
            <a:endParaRPr lang="en-US" sz="1200" dirty="0"/>
          </a:p>
        </p:txBody>
      </p:sp>
      <p:sp>
        <p:nvSpPr>
          <p:cNvPr id="24" name="Text 22"/>
          <p:cNvSpPr/>
          <p:nvPr/>
        </p:nvSpPr>
        <p:spPr>
          <a:xfrm>
            <a:off x="8275320" y="2971800"/>
            <a:ext cx="1920240" cy="1143000"/>
          </a:xfrm>
          <a:prstGeom prst="rect">
            <a:avLst/>
          </a:prstGeom>
          <a:noFill/>
          <a:ln/>
        </p:spPr>
        <p:txBody>
          <a:bodyPr wrap="square" rtlCol="0" anchor="t"/>
          <a:lstStyle/>
          <a:p>
            <a:pPr algn="ctr" indent="0" marL="0">
              <a:lnSpc>
                <a:spcPct val="110000"/>
              </a:lnSpc>
              <a:buNone/>
            </a:pPr>
            <a:r>
              <a:rPr lang="en-US" sz="950" dirty="0">
                <a:solidFill>
                  <a:srgbClr val="222222"/>
                </a:solidFill>
                <a:latin typeface="Arial" pitchFamily="34" charset="0"/>
                <a:ea typeface="Arial" pitchFamily="34" charset="-122"/>
                <a:cs typeface="Arial" pitchFamily="34" charset="-120"/>
              </a:rPr>
              <a:t>Chốt &amp; hoàn thiện phương án — PRD + kế hoạch nguồn lực</a:t>
            </a:r>
            <a:endParaRPr lang="en-US" sz="950" dirty="0"/>
          </a:p>
        </p:txBody>
      </p:sp>
      <p:sp>
        <p:nvSpPr>
          <p:cNvPr id="25" name="Shape 23"/>
          <p:cNvSpPr/>
          <p:nvPr/>
        </p:nvSpPr>
        <p:spPr>
          <a:xfrm>
            <a:off x="11247120" y="2651760"/>
            <a:ext cx="182880" cy="182880"/>
          </a:xfrm>
          <a:prstGeom prst="ellipse">
            <a:avLst/>
          </a:prstGeom>
          <a:solidFill>
            <a:srgbClr val="0E7C86"/>
          </a:solidFill>
          <a:ln/>
        </p:spPr>
      </p:sp>
      <p:sp>
        <p:nvSpPr>
          <p:cNvPr id="26" name="Text 24"/>
          <p:cNvSpPr/>
          <p:nvPr/>
        </p:nvSpPr>
        <p:spPr>
          <a:xfrm>
            <a:off x="10561320" y="2240280"/>
            <a:ext cx="1554480" cy="320040"/>
          </a:xfrm>
          <a:prstGeom prst="rect">
            <a:avLst/>
          </a:prstGeom>
          <a:noFill/>
          <a:ln/>
        </p:spPr>
        <p:txBody>
          <a:bodyPr wrap="square" rtlCol="0" anchor="ctr"/>
          <a:lstStyle/>
          <a:p>
            <a:pPr algn="ctr" indent="0" marL="0">
              <a:buNone/>
            </a:pPr>
            <a:r>
              <a:rPr lang="en-US" sz="1200" b="1" dirty="0">
                <a:solidFill>
                  <a:srgbClr val="16264A"/>
                </a:solidFill>
                <a:latin typeface="Arial" pitchFamily="34" charset="0"/>
                <a:ea typeface="Arial" pitchFamily="34" charset="-122"/>
                <a:cs typeface="Arial" pitchFamily="34" charset="-120"/>
              </a:rPr>
              <a:t>1/1/2027</a:t>
            </a:r>
            <a:endParaRPr lang="en-US" sz="1200" dirty="0"/>
          </a:p>
        </p:txBody>
      </p:sp>
      <p:sp>
        <p:nvSpPr>
          <p:cNvPr id="27" name="Text 25"/>
          <p:cNvSpPr/>
          <p:nvPr/>
        </p:nvSpPr>
        <p:spPr>
          <a:xfrm>
            <a:off x="10378440" y="1325880"/>
            <a:ext cx="1920240" cy="1143000"/>
          </a:xfrm>
          <a:prstGeom prst="rect">
            <a:avLst/>
          </a:prstGeom>
          <a:noFill/>
          <a:ln/>
        </p:spPr>
        <p:txBody>
          <a:bodyPr wrap="square" rtlCol="0" anchor="t"/>
          <a:lstStyle/>
          <a:p>
            <a:pPr algn="ctr" indent="0" marL="0">
              <a:lnSpc>
                <a:spcPct val="110000"/>
              </a:lnSpc>
              <a:buNone/>
            </a:pPr>
            <a:r>
              <a:rPr lang="en-US" sz="950" dirty="0">
                <a:solidFill>
                  <a:srgbClr val="222222"/>
                </a:solidFill>
                <a:latin typeface="Arial" pitchFamily="34" charset="0"/>
                <a:ea typeface="Arial" pitchFamily="34" charset="-122"/>
                <a:cs typeface="Arial" pitchFamily="34" charset="-120"/>
              </a:rPr>
              <a:t>Bắt đầu làm — khởi động xây dựng chính thức</a:t>
            </a:r>
            <a:endParaRPr lang="en-US" sz="950" dirty="0"/>
          </a:p>
        </p:txBody>
      </p:sp>
      <p:sp>
        <p:nvSpPr>
          <p:cNvPr id="28" name="Shape 26"/>
          <p:cNvSpPr/>
          <p:nvPr/>
        </p:nvSpPr>
        <p:spPr>
          <a:xfrm>
            <a:off x="457200" y="4709160"/>
            <a:ext cx="11247120" cy="1463040"/>
          </a:xfrm>
          <a:prstGeom prst="rect">
            <a:avLst/>
          </a:prstGeom>
          <a:solidFill>
            <a:srgbClr val="FBEFE7"/>
          </a:solidFill>
          <a:ln w="12700">
            <a:solidFill>
              <a:srgbClr val="B9770E"/>
            </a:solidFill>
            <a:prstDash val="solid"/>
          </a:ln>
        </p:spPr>
      </p:sp>
      <p:sp>
        <p:nvSpPr>
          <p:cNvPr id="29" name="Text 27"/>
          <p:cNvSpPr/>
          <p:nvPr/>
        </p:nvSpPr>
        <p:spPr>
          <a:xfrm>
            <a:off x="685800" y="4818888"/>
            <a:ext cx="10789920" cy="1280160"/>
          </a:xfrm>
          <a:prstGeom prst="rect">
            <a:avLst/>
          </a:prstGeom>
          <a:noFill/>
          <a:ln/>
        </p:spPr>
        <p:txBody>
          <a:bodyPr wrap="square" rtlCol="0" anchor="t"/>
          <a:lstStyle/>
          <a:p>
            <a:pPr indent="0" marL="0">
              <a:lnSpc>
                <a:spcPct val="120000"/>
              </a:lnSpc>
              <a:buNone/>
            </a:pPr>
            <a:r>
              <a:rPr lang="en-US" sz="1150" b="1" dirty="0">
                <a:solidFill>
                  <a:srgbClr val="B03A2E"/>
                </a:solidFill>
                <a:latin typeface="Arial" pitchFamily="34" charset="0"/>
                <a:ea typeface="Arial" pitchFamily="34" charset="-122"/>
                <a:cs typeface="Arial" pitchFamily="34" charset="-120"/>
              </a:rPr>
              <a:t>⚠ Lưu ý vận hành song song:  </a:t>
            </a:r>
            <a:pPr indent="0" marL="0">
              <a:lnSpc>
                <a:spcPct val="120000"/>
              </a:lnSpc>
              <a:buNone/>
            </a:pPr>
            <a:r>
              <a:rPr lang="en-US" sz="1150" dirty="0">
                <a:solidFill>
                  <a:srgbClr val="222222"/>
                </a:solidFill>
                <a:latin typeface="Arial" pitchFamily="34" charset="0"/>
                <a:ea typeface="Arial" pitchFamily="34" charset="-122"/>
                <a:cs typeface="Arial" pitchFamily="34" charset="-120"/>
              </a:rPr>
              <a:t>Pilot vận hành GVCN (mức 1.3) chạy song song T8-T9. Cần bổ sung một Pilot nội bộ RIÊNG cho Concept 3 trước T9 — đây là định hướng duy nhất hoàn toàn dựa bằng chứng thị trường ngoài; nếu không có Pilot, khảo sát T9 sẽ đo purchase intent cho một concept chưa có bất kỳ dữ liệu vận hành nội bộ nào để đối chiếu.</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6. KẾ HOẠCH TRIỂN KHAI</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Risk register — rủi ro nổi bật</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5943600"/>
                <a:gridCol w="2011680"/>
                <a:gridCol w="329184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Rủi ro</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Owner</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Mitigation</a:t>
                      </a:r>
                      <a:endParaRPr lang="en-US" sz="1100" dirty="0">
                        <a:latin typeface="Arial" charset="0"/>
                        <a:ea typeface="Arial" charset="0"/>
                        <a:cs typeface="Arial" charset="0"/>
                      </a:endParaRPr>
                    </a:p>
                  </a:txBody>
                  <a:tcPr marL="91440" marR="91440" marT="45720" marB="45720"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16264A"/>
                    </a:solidFill>
                  </a:tcPr>
                </a:tc>
              </a:tr>
              <a:tr h="0">
                <a:tc>
                  <a:txBody>
                    <a:bodyPr/>
                    <a:lstStyle/>
                    <a:p>
                      <a:pPr indent="0" marL="0">
                        <a:buNone/>
                      </a:pPr>
                      <a:r>
                        <a:rPr lang="en-US" sz="1100" dirty="0">
                          <a:solidFill>
                            <a:srgbClr val="222222"/>
                          </a:solidFill>
                          <a:latin typeface="Arial" pitchFamily="34" charset="0"/>
                          <a:ea typeface="Arial" pitchFamily="34" charset="-122"/>
                          <a:cs typeface="Arial" pitchFamily="34" charset="-120"/>
                        </a:rPr>
                        <a:t>Purchase intent khảo sát thổi phồng so với hành vi mua thật</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Product/Research</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Luôn đối chiếu song song Top-2-Box (T9) và tỷ lệ chuyển đổi bán thử (T10)</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00" dirty="0">
                          <a:solidFill>
                            <a:srgbClr val="222222"/>
                          </a:solidFill>
                          <a:latin typeface="Arial" pitchFamily="34" charset="0"/>
                          <a:ea typeface="Arial" pitchFamily="34" charset="-122"/>
                          <a:cs typeface="Arial" pitchFamily="34" charset="-120"/>
                        </a:rPr>
                        <a:t>Pilot GVCN cho ngưỡng khả thi thấp hơn 1:2.000</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Vận hành</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Phương án dự phòng: giảm phạm vi GVCN (gần mẫu hình AI Song Hành) hoặc tăng giá tương ứng</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00" dirty="0">
                          <a:solidFill>
                            <a:srgbClr val="B03A2E"/>
                          </a:solidFill>
                          <a:latin typeface="Arial" pitchFamily="34" charset="0"/>
                          <a:ea typeface="Arial" pitchFamily="34" charset="-122"/>
                          <a:cs typeface="Arial" pitchFamily="34" charset="-120"/>
                        </a:rPr>
                        <a:t>[MỚI] Biến thể 2.1 trình BOD mà chưa có lý do kinh doanh cho việc đảo ngược UniClass</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Product</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Không đưa 2.1 vào khảo sát cho đến khi BOD xác nhận lý do bằng văn bản</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00" dirty="0">
                          <a:solidFill>
                            <a:srgbClr val="B03A2E"/>
                          </a:solidFill>
                          <a:latin typeface="Arial" pitchFamily="34" charset="0"/>
                          <a:ea typeface="Arial" pitchFamily="34" charset="-122"/>
                          <a:cs typeface="Arial" pitchFamily="34" charset="-120"/>
                        </a:rPr>
                        <a:t>[MỚI] Concept 3 cannibalize doanh thu Tutor (cả họ 1-1/1-4/1-6) chưa đo lường</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Product + Sales Tutor</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Khảo sát T9 cần câu hỏi riêng đo tỷ lệ phụ huynh chuyển từ Tutor sang Concept 3</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r h="0">
                <a:tc>
                  <a:txBody>
                    <a:bodyPr/>
                    <a:lstStyle/>
                    <a:p>
                      <a:pPr indent="0" marL="0">
                        <a:buNone/>
                      </a:pPr>
                      <a:r>
                        <a:rPr lang="en-US" sz="1100" dirty="0">
                          <a:solidFill>
                            <a:srgbClr val="B03A2E"/>
                          </a:solidFill>
                          <a:latin typeface="Arial" pitchFamily="34" charset="0"/>
                          <a:ea typeface="Arial" pitchFamily="34" charset="-122"/>
                          <a:cs typeface="Arial" pitchFamily="34" charset="-120"/>
                        </a:rPr>
                        <a:t>[MỚI] Concept 3 được bán trước khi có Pilot nội bộ — overpromise</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Product + Sales</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c>
                  <a:txBody>
                    <a:bodyPr/>
                    <a:lstStyle/>
                    <a:p>
                      <a:pPr indent="0" marL="0">
                        <a:buNone/>
                      </a:pPr>
                      <a:r>
                        <a:rPr lang="en-US" sz="1100" dirty="0">
                          <a:solidFill>
                            <a:srgbClr val="222222"/>
                          </a:solidFill>
                          <a:latin typeface="Arial" pitchFamily="34" charset="0"/>
                          <a:ea typeface="Arial" pitchFamily="34" charset="-122"/>
                          <a:cs typeface="Arial" pitchFamily="34" charset="-120"/>
                        </a:rPr>
                        <a:t>Pilot vận hành → xác nhận Job thật giao được → mới viết content bán hàng (bài học từ mức 1.3)</a:t>
                      </a:r>
                      <a:endParaRPr lang="en-US" sz="1100" dirty="0">
                        <a:latin typeface="Arial" charset="0"/>
                        <a:ea typeface="Arial" charset="0"/>
                        <a:cs typeface="Arial" charset="0"/>
                      </a:endParaRPr>
                    </a:p>
                  </a:txBody>
                  <a:tcPr marL="91440" marR="91440" marT="45720" marB="45720" anchor="t">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7. TỔNG HỢP</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Quyết định cần BOD chốt</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Shape 7"/>
          <p:cNvSpPr/>
          <p:nvPr/>
        </p:nvSpPr>
        <p:spPr>
          <a:xfrm>
            <a:off x="457200" y="1463040"/>
            <a:ext cx="1417320" cy="658368"/>
          </a:xfrm>
          <a:prstGeom prst="roundRect">
            <a:avLst>
              <a:gd name="adj" fmla="val 6944"/>
            </a:avLst>
          </a:prstGeom>
          <a:solidFill>
            <a:srgbClr val="1E3A66"/>
          </a:solidFill>
          <a:ln/>
        </p:spPr>
      </p:sp>
      <p:sp>
        <p:nvSpPr>
          <p:cNvPr id="10" name="Text 8"/>
          <p:cNvSpPr/>
          <p:nvPr/>
        </p:nvSpPr>
        <p:spPr>
          <a:xfrm>
            <a:off x="457200" y="1463040"/>
            <a:ext cx="1417320" cy="65836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Concept 1</a:t>
            </a:r>
            <a:endParaRPr lang="en-US" sz="1100" dirty="0"/>
          </a:p>
        </p:txBody>
      </p:sp>
      <p:sp>
        <p:nvSpPr>
          <p:cNvPr id="11" name="Shape 9"/>
          <p:cNvSpPr/>
          <p:nvPr/>
        </p:nvSpPr>
        <p:spPr>
          <a:xfrm>
            <a:off x="2011680" y="1463040"/>
            <a:ext cx="9692640" cy="658368"/>
          </a:xfrm>
          <a:prstGeom prst="rect">
            <a:avLst/>
          </a:prstGeom>
          <a:solidFill>
            <a:srgbClr val="F4F6F9"/>
          </a:solidFill>
          <a:ln w="9525">
            <a:solidFill>
              <a:srgbClr val="D9DFE8"/>
            </a:solidFill>
            <a:prstDash val="solid"/>
          </a:ln>
        </p:spPr>
      </p:sp>
      <p:sp>
        <p:nvSpPr>
          <p:cNvPr id="12" name="Text 10"/>
          <p:cNvSpPr/>
          <p:nvPr/>
        </p:nvSpPr>
        <p:spPr>
          <a:xfrm>
            <a:off x="2194560" y="1463040"/>
            <a:ext cx="9326880" cy="658368"/>
          </a:xfrm>
          <a:prstGeom prst="rect">
            <a:avLst/>
          </a:prstGeom>
          <a:noFill/>
          <a:ln/>
        </p:spPr>
        <p:txBody>
          <a:bodyPr wrap="square" rtlCol="0" anchor="ctr"/>
          <a:lstStyle/>
          <a:p>
            <a:pPr indent="0" marL="0">
              <a:buNone/>
            </a:pPr>
            <a:r>
              <a:rPr lang="en-US" sz="1150" dirty="0">
                <a:solidFill>
                  <a:srgbClr val="222222"/>
                </a:solidFill>
                <a:latin typeface="Arial" pitchFamily="34" charset="0"/>
                <a:ea typeface="Arial" pitchFamily="34" charset="-122"/>
                <a:cs typeface="Arial" pitchFamily="34" charset="-120"/>
              </a:rPr>
              <a:t>BOD duyệt phạm vi Mastery Profile (AI Class Plus hay dùng chung Edupia Class) — chặn toàn bộ mức 1.2/1.3.</a:t>
            </a:r>
            <a:endParaRPr lang="en-US" sz="1150" dirty="0"/>
          </a:p>
        </p:txBody>
      </p:sp>
      <p:sp>
        <p:nvSpPr>
          <p:cNvPr id="13" name="Shape 11"/>
          <p:cNvSpPr/>
          <p:nvPr/>
        </p:nvSpPr>
        <p:spPr>
          <a:xfrm>
            <a:off x="457200" y="2212848"/>
            <a:ext cx="1417320" cy="658368"/>
          </a:xfrm>
          <a:prstGeom prst="roundRect">
            <a:avLst>
              <a:gd name="adj" fmla="val 6944"/>
            </a:avLst>
          </a:prstGeom>
          <a:solidFill>
            <a:srgbClr val="1E3A66"/>
          </a:solidFill>
          <a:ln/>
        </p:spPr>
      </p:sp>
      <p:sp>
        <p:nvSpPr>
          <p:cNvPr id="14" name="Text 12"/>
          <p:cNvSpPr/>
          <p:nvPr/>
        </p:nvSpPr>
        <p:spPr>
          <a:xfrm>
            <a:off x="457200" y="2212848"/>
            <a:ext cx="1417320" cy="65836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Concept 1</a:t>
            </a:r>
            <a:endParaRPr lang="en-US" sz="1100" dirty="0"/>
          </a:p>
        </p:txBody>
      </p:sp>
      <p:sp>
        <p:nvSpPr>
          <p:cNvPr id="15" name="Shape 13"/>
          <p:cNvSpPr/>
          <p:nvPr/>
        </p:nvSpPr>
        <p:spPr>
          <a:xfrm>
            <a:off x="2011680" y="2212848"/>
            <a:ext cx="9692640" cy="658368"/>
          </a:xfrm>
          <a:prstGeom prst="rect">
            <a:avLst/>
          </a:prstGeom>
          <a:solidFill>
            <a:srgbClr val="F4F6F9"/>
          </a:solidFill>
          <a:ln w="9525">
            <a:solidFill>
              <a:srgbClr val="D9DFE8"/>
            </a:solidFill>
            <a:prstDash val="solid"/>
          </a:ln>
        </p:spPr>
      </p:sp>
      <p:sp>
        <p:nvSpPr>
          <p:cNvPr id="16" name="Text 14"/>
          <p:cNvSpPr/>
          <p:nvPr/>
        </p:nvSpPr>
        <p:spPr>
          <a:xfrm>
            <a:off x="2194560" y="2212848"/>
            <a:ext cx="9326880" cy="658368"/>
          </a:xfrm>
          <a:prstGeom prst="rect">
            <a:avLst/>
          </a:prstGeom>
          <a:noFill/>
          <a:ln/>
        </p:spPr>
        <p:txBody>
          <a:bodyPr wrap="square" rtlCol="0" anchor="ctr"/>
          <a:lstStyle/>
          <a:p>
            <a:pPr indent="0" marL="0">
              <a:buNone/>
            </a:pPr>
            <a:r>
              <a:rPr lang="en-US" sz="1150" dirty="0">
                <a:solidFill>
                  <a:srgbClr val="222222"/>
                </a:solidFill>
                <a:latin typeface="Arial" pitchFamily="34" charset="0"/>
                <a:ea typeface="Arial" pitchFamily="34" charset="-122"/>
                <a:cs typeface="Arial" pitchFamily="34" charset="-120"/>
              </a:rPr>
              <a:t>BOD phê duyệt việc mức 1.3 đòi hỏi cả AI mạnh và con người mở rộng — có đi ngược triết lý giảm phụ thuộc nhân sự không?</a:t>
            </a:r>
            <a:endParaRPr lang="en-US" sz="1150" dirty="0"/>
          </a:p>
        </p:txBody>
      </p:sp>
      <p:sp>
        <p:nvSpPr>
          <p:cNvPr id="17" name="Shape 15"/>
          <p:cNvSpPr/>
          <p:nvPr/>
        </p:nvSpPr>
        <p:spPr>
          <a:xfrm>
            <a:off x="457200" y="2962656"/>
            <a:ext cx="1417320" cy="658368"/>
          </a:xfrm>
          <a:prstGeom prst="roundRect">
            <a:avLst>
              <a:gd name="adj" fmla="val 6944"/>
            </a:avLst>
          </a:prstGeom>
          <a:solidFill>
            <a:srgbClr val="0E7C86"/>
          </a:solidFill>
          <a:ln/>
        </p:spPr>
      </p:sp>
      <p:sp>
        <p:nvSpPr>
          <p:cNvPr id="18" name="Text 16"/>
          <p:cNvSpPr/>
          <p:nvPr/>
        </p:nvSpPr>
        <p:spPr>
          <a:xfrm>
            <a:off x="457200" y="2962656"/>
            <a:ext cx="1417320" cy="65836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Concept 2</a:t>
            </a:r>
            <a:endParaRPr lang="en-US" sz="1100" dirty="0"/>
          </a:p>
        </p:txBody>
      </p:sp>
      <p:sp>
        <p:nvSpPr>
          <p:cNvPr id="19" name="Shape 17"/>
          <p:cNvSpPr/>
          <p:nvPr/>
        </p:nvSpPr>
        <p:spPr>
          <a:xfrm>
            <a:off x="2011680" y="2962656"/>
            <a:ext cx="9692640" cy="658368"/>
          </a:xfrm>
          <a:prstGeom prst="rect">
            <a:avLst/>
          </a:prstGeom>
          <a:solidFill>
            <a:srgbClr val="F4F6F9"/>
          </a:solidFill>
          <a:ln w="9525">
            <a:solidFill>
              <a:srgbClr val="D9DFE8"/>
            </a:solidFill>
            <a:prstDash val="solid"/>
          </a:ln>
        </p:spPr>
      </p:sp>
      <p:sp>
        <p:nvSpPr>
          <p:cNvPr id="20" name="Text 18"/>
          <p:cNvSpPr/>
          <p:nvPr/>
        </p:nvSpPr>
        <p:spPr>
          <a:xfrm>
            <a:off x="2194560" y="2962656"/>
            <a:ext cx="9326880" cy="658368"/>
          </a:xfrm>
          <a:prstGeom prst="rect">
            <a:avLst/>
          </a:prstGeom>
          <a:noFill/>
          <a:ln/>
        </p:spPr>
        <p:txBody>
          <a:bodyPr wrap="square" rtlCol="0" anchor="ctr"/>
          <a:lstStyle/>
          <a:p>
            <a:pPr indent="0" marL="0">
              <a:buNone/>
            </a:pPr>
            <a:r>
              <a:rPr lang="en-US" sz="1150" dirty="0">
                <a:solidFill>
                  <a:srgbClr val="222222"/>
                </a:solidFill>
                <a:latin typeface="Arial" pitchFamily="34" charset="0"/>
                <a:ea typeface="Arial" pitchFamily="34" charset="-122"/>
                <a:cs typeface="Arial" pitchFamily="34" charset="-120"/>
              </a:rPr>
              <a:t>Lý do kinh doanh cụ thể để đảo ngược quyết định “không chọn Toán” (biến thể 2.1) — bắt buộc trước khi vào khảo sát T9.</a:t>
            </a:r>
            <a:endParaRPr lang="en-US" sz="1150" dirty="0"/>
          </a:p>
        </p:txBody>
      </p:sp>
      <p:sp>
        <p:nvSpPr>
          <p:cNvPr id="21" name="Shape 19"/>
          <p:cNvSpPr/>
          <p:nvPr/>
        </p:nvSpPr>
        <p:spPr>
          <a:xfrm>
            <a:off x="457200" y="3712464"/>
            <a:ext cx="1417320" cy="658368"/>
          </a:xfrm>
          <a:prstGeom prst="roundRect">
            <a:avLst>
              <a:gd name="adj" fmla="val 6944"/>
            </a:avLst>
          </a:prstGeom>
          <a:solidFill>
            <a:srgbClr val="B9770E"/>
          </a:solidFill>
          <a:ln/>
        </p:spPr>
      </p:sp>
      <p:sp>
        <p:nvSpPr>
          <p:cNvPr id="22" name="Text 20"/>
          <p:cNvSpPr/>
          <p:nvPr/>
        </p:nvSpPr>
        <p:spPr>
          <a:xfrm>
            <a:off x="457200" y="3712464"/>
            <a:ext cx="1417320" cy="65836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Concept 3</a:t>
            </a:r>
            <a:endParaRPr lang="en-US" sz="1100" dirty="0"/>
          </a:p>
        </p:txBody>
      </p:sp>
      <p:sp>
        <p:nvSpPr>
          <p:cNvPr id="23" name="Shape 21"/>
          <p:cNvSpPr/>
          <p:nvPr/>
        </p:nvSpPr>
        <p:spPr>
          <a:xfrm>
            <a:off x="2011680" y="3712464"/>
            <a:ext cx="9692640" cy="658368"/>
          </a:xfrm>
          <a:prstGeom prst="rect">
            <a:avLst/>
          </a:prstGeom>
          <a:solidFill>
            <a:srgbClr val="F4F6F9"/>
          </a:solidFill>
          <a:ln w="9525">
            <a:solidFill>
              <a:srgbClr val="D9DFE8"/>
            </a:solidFill>
            <a:prstDash val="solid"/>
          </a:ln>
        </p:spPr>
      </p:sp>
      <p:sp>
        <p:nvSpPr>
          <p:cNvPr id="24" name="Text 22"/>
          <p:cNvSpPr/>
          <p:nvPr/>
        </p:nvSpPr>
        <p:spPr>
          <a:xfrm>
            <a:off x="2194560" y="3712464"/>
            <a:ext cx="9326880" cy="658368"/>
          </a:xfrm>
          <a:prstGeom prst="rect">
            <a:avLst/>
          </a:prstGeom>
          <a:noFill/>
          <a:ln/>
        </p:spPr>
        <p:txBody>
          <a:bodyPr wrap="square" rtlCol="0" anchor="ctr"/>
          <a:lstStyle/>
          <a:p>
            <a:pPr indent="0" marL="0">
              <a:buNone/>
            </a:pPr>
            <a:r>
              <a:rPr lang="en-US" sz="1150" dirty="0">
                <a:solidFill>
                  <a:srgbClr val="222222"/>
                </a:solidFill>
                <a:latin typeface="Arial" pitchFamily="34" charset="0"/>
                <a:ea typeface="Arial" pitchFamily="34" charset="-122"/>
                <a:cs typeface="Arial" pitchFamily="34" charset="-120"/>
              </a:rPr>
              <a:t>Định vị: substitute giá rẻ cho Tutor, hay JTBD khác biệt (noncustomer)? — mở rộng cho CẢ họ Tutor 1-1/1-4/1-6.</a:t>
            </a:r>
            <a:endParaRPr lang="en-US" sz="1150" dirty="0"/>
          </a:p>
        </p:txBody>
      </p:sp>
      <p:sp>
        <p:nvSpPr>
          <p:cNvPr id="25" name="Shape 23"/>
          <p:cNvSpPr/>
          <p:nvPr/>
        </p:nvSpPr>
        <p:spPr>
          <a:xfrm>
            <a:off x="457200" y="4462272"/>
            <a:ext cx="1417320" cy="658368"/>
          </a:xfrm>
          <a:prstGeom prst="roundRect">
            <a:avLst>
              <a:gd name="adj" fmla="val 6944"/>
            </a:avLst>
          </a:prstGeom>
          <a:solidFill>
            <a:srgbClr val="B9770E"/>
          </a:solidFill>
          <a:ln/>
        </p:spPr>
      </p:sp>
      <p:sp>
        <p:nvSpPr>
          <p:cNvPr id="26" name="Text 24"/>
          <p:cNvSpPr/>
          <p:nvPr/>
        </p:nvSpPr>
        <p:spPr>
          <a:xfrm>
            <a:off x="457200" y="4462272"/>
            <a:ext cx="1417320" cy="65836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Concept 3</a:t>
            </a:r>
            <a:endParaRPr lang="en-US" sz="1100" dirty="0"/>
          </a:p>
        </p:txBody>
      </p:sp>
      <p:sp>
        <p:nvSpPr>
          <p:cNvPr id="27" name="Shape 25"/>
          <p:cNvSpPr/>
          <p:nvPr/>
        </p:nvSpPr>
        <p:spPr>
          <a:xfrm>
            <a:off x="2011680" y="4462272"/>
            <a:ext cx="9692640" cy="658368"/>
          </a:xfrm>
          <a:prstGeom prst="rect">
            <a:avLst/>
          </a:prstGeom>
          <a:solidFill>
            <a:srgbClr val="F4F6F9"/>
          </a:solidFill>
          <a:ln w="9525">
            <a:solidFill>
              <a:srgbClr val="D9DFE8"/>
            </a:solidFill>
            <a:prstDash val="solid"/>
          </a:ln>
        </p:spPr>
      </p:sp>
      <p:sp>
        <p:nvSpPr>
          <p:cNvPr id="28" name="Text 26"/>
          <p:cNvSpPr/>
          <p:nvPr/>
        </p:nvSpPr>
        <p:spPr>
          <a:xfrm>
            <a:off x="2194560" y="4462272"/>
            <a:ext cx="9326880" cy="658368"/>
          </a:xfrm>
          <a:prstGeom prst="rect">
            <a:avLst/>
          </a:prstGeom>
          <a:noFill/>
          <a:ln/>
        </p:spPr>
        <p:txBody>
          <a:bodyPr wrap="square" rtlCol="0" anchor="ctr"/>
          <a:lstStyle/>
          <a:p>
            <a:pPr indent="0" marL="0">
              <a:buNone/>
            </a:pPr>
            <a:r>
              <a:rPr lang="en-US" sz="1150" dirty="0">
                <a:solidFill>
                  <a:srgbClr val="222222"/>
                </a:solidFill>
                <a:latin typeface="Arial" pitchFamily="34" charset="0"/>
                <a:ea typeface="Arial" pitchFamily="34" charset="-122"/>
                <a:cs typeface="Arial" pitchFamily="34" charset="-120"/>
              </a:rPr>
              <a:t>Concept 3 giữ nguyên giá 390k hay là một mức giá mới so với cấu hình self-learning hiện tại?</a:t>
            </a:r>
            <a:endParaRPr lang="en-US" sz="1150" dirty="0"/>
          </a:p>
        </p:txBody>
      </p:sp>
      <p:sp>
        <p:nvSpPr>
          <p:cNvPr id="29" name="Shape 27"/>
          <p:cNvSpPr/>
          <p:nvPr/>
        </p:nvSpPr>
        <p:spPr>
          <a:xfrm>
            <a:off x="457200" y="5212080"/>
            <a:ext cx="1417320" cy="658368"/>
          </a:xfrm>
          <a:prstGeom prst="roundRect">
            <a:avLst>
              <a:gd name="adj" fmla="val 6944"/>
            </a:avLst>
          </a:prstGeom>
          <a:solidFill>
            <a:srgbClr val="B9770E"/>
          </a:solidFill>
          <a:ln/>
        </p:spPr>
      </p:sp>
      <p:sp>
        <p:nvSpPr>
          <p:cNvPr id="30" name="Text 28"/>
          <p:cNvSpPr/>
          <p:nvPr/>
        </p:nvSpPr>
        <p:spPr>
          <a:xfrm>
            <a:off x="457200" y="5212080"/>
            <a:ext cx="1417320" cy="65836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Concept 3</a:t>
            </a:r>
            <a:endParaRPr lang="en-US" sz="1100" dirty="0"/>
          </a:p>
        </p:txBody>
      </p:sp>
      <p:sp>
        <p:nvSpPr>
          <p:cNvPr id="31" name="Shape 29"/>
          <p:cNvSpPr/>
          <p:nvPr/>
        </p:nvSpPr>
        <p:spPr>
          <a:xfrm>
            <a:off x="2011680" y="5212080"/>
            <a:ext cx="9692640" cy="658368"/>
          </a:xfrm>
          <a:prstGeom prst="rect">
            <a:avLst/>
          </a:prstGeom>
          <a:solidFill>
            <a:srgbClr val="F4F6F9"/>
          </a:solidFill>
          <a:ln w="9525">
            <a:solidFill>
              <a:srgbClr val="D9DFE8"/>
            </a:solidFill>
            <a:prstDash val="solid"/>
          </a:ln>
        </p:spPr>
      </p:sp>
      <p:sp>
        <p:nvSpPr>
          <p:cNvPr id="32" name="Text 30"/>
          <p:cNvSpPr/>
          <p:nvPr/>
        </p:nvSpPr>
        <p:spPr>
          <a:xfrm>
            <a:off x="2194560" y="5212080"/>
            <a:ext cx="9326880" cy="658368"/>
          </a:xfrm>
          <a:prstGeom prst="rect">
            <a:avLst/>
          </a:prstGeom>
          <a:noFill/>
          <a:ln/>
        </p:spPr>
        <p:txBody>
          <a:bodyPr wrap="square" rtlCol="0" anchor="ctr"/>
          <a:lstStyle/>
          <a:p>
            <a:pPr indent="0" marL="0">
              <a:buNone/>
            </a:pPr>
            <a:r>
              <a:rPr lang="en-US" sz="1150" dirty="0">
                <a:solidFill>
                  <a:srgbClr val="222222"/>
                </a:solidFill>
                <a:latin typeface="Arial" pitchFamily="34" charset="0"/>
                <a:ea typeface="Arial" pitchFamily="34" charset="-122"/>
                <a:cs typeface="Arial" pitchFamily="34" charset="-120"/>
              </a:rPr>
              <a:t>Chọn Phương án A (AI Song Hành) hay B (AI luyện hội thoại), hay B làm bước đệm rồi A sau?</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28016"/>
          </a:xfrm>
          <a:prstGeom prst="rect">
            <a:avLst/>
          </a:prstGeom>
          <a:solidFill>
            <a:srgbClr val="16264A"/>
          </a:solidFill>
          <a:ln/>
        </p:spPr>
      </p:sp>
      <p:sp>
        <p:nvSpPr>
          <p:cNvPr id="4" name="Text 2"/>
          <p:cNvSpPr/>
          <p:nvPr/>
        </p:nvSpPr>
        <p:spPr>
          <a:xfrm>
            <a:off x="365760" y="6510528"/>
            <a:ext cx="8229600" cy="274320"/>
          </a:xfrm>
          <a:prstGeom prst="rect">
            <a:avLst/>
          </a:prstGeom>
          <a:noFill/>
          <a:ln/>
        </p:spPr>
        <p:txBody>
          <a:bodyPr wrap="square" rtlCol="0" anchor="ctr"/>
          <a:lstStyle/>
          <a:p>
            <a:pPr indent="0" marL="0">
              <a:buNone/>
            </a:pPr>
            <a:r>
              <a:rPr lang="en-US" sz="900" dirty="0">
                <a:solidFill>
                  <a:srgbClr val="555555"/>
                </a:solidFill>
                <a:latin typeface="Arial" pitchFamily="34" charset="0"/>
                <a:ea typeface="Arial" pitchFamily="34" charset="-122"/>
                <a:cs typeface="Arial" pitchFamily="34" charset="-120"/>
              </a:rPr>
              <a:t>EDUPIA CLASS — 3 Định hướng sản phẩm  ·  v2.1  ·  18/08/2026</a:t>
            </a:r>
            <a:endParaRPr lang="en-US" sz="900" dirty="0"/>
          </a:p>
        </p:txBody>
      </p:sp>
      <p:sp>
        <p:nvSpPr>
          <p:cNvPr id="5" name="Text 3"/>
          <p:cNvSpPr/>
          <p:nvPr/>
        </p:nvSpPr>
        <p:spPr>
          <a:xfrm>
            <a:off x="11521440" y="6510528"/>
            <a:ext cx="457200" cy="274320"/>
          </a:xfrm>
          <a:prstGeom prst="rect">
            <a:avLst/>
          </a:prstGeom>
          <a:noFill/>
          <a:ln/>
        </p:spPr>
        <p:txBody>
          <a:bodyPr wrap="square" rtlCol="0" anchor="ctr"/>
          <a:lstStyle/>
          <a:p>
            <a:pPr algn="r" indent="0" marL="0">
              <a:buNone/>
            </a:pPr>
            <a:r>
              <a:rPr lang="en-US" sz="900" dirty="0">
                <a:solidFill>
                  <a:srgbClr val="555555"/>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457200" y="347472"/>
            <a:ext cx="11247120" cy="292608"/>
          </a:xfrm>
          <a:prstGeom prst="rect">
            <a:avLst/>
          </a:prstGeom>
          <a:noFill/>
          <a:ln/>
        </p:spPr>
        <p:txBody>
          <a:bodyPr wrap="square" rtlCol="0" anchor="ctr"/>
          <a:lstStyle/>
          <a:p>
            <a:pPr indent="0" marL="0">
              <a:buNone/>
            </a:pPr>
            <a:r>
              <a:rPr lang="en-US" sz="1200" b="1" spc="100" kern="0" dirty="0">
                <a:solidFill>
                  <a:srgbClr val="0E7C86"/>
                </a:solidFill>
                <a:latin typeface="Arial" pitchFamily="34" charset="0"/>
                <a:ea typeface="Arial" pitchFamily="34" charset="-122"/>
                <a:cs typeface="Arial" pitchFamily="34" charset="-120"/>
              </a:rPr>
              <a:t>KẾT LUẬN</a:t>
            </a:r>
            <a:endParaRPr lang="en-US" sz="1200" dirty="0"/>
          </a:p>
        </p:txBody>
      </p:sp>
      <p:sp>
        <p:nvSpPr>
          <p:cNvPr id="7" name="Text 5"/>
          <p:cNvSpPr/>
          <p:nvPr/>
        </p:nvSpPr>
        <p:spPr>
          <a:xfrm>
            <a:off x="457200" y="621792"/>
            <a:ext cx="11247120" cy="685800"/>
          </a:xfrm>
          <a:prstGeom prst="rect">
            <a:avLst/>
          </a:prstGeom>
          <a:noFill/>
          <a:ln/>
        </p:spPr>
        <p:txBody>
          <a:bodyPr wrap="square" rtlCol="0" anchor="ctr"/>
          <a:lstStyle/>
          <a:p>
            <a:pPr indent="0" marL="0">
              <a:buNone/>
            </a:pPr>
            <a:r>
              <a:rPr lang="en-US" sz="2600" b="1" dirty="0">
                <a:solidFill>
                  <a:srgbClr val="16264A"/>
                </a:solidFill>
                <a:latin typeface="Arial" pitchFamily="34" charset="0"/>
                <a:ea typeface="Arial" pitchFamily="34" charset="-122"/>
                <a:cs typeface="Arial" pitchFamily="34" charset="-120"/>
              </a:rPr>
              <a:t>Next steps</a:t>
            </a:r>
            <a:endParaRPr lang="en-US" sz="2600" dirty="0"/>
          </a:p>
        </p:txBody>
      </p:sp>
      <p:sp>
        <p:nvSpPr>
          <p:cNvPr id="8" name="Shape 6"/>
          <p:cNvSpPr/>
          <p:nvPr/>
        </p:nvSpPr>
        <p:spPr>
          <a:xfrm>
            <a:off x="457200" y="1289304"/>
            <a:ext cx="11247120" cy="0"/>
          </a:xfrm>
          <a:prstGeom prst="line">
            <a:avLst/>
          </a:prstGeom>
          <a:noFill/>
          <a:ln w="12700">
            <a:solidFill>
              <a:srgbClr val="D9DFE8"/>
            </a:solidFill>
            <a:prstDash val="solid"/>
          </a:ln>
        </p:spPr>
      </p:sp>
      <p:sp>
        <p:nvSpPr>
          <p:cNvPr id="9" name="Text 7"/>
          <p:cNvSpPr/>
          <p:nvPr/>
        </p:nvSpPr>
        <p:spPr>
          <a:xfrm>
            <a:off x="457200" y="1463040"/>
            <a:ext cx="5394960" cy="365760"/>
          </a:xfrm>
          <a:prstGeom prst="rect">
            <a:avLst/>
          </a:prstGeom>
          <a:noFill/>
          <a:ln/>
        </p:spPr>
        <p:txBody>
          <a:bodyPr wrap="square" rtlCol="0" anchor="ctr"/>
          <a:lstStyle/>
          <a:p>
            <a:pPr indent="0" marL="0">
              <a:buNone/>
            </a:pPr>
            <a:r>
              <a:rPr lang="en-US" sz="1500" b="1" dirty="0">
                <a:solidFill>
                  <a:srgbClr val="16264A"/>
                </a:solidFill>
                <a:latin typeface="Arial" pitchFamily="34" charset="0"/>
                <a:ea typeface="Arial" pitchFamily="34" charset="-122"/>
                <a:cs typeface="Arial" pitchFamily="34" charset="-120"/>
              </a:rPr>
              <a:t>Trước T9/2026</a:t>
            </a:r>
            <a:endParaRPr lang="en-US" sz="1500" dirty="0"/>
          </a:p>
        </p:txBody>
      </p:sp>
      <p:sp>
        <p:nvSpPr>
          <p:cNvPr id="10" name="Text 8"/>
          <p:cNvSpPr/>
          <p:nvPr/>
        </p:nvSpPr>
        <p:spPr>
          <a:xfrm>
            <a:off x="457200" y="1874520"/>
            <a:ext cx="274320" cy="41148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a:t>
            </a:r>
            <a:endParaRPr lang="en-US" sz="1300" dirty="0"/>
          </a:p>
        </p:txBody>
      </p:sp>
      <p:sp>
        <p:nvSpPr>
          <p:cNvPr id="11" name="Text 9"/>
          <p:cNvSpPr/>
          <p:nvPr/>
        </p:nvSpPr>
        <p:spPr>
          <a:xfrm>
            <a:off x="731520" y="1874520"/>
            <a:ext cx="5120640" cy="411480"/>
          </a:xfrm>
          <a:prstGeom prst="rect">
            <a:avLst/>
          </a:prstGeom>
          <a:noFill/>
          <a:ln/>
        </p:spPr>
        <p:txBody>
          <a:bodyPr wrap="square" rtlCol="0" anchor="t"/>
          <a:lstStyle/>
          <a:p>
            <a:pPr indent="0" marL="0">
              <a:buNone/>
            </a:pPr>
            <a:r>
              <a:rPr lang="en-US" sz="1200" dirty="0">
                <a:solidFill>
                  <a:srgbClr val="222222"/>
                </a:solidFill>
                <a:latin typeface="Arial" pitchFamily="34" charset="0"/>
                <a:ea typeface="Arial" pitchFamily="34" charset="-122"/>
                <a:cs typeface="Arial" pitchFamily="34" charset="-120"/>
              </a:rPr>
              <a:t>Hoàn thiện 3 concept board (Product — Liêm)</a:t>
            </a:r>
            <a:endParaRPr lang="en-US" sz="1200" dirty="0"/>
          </a:p>
        </p:txBody>
      </p:sp>
      <p:sp>
        <p:nvSpPr>
          <p:cNvPr id="12" name="Text 10"/>
          <p:cNvSpPr/>
          <p:nvPr/>
        </p:nvSpPr>
        <p:spPr>
          <a:xfrm>
            <a:off x="457200" y="2377440"/>
            <a:ext cx="274320" cy="41148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a:t>
            </a:r>
            <a:endParaRPr lang="en-US" sz="1300" dirty="0"/>
          </a:p>
        </p:txBody>
      </p:sp>
      <p:sp>
        <p:nvSpPr>
          <p:cNvPr id="13" name="Text 11"/>
          <p:cNvSpPr/>
          <p:nvPr/>
        </p:nvSpPr>
        <p:spPr>
          <a:xfrm>
            <a:off x="731520" y="2377440"/>
            <a:ext cx="5120640" cy="411480"/>
          </a:xfrm>
          <a:prstGeom prst="rect">
            <a:avLst/>
          </a:prstGeom>
          <a:noFill/>
          <a:ln/>
        </p:spPr>
        <p:txBody>
          <a:bodyPr wrap="square" rtlCol="0" anchor="t"/>
          <a:lstStyle/>
          <a:p>
            <a:pPr indent="0" marL="0">
              <a:buNone/>
            </a:pPr>
            <a:r>
              <a:rPr lang="en-US" sz="1200" dirty="0">
                <a:solidFill>
                  <a:srgbClr val="222222"/>
                </a:solidFill>
                <a:latin typeface="Arial" pitchFamily="34" charset="0"/>
                <a:ea typeface="Arial" pitchFamily="34" charset="-122"/>
                <a:cs typeface="Arial" pitchFamily="34" charset="-120"/>
              </a:rPr>
              <a:t>Khởi động Pilot vận hành GVCN (Giai đoạn 0, mức 1.3)</a:t>
            </a:r>
            <a:endParaRPr lang="en-US" sz="1200" dirty="0"/>
          </a:p>
        </p:txBody>
      </p:sp>
      <p:sp>
        <p:nvSpPr>
          <p:cNvPr id="14" name="Text 12"/>
          <p:cNvSpPr/>
          <p:nvPr/>
        </p:nvSpPr>
        <p:spPr>
          <a:xfrm>
            <a:off x="457200" y="2880360"/>
            <a:ext cx="274320" cy="41148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a:t>
            </a:r>
            <a:endParaRPr lang="en-US" sz="1300" dirty="0"/>
          </a:p>
        </p:txBody>
      </p:sp>
      <p:sp>
        <p:nvSpPr>
          <p:cNvPr id="15" name="Text 13"/>
          <p:cNvSpPr/>
          <p:nvPr/>
        </p:nvSpPr>
        <p:spPr>
          <a:xfrm>
            <a:off x="731520" y="2880360"/>
            <a:ext cx="5120640" cy="411480"/>
          </a:xfrm>
          <a:prstGeom prst="rect">
            <a:avLst/>
          </a:prstGeom>
          <a:noFill/>
          <a:ln/>
        </p:spPr>
        <p:txBody>
          <a:bodyPr wrap="square" rtlCol="0" anchor="t"/>
          <a:lstStyle/>
          <a:p>
            <a:pPr indent="0" marL="0">
              <a:buNone/>
            </a:pPr>
            <a:r>
              <a:rPr lang="en-US" sz="1200" dirty="0">
                <a:solidFill>
                  <a:srgbClr val="222222"/>
                </a:solidFill>
                <a:latin typeface="Arial" pitchFamily="34" charset="0"/>
                <a:ea typeface="Arial" pitchFamily="34" charset="-122"/>
                <a:cs typeface="Arial" pitchFamily="34" charset="-120"/>
              </a:rPr>
              <a:t>Khởi động Pilot nội bộ Concept 3 (phạm vi chưa xác định)</a:t>
            </a:r>
            <a:endParaRPr lang="en-US" sz="1200" dirty="0"/>
          </a:p>
        </p:txBody>
      </p:sp>
      <p:sp>
        <p:nvSpPr>
          <p:cNvPr id="16" name="Text 14"/>
          <p:cNvSpPr/>
          <p:nvPr/>
        </p:nvSpPr>
        <p:spPr>
          <a:xfrm>
            <a:off x="457200" y="3383280"/>
            <a:ext cx="274320" cy="411480"/>
          </a:xfrm>
          <a:prstGeom prst="rect">
            <a:avLst/>
          </a:prstGeom>
          <a:noFill/>
          <a:ln/>
        </p:spPr>
        <p:txBody>
          <a:bodyPr wrap="square" rtlCol="0" anchor="ctr"/>
          <a:lstStyle/>
          <a:p>
            <a:pPr indent="0" marL="0">
              <a:buNone/>
            </a:pPr>
            <a:r>
              <a:rPr lang="en-US" sz="1300" b="1" dirty="0">
                <a:solidFill>
                  <a:srgbClr val="0E7C86"/>
                </a:solidFill>
                <a:latin typeface="Arial" pitchFamily="34" charset="0"/>
                <a:ea typeface="Arial" pitchFamily="34" charset="-122"/>
                <a:cs typeface="Arial" pitchFamily="34" charset="-120"/>
              </a:rPr>
              <a:t>•</a:t>
            </a:r>
            <a:endParaRPr lang="en-US" sz="1300" dirty="0"/>
          </a:p>
        </p:txBody>
      </p:sp>
      <p:sp>
        <p:nvSpPr>
          <p:cNvPr id="17" name="Text 15"/>
          <p:cNvSpPr/>
          <p:nvPr/>
        </p:nvSpPr>
        <p:spPr>
          <a:xfrm>
            <a:off x="731520" y="3383280"/>
            <a:ext cx="5120640" cy="411480"/>
          </a:xfrm>
          <a:prstGeom prst="rect">
            <a:avLst/>
          </a:prstGeom>
          <a:noFill/>
          <a:ln/>
        </p:spPr>
        <p:txBody>
          <a:bodyPr wrap="square" rtlCol="0" anchor="t"/>
          <a:lstStyle/>
          <a:p>
            <a:pPr indent="0" marL="0">
              <a:buNone/>
            </a:pPr>
            <a:r>
              <a:rPr lang="en-US" sz="1200" dirty="0">
                <a:solidFill>
                  <a:srgbClr val="222222"/>
                </a:solidFill>
                <a:latin typeface="Arial" pitchFamily="34" charset="0"/>
                <a:ea typeface="Arial" pitchFamily="34" charset="-122"/>
                <a:cs typeface="Arial" pitchFamily="34" charset="-120"/>
              </a:rPr>
              <a:t>Khảo sát 100 phụ huynh (Van Westendorp + Purchase Intent)</a:t>
            </a:r>
            <a:endParaRPr lang="en-US" sz="1200" dirty="0"/>
          </a:p>
        </p:txBody>
      </p:sp>
      <p:sp>
        <p:nvSpPr>
          <p:cNvPr id="18" name="Text 16"/>
          <p:cNvSpPr/>
          <p:nvPr/>
        </p:nvSpPr>
        <p:spPr>
          <a:xfrm>
            <a:off x="6217920" y="1463040"/>
            <a:ext cx="5394960" cy="365760"/>
          </a:xfrm>
          <a:prstGeom prst="rect">
            <a:avLst/>
          </a:prstGeom>
          <a:noFill/>
          <a:ln/>
        </p:spPr>
        <p:txBody>
          <a:bodyPr wrap="square" rtlCol="0" anchor="ctr"/>
          <a:lstStyle/>
          <a:p>
            <a:pPr indent="0" marL="0">
              <a:buNone/>
            </a:pPr>
            <a:r>
              <a:rPr lang="en-US" sz="1500" b="1" dirty="0">
                <a:solidFill>
                  <a:srgbClr val="B03A2E"/>
                </a:solidFill>
                <a:latin typeface="Arial" pitchFamily="34" charset="0"/>
                <a:ea typeface="Arial" pitchFamily="34" charset="-122"/>
                <a:cs typeface="Arial" pitchFamily="34" charset="-120"/>
              </a:rPr>
              <a:t>Cần BOD quyết ngay</a:t>
            </a:r>
            <a:endParaRPr lang="en-US" sz="1500" dirty="0"/>
          </a:p>
        </p:txBody>
      </p:sp>
      <p:sp>
        <p:nvSpPr>
          <p:cNvPr id="19" name="Text 17"/>
          <p:cNvSpPr/>
          <p:nvPr/>
        </p:nvSpPr>
        <p:spPr>
          <a:xfrm>
            <a:off x="6217920" y="1874520"/>
            <a:ext cx="274320" cy="411480"/>
          </a:xfrm>
          <a:prstGeom prst="rect">
            <a:avLst/>
          </a:prstGeom>
          <a:noFill/>
          <a:ln/>
        </p:spPr>
        <p:txBody>
          <a:bodyPr wrap="square" rtlCol="0" anchor="ctr"/>
          <a:lstStyle/>
          <a:p>
            <a:pPr indent="0" marL="0">
              <a:buNone/>
            </a:pPr>
            <a:r>
              <a:rPr lang="en-US" sz="1300" b="1" dirty="0">
                <a:solidFill>
                  <a:srgbClr val="B03A2E"/>
                </a:solidFill>
                <a:latin typeface="Arial" pitchFamily="34" charset="0"/>
                <a:ea typeface="Arial" pitchFamily="34" charset="-122"/>
                <a:cs typeface="Arial" pitchFamily="34" charset="-120"/>
              </a:rPr>
              <a:t>•</a:t>
            </a:r>
            <a:endParaRPr lang="en-US" sz="1300" dirty="0"/>
          </a:p>
        </p:txBody>
      </p:sp>
      <p:sp>
        <p:nvSpPr>
          <p:cNvPr id="20" name="Text 18"/>
          <p:cNvSpPr/>
          <p:nvPr/>
        </p:nvSpPr>
        <p:spPr>
          <a:xfrm>
            <a:off x="6492240" y="1874520"/>
            <a:ext cx="5120640" cy="411480"/>
          </a:xfrm>
          <a:prstGeom prst="rect">
            <a:avLst/>
          </a:prstGeom>
          <a:noFill/>
          <a:ln/>
        </p:spPr>
        <p:txBody>
          <a:bodyPr wrap="square" rtlCol="0" anchor="t"/>
          <a:lstStyle/>
          <a:p>
            <a:pPr indent="0" marL="0">
              <a:buNone/>
            </a:pPr>
            <a:r>
              <a:rPr lang="en-US" sz="1200" dirty="0">
                <a:solidFill>
                  <a:srgbClr val="222222"/>
                </a:solidFill>
                <a:latin typeface="Arial" pitchFamily="34" charset="0"/>
                <a:ea typeface="Arial" pitchFamily="34" charset="-122"/>
                <a:cs typeface="Arial" pitchFamily="34" charset="-120"/>
              </a:rPr>
              <a:t>Lý do kinh doanh biến thể 2.1 (Toán/UniClass)</a:t>
            </a:r>
            <a:endParaRPr lang="en-US" sz="1200" dirty="0"/>
          </a:p>
        </p:txBody>
      </p:sp>
      <p:sp>
        <p:nvSpPr>
          <p:cNvPr id="21" name="Text 19"/>
          <p:cNvSpPr/>
          <p:nvPr/>
        </p:nvSpPr>
        <p:spPr>
          <a:xfrm>
            <a:off x="6217920" y="2377440"/>
            <a:ext cx="274320" cy="411480"/>
          </a:xfrm>
          <a:prstGeom prst="rect">
            <a:avLst/>
          </a:prstGeom>
          <a:noFill/>
          <a:ln/>
        </p:spPr>
        <p:txBody>
          <a:bodyPr wrap="square" rtlCol="0" anchor="ctr"/>
          <a:lstStyle/>
          <a:p>
            <a:pPr indent="0" marL="0">
              <a:buNone/>
            </a:pPr>
            <a:r>
              <a:rPr lang="en-US" sz="1300" b="1" dirty="0">
                <a:solidFill>
                  <a:srgbClr val="B03A2E"/>
                </a:solidFill>
                <a:latin typeface="Arial" pitchFamily="34" charset="0"/>
                <a:ea typeface="Arial" pitchFamily="34" charset="-122"/>
                <a:cs typeface="Arial" pitchFamily="34" charset="-120"/>
              </a:rPr>
              <a:t>•</a:t>
            </a:r>
            <a:endParaRPr lang="en-US" sz="1300" dirty="0"/>
          </a:p>
        </p:txBody>
      </p:sp>
      <p:sp>
        <p:nvSpPr>
          <p:cNvPr id="22" name="Text 20"/>
          <p:cNvSpPr/>
          <p:nvPr/>
        </p:nvSpPr>
        <p:spPr>
          <a:xfrm>
            <a:off x="6492240" y="2377440"/>
            <a:ext cx="5120640" cy="411480"/>
          </a:xfrm>
          <a:prstGeom prst="rect">
            <a:avLst/>
          </a:prstGeom>
          <a:noFill/>
          <a:ln/>
        </p:spPr>
        <p:txBody>
          <a:bodyPr wrap="square" rtlCol="0" anchor="t"/>
          <a:lstStyle/>
          <a:p>
            <a:pPr indent="0" marL="0">
              <a:buNone/>
            </a:pPr>
            <a:r>
              <a:rPr lang="en-US" sz="1200" dirty="0">
                <a:solidFill>
                  <a:srgbClr val="222222"/>
                </a:solidFill>
                <a:latin typeface="Arial" pitchFamily="34" charset="0"/>
                <a:ea typeface="Arial" pitchFamily="34" charset="-122"/>
                <a:cs typeface="Arial" pitchFamily="34" charset="-120"/>
              </a:rPr>
              <a:t>Phạm vi Mastery Profile (Concept 1, mức 1.2)</a:t>
            </a:r>
            <a:endParaRPr lang="en-US" sz="1200" dirty="0"/>
          </a:p>
        </p:txBody>
      </p:sp>
      <p:sp>
        <p:nvSpPr>
          <p:cNvPr id="23" name="Text 21"/>
          <p:cNvSpPr/>
          <p:nvPr/>
        </p:nvSpPr>
        <p:spPr>
          <a:xfrm>
            <a:off x="6217920" y="2880360"/>
            <a:ext cx="274320" cy="411480"/>
          </a:xfrm>
          <a:prstGeom prst="rect">
            <a:avLst/>
          </a:prstGeom>
          <a:noFill/>
          <a:ln/>
        </p:spPr>
        <p:txBody>
          <a:bodyPr wrap="square" rtlCol="0" anchor="ctr"/>
          <a:lstStyle/>
          <a:p>
            <a:pPr indent="0" marL="0">
              <a:buNone/>
            </a:pPr>
            <a:r>
              <a:rPr lang="en-US" sz="1300" b="1" dirty="0">
                <a:solidFill>
                  <a:srgbClr val="B03A2E"/>
                </a:solidFill>
                <a:latin typeface="Arial" pitchFamily="34" charset="0"/>
                <a:ea typeface="Arial" pitchFamily="34" charset="-122"/>
                <a:cs typeface="Arial" pitchFamily="34" charset="-120"/>
              </a:rPr>
              <a:t>•</a:t>
            </a:r>
            <a:endParaRPr lang="en-US" sz="1300" dirty="0"/>
          </a:p>
        </p:txBody>
      </p:sp>
      <p:sp>
        <p:nvSpPr>
          <p:cNvPr id="24" name="Text 22"/>
          <p:cNvSpPr/>
          <p:nvPr/>
        </p:nvSpPr>
        <p:spPr>
          <a:xfrm>
            <a:off x="6492240" y="2880360"/>
            <a:ext cx="5120640" cy="411480"/>
          </a:xfrm>
          <a:prstGeom prst="rect">
            <a:avLst/>
          </a:prstGeom>
          <a:noFill/>
          <a:ln/>
        </p:spPr>
        <p:txBody>
          <a:bodyPr wrap="square" rtlCol="0" anchor="t"/>
          <a:lstStyle/>
          <a:p>
            <a:pPr indent="0" marL="0">
              <a:buNone/>
            </a:pPr>
            <a:r>
              <a:rPr lang="en-US" sz="1200" dirty="0">
                <a:solidFill>
                  <a:srgbClr val="222222"/>
                </a:solidFill>
                <a:latin typeface="Arial" pitchFamily="34" charset="0"/>
                <a:ea typeface="Arial" pitchFamily="34" charset="-122"/>
                <a:cs typeface="Arial" pitchFamily="34" charset="-120"/>
              </a:rPr>
              <a:t>Định vị &amp; phạm vi cannibalization của Concept 3 (cả họ Tutor)</a:t>
            </a:r>
            <a:endParaRPr lang="en-US" sz="1200" dirty="0"/>
          </a:p>
        </p:txBody>
      </p:sp>
      <p:sp>
        <p:nvSpPr>
          <p:cNvPr id="25" name="Shape 23"/>
          <p:cNvSpPr/>
          <p:nvPr/>
        </p:nvSpPr>
        <p:spPr>
          <a:xfrm>
            <a:off x="457200" y="3931920"/>
            <a:ext cx="11247120" cy="1737360"/>
          </a:xfrm>
          <a:prstGeom prst="rect">
            <a:avLst/>
          </a:prstGeom>
          <a:solidFill>
            <a:srgbClr val="16264A"/>
          </a:solidFill>
          <a:ln/>
        </p:spPr>
      </p:sp>
      <p:sp>
        <p:nvSpPr>
          <p:cNvPr id="26" name="Text 24"/>
          <p:cNvSpPr/>
          <p:nvPr/>
        </p:nvSpPr>
        <p:spPr>
          <a:xfrm>
            <a:off x="731520" y="4114800"/>
            <a:ext cx="10698480" cy="365760"/>
          </a:xfrm>
          <a:prstGeom prst="rect">
            <a:avLst/>
          </a:prstGeom>
          <a:noFill/>
          <a:ln/>
        </p:spPr>
        <p:txBody>
          <a:bodyPr wrap="square" rtlCol="0" anchor="ctr"/>
          <a:lstStyle/>
          <a:p>
            <a:pPr indent="0" marL="0">
              <a:buNone/>
            </a:pPr>
            <a:r>
              <a:rPr lang="en-US" sz="1400" b="1" dirty="0">
                <a:solidFill>
                  <a:srgbClr val="0E7C86"/>
                </a:solidFill>
                <a:latin typeface="Arial" pitchFamily="34" charset="0"/>
                <a:ea typeface="Arial" pitchFamily="34" charset="-122"/>
                <a:cs typeface="Arial" pitchFamily="34" charset="-120"/>
              </a:rPr>
              <a:t>Tài liệu nguồn đầy đủ</a:t>
            </a:r>
            <a:endParaRPr lang="en-US" sz="1400" dirty="0"/>
          </a:p>
        </p:txBody>
      </p:sp>
      <p:sp>
        <p:nvSpPr>
          <p:cNvPr id="27" name="Text 25"/>
          <p:cNvSpPr/>
          <p:nvPr/>
        </p:nvSpPr>
        <p:spPr>
          <a:xfrm>
            <a:off x="731520" y="4526280"/>
            <a:ext cx="10698480" cy="1005840"/>
          </a:xfrm>
          <a:prstGeom prst="rect">
            <a:avLst/>
          </a:prstGeom>
          <a:noFill/>
          <a:ln/>
        </p:spPr>
        <p:txBody>
          <a:bodyPr wrap="square" rtlCol="0" anchor="t"/>
          <a:lstStyle/>
          <a:p>
            <a:pPr indent="0" marL="0">
              <a:lnSpc>
                <a:spcPct val="130000"/>
              </a:lnSpc>
              <a:buNone/>
            </a:pPr>
            <a:r>
              <a:rPr lang="en-US" sz="1250" b="1" dirty="0">
                <a:solidFill>
                  <a:srgbClr val="FFFFFF"/>
                </a:solidFill>
                <a:latin typeface="Arial" pitchFamily="34" charset="0"/>
                <a:ea typeface="Arial" pitchFamily="34" charset="-122"/>
                <a:cs typeface="Arial" pitchFamily="34" charset="-120"/>
              </a:rPr>
              <a:t>Product brief:  </a:t>
            </a:r>
            <a:pPr indent="0" marL="0">
              <a:lnSpc>
                <a:spcPct val="130000"/>
              </a:lnSpc>
              <a:buNone/>
            </a:pPr>
            <a:r>
              <a:rPr lang="en-US" sz="1250" dirty="0">
                <a:solidFill>
                  <a:srgbClr val="C9D6EA"/>
                </a:solidFill>
                <a:latin typeface="Arial" pitchFamily="34" charset="0"/>
                <a:ea typeface="Arial" pitchFamily="34" charset="-122"/>
                <a:cs typeface="Arial" pitchFamily="34" charset="-120"/>
              </a:rPr>
              <a:t>00_context/product-brief-2026-08-13.md (v2.1)
</a:t>
            </a:r>
            <a:pPr indent="0" marL="0">
              <a:lnSpc>
                <a:spcPct val="130000"/>
              </a:lnSpc>
              <a:buNone/>
            </a:pPr>
            <a:r>
              <a:rPr lang="en-US" sz="1250" b="1" dirty="0">
                <a:solidFill>
                  <a:srgbClr val="FFFFFF"/>
                </a:solidFill>
                <a:latin typeface="Arial" pitchFamily="34" charset="0"/>
                <a:ea typeface="Arial" pitchFamily="34" charset="-122"/>
                <a:cs typeface="Arial" pitchFamily="34" charset="-120"/>
              </a:rPr>
              <a:t>Glossary:  </a:t>
            </a:r>
            <a:pPr indent="0" marL="0">
              <a:lnSpc>
                <a:spcPct val="130000"/>
              </a:lnSpc>
              <a:buNone/>
            </a:pPr>
            <a:r>
              <a:rPr lang="en-US" sz="1250" dirty="0">
                <a:solidFill>
                  <a:srgbClr val="C9D6EA"/>
                </a:solidFill>
                <a:latin typeface="Arial" pitchFamily="34" charset="0"/>
                <a:ea typeface="Arial" pitchFamily="34" charset="-122"/>
                <a:cs typeface="Arial" pitchFamily="34" charset="-120"/>
              </a:rPr>
              <a:t>00_context/glossary.md
</a:t>
            </a:r>
            <a:pPr indent="0" marL="0">
              <a:lnSpc>
                <a:spcPct val="130000"/>
              </a:lnSpc>
              <a:buNone/>
            </a:pPr>
            <a:r>
              <a:rPr lang="en-US" sz="1250" b="1" dirty="0">
                <a:solidFill>
                  <a:srgbClr val="FFFFFF"/>
                </a:solidFill>
                <a:latin typeface="Arial" pitchFamily="34" charset="0"/>
                <a:ea typeface="Arial" pitchFamily="34" charset="-122"/>
                <a:cs typeface="Arial" pitchFamily="34" charset="-120"/>
              </a:rPr>
              <a:t>Lịch sử quyết định:  </a:t>
            </a:r>
            <a:pPr indent="0" marL="0">
              <a:lnSpc>
                <a:spcPct val="130000"/>
              </a:lnSpc>
              <a:buNone/>
            </a:pPr>
            <a:r>
              <a:rPr lang="en-US" sz="1250" dirty="0">
                <a:solidFill>
                  <a:srgbClr val="C9D6EA"/>
                </a:solidFill>
                <a:latin typeface="Arial" pitchFamily="34" charset="0"/>
                <a:ea typeface="Arial" pitchFamily="34" charset="-122"/>
                <a:cs typeface="Arial" pitchFamily="34" charset="-120"/>
              </a:rPr>
              <a:t>00_context/.memlog.md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2026-08-18T04:13:10Z</dcterms:created>
  <dcterms:modified xsi:type="dcterms:W3CDTF">2026-08-18T04:13:10Z</dcterms:modified>
</cp:coreProperties>
</file>